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9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92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86822-46FE-4B42-854F-6EA647234CC2}" v="2" dt="2025-12-16T13:23:19.400"/>
    <p1510:client id="{54382DFF-4740-489E-BE29-FFD57ECF90A4}" v="5" dt="2025-12-16T03:10:08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dnya Ramesh" userId="af62c1cb85fe1248" providerId="LiveId" clId="{73C18D23-9D38-4A40-871B-D11EFA0135C7}"/>
    <pc:docChg chg="undo custSel addSld delSld modSld sldOrd">
      <pc:chgData name="Prednya Ramesh" userId="af62c1cb85fe1248" providerId="LiveId" clId="{73C18D23-9D38-4A40-871B-D11EFA0135C7}" dt="2025-12-16T13:24:40.096" v="159" actId="1076"/>
      <pc:docMkLst>
        <pc:docMk/>
      </pc:docMkLst>
      <pc:sldChg chg="add del ord setBg">
        <pc:chgData name="Prednya Ramesh" userId="af62c1cb85fe1248" providerId="LiveId" clId="{73C18D23-9D38-4A40-871B-D11EFA0135C7}" dt="2025-12-15T07:03:35.606" v="8"/>
        <pc:sldMkLst>
          <pc:docMk/>
          <pc:sldMk cId="0" sldId="258"/>
        </pc:sldMkLst>
      </pc:sldChg>
      <pc:sldChg chg="modSp mod">
        <pc:chgData name="Prednya Ramesh" userId="af62c1cb85fe1248" providerId="LiveId" clId="{73C18D23-9D38-4A40-871B-D11EFA0135C7}" dt="2025-12-15T07:43:49.915" v="25" actId="20577"/>
        <pc:sldMkLst>
          <pc:docMk/>
          <pc:sldMk cId="0" sldId="260"/>
        </pc:sldMkLst>
        <pc:spChg chg="mod">
          <ac:chgData name="Prednya Ramesh" userId="af62c1cb85fe1248" providerId="LiveId" clId="{73C18D23-9D38-4A40-871B-D11EFA0135C7}" dt="2025-12-15T07:43:49.915" v="25" actId="20577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Prednya Ramesh" userId="af62c1cb85fe1248" providerId="LiveId" clId="{73C18D23-9D38-4A40-871B-D11EFA0135C7}" dt="2025-12-15T07:48:04.264" v="45" actId="14100"/>
        <pc:sldMkLst>
          <pc:docMk/>
          <pc:sldMk cId="0" sldId="261"/>
        </pc:sldMkLst>
        <pc:spChg chg="mod">
          <ac:chgData name="Prednya Ramesh" userId="af62c1cb85fe1248" providerId="LiveId" clId="{73C18D23-9D38-4A40-871B-D11EFA0135C7}" dt="2025-12-15T07:48:04.264" v="45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03.927" v="44" actId="1076"/>
          <ac:spMkLst>
            <pc:docMk/>
            <pc:sldMk cId="0" sldId="261"/>
            <ac:spMk id="12" creationId="{00000000-0000-0000-0000-000000000000}"/>
          </ac:spMkLst>
        </pc:spChg>
      </pc:sldChg>
      <pc:sldChg chg="addSp modSp mod">
        <pc:chgData name="Prednya Ramesh" userId="af62c1cb85fe1248" providerId="LiveId" clId="{73C18D23-9D38-4A40-871B-D11EFA0135C7}" dt="2025-12-15T08:02:48.711" v="65" actId="11529"/>
        <pc:sldMkLst>
          <pc:docMk/>
          <pc:sldMk cId="0" sldId="263"/>
        </pc:sldMkLst>
        <pc:spChg chg="mod">
          <ac:chgData name="Prednya Ramesh" userId="af62c1cb85fe1248" providerId="LiveId" clId="{73C18D23-9D38-4A40-871B-D11EFA0135C7}" dt="2025-12-15T08:02:13.817" v="58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02:17.123" v="60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02:19.259" v="62" actId="20577"/>
          <ac:spMkLst>
            <pc:docMk/>
            <pc:sldMk cId="0" sldId="263"/>
            <ac:spMk id="15" creationId="{00000000-0000-0000-0000-000000000000}"/>
          </ac:spMkLst>
        </pc:spChg>
        <pc:cxnChg chg="add">
          <ac:chgData name="Prednya Ramesh" userId="af62c1cb85fe1248" providerId="LiveId" clId="{73C18D23-9D38-4A40-871B-D11EFA0135C7}" dt="2025-12-15T08:02:33.136" v="63" actId="11529"/>
          <ac:cxnSpMkLst>
            <pc:docMk/>
            <pc:sldMk cId="0" sldId="263"/>
            <ac:cxnSpMk id="41" creationId="{0AD1A81F-EC9D-E2E2-ECA1-698B4B0C9D90}"/>
          </ac:cxnSpMkLst>
        </pc:cxnChg>
        <pc:cxnChg chg="add">
          <ac:chgData name="Prednya Ramesh" userId="af62c1cb85fe1248" providerId="LiveId" clId="{73C18D23-9D38-4A40-871B-D11EFA0135C7}" dt="2025-12-15T08:02:41.933" v="64" actId="11529"/>
          <ac:cxnSpMkLst>
            <pc:docMk/>
            <pc:sldMk cId="0" sldId="263"/>
            <ac:cxnSpMk id="43" creationId="{8EF1485E-FBC8-BEFA-104A-C07123FF9143}"/>
          </ac:cxnSpMkLst>
        </pc:cxnChg>
        <pc:cxnChg chg="add">
          <ac:chgData name="Prednya Ramesh" userId="af62c1cb85fe1248" providerId="LiveId" clId="{73C18D23-9D38-4A40-871B-D11EFA0135C7}" dt="2025-12-15T08:02:48.711" v="65" actId="11529"/>
          <ac:cxnSpMkLst>
            <pc:docMk/>
            <pc:sldMk cId="0" sldId="263"/>
            <ac:cxnSpMk id="45" creationId="{0BBA2537-32E1-E9A2-F212-880362B095D9}"/>
          </ac:cxnSpMkLst>
        </pc:cxnChg>
      </pc:sldChg>
      <pc:sldChg chg="modSp mod">
        <pc:chgData name="Prednya Ramesh" userId="af62c1cb85fe1248" providerId="LiveId" clId="{73C18D23-9D38-4A40-871B-D11EFA0135C7}" dt="2025-12-15T08:05:44.945" v="68" actId="404"/>
        <pc:sldMkLst>
          <pc:docMk/>
          <pc:sldMk cId="0" sldId="265"/>
        </pc:sldMkLst>
        <pc:spChg chg="mod">
          <ac:chgData name="Prednya Ramesh" userId="af62c1cb85fe1248" providerId="LiveId" clId="{73C18D23-9D38-4A40-871B-D11EFA0135C7}" dt="2025-12-15T08:05:44.945" v="68" actId="404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Prednya Ramesh" userId="af62c1cb85fe1248" providerId="LiveId" clId="{73C18D23-9D38-4A40-871B-D11EFA0135C7}" dt="2025-12-15T07:49:37.310" v="56" actId="1076"/>
        <pc:sldMkLst>
          <pc:docMk/>
          <pc:sldMk cId="0" sldId="266"/>
        </pc:sldMkLst>
        <pc:spChg chg="mod">
          <ac:chgData name="Prednya Ramesh" userId="af62c1cb85fe1248" providerId="LiveId" clId="{73C18D23-9D38-4A40-871B-D11EFA0135C7}" dt="2025-12-15T07:48:36.336" v="46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8:44.806" v="48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00.247" v="50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11.448" v="52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30.027" v="54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7:49:37.310" v="56" actId="1076"/>
          <ac:spMkLst>
            <pc:docMk/>
            <pc:sldMk cId="0" sldId="266"/>
            <ac:spMk id="15" creationId="{00000000-0000-0000-0000-000000000000}"/>
          </ac:spMkLst>
        </pc:spChg>
      </pc:sldChg>
      <pc:sldChg chg="del">
        <pc:chgData name="Prednya Ramesh" userId="af62c1cb85fe1248" providerId="LiveId" clId="{73C18D23-9D38-4A40-871B-D11EFA0135C7}" dt="2025-12-15T07:05:22.476" v="14" actId="47"/>
        <pc:sldMkLst>
          <pc:docMk/>
          <pc:sldMk cId="0" sldId="273"/>
        </pc:sldMkLst>
      </pc:sldChg>
      <pc:sldChg chg="modSp mod">
        <pc:chgData name="Prednya Ramesh" userId="af62c1cb85fe1248" providerId="LiveId" clId="{73C18D23-9D38-4A40-871B-D11EFA0135C7}" dt="2025-12-15T07:02:50.326" v="4" actId="1076"/>
        <pc:sldMkLst>
          <pc:docMk/>
          <pc:sldMk cId="0" sldId="275"/>
        </pc:sldMkLst>
        <pc:picChg chg="mod modCrop">
          <ac:chgData name="Prednya Ramesh" userId="af62c1cb85fe1248" providerId="LiveId" clId="{73C18D23-9D38-4A40-871B-D11EFA0135C7}" dt="2025-12-15T07:02:50.326" v="4" actId="1076"/>
          <ac:picMkLst>
            <pc:docMk/>
            <pc:sldMk cId="0" sldId="275"/>
            <ac:picMk id="4" creationId="{00000000-0000-0000-0000-000000000000}"/>
          </ac:picMkLst>
        </pc:picChg>
      </pc:sldChg>
      <pc:sldChg chg="modSp mod">
        <pc:chgData name="Prednya Ramesh" userId="af62c1cb85fe1248" providerId="LiveId" clId="{73C18D23-9D38-4A40-871B-D11EFA0135C7}" dt="2025-12-15T08:12:06.549" v="87" actId="1076"/>
        <pc:sldMkLst>
          <pc:docMk/>
          <pc:sldMk cId="0" sldId="277"/>
        </pc:sldMkLst>
        <pc:spChg chg="mod">
          <ac:chgData name="Prednya Ramesh" userId="af62c1cb85fe1248" providerId="LiveId" clId="{73C18D23-9D38-4A40-871B-D11EFA0135C7}" dt="2025-12-15T08:10:23.656" v="73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0:36.280" v="74" actId="1076"/>
          <ac:spMkLst>
            <pc:docMk/>
            <pc:sldMk cId="0" sldId="277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0:55.955" v="77" actId="1076"/>
          <ac:spMkLst>
            <pc:docMk/>
            <pc:sldMk cId="0" sldId="277"/>
            <ac:spMk id="8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10.858" v="79" actId="1076"/>
          <ac:spMkLst>
            <pc:docMk/>
            <pc:sldMk cId="0" sldId="277"/>
            <ac:spMk id="9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20.911" v="81" actId="107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35.881" v="83" actId="107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1:57.463" v="85" actId="1076"/>
          <ac:spMkLst>
            <pc:docMk/>
            <pc:sldMk cId="0" sldId="277"/>
            <ac:spMk id="12" creationId="{00000000-0000-0000-0000-000000000000}"/>
          </ac:spMkLst>
        </pc:spChg>
        <pc:spChg chg="mod">
          <ac:chgData name="Prednya Ramesh" userId="af62c1cb85fe1248" providerId="LiveId" clId="{73C18D23-9D38-4A40-871B-D11EFA0135C7}" dt="2025-12-15T08:12:06.549" v="87" actId="1076"/>
          <ac:spMkLst>
            <pc:docMk/>
            <pc:sldMk cId="0" sldId="277"/>
            <ac:spMk id="13" creationId="{00000000-0000-0000-0000-000000000000}"/>
          </ac:spMkLst>
        </pc:spChg>
      </pc:sldChg>
      <pc:sldChg chg="addSp modSp mod">
        <pc:chgData name="Prednya Ramesh" userId="af62c1cb85fe1248" providerId="LiveId" clId="{73C18D23-9D38-4A40-871B-D11EFA0135C7}" dt="2025-12-16T13:24:40.096" v="159" actId="1076"/>
        <pc:sldMkLst>
          <pc:docMk/>
          <pc:sldMk cId="0" sldId="280"/>
        </pc:sldMkLst>
        <pc:spChg chg="mod">
          <ac:chgData name="Prednya Ramesh" userId="af62c1cb85fe1248" providerId="LiveId" clId="{73C18D23-9D38-4A40-871B-D11EFA0135C7}" dt="2025-12-16T13:23:10.863" v="126" actId="14100"/>
          <ac:spMkLst>
            <pc:docMk/>
            <pc:sldMk cId="0" sldId="280"/>
            <ac:spMk id="5" creationId="{00000000-0000-0000-0000-000000000000}"/>
          </ac:spMkLst>
        </pc:spChg>
        <pc:spChg chg="add mod">
          <ac:chgData name="Prednya Ramesh" userId="af62c1cb85fe1248" providerId="LiveId" clId="{73C18D23-9D38-4A40-871B-D11EFA0135C7}" dt="2025-12-16T13:24:27.640" v="157" actId="1076"/>
          <ac:spMkLst>
            <pc:docMk/>
            <pc:sldMk cId="0" sldId="280"/>
            <ac:spMk id="33" creationId="{F7BC4059-CDA7-032C-B6BD-01DADF9639C8}"/>
          </ac:spMkLst>
        </pc:spChg>
        <pc:spChg chg="add mod">
          <ac:chgData name="Prednya Ramesh" userId="af62c1cb85fe1248" providerId="LiveId" clId="{73C18D23-9D38-4A40-871B-D11EFA0135C7}" dt="2025-12-16T13:24:40.096" v="159" actId="1076"/>
          <ac:spMkLst>
            <pc:docMk/>
            <pc:sldMk cId="0" sldId="280"/>
            <ac:spMk id="34" creationId="{385D1A18-B1E4-49FB-4D67-2DFFB1894EF7}"/>
          </ac:spMkLst>
        </pc:spChg>
      </pc:sldChg>
      <pc:sldChg chg="modSp mod">
        <pc:chgData name="Prednya Ramesh" userId="af62c1cb85fe1248" providerId="LiveId" clId="{73C18D23-9D38-4A40-871B-D11EFA0135C7}" dt="2025-12-15T07:05:53.694" v="15" actId="14100"/>
        <pc:sldMkLst>
          <pc:docMk/>
          <pc:sldMk cId="0" sldId="281"/>
        </pc:sldMkLst>
        <pc:spChg chg="mod">
          <ac:chgData name="Prednya Ramesh" userId="af62c1cb85fe1248" providerId="LiveId" clId="{73C18D23-9D38-4A40-871B-D11EFA0135C7}" dt="2025-12-15T07:05:53.694" v="15" actId="14100"/>
          <ac:spMkLst>
            <pc:docMk/>
            <pc:sldMk cId="0" sldId="281"/>
            <ac:spMk id="2" creationId="{00000000-0000-0000-0000-000000000000}"/>
          </ac:spMkLst>
        </pc:spChg>
      </pc:sldChg>
      <pc:sldChg chg="modSp mod">
        <pc:chgData name="Prednya Ramesh" userId="af62c1cb85fe1248" providerId="LiveId" clId="{73C18D23-9D38-4A40-871B-D11EFA0135C7}" dt="2025-12-16T13:22:51.647" v="125" actId="20577"/>
        <pc:sldMkLst>
          <pc:docMk/>
          <pc:sldMk cId="0" sldId="290"/>
        </pc:sldMkLst>
        <pc:spChg chg="mod">
          <ac:chgData name="Prednya Ramesh" userId="af62c1cb85fe1248" providerId="LiveId" clId="{73C18D23-9D38-4A40-871B-D11EFA0135C7}" dt="2025-12-16T13:22:48.168" v="121" actId="20577"/>
          <ac:spMkLst>
            <pc:docMk/>
            <pc:sldMk cId="0" sldId="290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13:22:51.647" v="125" actId="20577"/>
          <ac:spMkLst>
            <pc:docMk/>
            <pc:sldMk cId="0" sldId="290"/>
            <ac:spMk id="12" creationId="{00000000-0000-0000-0000-000000000000}"/>
          </ac:spMkLst>
        </pc:spChg>
      </pc:sldChg>
      <pc:sldChg chg="add del ord setBg">
        <pc:chgData name="Prednya Ramesh" userId="af62c1cb85fe1248" providerId="LiveId" clId="{73C18D23-9D38-4A40-871B-D11EFA0135C7}" dt="2025-12-15T07:05:21.556" v="13"/>
        <pc:sldMkLst>
          <pc:docMk/>
          <pc:sldMk cId="0" sldId="291"/>
        </pc:sldMkLst>
      </pc:sldChg>
      <pc:sldChg chg="modSp add mod setBg">
        <pc:chgData name="Prednya Ramesh" userId="af62c1cb85fe1248" providerId="LiveId" clId="{73C18D23-9D38-4A40-871B-D11EFA0135C7}" dt="2025-12-16T03:14:35.092" v="117" actId="1076"/>
        <pc:sldMkLst>
          <pc:docMk/>
          <pc:sldMk cId="0" sldId="292"/>
        </pc:sldMkLst>
        <pc:spChg chg="mod">
          <ac:chgData name="Prednya Ramesh" userId="af62c1cb85fe1248" providerId="LiveId" clId="{73C18D23-9D38-4A40-871B-D11EFA0135C7}" dt="2025-12-16T03:10:13.922" v="89" actId="14100"/>
          <ac:spMkLst>
            <pc:docMk/>
            <pc:sldMk cId="0" sldId="292"/>
            <ac:spMk id="2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4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1:59.373" v="104" actId="14100"/>
          <ac:spMkLst>
            <pc:docMk/>
            <pc:sldMk cId="0" sldId="292"/>
            <ac:spMk id="5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6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7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8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2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3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4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22.723" v="105" actId="1076"/>
          <ac:spMkLst>
            <pc:docMk/>
            <pc:sldMk cId="0" sldId="292"/>
            <ac:spMk id="15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6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13.977" v="115" actId="14100"/>
          <ac:spMkLst>
            <pc:docMk/>
            <pc:sldMk cId="0" sldId="292"/>
            <ac:spMk id="17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18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46.030" v="110" actId="14100"/>
          <ac:spMkLst>
            <pc:docMk/>
            <pc:sldMk cId="0" sldId="292"/>
            <ac:spMk id="19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46.030" v="110" actId="14100"/>
          <ac:spMkLst>
            <pc:docMk/>
            <pc:sldMk cId="0" sldId="292"/>
            <ac:spMk id="20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46.030" v="110" actId="14100"/>
          <ac:spMkLst>
            <pc:docMk/>
            <pc:sldMk cId="0" sldId="292"/>
            <ac:spMk id="21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15.261" v="107" actId="1076"/>
          <ac:spMkLst>
            <pc:docMk/>
            <pc:sldMk cId="0" sldId="292"/>
            <ac:spMk id="22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3:15.261" v="107" actId="1076"/>
          <ac:spMkLst>
            <pc:docMk/>
            <pc:sldMk cId="0" sldId="292"/>
            <ac:spMk id="23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24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25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35.092" v="117" actId="1076"/>
          <ac:spMkLst>
            <pc:docMk/>
            <pc:sldMk cId="0" sldId="292"/>
            <ac:spMk id="26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2:51.148" v="106" actId="1076"/>
          <ac:spMkLst>
            <pc:docMk/>
            <pc:sldMk cId="0" sldId="292"/>
            <ac:spMk id="27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25.409" v="116" actId="1076"/>
          <ac:spMkLst>
            <pc:docMk/>
            <pc:sldMk cId="0" sldId="292"/>
            <ac:spMk id="28" creationId="{00000000-0000-0000-0000-000000000000}"/>
          </ac:spMkLst>
        </pc:spChg>
        <pc:spChg chg="mod">
          <ac:chgData name="Prednya Ramesh" userId="af62c1cb85fe1248" providerId="LiveId" clId="{73C18D23-9D38-4A40-871B-D11EFA0135C7}" dt="2025-12-16T03:14:25.409" v="116" actId="1076"/>
          <ac:spMkLst>
            <pc:docMk/>
            <pc:sldMk cId="0" sldId="292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35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0"/>
            <a:ext cx="9144000" cy="5715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66700"/>
            <a:ext cx="23258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OF PENNSYLVANIA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78811" y="266700"/>
            <a:ext cx="212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5300 - Natural Language Processing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710785" y="1590203"/>
            <a:ext cx="5722430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1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Code-Switching Curriculum Learning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51660" y="2538413"/>
            <a:ext cx="544068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67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Transfer for Code-Mixed Conversation Summarization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" y="3054846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Prednya Ramesh, Aneesh Edara, Richard Raup, Akira Nair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97180" y="3312021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Engineering and Applied Science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4768304"/>
            <a:ext cx="760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563296" y="4768304"/>
            <a:ext cx="12236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6769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Code-Mixed Summarization?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14400"/>
            <a:ext cx="4248150" cy="3962400"/>
          </a:xfrm>
          <a:prstGeom prst="roundRect">
            <a:avLst>
              <a:gd name="adj" fmla="val 14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28688"/>
            <a:ext cx="42481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2450" y="111442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2450" y="1407765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1.5B+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multilingual speakers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1619101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languages in daily communication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899047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systems fail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code-mixed text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52450" y="2110383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monolingual corpora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52450" y="2390329"/>
            <a:ext cx="39833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transfer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language pairs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52450" y="2601664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models per pair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57750" y="914400"/>
            <a:ext cx="3905250" cy="3200549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57750" y="928688"/>
            <a:ext cx="390525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150" y="1095375"/>
            <a:ext cx="367245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Hindi-English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010150" y="1339155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Hey, aaj weather accha! Hiking?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10150" y="1653480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Good! But homework karna hai.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10150" y="1967805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Ok, afternoon chalte hain.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10150" y="2282130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Perfect, 3 baje milte hain!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57750" y="4229249"/>
            <a:ext cx="3905250" cy="647551"/>
          </a:xfrm>
          <a:prstGeom prst="roundRect">
            <a:avLst>
              <a:gd name="adj" fmla="val 882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91100" y="4362599"/>
            <a:ext cx="371132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SUMMARY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91100" y="4545360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suggests hiking. B agrees but needs homework. Meet at 3pm.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 &amp; Literature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2095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9625"/>
            <a:ext cx="2717750" cy="323850"/>
          </a:xfrm>
          <a:prstGeom prst="roundRect">
            <a:avLst>
              <a:gd name="adj" fmla="val 1176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04875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Models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1190625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190625"/>
            <a:ext cx="0" cy="113987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5775" y="1304925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mBART-50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85775" y="146298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ACL 2020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485775" y="1594396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denoising pre-training for neural machine translation across 50 languages.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81000" y="2387650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2387650"/>
            <a:ext cx="0" cy="113987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5775" y="2501950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mT5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85775" y="2660005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Xue et al., NAACL 2021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485775" y="2791420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Massively multilingual text-to-text transformer covering 101 languages.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81000" y="3584674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3584674"/>
            <a:ext cx="0" cy="113987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775" y="3698974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85775" y="385703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Touvron et al., Meta 2024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85775" y="3988445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foundation model with strong multilingual capabilities and instruction-tuning.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13050" y="809625"/>
            <a:ext cx="2717750" cy="323850"/>
          </a:xfrm>
          <a:prstGeom prst="roundRect">
            <a:avLst>
              <a:gd name="adj" fmla="val 11765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08300" y="904875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Code-Mixed NLP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13050" y="1190625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27338" y="1190625"/>
            <a:ext cx="0" cy="113987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7825" y="1304925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Index (CMI)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317825" y="146298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Gambäck &amp; Das, EMNLP 2014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3317825" y="1594396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measure of code-switching complexity in multilingual text.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213050" y="2387650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27338" y="2387650"/>
            <a:ext cx="0" cy="113987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7825" y="2501950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GLUECoS Benchmark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317825" y="2660005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Khanuja et al., ACL 2020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3317825" y="2791420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for code-switched NLU tasks including NER, sentiment, QA.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213050" y="3584674"/>
            <a:ext cx="2717750" cy="1139875"/>
          </a:xfrm>
          <a:prstGeom prst="roundRect">
            <a:avLst>
              <a:gd name="adj" fmla="val 334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27338" y="3584674"/>
            <a:ext cx="0" cy="113987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17825" y="3698974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 Dataset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317825" y="385703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Mehnaz et al., AACL 2021</a:t>
            </a:r>
            <a:endParaRPr lang="en-US" sz="525" dirty="0"/>
          </a:p>
        </p:txBody>
      </p:sp>
      <p:sp>
        <p:nvSpPr>
          <p:cNvPr id="37" name="Text 35"/>
          <p:cNvSpPr/>
          <p:nvPr/>
        </p:nvSpPr>
        <p:spPr>
          <a:xfrm>
            <a:off x="3317825" y="3988445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Code-switched conversation summarization dataset for multiple language pairs.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45101" y="809625"/>
            <a:ext cx="2717750" cy="323850"/>
          </a:xfrm>
          <a:prstGeom prst="roundRect">
            <a:avLst>
              <a:gd name="adj" fmla="val 11765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40351" y="904875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Learning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045101" y="1190625"/>
            <a:ext cx="2717750" cy="1127075"/>
          </a:xfrm>
          <a:prstGeom prst="roundRect">
            <a:avLst>
              <a:gd name="adj" fmla="val 33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59388" y="1190625"/>
            <a:ext cx="0" cy="112707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49876" y="1304925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Learning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6149876" y="1462980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Bengio et al., ICML 2009</a:t>
            </a:r>
            <a:endParaRPr lang="en-US" sz="525" dirty="0"/>
          </a:p>
        </p:txBody>
      </p:sp>
      <p:sp>
        <p:nvSpPr>
          <p:cNvPr id="44" name="Text 42"/>
          <p:cNvSpPr/>
          <p:nvPr/>
        </p:nvSpPr>
        <p:spPr>
          <a:xfrm>
            <a:off x="6149876" y="1594396"/>
            <a:ext cx="258751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progressively harder examples improves convergence and generalization.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045101" y="2374850"/>
            <a:ext cx="2717750" cy="1127075"/>
          </a:xfrm>
          <a:prstGeom prst="roundRect">
            <a:avLst>
              <a:gd name="adj" fmla="val 33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059388" y="2374850"/>
            <a:ext cx="0" cy="112707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49876" y="2489150"/>
            <a:ext cx="25875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6149876" y="2647206"/>
            <a:ext cx="258751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al., ICLR 2022</a:t>
            </a:r>
            <a:endParaRPr lang="en-US" sz="525" dirty="0"/>
          </a:p>
        </p:txBody>
      </p:sp>
      <p:sp>
        <p:nvSpPr>
          <p:cNvPr id="49" name="Text 47"/>
          <p:cNvSpPr/>
          <p:nvPr/>
        </p:nvSpPr>
        <p:spPr>
          <a:xfrm>
            <a:off x="6149876" y="2778621"/>
            <a:ext cx="258751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Low-rank adaptation for efficient fine-tuning of large language models.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045101" y="3559076"/>
            <a:ext cx="2717750" cy="1165175"/>
          </a:xfrm>
          <a:prstGeom prst="roundRect">
            <a:avLst>
              <a:gd name="adj" fmla="val 3270"/>
            </a:avLst>
          </a:prstGeom>
          <a:solidFill>
            <a:srgbClr val="D4EDDA"/>
          </a:solidFill>
          <a:ln w="19050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40351" y="3692426"/>
            <a:ext cx="257779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Contribution: CSCL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6140351" y="3850481"/>
            <a:ext cx="257779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application of curriculum learning using CMI as difficulty metric for code-mixed summarization.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9" y="266700"/>
            <a:ext cx="47227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Code-Mixing Index (CMI)?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4095750" cy="1697236"/>
          </a:xfrm>
          <a:prstGeom prst="roundRect">
            <a:avLst>
              <a:gd name="adj" fmla="val 336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09638"/>
            <a:ext cx="40957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1057275"/>
            <a:ext cx="39056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14350" y="1301055"/>
            <a:ext cx="3829050" cy="472380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2930" y="1443930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 = (N - max(w1,w2)) / N x 100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4350" y="1849636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total tokens, w1/w2 = per language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4350" y="2154436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0% (mono) to ~50% (balanced)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2687836"/>
            <a:ext cx="4095750" cy="2188964"/>
          </a:xfrm>
          <a:prstGeom prst="roundRect">
            <a:avLst>
              <a:gd name="adj" fmla="val 261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2702123"/>
            <a:ext cx="409575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4350" y="2849761"/>
            <a:ext cx="39056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14350" y="3074491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Quantifies mixing difficulty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4350" y="3379291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= more switches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4350" y="3684091"/>
            <a:ext cx="39056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curriculum ordering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7250" y="895350"/>
            <a:ext cx="4095750" cy="647700"/>
          </a:xfrm>
          <a:prstGeom prst="roundRect">
            <a:avLst>
              <a:gd name="adj" fmla="val 882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81550" y="1009650"/>
            <a:ext cx="646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(12%)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99103" y="1047750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81550" y="125730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English, occasional Hindi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67250" y="1619250"/>
            <a:ext cx="4095750" cy="647700"/>
          </a:xfrm>
          <a:prstGeom prst="roundRect">
            <a:avLst>
              <a:gd name="adj" fmla="val 8824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1550" y="1733550"/>
            <a:ext cx="8516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(32%)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99103" y="1771650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81550" y="198120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code-switching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7250" y="2343150"/>
            <a:ext cx="4095750" cy="647700"/>
          </a:xfrm>
          <a:prstGeom prst="roundRect">
            <a:avLst>
              <a:gd name="adj" fmla="val 8824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2457450"/>
            <a:ext cx="6832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(51%)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99103" y="2495550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81550" y="270510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intra-sentence switching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67250" y="3067050"/>
            <a:ext cx="4095750" cy="426690"/>
          </a:xfrm>
          <a:prstGeom prst="roundRect">
            <a:avLst>
              <a:gd name="adj" fmla="val 13394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23447" y="3200400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to 65%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3071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Equations: CMI Formula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30721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87896"/>
            <a:ext cx="4114800" cy="811411"/>
          </a:xfrm>
          <a:prstGeom prst="roundRect">
            <a:avLst>
              <a:gd name="adj" fmla="val 939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78396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INDEX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68896"/>
            <a:ext cx="38862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CMI(C) = (N - max(w1, w2)) / N x 100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1675507"/>
            <a:ext cx="4114800" cy="1649611"/>
          </a:xfrm>
          <a:prstGeom prst="roundRect">
            <a:avLst>
              <a:gd name="adj" fmla="val 346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1675507"/>
            <a:ext cx="0" cy="1649611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3400" y="1789807"/>
            <a:ext cx="392506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DEFINITIONS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3400" y="19916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Total tokens in conversation 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" y="22964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Count of Language 1 tokens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3400" y="26012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Count of Language 2 tokens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3400" y="2906018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max(w1,w2)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Dominant language count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401318"/>
            <a:ext cx="4114800" cy="1344811"/>
          </a:xfrm>
          <a:prstGeom prst="roundRect">
            <a:avLst>
              <a:gd name="adj" fmla="val 425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401318"/>
            <a:ext cx="0" cy="1344811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3400" y="3515618"/>
            <a:ext cx="3925062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33400" y="37174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measures mixing intensity: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3400" y="40222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0% means monolingual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43270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50% means perfectly balanced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48200" y="787896"/>
            <a:ext cx="4114800" cy="1196280"/>
          </a:xfrm>
          <a:prstGeom prst="roundRect">
            <a:avLst>
              <a:gd name="adj" fmla="val 477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802184"/>
            <a:ext cx="4114800" cy="0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2500" y="930771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1: Low CMI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62500" y="1102221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 hi what's up, </a:t>
            </a:r>
            <a:r>
              <a:rPr lang="en-US" sz="675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kya</a:t>
            </a: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75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</a:t>
            </a: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62500" y="126027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N=6, English=4, Hindi=2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62500" y="156507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(6-4)/6 x 100 = </a:t>
            </a:r>
            <a:r>
              <a:rPr lang="en-US" sz="15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48200" y="2060377"/>
            <a:ext cx="4114800" cy="1196280"/>
          </a:xfrm>
          <a:prstGeom prst="roundRect">
            <a:avLst>
              <a:gd name="adj" fmla="val 477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48200" y="2074664"/>
            <a:ext cx="411480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62500" y="2203252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2: High CMI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62500" y="2374702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"Mujhe lagta hai we should go hiking aaj"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762500" y="253275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N=8, English=4, Hindi=4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62500" y="283755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= (8-4)/8 x 100 = </a:t>
            </a: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48200" y="3332857"/>
            <a:ext cx="4114800" cy="558105"/>
          </a:xfrm>
          <a:prstGeom prst="roundRect">
            <a:avLst>
              <a:gd name="adj" fmla="val 1024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62500" y="3447157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62500" y="361860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 gives us a principled way to order training samples by difficulty - crucial for curriculum learning!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CMI Computation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503679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compute_cmi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0477" y="1238250"/>
            <a:ext cx="1666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= text.split()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0477" y="1538315"/>
            <a:ext cx="24968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 = {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'non_latin'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'latin'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0477" y="1843631"/>
            <a:ext cx="13211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6059" y="2136192"/>
            <a:ext cx="30350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has_nl = </a:t>
            </a:r>
            <a:r>
              <a:rPr lang="en-US" sz="150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(c)&gt;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6059" y="2447850"/>
            <a:ext cx="33694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lang[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'non_latin'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has_nl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'latin'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]+=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528" y="2756025"/>
            <a:ext cx="2057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(lang.values())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528" y="3067050"/>
            <a:ext cx="3102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(N-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(lang.values()))/N*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090" y="800100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546378" y="800100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36865" y="876300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ord(char) &gt; 127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636865" y="1017240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 ends at 127. Hindi/Tamil/Mandarin chars have higher Unicode points.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5532090" y="1265783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546378" y="1265783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36865" y="1341983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SPLIT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636865" y="1482923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(English) vs Non-Latin. Simple but effective for our language pairs.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5532090" y="1731466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08290" y="1807666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608290" y="1948607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0-100 score to sort training data by difficulty.</a:t>
            </a:r>
            <a:endParaRPr lang="en-US" sz="5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 Distribution in Training Data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905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3906" y="1774105"/>
            <a:ext cx="4949130" cy="1909911"/>
          </a:xfrm>
          <a:prstGeom prst="roundRect">
            <a:avLst>
              <a:gd name="adj" fmla="val 125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206" y="1888405"/>
            <a:ext cx="4814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CMI RANGE: 0% - 65%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28206" y="2269405"/>
            <a:ext cx="507504" cy="571500"/>
          </a:xfrm>
          <a:prstGeom prst="roundRect">
            <a:avLst>
              <a:gd name="adj" fmla="val 375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4760" y="2174155"/>
            <a:ext cx="507504" cy="666750"/>
          </a:xfrm>
          <a:prstGeom prst="roundRect">
            <a:avLst>
              <a:gd name="adj" fmla="val 375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81314" y="2317030"/>
            <a:ext cx="507504" cy="523875"/>
          </a:xfrm>
          <a:prstGeom prst="roundRect">
            <a:avLst>
              <a:gd name="adj" fmla="val 3754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07868" y="2412280"/>
            <a:ext cx="507504" cy="428625"/>
          </a:xfrm>
          <a:prstGeom prst="roundRect">
            <a:avLst>
              <a:gd name="adj" fmla="val 4444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34422" y="2364655"/>
            <a:ext cx="507504" cy="476250"/>
          </a:xfrm>
          <a:prstGeom prst="roundRect">
            <a:avLst>
              <a:gd name="adj" fmla="val 4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60976" y="2459905"/>
            <a:ext cx="507504" cy="381000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87529" y="2507530"/>
            <a:ext cx="507504" cy="333375"/>
          </a:xfrm>
          <a:prstGeom prst="roundRect">
            <a:avLst>
              <a:gd name="adj" fmla="val 5714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14083" y="2555155"/>
            <a:ext cx="507504" cy="285750"/>
          </a:xfrm>
          <a:prstGeom prst="roundRect">
            <a:avLst>
              <a:gd name="adj" fmla="val 666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40637" y="2650405"/>
            <a:ext cx="507504" cy="190500"/>
          </a:xfrm>
          <a:prstGeom prst="roundRect">
            <a:avLst>
              <a:gd name="adj" fmla="val 1000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001" y="3002830"/>
            <a:ext cx="481494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Index (%)</a:t>
            </a:r>
            <a:endParaRPr lang="en-US" sz="525" dirty="0"/>
          </a:p>
        </p:txBody>
      </p:sp>
      <p:sp>
        <p:nvSpPr>
          <p:cNvPr id="16" name="Text 14"/>
          <p:cNvSpPr/>
          <p:nvPr/>
        </p:nvSpPr>
        <p:spPr>
          <a:xfrm>
            <a:off x="1805164" y="317234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70426" y="317234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24538" y="317234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63480" y="1536510"/>
            <a:ext cx="3299520" cy="582662"/>
          </a:xfrm>
          <a:prstGeom prst="roundRect">
            <a:avLst>
              <a:gd name="adj" fmla="val 6539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39680" y="1612710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EASY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39680" y="1753650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0-22%, Mean: 12.1%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539680" y="1898311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5×10⁻⁵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463480" y="2166797"/>
            <a:ext cx="3299520" cy="582662"/>
          </a:xfrm>
          <a:prstGeom prst="roundRect">
            <a:avLst>
              <a:gd name="adj" fmla="val 6539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39680" y="2242997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MEDIUM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539680" y="2383937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22-42%, Mean: 31.8%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539680" y="2528598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2.5×10⁻⁵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463480" y="2797084"/>
            <a:ext cx="3299520" cy="582662"/>
          </a:xfrm>
          <a:prstGeom prst="roundRect">
            <a:avLst>
              <a:gd name="adj" fmla="val 6539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39680" y="2873284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HARD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539680" y="3014224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42-65%, Mean: 51.2%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539680" y="3158885"/>
            <a:ext cx="3210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1.25×10⁻⁵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463480" y="3427371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39680" y="3503571"/>
            <a:ext cx="3210062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539680" y="3644512"/>
            <a:ext cx="321006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sorted by CMI, split into equal thirds. Progressive difficulty exposure.</a:t>
            </a:r>
            <a:endParaRPr lang="en-US" sz="5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Approach: CSCL Pipeline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1866" y="894038"/>
            <a:ext cx="579686" cy="552301"/>
          </a:xfrm>
          <a:prstGeom prst="roundRect">
            <a:avLst>
              <a:gd name="adj" fmla="val 10348"/>
            </a:avLst>
          </a:prstGeom>
          <a:solidFill>
            <a:srgbClr val="F8F8F8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61802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061802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577752" y="10635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3701" y="894038"/>
            <a:ext cx="579686" cy="552301"/>
          </a:xfrm>
          <a:prstGeom prst="roundRect">
            <a:avLst>
              <a:gd name="adj" fmla="val 10348"/>
            </a:avLst>
          </a:prstGeom>
          <a:solidFill>
            <a:srgbClr val="F8F8F8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3637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933637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449587" y="10635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5536" y="894038"/>
            <a:ext cx="579686" cy="552301"/>
          </a:xfrm>
          <a:prstGeom prst="roundRect">
            <a:avLst>
              <a:gd name="adj" fmla="val 10348"/>
            </a:avLst>
          </a:prstGeom>
          <a:solidFill>
            <a:srgbClr val="F8F8F8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5472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805472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21422" y="1063553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7372" y="903563"/>
            <a:ext cx="560636" cy="533251"/>
          </a:xfrm>
          <a:prstGeom prst="roundRect">
            <a:avLst>
              <a:gd name="adj" fmla="val 1071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67782" y="1017863"/>
            <a:ext cx="2998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667782" y="1175918"/>
            <a:ext cx="2998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1826028"/>
            <a:ext cx="2705100" cy="1892053"/>
          </a:xfrm>
          <a:prstGeom prst="roundRect">
            <a:avLst>
              <a:gd name="adj" fmla="val 307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4350" y="1959378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Easy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4350" y="22146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0-22%, n=861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4350" y="25194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5e-5, Epochs: 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" y="2881368"/>
            <a:ext cx="2438400" cy="310455"/>
          </a:xfrm>
          <a:prstGeom prst="roundRect">
            <a:avLst>
              <a:gd name="adj" fmla="val 1227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259" y="2976618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basics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219450" y="1826029"/>
            <a:ext cx="2705100" cy="1928340"/>
          </a:xfrm>
          <a:prstGeom prst="roundRect">
            <a:avLst>
              <a:gd name="adj" fmla="val 307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52800" y="1959378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52800" y="22146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22-42%, n=862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52800" y="25194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2.5e-5 (0.5x)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52800" y="2881368"/>
            <a:ext cx="2438400" cy="310455"/>
          </a:xfrm>
          <a:prstGeom prst="roundRect">
            <a:avLst>
              <a:gd name="adj" fmla="val 12272"/>
            </a:avLst>
          </a:prstGeom>
          <a:solidFill>
            <a:srgbClr val="000000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6709" y="2976618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gap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6057900" y="1826028"/>
            <a:ext cx="2705100" cy="1928341"/>
          </a:xfrm>
          <a:prstGeom prst="roundRect">
            <a:avLst>
              <a:gd name="adj" fmla="val 307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91250" y="1959378"/>
            <a:ext cx="24871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Hard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1250" y="22146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CMI: 42-65%, n=861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91250" y="2519418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1.25e-5 (0.25x)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91250" y="2881368"/>
            <a:ext cx="2438400" cy="310455"/>
          </a:xfrm>
          <a:prstGeom prst="roundRect">
            <a:avLst>
              <a:gd name="adj" fmla="val 12272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25159" y="2976618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mixing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382706" y="4169484"/>
            <a:ext cx="8382000" cy="413296"/>
          </a:xfrm>
          <a:prstGeom prst="roundRect">
            <a:avLst>
              <a:gd name="adj" fmla="val 921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01756" y="4169484"/>
            <a:ext cx="0" cy="413296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4156" y="430283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LR decay prevents forgetting earlier phases</a:t>
            </a:r>
            <a:endParaRPr lang="en-US" sz="825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D1A81F-EC9D-E2E2-ECA1-698B4B0C9D90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501552" y="1170189"/>
            <a:ext cx="292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F1485E-FBC8-BEFA-104A-C07123FF914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373387" y="1170189"/>
            <a:ext cx="2921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BBA2537-32E1-E9A2-F212-880362B095D9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5245222" y="1170189"/>
            <a:ext cx="292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CSCL Pipeline Flowchart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98105" y="1204838"/>
            <a:ext cx="908298" cy="506611"/>
          </a:xfrm>
          <a:prstGeom prst="roundRect">
            <a:avLst>
              <a:gd name="adj" fmla="val 11281"/>
            </a:avLst>
          </a:prstGeom>
          <a:solidFill>
            <a:srgbClr val="F8F8F8"/>
          </a:solidFill>
          <a:ln w="19050">
            <a:solidFill>
              <a:srgbClr val="011F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44470" y="1319138"/>
            <a:ext cx="6155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844470" y="1490588"/>
            <a:ext cx="6155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2,584 samples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682603" y="1364828"/>
            <a:ext cx="1247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09222" y="1296218"/>
            <a:ext cx="880616" cy="323850"/>
          </a:xfrm>
          <a:prstGeom prst="roundRect">
            <a:avLst>
              <a:gd name="adj" fmla="val 1764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8350" y="1391468"/>
            <a:ext cx="626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CMI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37955" y="1364828"/>
            <a:ext cx="1247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36492" y="1296218"/>
            <a:ext cx="967085" cy="323850"/>
          </a:xfrm>
          <a:prstGeom prst="roundRect">
            <a:avLst>
              <a:gd name="adj" fmla="val 1764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62838" y="1391468"/>
            <a:ext cx="714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Ascending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68041" y="2023839"/>
            <a:ext cx="952500" cy="638026"/>
          </a:xfrm>
          <a:prstGeom prst="roundRect">
            <a:avLst>
              <a:gd name="adj" fmla="val 8957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75102" y="2138139"/>
            <a:ext cx="738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75102" y="2309589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0-22%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75102" y="2454250"/>
            <a:ext cx="7383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5e-5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3874591" y="2023839"/>
            <a:ext cx="952500" cy="638026"/>
          </a:xfrm>
          <a:prstGeom prst="roundRect">
            <a:avLst>
              <a:gd name="adj" fmla="val 8957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81652" y="2138139"/>
            <a:ext cx="738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81652" y="2309589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22-42%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981652" y="2454250"/>
            <a:ext cx="7383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2.5e-5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4884241" y="2236217"/>
            <a:ext cx="1425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81141" y="2023839"/>
            <a:ext cx="952500" cy="638026"/>
          </a:xfrm>
          <a:prstGeom prst="roundRect">
            <a:avLst>
              <a:gd name="adj" fmla="val 895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88202" y="2138139"/>
            <a:ext cx="7383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88202" y="2309589"/>
            <a:ext cx="73837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42-65%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188202" y="2454250"/>
            <a:ext cx="73837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1.25e-5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4335958" y="2738065"/>
            <a:ext cx="303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900" dirty="0"/>
          </a:p>
        </p:txBody>
      </p:sp>
      <p:pic>
        <p:nvPicPr>
          <p:cNvPr id="29" name="Image 0" descr="/tmp/rasterized-gradient-92b1bc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713" y="2974256"/>
            <a:ext cx="996107" cy="37519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037062" y="3088556"/>
            <a:ext cx="6274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Model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150691" y="3595684"/>
            <a:ext cx="850404" cy="297061"/>
          </a:xfrm>
          <a:prstGeom prst="roundRect">
            <a:avLst>
              <a:gd name="adj" fmla="val 128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164979" y="3595684"/>
            <a:ext cx="0" cy="297061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274516" y="3690934"/>
            <a:ext cx="6439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epoch per phase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115395" y="3595684"/>
            <a:ext cx="706189" cy="297061"/>
          </a:xfrm>
          <a:prstGeom prst="roundRect">
            <a:avLst>
              <a:gd name="adj" fmla="val 128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129682" y="3595684"/>
            <a:ext cx="0" cy="297061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239220" y="3690934"/>
            <a:ext cx="4968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0.5x LR decay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4935884" y="3595684"/>
            <a:ext cx="615107" cy="297061"/>
          </a:xfrm>
          <a:prstGeom prst="roundRect">
            <a:avLst>
              <a:gd name="adj" fmla="val 128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950172" y="3595684"/>
            <a:ext cx="0" cy="2970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059709" y="3690934"/>
            <a:ext cx="4039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min total</a:t>
            </a:r>
            <a:endParaRPr lang="en-US" sz="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16F6102-011D-A2F5-36D4-E93086CD32D5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>
            <a:off x="3620541" y="2342852"/>
            <a:ext cx="254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7C76FEB-8E26-34AF-E2C6-FC424A63F147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>
            <a:off x="4827091" y="2342852"/>
            <a:ext cx="254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B024944-C897-FA11-25F8-685A1C221505}"/>
              </a:ext>
            </a:extLst>
          </p:cNvPr>
          <p:cNvCxnSpPr>
            <a:stCxn id="8" idx="2"/>
            <a:endCxn id="19" idx="0"/>
          </p:cNvCxnSpPr>
          <p:nvPr/>
        </p:nvCxnSpPr>
        <p:spPr>
          <a:xfrm>
            <a:off x="4349530" y="1620068"/>
            <a:ext cx="1311" cy="403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36595E2-C484-2186-65F9-F1BDE1D41F63}"/>
              </a:ext>
            </a:extLst>
          </p:cNvPr>
          <p:cNvCxnSpPr>
            <a:stCxn id="19" idx="2"/>
            <a:endCxn id="29" idx="0"/>
          </p:cNvCxnSpPr>
          <p:nvPr/>
        </p:nvCxnSpPr>
        <p:spPr>
          <a:xfrm flipH="1">
            <a:off x="4350767" y="2661865"/>
            <a:ext cx="74" cy="312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004889E-BA24-BA14-518D-6A981708399B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3606403" y="1458143"/>
            <a:ext cx="3028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285B106-AE4F-1F63-2BA6-D6A9A1CE0FF3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4789838" y="1458143"/>
            <a:ext cx="2466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Equations: Training Objective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9625"/>
            <a:ext cx="4114800" cy="858887"/>
          </a:xfrm>
          <a:prstGeom prst="roundRect">
            <a:avLst>
              <a:gd name="adj" fmla="val 8872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5869" y="981075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OBJECTIVE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475869" y="1139130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S* = argmax P(S|C; theta)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75869" y="135046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argmax prod P(s</a:t>
            </a: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s&lt;t, C; theta)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744712"/>
            <a:ext cx="4114800" cy="782687"/>
          </a:xfrm>
          <a:prstGeom prst="roundRect">
            <a:avLst>
              <a:gd name="adj" fmla="val 730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1759000"/>
            <a:ext cx="411480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300" y="1925687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 LOSS (per phase)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56438" y="2083743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= -1/|Dp| sum sum log P(st | s&lt;t, C)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56438" y="2268438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over samples in phase, sum over tokens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81000" y="2603599"/>
            <a:ext cx="4114800" cy="1514326"/>
          </a:xfrm>
          <a:prstGeom prst="roundRect">
            <a:avLst>
              <a:gd name="adj" fmla="val 377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1000" y="2617887"/>
            <a:ext cx="411480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5300" y="2784574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SCHEDULE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56438" y="294263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eta_p = eta_0 x gamma^(p-1)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95300" y="3127325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eta_0 = 5e-5, gamma = 0.5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5300" y="3432125"/>
            <a:ext cx="39639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5e-5, Phase 2: 2.5e-5, Phase 3: 1.25e-5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48200" y="809625"/>
            <a:ext cx="4114800" cy="719882"/>
          </a:xfrm>
          <a:prstGeom prst="roundRect">
            <a:avLst>
              <a:gd name="adj" fmla="val 793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809625"/>
            <a:ext cx="0" cy="719882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923925"/>
            <a:ext cx="39250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 TRAINING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00600" y="1095375"/>
            <a:ext cx="392506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theta* = Train(Train(Train(theta_0, D_easy), D_medium), D_hard)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800600" y="1270546"/>
            <a:ext cx="392506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builds on the previous checkpoint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648200" y="1605707"/>
            <a:ext cx="4114800" cy="1314450"/>
          </a:xfrm>
          <a:prstGeom prst="roundRect">
            <a:avLst>
              <a:gd name="adj" fmla="val 434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1605707"/>
            <a:ext cx="0" cy="1314450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720007"/>
            <a:ext cx="39250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LR DECAY?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600" y="189145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Prevents catastrophic forgetting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219625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Finer updates for harder examples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2501057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Stabilizes training progression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48200" y="2996357"/>
            <a:ext cx="4114800" cy="1314450"/>
          </a:xfrm>
          <a:prstGeom prst="roundRect">
            <a:avLst>
              <a:gd name="adj" fmla="val 4348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62500" y="3110657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 THRESHOLDS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62500" y="328210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tau_33 = 22% (33rd percentile CMI)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62500" y="358690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tau_66 = 42% (66th percentile CMI)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62500" y="3891707"/>
            <a:ext cx="39639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splits: ~861 samples each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CSCL Training Loop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503679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1. Compute CMI and sort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238250"/>
            <a:ext cx="3609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= sorted(train, key=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x: cmi(x))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250" y="15430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2. Split into 3 phases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250" y="18478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05" y="2152650"/>
            <a:ext cx="262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= [data[:n//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Easy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36573" y="2453858"/>
            <a:ext cx="2120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data[n//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Med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36573" y="2755066"/>
            <a:ext cx="1838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data[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*n//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:]]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Hard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6250" y="30670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3. Train with LR decay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250" y="33718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i, phase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(phases):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805" y="3676650"/>
            <a:ext cx="16138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= 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 (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4805" y="3981450"/>
            <a:ext cx="28988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train(model, phase, lr, epochs=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32090" y="800100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08290" y="876300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BY CMI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608290" y="1017240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examples first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5532090" y="1272480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08290" y="1348680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 SPLITS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608290" y="1489621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~861 samples per phase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5532090" y="1744861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08290" y="1821061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 DECAY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608290" y="1962001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5e-5 -&gt; 2.5e-5 -&gt; 1.25e-5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5532090" y="2217241"/>
            <a:ext cx="323091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08290" y="2293441"/>
            <a:ext cx="31400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SEQUENTIAL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608290" y="2434382"/>
            <a:ext cx="314008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builds on previous</a:t>
            </a:r>
            <a:endParaRPr lang="en-US" sz="5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Selection: What We Tried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838200"/>
            <a:ext cx="0" cy="426690"/>
          </a:xfrm>
          <a:prstGeom prst="line">
            <a:avLst/>
          </a:prstGeom>
          <a:noFill/>
          <a:ln w="28575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5774" y="914400"/>
            <a:ext cx="657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mBART-50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85775" y="1057275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for MT. Poor on summarization.</a:t>
            </a:r>
            <a:endParaRPr lang="en-US" sz="525" dirty="0"/>
          </a:p>
        </p:txBody>
      </p:sp>
      <p:sp>
        <p:nvSpPr>
          <p:cNvPr id="8" name="Text 6"/>
          <p:cNvSpPr/>
          <p:nvPr/>
        </p:nvSpPr>
        <p:spPr>
          <a:xfrm>
            <a:off x="381000" y="1312515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F8D7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1312515"/>
            <a:ext cx="0" cy="426690"/>
          </a:xfrm>
          <a:prstGeom prst="line">
            <a:avLst/>
          </a:prstGeom>
          <a:noFill/>
          <a:ln w="28575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5775" y="1388714"/>
            <a:ext cx="4634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1531590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101-language T5. Struggles with code-mixed input.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381000" y="1786830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5288" y="1786830"/>
            <a:ext cx="0" cy="426690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5775" y="1863029"/>
            <a:ext cx="7317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2005905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proportional gain. 2.5x slower, 2x memory.</a:t>
            </a:r>
            <a:endParaRPr lang="en-US" sz="525" dirty="0"/>
          </a:p>
        </p:txBody>
      </p:sp>
      <p:sp>
        <p:nvSpPr>
          <p:cNvPr id="16" name="Text 14"/>
          <p:cNvSpPr/>
          <p:nvPr/>
        </p:nvSpPr>
        <p:spPr>
          <a:xfrm>
            <a:off x="381000" y="2261146"/>
            <a:ext cx="4133850" cy="426690"/>
          </a:xfrm>
          <a:prstGeom prst="roundRect">
            <a:avLst>
              <a:gd name="adj" fmla="val 892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5288" y="2261146"/>
            <a:ext cx="0" cy="426690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775" y="2337346"/>
            <a:ext cx="11740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Llama-3.2-3B-Instruct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5775" y="2480221"/>
            <a:ext cx="403193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225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balance: 100+ langs, efficient, 6 min train.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629150" y="838200"/>
            <a:ext cx="4133850" cy="1512540"/>
          </a:xfrm>
          <a:prstGeom prst="roundRect">
            <a:avLst>
              <a:gd name="adj" fmla="val 2519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05350" y="91440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LLAMA-3.2-3B WON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705350" y="10553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Decoder-only = better generation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5350" y="13601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Instruction-tuned for tasks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5350" y="16649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100+ language pretraining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5350" y="196974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Efficient with LoRA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29150" y="2398365"/>
            <a:ext cx="4133850" cy="921990"/>
          </a:xfrm>
          <a:prstGeom prst="roundRect">
            <a:avLst>
              <a:gd name="adj" fmla="val 41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29150" y="2407890"/>
            <a:ext cx="413385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5350" y="2493615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ENCODER-DECODER?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05350" y="263455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mBART/mT5 = translation focus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5350" y="293935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 scales better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29150" y="3367980"/>
            <a:ext cx="4133850" cy="921990"/>
          </a:xfrm>
          <a:prstGeom prst="roundRect">
            <a:avLst>
              <a:gd name="adj" fmla="val 41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29150" y="3377505"/>
            <a:ext cx="4133850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5350" y="346323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8B?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705350" y="360417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Diminishing returns on this task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705350" y="390897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captures code-mixing patterns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Llama-3.2-3B?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417766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EVALUATED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097161"/>
            <a:ext cx="4095750" cy="542925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97161"/>
            <a:ext cx="0" cy="542925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4350" y="1192411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mBART-50 / mT5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137338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performance despite multilingual pretraining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1716286"/>
            <a:ext cx="4095750" cy="542925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716286"/>
            <a:ext cx="0" cy="542925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4350" y="1811536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199251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2.5x compute, gains not proportional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335411"/>
            <a:ext cx="4095750" cy="542925"/>
          </a:xfrm>
          <a:prstGeom prst="roundRect">
            <a:avLst>
              <a:gd name="adj" fmla="val 10526"/>
            </a:avLst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335411"/>
            <a:ext cx="0" cy="542925"/>
          </a:xfrm>
          <a:prstGeom prst="line">
            <a:avLst/>
          </a:prstGeom>
          <a:noFill/>
          <a:ln w="381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350" y="2430661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 (Selected)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4350" y="261163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balance of performance and efficiency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67250" y="895350"/>
            <a:ext cx="4177665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WORKS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67250" y="1116211"/>
            <a:ext cx="4095750" cy="2869109"/>
          </a:xfrm>
          <a:prstGeom prst="roundRect">
            <a:avLst>
              <a:gd name="adj" fmla="val 199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7250" y="1130498"/>
            <a:ext cx="40957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81550" y="1259086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Language Pretraining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1550" y="144006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Tamil, Mandarin, Malay knowledge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81550" y="1668661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Instruction-Tuned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81550" y="1849636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summarization format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81550" y="2078236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Compatible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1550" y="2259211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0.26% params trainable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67250" y="4080570"/>
            <a:ext cx="4095750" cy="796230"/>
          </a:xfrm>
          <a:prstGeom prst="roundRect">
            <a:avLst>
              <a:gd name="adj" fmla="val 7178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42879" y="4232970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42879" y="459105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A100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Llama-3.2-3B: Why It Works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33850" cy="388590"/>
          </a:xfrm>
          <a:prstGeom prst="roundRect">
            <a:avLst>
              <a:gd name="adj" fmla="val 980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81000" y="1274415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274415"/>
            <a:ext cx="0" cy="418058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5775" y="1350615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85775" y="1491555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languages including Hindi, Tamil, Mandarin, Malay.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381000" y="1740098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1740098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5775" y="1816298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INSTRUCTION-TUNED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85775" y="1957239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"-Instruct" variant better at task comprehension.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381000" y="2205782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205782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5775" y="2281982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DECODER-ONLY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85775" y="2422922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generation. No encoder bottleneck.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4629150" y="838200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29150" y="847725"/>
            <a:ext cx="4133850" cy="0"/>
          </a:xfrm>
          <a:prstGeom prst="line">
            <a:avLst/>
          </a:prstGeom>
          <a:noFill/>
          <a:ln w="1905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5350" y="93345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LLAMA-8B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705350" y="10743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8B: 2.5x params, 2x memory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05350" y="13791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Gain: marginal (~2-3%)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5350" y="16839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is the sweet spot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29150" y="2112615"/>
            <a:ext cx="4133850" cy="921990"/>
          </a:xfrm>
          <a:prstGeom prst="roundRect">
            <a:avLst>
              <a:gd name="adj" fmla="val 41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29150" y="2122140"/>
            <a:ext cx="413385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5350" y="2207865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mBART/mT5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705350" y="23488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CroCoSum: ROUGE-L ~0.25-0.30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5350" y="26536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We: 0.340 (+40%)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29150" y="3082230"/>
            <a:ext cx="4133850" cy="647551"/>
          </a:xfrm>
          <a:prstGeom prst="roundRect">
            <a:avLst>
              <a:gd name="adj" fmla="val 5884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350" y="315843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267608" y="3337471"/>
            <a:ext cx="1685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67608" y="3535561"/>
            <a:ext cx="168503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6559440" y="3337471"/>
            <a:ext cx="304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24GB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59440" y="3535561"/>
            <a:ext cx="30467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7987759" y="3337471"/>
            <a:ext cx="1361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87759" y="3535561"/>
            <a:ext cx="136169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</a:t>
            </a:r>
            <a:endParaRPr lang="en-US" sz="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Llama-3.2: Attention Mechanism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905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826740"/>
          </a:xfrm>
          <a:prstGeom prst="roundRect">
            <a:avLst>
              <a:gd name="adj" fmla="val 576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SELF-ATTENTION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895725" cy="426690"/>
          </a:xfrm>
          <a:prstGeom prst="roundRect">
            <a:avLst>
              <a:gd name="adj" fmla="val 892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3498" y="1257300"/>
            <a:ext cx="377932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Attention(Q,K,V) = softmax(QKᵀ / √dₖ) 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1722090"/>
            <a:ext cx="4124325" cy="1306116"/>
          </a:xfrm>
          <a:prstGeom prst="roundRect">
            <a:avLst>
              <a:gd name="adj" fmla="val 36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1722090"/>
            <a:ext cx="0" cy="1306116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875" y="183639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3875" y="2007840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Linear Projections: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0075" y="2152501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xWQ, K = xWK, V = xWV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3875" y="231621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Attention Scores: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0075" y="2460873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= QKᵀ / √dₖ (scaled dot-product)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23875" y="262458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Softmax + Output: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0075" y="2769245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softmax(scores) × V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81000" y="3085356"/>
            <a:ext cx="4124325" cy="834033"/>
          </a:xfrm>
          <a:prstGeom prst="roundRect">
            <a:avLst>
              <a:gd name="adj" fmla="val 571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5288" y="3085356"/>
            <a:ext cx="0" cy="834033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875" y="3199656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SCALE BY √dₖ?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23875" y="337110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dot products from growing too large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23875" y="3515767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values → softmax saturates → vanishing gradients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3875" y="366042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dₖ = 96 (3072 / 32 heads)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638675" y="838200"/>
            <a:ext cx="4124325" cy="1285429"/>
          </a:xfrm>
          <a:prstGeom prst="roundRect">
            <a:avLst>
              <a:gd name="adj" fmla="val 37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2963" y="838200"/>
            <a:ext cx="0" cy="1285429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ROTARY POSITION EMBEDDINGS (RoPE)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81550" y="1123950"/>
            <a:ext cx="3867150" cy="394246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0318" y="1247775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q̃ₘ = RΘ,ₘ qₘ , k̃ₙ = RΘ,ₙ kₙ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81550" y="157534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RΘ,ₘ : Rotation matrix at position m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81550" y="1720007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 relative position via rotation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81550" y="186466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learned position embeddings needed!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638675" y="2180779"/>
            <a:ext cx="4124325" cy="1390055"/>
          </a:xfrm>
          <a:prstGeom prst="roundRect">
            <a:avLst>
              <a:gd name="adj" fmla="val 342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52975" y="2295079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MULTI-HEAD ATTENTION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52975" y="2466529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32 parallel attention heads: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52975" y="264928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Heads: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719888" y="264928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52975" y="287015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d_model: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719888" y="287015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3072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309101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d_head: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719888" y="309101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752975" y="331187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6719888" y="331187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8192 tokens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638675" y="3627983"/>
            <a:ext cx="4124325" cy="834033"/>
          </a:xfrm>
          <a:prstGeom prst="roundRect">
            <a:avLst>
              <a:gd name="adj" fmla="val 571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52975" y="3742283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MASKING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52975" y="3913733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Decoder-only: each token only attends to previous tokens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52975" y="4058394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autoregressive generation: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52975" y="4203055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P(sₜ | s₁, s₂, ..., sₜ₋₁, C)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0999"/>
            <a:ext cx="481219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Llama-3.2: Feed-Forward Network (SwiGLU)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2667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813346"/>
          </a:xfrm>
          <a:prstGeom prst="roundRect">
            <a:avLst>
              <a:gd name="adj" fmla="val 585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SwiGLU ACTIVATION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895725" cy="413296"/>
          </a:xfrm>
          <a:prstGeom prst="roundRect">
            <a:avLst>
              <a:gd name="adj" fmla="val 921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3498" y="1257300"/>
            <a:ext cx="37793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FFN(x) = (Swish(xW_gate) ⊙ xW_up) W_down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708696"/>
            <a:ext cx="4124325" cy="1614488"/>
          </a:xfrm>
          <a:prstGeom prst="roundRect">
            <a:avLst>
              <a:gd name="adj" fmla="val 295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5288" y="1708696"/>
            <a:ext cx="0" cy="161448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3875" y="1822996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3875" y="199444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Gate projection: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0075" y="2139107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= xW_gate (3072 → 8192)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3875" y="230281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 projection: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0075" y="2447479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= xW_up (3072 → 8192)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23875" y="2611189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Gated activation: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0075" y="2755850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= Swish(gate) ⊙ up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23875" y="291956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Down projection: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00075" y="3064222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hidden × W_down (8192 → 3072)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000" y="3380333"/>
            <a:ext cx="4124325" cy="977057"/>
          </a:xfrm>
          <a:prstGeom prst="roundRect">
            <a:avLst>
              <a:gd name="adj" fmla="val 487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95288" y="3380333"/>
            <a:ext cx="0" cy="977057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875" y="3494633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SWISH FUNCTION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3875" y="3666083"/>
            <a:ext cx="3867150" cy="394246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2643" y="3789908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Swish(x) = x × σ(x) = x × (1/(1+e⁻ˣ))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23875" y="4098429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Smooth, non-monotonic activation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1123355"/>
          </a:xfrm>
          <a:prstGeom prst="roundRect">
            <a:avLst>
              <a:gd name="adj" fmla="val 424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2963" y="838200"/>
            <a:ext cx="0" cy="112335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SwiGLU?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81550" y="1123950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 (Gated Linear Unit) controls information flow: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81550" y="126861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⊙ value: element-wise multiplication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81550" y="141327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learns WHAT to pass through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81550" y="1557933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learns WHAT information to represent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81550" y="170259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Better gradient flow, faster training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38675" y="2018705"/>
            <a:ext cx="4124325" cy="1245394"/>
          </a:xfrm>
          <a:prstGeom prst="roundRect">
            <a:avLst>
              <a:gd name="adj" fmla="val 382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52975" y="2133005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 BREAKDOWN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52975" y="2342555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d_model: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719888" y="2342555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3,072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2975" y="2563416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d_ff (hidden):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719888" y="2563416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8,192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2975" y="2784277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ratio: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719888" y="2784277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2.67x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2975" y="3005138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Layers: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719888" y="3005138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638675" y="3321248"/>
            <a:ext cx="4124325" cy="889397"/>
          </a:xfrm>
          <a:prstGeom prst="roundRect">
            <a:avLst>
              <a:gd name="adj" fmla="val 535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52975" y="3435548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ON FFN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52975" y="3606998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apply LoRA to FFN projections too: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52975" y="3951684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knowledge storage, not just attention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1524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55006" y="809625"/>
            <a:ext cx="966788" cy="310455"/>
          </a:xfrm>
          <a:prstGeom prst="roundRect">
            <a:avLst>
              <a:gd name="adj" fmla="val 12272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78831" y="904875"/>
            <a:ext cx="7335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Code-Mixed Input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2414588" y="1186755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093863" y="1386780"/>
            <a:ext cx="688925" cy="258961"/>
          </a:xfrm>
          <a:prstGeom prst="roundRect">
            <a:avLst>
              <a:gd name="adj" fmla="val 1471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89113" y="1462980"/>
            <a:ext cx="50839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 Tokenizer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414588" y="1712416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76127" y="1912441"/>
            <a:ext cx="1124545" cy="258961"/>
          </a:xfrm>
          <a:prstGeom prst="roundRect">
            <a:avLst>
              <a:gd name="adj" fmla="val 14713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71377" y="1988641"/>
            <a:ext cx="952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RoPE Embeddings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414588" y="2238077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76400" y="2438102"/>
            <a:ext cx="1524000" cy="1104751"/>
          </a:xfrm>
          <a:prstGeom prst="roundRect">
            <a:avLst>
              <a:gd name="adj" fmla="val 5173"/>
            </a:avLst>
          </a:prstGeom>
          <a:solidFill>
            <a:srgbClr val="F8F8F8"/>
          </a:solidFill>
          <a:ln w="19050">
            <a:solidFill>
              <a:srgbClr val="011F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58315" y="2571452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x32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1771650" y="2729508"/>
            <a:ext cx="1333500" cy="226665"/>
          </a:xfrm>
          <a:prstGeom prst="roundRect">
            <a:avLst>
              <a:gd name="adj" fmla="val 12607"/>
            </a:avLst>
          </a:prstGeom>
          <a:solidFill>
            <a:srgbClr val="CCE5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87462" y="2796183"/>
            <a:ext cx="13018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004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Attn + LoRA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1771650" y="2984748"/>
            <a:ext cx="1333500" cy="207615"/>
          </a:xfrm>
          <a:prstGeom prst="roundRect">
            <a:avLst>
              <a:gd name="adj" fmla="val 13763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77746" y="3041898"/>
            <a:ext cx="132130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1771650" y="3220938"/>
            <a:ext cx="1333500" cy="226665"/>
          </a:xfrm>
          <a:prstGeom prst="roundRect">
            <a:avLst>
              <a:gd name="adj" fmla="val 1260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87462" y="3287613"/>
            <a:ext cx="130187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 FFN + LoRA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2414588" y="3609529"/>
            <a:ext cx="48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62001" y="3809554"/>
            <a:ext cx="952798" cy="291405"/>
          </a:xfrm>
          <a:prstGeom prst="roundRect">
            <a:avLst>
              <a:gd name="adj" fmla="val 13075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076301" y="3895279"/>
            <a:ext cx="7386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Summary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48200" y="809625"/>
            <a:ext cx="4114800" cy="601861"/>
          </a:xfrm>
          <a:prstGeom prst="roundRect">
            <a:avLst>
              <a:gd name="adj" fmla="val 633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8200" y="819150"/>
            <a:ext cx="4114800" cy="0"/>
          </a:xfrm>
          <a:prstGeom prst="line">
            <a:avLst/>
          </a:prstGeom>
          <a:noFill/>
          <a:ln w="1905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43450" y="923925"/>
            <a:ext cx="4002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LLAMA-3.2-3B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43450" y="1095375"/>
            <a:ext cx="546348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0600" y="1152525"/>
            <a:ext cx="4406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3.2B params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327898" y="1095375"/>
            <a:ext cx="423565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85048" y="1152525"/>
            <a:ext cx="3154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layers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789563" y="1095375"/>
            <a:ext cx="427881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46713" y="1152525"/>
            <a:ext cx="3198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heads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255544" y="1095375"/>
            <a:ext cx="370731" cy="220861"/>
          </a:xfrm>
          <a:prstGeom prst="roundRect">
            <a:avLst>
              <a:gd name="adj" fmla="val 12938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12694" y="1152525"/>
            <a:ext cx="2615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d=3072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648200" y="1468636"/>
            <a:ext cx="4114800" cy="2651968"/>
          </a:xfrm>
          <a:prstGeom prst="roundRect">
            <a:avLst>
              <a:gd name="adj" fmla="val 14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48200" y="1478161"/>
            <a:ext cx="411480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43450" y="1582936"/>
            <a:ext cx="40027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CONFIG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43450" y="1754386"/>
            <a:ext cx="3924300" cy="356146"/>
          </a:xfrm>
          <a:prstGeom prst="roundRect">
            <a:avLst>
              <a:gd name="adj" fmla="val 8023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72216" y="185916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W' = W₀ + BA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743450" y="2167682"/>
            <a:ext cx="374005" cy="253305"/>
          </a:xfrm>
          <a:prstGeom prst="roundRect">
            <a:avLst>
              <a:gd name="adj" fmla="val 11281"/>
            </a:avLst>
          </a:prstGeom>
          <a:solidFill>
            <a:srgbClr val="990000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19650" y="2234357"/>
            <a:ext cx="2260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16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174605" y="2167682"/>
            <a:ext cx="395139" cy="253305"/>
          </a:xfrm>
          <a:prstGeom prst="roundRect">
            <a:avLst>
              <a:gd name="adj" fmla="val 11281"/>
            </a:avLst>
          </a:prstGeom>
          <a:solidFill>
            <a:srgbClr val="990000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50805" y="2234357"/>
            <a:ext cx="2475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= 32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4743450" y="2497187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(7 modules):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743450" y="2655243"/>
            <a:ext cx="364331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19650" y="2721918"/>
            <a:ext cx="216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q_proj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145881" y="2655243"/>
            <a:ext cx="360015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222081" y="2721918"/>
            <a:ext cx="2117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k_proj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5543996" y="2655243"/>
            <a:ext cx="360015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620196" y="2721918"/>
            <a:ext cx="2117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v_proj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42112" y="2655243"/>
            <a:ext cx="364331" cy="239911"/>
          </a:xfrm>
          <a:prstGeom prst="roundRect">
            <a:avLst>
              <a:gd name="adj" fmla="val 1191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18312" y="2721918"/>
            <a:ext cx="2161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o_proj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43450" y="2933254"/>
            <a:ext cx="470148" cy="239911"/>
          </a:xfrm>
          <a:prstGeom prst="roundRect">
            <a:avLst>
              <a:gd name="adj" fmla="val 11911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19650" y="2999929"/>
            <a:ext cx="32410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gate_proj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251698" y="2933254"/>
            <a:ext cx="406598" cy="239911"/>
          </a:xfrm>
          <a:prstGeom prst="roundRect">
            <a:avLst>
              <a:gd name="adj" fmla="val 11911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327898" y="2999929"/>
            <a:ext cx="2592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up_proj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96396" y="2933254"/>
            <a:ext cx="504081" cy="239911"/>
          </a:xfrm>
          <a:prstGeom prst="roundRect">
            <a:avLst>
              <a:gd name="adj" fmla="val 11911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772596" y="2999929"/>
            <a:ext cx="3587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down_proj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648200" y="4177754"/>
            <a:ext cx="4114800" cy="546646"/>
          </a:xfrm>
          <a:prstGeom prst="roundRect">
            <a:avLst>
              <a:gd name="adj" fmla="val 6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227302" y="4292054"/>
            <a:ext cx="302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227302" y="4516785"/>
            <a:ext cx="30239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</a:t>
            </a:r>
            <a:endParaRPr lang="en-US" sz="525" dirty="0"/>
          </a:p>
        </p:txBody>
      </p:sp>
      <p:sp>
        <p:nvSpPr>
          <p:cNvPr id="62" name="Text 60"/>
          <p:cNvSpPr/>
          <p:nvPr/>
        </p:nvSpPr>
        <p:spPr>
          <a:xfrm>
            <a:off x="6535798" y="4292054"/>
            <a:ext cx="2873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2hrs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535798" y="4516785"/>
            <a:ext cx="28736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525" dirty="0"/>
          </a:p>
        </p:txBody>
      </p:sp>
      <p:sp>
        <p:nvSpPr>
          <p:cNvPr id="64" name="Text 62"/>
          <p:cNvSpPr/>
          <p:nvPr/>
        </p:nvSpPr>
        <p:spPr>
          <a:xfrm>
            <a:off x="7828745" y="4292054"/>
            <a:ext cx="355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24GB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828745" y="4516785"/>
            <a:ext cx="35537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5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LoRA?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952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1152376"/>
          </a:xfrm>
          <a:prstGeom prst="roundRect">
            <a:avLst>
              <a:gd name="adj" fmla="val 413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52488"/>
            <a:ext cx="4124325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6250" y="962025"/>
            <a:ext cx="40125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LOW-RANK ADAPTATION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6250" y="1114425"/>
            <a:ext cx="3933825" cy="4076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4351" y="1238250"/>
            <a:ext cx="38376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= W0x + (α/r)BAx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250" y="1579215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W0: Frozen (3.2B)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6250" y="1737271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B,A: Trainable, r=16, α=32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047726"/>
            <a:ext cx="4124325" cy="817066"/>
          </a:xfrm>
          <a:prstGeom prst="roundRect">
            <a:avLst>
              <a:gd name="adj" fmla="val 582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5288" y="2047726"/>
            <a:ext cx="0" cy="817066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4825" y="2142976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FULL FINE-TUNE?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4825" y="2295376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3.2B params = massive memory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504825" y="2453432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forgetting risk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04825" y="2611487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GPUs required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38675" y="838200"/>
            <a:ext cx="4124325" cy="956072"/>
          </a:xfrm>
          <a:prstGeom prst="roundRect">
            <a:avLst>
              <a:gd name="adj" fmla="val 498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94587" y="971550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94587" y="1129605"/>
            <a:ext cx="40125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94587" y="1540966"/>
            <a:ext cx="40125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3.2B (0.26%)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638675" y="1851422"/>
            <a:ext cx="4124325" cy="674340"/>
          </a:xfrm>
          <a:prstGeom prst="roundRect">
            <a:avLst>
              <a:gd name="adj" fmla="val 706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3925" y="1946672"/>
            <a:ext cx="40125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(7)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33925" y="2299097"/>
            <a:ext cx="401250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Blue=Attention, Red=FFN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4638675" y="2582912"/>
            <a:ext cx="4124325" cy="546646"/>
          </a:xfrm>
          <a:prstGeom prst="roundRect">
            <a:avLst>
              <a:gd name="adj" fmla="val 871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91659" y="2697212"/>
            <a:ext cx="3553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24GB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91659" y="2921943"/>
            <a:ext cx="35537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6499564" y="2697212"/>
            <a:ext cx="4765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1xA100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9564" y="2921943"/>
            <a:ext cx="4765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7929350" y="2697212"/>
            <a:ext cx="2797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29350" y="2921943"/>
            <a:ext cx="27977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5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11F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LoRA: Low-Rank Adaptation for Efficient Fine-tuning</a:t>
            </a:r>
            <a:endParaRPr lang="en-US" sz="1800" dirty="0"/>
          </a:p>
        </p:txBody>
      </p:sp>
      <p:pic>
        <p:nvPicPr>
          <p:cNvPr id="4" name="Image 0" descr="/home/claude/pptx/img_lora.png"/>
          <p:cNvPicPr>
            <a:picLocks noChangeAspect="1"/>
          </p:cNvPicPr>
          <p:nvPr/>
        </p:nvPicPr>
        <p:blipFill>
          <a:blip r:embed="rId3"/>
          <a:srcRect t="8571"/>
          <a:stretch>
            <a:fillRect/>
          </a:stretch>
        </p:blipFill>
        <p:spPr>
          <a:xfrm>
            <a:off x="274320" y="914400"/>
            <a:ext cx="8595360" cy="38457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LoRA: Mathematical Foundation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905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558105"/>
          </a:xfrm>
          <a:prstGeom prst="roundRect">
            <a:avLst>
              <a:gd name="adj" fmla="val 853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973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updating all 3.2B parameters, decompose weight updates into low-rank matrices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81000" y="1453455"/>
            <a:ext cx="4124325" cy="1350169"/>
          </a:xfrm>
          <a:prstGeom prst="roundRect">
            <a:avLst>
              <a:gd name="adj" fmla="val 352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1453455"/>
            <a:ext cx="0" cy="1350169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3875" y="1567755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PASS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3875" y="1739205"/>
            <a:ext cx="3867150" cy="458986"/>
          </a:xfrm>
          <a:prstGeom prst="roundRect">
            <a:avLst>
              <a:gd name="adj" fmla="val 8301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074" y="1882080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= W₀x + ΔWx = W₀x + BAx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3875" y="225534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W₀ : Original weights (FROZEN)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3875" y="240000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: Down-projection (d × r)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3875" y="2544663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: Up-projection (r × k)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81000" y="2860774"/>
            <a:ext cx="4124325" cy="1005483"/>
          </a:xfrm>
          <a:prstGeom prst="roundRect">
            <a:avLst>
              <a:gd name="adj" fmla="val 47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2860774"/>
            <a:ext cx="0" cy="1005483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875" y="2975074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REDUCTION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3875" y="314652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fine-tune: d × k parameters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23875" y="3291185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r × (d + k) parameters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23875" y="3454896"/>
            <a:ext cx="3867150" cy="297061"/>
          </a:xfrm>
          <a:prstGeom prst="roundRect">
            <a:avLst>
              <a:gd name="adj" fmla="val 961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1025" y="3550146"/>
            <a:ext cx="382790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r=16, d=3072: </a:t>
            </a:r>
            <a:r>
              <a:rPr lang="en-US" sz="6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99.74% reduction!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638675" y="838200"/>
            <a:ext cx="4124325" cy="1350169"/>
          </a:xfrm>
          <a:prstGeom prst="roundRect">
            <a:avLst>
              <a:gd name="adj" fmla="val 352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52963" y="838200"/>
            <a:ext cx="0" cy="1350169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FACTOR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81550" y="1123950"/>
            <a:ext cx="3867150" cy="458986"/>
          </a:xfrm>
          <a:prstGeom prst="roundRect">
            <a:avLst>
              <a:gd name="adj" fmla="val 8301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49749" y="1266825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ΔW = (α/r) × BA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781550" y="1640086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(alpha) = 32 : Scaling hyperparameter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781550" y="1784747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(rank) = 16 : Bottleneck dimension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81550" y="1929408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scaling: α/r = 32/16 = 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638675" y="2245519"/>
            <a:ext cx="4124325" cy="1245394"/>
          </a:xfrm>
          <a:prstGeom prst="roundRect">
            <a:avLst>
              <a:gd name="adj" fmla="val 382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52975" y="2359819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CONFIGURATION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52975" y="256936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(r):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719888" y="2569369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752975" y="279023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(α):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719888" y="2790230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52975" y="301109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719888" y="3011091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323195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Trainable: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719888" y="3231952"/>
            <a:ext cx="196738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 (0.26%)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638675" y="3548063"/>
            <a:ext cx="4124325" cy="693390"/>
          </a:xfrm>
          <a:prstGeom prst="roundRect">
            <a:avLst>
              <a:gd name="adj" fmla="val 68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52975" y="3662362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MODULES (7)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52975" y="3995738"/>
            <a:ext cx="397364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= Attention projections, Red = FFN projections</a:t>
            </a:r>
            <a:endParaRPr lang="en-US" sz="5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LoRA Configuration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503679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peft </a:t>
            </a:r>
            <a:r>
              <a:rPr lang="en-US" sz="1500" dirty="0">
                <a:solidFill>
                  <a:srgbClr val="C58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LoraConfig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2382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= </a:t>
            </a:r>
            <a:r>
              <a:rPr lang="en-US" sz="1500" dirty="0">
                <a:solidFill>
                  <a:srgbClr val="DCD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LoraConfig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6063" y="1538315"/>
            <a:ext cx="227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Rank (bottleneck)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6063" y="1840721"/>
            <a:ext cx="227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lora_alpha=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Scaling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6063" y="2138965"/>
            <a:ext cx="1551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target_modules=[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2095" y="2437209"/>
            <a:ext cx="2967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"q_proj","k_proj","v_proj","o_proj"</a:t>
            </a: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92095" y="2745053"/>
            <a:ext cx="2967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"gate_proj","up_proj","down_proj"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6063" y="3058451"/>
            <a:ext cx="4598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],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6063" y="3371850"/>
            <a:ext cx="16921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lora_dropout=</a:t>
            </a:r>
            <a:r>
              <a:rPr lang="en-US" sz="150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250" y="36766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250" y="3981450"/>
            <a:ext cx="49432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A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Result: 8.4M trainable (0.26%)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32090" y="800100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46378" y="800100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36865" y="876300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r=16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636865" y="1017240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dim. Higher = more capacity but more params.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5532090" y="1265783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46378" y="1265783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36865" y="1341983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alpha/r = 2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636865" y="1482923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factor. Controls LoRA output magnitude.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5532090" y="1731466"/>
            <a:ext cx="323091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46378" y="1731466"/>
            <a:ext cx="0" cy="418058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36865" y="1807666"/>
            <a:ext cx="3110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TARGETS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5636865" y="1948607"/>
            <a:ext cx="3110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attention (QKVO) + FFN projections.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5532090" y="2197150"/>
            <a:ext cx="3230910" cy="335161"/>
          </a:xfrm>
          <a:prstGeom prst="roundRect">
            <a:avLst>
              <a:gd name="adj" fmla="val 11368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77505" y="2311450"/>
            <a:ext cx="314008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8.4M</a:t>
            </a: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3.2B = </a:t>
            </a: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0.26%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Prompt Template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00100"/>
            <a:ext cx="4633020" cy="3886200"/>
          </a:xfrm>
          <a:prstGeom prst="roundRect">
            <a:avLst>
              <a:gd name="adj" fmla="val 1225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9334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&lt;|begin_of_text|&gt;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6250" y="12382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&lt;|start_header_id|&gt;system&lt;|end_header_id|&gt;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250" y="15430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helpful assistant that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6250" y="18478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conversations. Provide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6250" y="21526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English summary.&lt;|eot_id|&gt;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6250" y="24574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&lt;|start_header_id|&gt;user&lt;|end_header_id|&gt;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6250" y="27622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conversation: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6250" y="30670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{conversation}&lt;|eot_id|&gt;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250" y="3371850"/>
            <a:ext cx="4531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CE9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&lt;|start_header_id|&gt;assistant&lt;|end_header_id|&gt;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8320" y="800100"/>
            <a:ext cx="363468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142607" y="800100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3095" y="876300"/>
            <a:ext cx="35227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LLAMA-3.2 FORMAT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233095" y="1017240"/>
            <a:ext cx="3522780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tokens mark role boundaries. Required for instruction-tuned models.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5128320" y="1265783"/>
            <a:ext cx="363468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142607" y="1265783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33095" y="1341983"/>
            <a:ext cx="35227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233095" y="1482923"/>
            <a:ext cx="3522780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task. Explicitly requests English output.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5128320" y="1731466"/>
            <a:ext cx="363468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2607" y="1731466"/>
            <a:ext cx="0" cy="418058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33095" y="1807666"/>
            <a:ext cx="352278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{conversation}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233095" y="1948607"/>
            <a:ext cx="3522780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for code-mixed input text.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5128320" y="2197150"/>
            <a:ext cx="363468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04520" y="2273350"/>
            <a:ext cx="3551926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204520" y="2414290"/>
            <a:ext cx="355192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 formatting leverages instruction-following.</a:t>
            </a:r>
            <a:endParaRPr lang="en-US" sz="5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81000" y="628650"/>
            <a:ext cx="762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85825"/>
            <a:ext cx="4114800" cy="3198614"/>
          </a:xfrm>
          <a:prstGeom prst="roundRect">
            <a:avLst>
              <a:gd name="adj" fmla="val 178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04875"/>
            <a:ext cx="4114800" cy="0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038225"/>
            <a:ext cx="396392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CS-SUM (Training + In-Domain Test)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" y="1251496"/>
            <a:ext cx="3886200" cy="860822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550" y="1384846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Pairs: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90550" y="1542901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Mandarin-English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90550" y="1700957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Malay-English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90550" y="1859012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Tamil-English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95300" y="2188518"/>
            <a:ext cx="1905000" cy="573286"/>
          </a:xfrm>
          <a:prstGeom prst="roundRect">
            <a:avLst>
              <a:gd name="adj" fmla="val 664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3974" y="2302818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974" y="2554188"/>
            <a:ext cx="178765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2476500" y="2188518"/>
            <a:ext cx="1905000" cy="573286"/>
          </a:xfrm>
          <a:prstGeom prst="roundRect">
            <a:avLst>
              <a:gd name="adj" fmla="val 664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35174" y="2302818"/>
            <a:ext cx="17876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35174" y="2554188"/>
            <a:ext cx="178765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495300" y="2838004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CMI: 34.2%, Conv: 87 tokens, Sum: 19 tokens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95300" y="2982664"/>
            <a:ext cx="396392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Zhang and Eickhoff (LREC-COLING 2024)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648200" y="885825"/>
            <a:ext cx="4114800" cy="3198614"/>
          </a:xfrm>
          <a:prstGeom prst="roundRect">
            <a:avLst>
              <a:gd name="adj" fmla="val 178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904875"/>
            <a:ext cx="4114800" cy="0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2500" y="1038225"/>
            <a:ext cx="396392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GupShup (Zero-Shot Test)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2500" y="1251496"/>
            <a:ext cx="3886200" cy="689372"/>
          </a:xfrm>
          <a:prstGeom prst="roundRect">
            <a:avLst>
              <a:gd name="adj" fmla="val 55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0" y="1384846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Pair: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857750" y="1542901"/>
            <a:ext cx="3769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Hindi-English (UNSEEN!)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857750" y="1700957"/>
            <a:ext cx="3769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never sees Hindi during training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62500" y="2017068"/>
            <a:ext cx="3886200" cy="573286"/>
          </a:xfrm>
          <a:prstGeom prst="roundRect">
            <a:avLst>
              <a:gd name="adj" fmla="val 6646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1362" y="2131368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1362" y="2382738"/>
            <a:ext cx="380847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Samples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4762500" y="2666554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CMI: 41.7%, Conv: 92 tokens, Sum: 21 tokens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62500" y="2811214"/>
            <a:ext cx="396392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SAMSum (Gliwa et al., 2019)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381000" y="4313039"/>
            <a:ext cx="8382000" cy="335161"/>
          </a:xfrm>
          <a:prstGeom prst="roundRect">
            <a:avLst>
              <a:gd name="adj" fmla="val 11368"/>
            </a:avLst>
          </a:prstGeom>
          <a:solidFill>
            <a:srgbClr val="E8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95288" y="4313039"/>
            <a:ext cx="0" cy="335161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5775" y="4427339"/>
            <a:ext cx="8365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 on 3 language pairs (Mandarin/Malay/Tamil-EN), test zero-shot on unseen Hindi-English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8382000" cy="1979116"/>
          </a:xfrm>
          <a:prstGeom prst="roundRect">
            <a:avLst>
              <a:gd name="adj" fmla="val 288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009650"/>
            <a:ext cx="1251748" cy="15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ROUGE-L SCORES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128007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52093" y="12800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619018" y="12800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4350" y="154677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52093" y="15467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0.158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619018" y="15467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0.188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14350" y="1775371"/>
            <a:ext cx="8115300" cy="285750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450" y="1851571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52283" y="1851571"/>
            <a:ext cx="20111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00158" y="1851571"/>
            <a:ext cx="20111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4350" y="215637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52093" y="21563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619018" y="2156371"/>
            <a:ext cx="20305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750" dirty="0"/>
          </a:p>
        </p:txBody>
      </p:sp>
      <p:pic>
        <p:nvPicPr>
          <p:cNvPr id="19" name="Image 0" descr="/tmp/rasterized-gradient-ee8aa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384971"/>
            <a:ext cx="8115300" cy="3370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71500" y="2480221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552379" y="2480221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590729" y="2480221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0.361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81000" y="3141166"/>
            <a:ext cx="2540794" cy="1735634"/>
          </a:xfrm>
          <a:prstGeom prst="roundRect">
            <a:avLst>
              <a:gd name="adj" fmla="val 329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1609" y="3312616"/>
            <a:ext cx="231957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491609" y="3830687"/>
            <a:ext cx="2319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GPT-4.1 In-Domain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055144" y="3141166"/>
            <a:ext cx="2540794" cy="1735634"/>
          </a:xfrm>
          <a:prstGeom prst="roundRect">
            <a:avLst>
              <a:gd name="adj" fmla="val 3293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165753" y="3312616"/>
            <a:ext cx="231957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3165753" y="3830687"/>
            <a:ext cx="2319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GPT-4.1 Zero-Shot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729288" y="3141166"/>
            <a:ext cx="3033713" cy="1735634"/>
          </a:xfrm>
          <a:prstGeom prst="roundRect">
            <a:avLst>
              <a:gd name="adj" fmla="val 3293"/>
            </a:avLst>
          </a:prstGeom>
          <a:solidFill>
            <a:srgbClr val="F8F8F8"/>
          </a:solidFill>
          <a:ln w="19050">
            <a:solidFill>
              <a:srgbClr val="011F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81688" y="3331666"/>
            <a:ext cx="27834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881688" y="3535412"/>
            <a:ext cx="27834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 = 0.361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881688" y="3840212"/>
            <a:ext cx="27834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In-domain = Zero-shot!</a:t>
            </a:r>
            <a:endParaRPr lang="en-US" sz="75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F7BC4059-CDA7-032C-B6BD-01DADF9639C8}"/>
              </a:ext>
            </a:extLst>
          </p:cNvPr>
          <p:cNvSpPr/>
          <p:nvPr/>
        </p:nvSpPr>
        <p:spPr>
          <a:xfrm>
            <a:off x="5239758" y="1016073"/>
            <a:ext cx="665362" cy="15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In-Domain</a:t>
            </a:r>
            <a:endParaRPr lang="en-US" sz="9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385D1A18-B1E4-49FB-4D67-2DFFB1894EF7}"/>
              </a:ext>
            </a:extLst>
          </p:cNvPr>
          <p:cNvSpPr/>
          <p:nvPr/>
        </p:nvSpPr>
        <p:spPr>
          <a:xfrm>
            <a:off x="7310547" y="1009650"/>
            <a:ext cx="600319" cy="15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</a:rPr>
              <a:t>Zero-shot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0999"/>
            <a:ext cx="52464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Comparison: How We Verified GPT-4.1 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3048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544711"/>
          </a:xfrm>
          <a:prstGeom prst="roundRect">
            <a:avLst>
              <a:gd name="adj" fmla="val 874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952500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IDENTICAL EVALUATION SETUP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1123950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evaluated on exact same test sets with same metrics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81000" y="1440061"/>
            <a:ext cx="4124325" cy="1055191"/>
          </a:xfrm>
          <a:prstGeom prst="roundRect">
            <a:avLst>
              <a:gd name="adj" fmla="val 451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5288" y="1440061"/>
            <a:ext cx="0" cy="1055191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3875" y="1554361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PROMPT TEMPLATE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3875" y="1725811"/>
            <a:ext cx="3867150" cy="453330"/>
          </a:xfrm>
          <a:prstGeom prst="roundRect">
            <a:avLst>
              <a:gd name="adj" fmla="val 840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075" y="1840111"/>
            <a:ext cx="378904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00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this conversation: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600075" y="1971526"/>
            <a:ext cx="378904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{conversation}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523875" y="2236291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instructions or hints given to either model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81000" y="2552402"/>
            <a:ext cx="4124325" cy="1245394"/>
          </a:xfrm>
          <a:prstGeom prst="roundRect">
            <a:avLst>
              <a:gd name="adj" fmla="val 382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552402"/>
            <a:ext cx="0" cy="1245394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875" y="2666702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GPT-4.1 CONFIGURATION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3875" y="2876252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476500" y="2876252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gpt-4.1-2025-04-14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23875" y="3097113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76500" y="3097113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(deterministic)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23875" y="3317974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tokens: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76500" y="3317974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23875" y="3538835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76500" y="3538835"/>
            <a:ext cx="195281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1306116"/>
          </a:xfrm>
          <a:prstGeom prst="roundRect">
            <a:avLst>
              <a:gd name="adj" fmla="val 364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2963" y="838200"/>
            <a:ext cx="0" cy="1306116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1550" y="952500"/>
            <a:ext cx="3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GPT-4.1 UNDERPERFORMS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81550" y="1123950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Zero-shot vs Fine-tuned: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857750" y="1268611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never saw code-mixed summarization examples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81550" y="1432322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Task-specific adaptation: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857750" y="1576983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learns exact summary style from training data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81550" y="1740694"/>
            <a:ext cx="394449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Length calibration: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857750" y="1885355"/>
            <a:ext cx="38667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teaches optimal summary length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638675" y="2201466"/>
            <a:ext cx="4124325" cy="978694"/>
          </a:xfrm>
          <a:prstGeom prst="roundRect">
            <a:avLst>
              <a:gd name="adj" fmla="val 486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52975" y="2315766"/>
            <a:ext cx="3973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STEPS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2975" y="2487216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Ran GPT-4.1 on FULL test sets (325 + 501 samples)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2975" y="2631877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Used official OpenAI API (not playground)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2776538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Same ROUGE/BERTScore computation for all models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2975" y="2921198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 cherry-picking of examples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638675" y="3237309"/>
            <a:ext cx="4124325" cy="594122"/>
          </a:xfrm>
          <a:prstGeom prst="roundRect">
            <a:avLst>
              <a:gd name="adj" fmla="val 8016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52963" y="3237309"/>
            <a:ext cx="0" cy="594122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62500" y="3332559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55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62500" y="3484959"/>
            <a:ext cx="398335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Task-specific fine-tuning beats general-purpose LLMs even when the fine-tuned model is 1000x smaller (3B vs 1.8T estimated)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Full Score Table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960590" cy="297061"/>
          </a:xfrm>
          <a:prstGeom prst="roundRect">
            <a:avLst>
              <a:gd name="adj" fmla="val 9619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933450"/>
            <a:ext cx="211858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2501348" y="933450"/>
            <a:ext cx="14123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886045" y="933450"/>
            <a:ext cx="141239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GupShup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81000" y="1173361"/>
            <a:ext cx="4960590" cy="264765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1259086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2501348" y="125908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0.089</a:t>
            </a:r>
            <a:endParaRPr lang="en-US" sz="525" dirty="0"/>
          </a:p>
        </p:txBody>
      </p:sp>
      <p:sp>
        <p:nvSpPr>
          <p:cNvPr id="11" name="Text 9"/>
          <p:cNvSpPr/>
          <p:nvPr/>
        </p:nvSpPr>
        <p:spPr>
          <a:xfrm>
            <a:off x="3886045" y="125908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0.103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381000" y="1476226"/>
            <a:ext cx="4960590" cy="26476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150" y="1561951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2501348" y="1561951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0.158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3886045" y="1561951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0.188</a:t>
            </a:r>
            <a:endParaRPr lang="en-US" sz="525" dirty="0"/>
          </a:p>
        </p:txBody>
      </p:sp>
      <p:sp>
        <p:nvSpPr>
          <p:cNvPr id="16" name="Text 14"/>
          <p:cNvSpPr/>
          <p:nvPr/>
        </p:nvSpPr>
        <p:spPr>
          <a:xfrm>
            <a:off x="381000" y="1779091"/>
            <a:ext cx="4960590" cy="264765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8150" y="1864816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2501348" y="186481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0.203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3886045" y="1864816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0.241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381000" y="2081957"/>
            <a:ext cx="4960590" cy="26476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150" y="2167682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2501348" y="2167682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0.415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3886045" y="2167682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525" dirty="0"/>
          </a:p>
        </p:txBody>
      </p:sp>
      <p:sp>
        <p:nvSpPr>
          <p:cNvPr id="24" name="Text 22"/>
          <p:cNvSpPr/>
          <p:nvPr/>
        </p:nvSpPr>
        <p:spPr>
          <a:xfrm>
            <a:off x="381000" y="2384822"/>
            <a:ext cx="4960590" cy="264765"/>
          </a:xfrm>
          <a:prstGeom prst="rect">
            <a:avLst/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8150" y="2470547"/>
            <a:ext cx="211858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2501348" y="2470547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3886045" y="2470547"/>
            <a:ext cx="14123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0.361</a:t>
            </a:r>
            <a:endParaRPr lang="en-US" sz="525" dirty="0"/>
          </a:p>
        </p:txBody>
      </p:sp>
      <p:sp>
        <p:nvSpPr>
          <p:cNvPr id="28" name="Text 26"/>
          <p:cNvSpPr/>
          <p:nvPr/>
        </p:nvSpPr>
        <p:spPr>
          <a:xfrm>
            <a:off x="381000" y="2706737"/>
            <a:ext cx="505980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CS-SUM=In-domain, GupShup=Zero-shot Hindi (unseen)</a:t>
            </a:r>
            <a:endParaRPr lang="en-US" sz="450" dirty="0"/>
          </a:p>
        </p:txBody>
      </p:sp>
      <p:sp>
        <p:nvSpPr>
          <p:cNvPr id="29" name="Text 27"/>
          <p:cNvSpPr/>
          <p:nvPr/>
        </p:nvSpPr>
        <p:spPr>
          <a:xfrm>
            <a:off x="5455890" y="838200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32090" y="914400"/>
            <a:ext cx="3217804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1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532090" y="1055340"/>
            <a:ext cx="321780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beats GPT-4.1 by </a:t>
            </a:r>
            <a:r>
              <a:rPr lang="en-US" sz="52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5455890" y="1310580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32090" y="1386780"/>
            <a:ext cx="3217804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2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532090" y="1527721"/>
            <a:ext cx="3217804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CSCL: 0.340 = 0.361 (in-domain = zero-shot!)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5455890" y="1782961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470178" y="1782961"/>
            <a:ext cx="0" cy="424755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60665" y="1859161"/>
            <a:ext cx="3188657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560665" y="2000101"/>
            <a:ext cx="318865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CSCL: -27% in-domain for +4% zero-shot</a:t>
            </a:r>
            <a:endParaRPr lang="en-US" sz="525" dirty="0"/>
          </a:p>
        </p:txBody>
      </p:sp>
      <p:sp>
        <p:nvSpPr>
          <p:cNvPr id="39" name="Text 37"/>
          <p:cNvSpPr/>
          <p:nvPr/>
        </p:nvSpPr>
        <p:spPr>
          <a:xfrm>
            <a:off x="5455890" y="2255341"/>
            <a:ext cx="330711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470178" y="2255341"/>
            <a:ext cx="0" cy="42475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60665" y="2331541"/>
            <a:ext cx="3188657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560665" y="2472482"/>
            <a:ext cx="3188657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learns generalizable patterns</a:t>
            </a:r>
            <a:endParaRPr lang="en-US" sz="5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9" y="381000"/>
            <a:ext cx="47923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Visualization: ROUGE-L Comparison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26670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460772"/>
          </a:xfrm>
          <a:prstGeom prst="roundRect">
            <a:avLst>
              <a:gd name="adj" fmla="val 1033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7481" y="914400"/>
            <a:ext cx="4051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CS-SUM (In-Domain)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17481" y="1078111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Mandarin/Malay/Tamil-English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81000" y="1356122"/>
            <a:ext cx="4124325" cy="2558802"/>
          </a:xfrm>
          <a:prstGeom prst="roundRect">
            <a:avLst>
              <a:gd name="adj" fmla="val 18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150852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238250" y="1485602"/>
            <a:ext cx="171450" cy="152400"/>
          </a:xfrm>
          <a:prstGeom prst="roundRect">
            <a:avLst>
              <a:gd name="adj" fmla="val 12500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85900" y="1508522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0.089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95300" y="1767483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238250" y="1744563"/>
            <a:ext cx="333375" cy="152400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47825" y="1767483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0.158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95300" y="2026444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38250" y="2003524"/>
            <a:ext cx="447675" cy="152400"/>
          </a:xfrm>
          <a:prstGeom prst="roundRect">
            <a:avLst>
              <a:gd name="adj" fmla="val 125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62125" y="2026444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0.203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95300" y="2285405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238250" y="2262485"/>
            <a:ext cx="676275" cy="152400"/>
          </a:xfrm>
          <a:prstGeom prst="roundRect">
            <a:avLst>
              <a:gd name="adj" fmla="val 1250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90725" y="2285405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95300" y="2544366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238250" y="2521446"/>
            <a:ext cx="914400" cy="152400"/>
          </a:xfrm>
          <a:prstGeom prst="roundRect">
            <a:avLst>
              <a:gd name="adj" fmla="val 125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28850" y="2544366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0.415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95300" y="2789039"/>
            <a:ext cx="38957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5300" y="2908102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vs GPT-4.1: +68%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460772"/>
          </a:xfrm>
          <a:prstGeom prst="roundRect">
            <a:avLst>
              <a:gd name="adj" fmla="val 10336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75156" y="914400"/>
            <a:ext cx="4051364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GupShup (Zero-Shot)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75156" y="1078111"/>
            <a:ext cx="40513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Hindi-English (UNSEEN)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38675" y="1356122"/>
            <a:ext cx="4124325" cy="2558802"/>
          </a:xfrm>
          <a:prstGeom prst="roundRect">
            <a:avLst>
              <a:gd name="adj" fmla="val 1861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2975" y="1508522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495925" y="1485602"/>
            <a:ext cx="200025" cy="152400"/>
          </a:xfrm>
          <a:prstGeom prst="roundRect">
            <a:avLst>
              <a:gd name="adj" fmla="val 12500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72150" y="1508522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0.103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752975" y="1767483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Llama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495925" y="1744563"/>
            <a:ext cx="428625" cy="152400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00750" y="1767483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0.188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752975" y="2026444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495925" y="2003524"/>
            <a:ext cx="581025" cy="152400"/>
          </a:xfrm>
          <a:prstGeom prst="roundRect">
            <a:avLst>
              <a:gd name="adj" fmla="val 125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53150" y="2026444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0.241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752975" y="2285405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495925" y="2262485"/>
            <a:ext cx="647700" cy="152400"/>
          </a:xfrm>
          <a:prstGeom prst="roundRect">
            <a:avLst>
              <a:gd name="adj" fmla="val 125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19825" y="2285405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2975" y="2544366"/>
            <a:ext cx="6800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(Ours)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495925" y="2521446"/>
            <a:ext cx="676275" cy="152400"/>
          </a:xfrm>
          <a:prstGeom prst="roundRect">
            <a:avLst>
              <a:gd name="adj" fmla="val 12500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48400" y="2544366"/>
            <a:ext cx="4751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0.361 (BEST)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752975" y="2789039"/>
            <a:ext cx="38957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2975" y="2908102"/>
            <a:ext cx="397364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vs GPT-4.1: +50%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81000" y="4143524"/>
            <a:ext cx="5023098" cy="504676"/>
          </a:xfrm>
          <a:prstGeom prst="roundRect">
            <a:avLst>
              <a:gd name="adj" fmla="val 7549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57200" y="4257824"/>
            <a:ext cx="496811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9600" y="4440585"/>
            <a:ext cx="29860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Extractive</a:t>
            </a:r>
            <a:endParaRPr lang="en-US" sz="525" dirty="0"/>
          </a:p>
        </p:txBody>
      </p:sp>
      <p:sp>
        <p:nvSpPr>
          <p:cNvPr id="50" name="Text 48"/>
          <p:cNvSpPr/>
          <p:nvPr/>
        </p:nvSpPr>
        <p:spPr>
          <a:xfrm>
            <a:off x="1016645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169045" y="4440585"/>
            <a:ext cx="41579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Base/No-Curr</a:t>
            </a:r>
            <a:endParaRPr lang="en-US" sz="525" dirty="0"/>
          </a:p>
        </p:txBody>
      </p:sp>
      <p:sp>
        <p:nvSpPr>
          <p:cNvPr id="52" name="Text 50"/>
          <p:cNvSpPr/>
          <p:nvPr/>
        </p:nvSpPr>
        <p:spPr>
          <a:xfrm>
            <a:off x="1690985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43385" y="4440585"/>
            <a:ext cx="253362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525" dirty="0"/>
          </a:p>
        </p:txBody>
      </p:sp>
      <p:sp>
        <p:nvSpPr>
          <p:cNvPr id="54" name="Text 52"/>
          <p:cNvSpPr/>
          <p:nvPr/>
        </p:nvSpPr>
        <p:spPr>
          <a:xfrm>
            <a:off x="2206079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358479" y="4440585"/>
            <a:ext cx="54179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(in-domain)</a:t>
            </a:r>
            <a:endParaRPr lang="en-US" sz="525" dirty="0"/>
          </a:p>
        </p:txBody>
      </p:sp>
      <p:sp>
        <p:nvSpPr>
          <p:cNvPr id="56" name="Text 54"/>
          <p:cNvSpPr/>
          <p:nvPr/>
        </p:nvSpPr>
        <p:spPr>
          <a:xfrm>
            <a:off x="3003947" y="44300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9875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156347" y="4440585"/>
            <a:ext cx="49533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 dataset</a:t>
            </a:r>
            <a:endParaRPr lang="en-US" sz="525" dirty="0"/>
          </a:p>
        </p:txBody>
      </p:sp>
      <p:sp>
        <p:nvSpPr>
          <p:cNvPr id="58" name="Text 56"/>
          <p:cNvSpPr/>
          <p:nvPr/>
        </p:nvSpPr>
        <p:spPr>
          <a:xfrm>
            <a:off x="5518398" y="4143524"/>
            <a:ext cx="3244602" cy="504676"/>
          </a:xfrm>
          <a:prstGeom prst="roundRect">
            <a:avLst>
              <a:gd name="adj" fmla="val 754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5532686" y="4143524"/>
            <a:ext cx="0" cy="504676"/>
          </a:xfrm>
          <a:prstGeom prst="line">
            <a:avLst/>
          </a:prstGeom>
          <a:noFill/>
          <a:ln w="28575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623173" y="4257824"/>
            <a:ext cx="312489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r>
              <a:rPr lang="en-US" sz="6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CSCL trades in-domain (0.340 vs 0.415) for better zero-shot transfer (0.361 vs 0.340)</a:t>
            </a:r>
            <a:endParaRPr lang="en-US" sz="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51121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Examples: CSCL vs GPT-4.1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42900" y="523875"/>
            <a:ext cx="17145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375" y="1069485"/>
            <a:ext cx="4152900" cy="2891627"/>
          </a:xfrm>
          <a:prstGeom prst="roundRect">
            <a:avLst>
              <a:gd name="adj" fmla="val 21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 flipH="1">
            <a:off x="325375" y="1069485"/>
            <a:ext cx="19050" cy="2891627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7775" y="1221885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CS-SUM (Mandarin-English)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7775" y="1412385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CONVERSATION: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77775" y="1537996"/>
            <a:ext cx="3886200" cy="833908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4925" y="1595146"/>
            <a:ext cx="3847338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should we meet?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Let's meet at the entrance.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[OK], entrance is best, [too crowded] inside.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Ok, see you there!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77775" y="2487966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OUTPUT: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77775" y="2613577"/>
            <a:ext cx="3886200" cy="234255"/>
          </a:xfrm>
          <a:prstGeom prst="roundRect">
            <a:avLst>
              <a:gd name="adj" fmla="val 16264"/>
            </a:avLst>
          </a:prstGeom>
          <a:solidFill>
            <a:srgbClr val="D4EDDA"/>
          </a:solidFill>
          <a:ln w="9525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925" y="267072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Eve, Charlie and Nicole will meet at the entrance.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96826" y="3004101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OUTPUT: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96826" y="3129712"/>
            <a:ext cx="3886200" cy="312241"/>
          </a:xfrm>
          <a:prstGeom prst="roundRect">
            <a:avLst>
              <a:gd name="adj" fmla="val 12202"/>
            </a:avLst>
          </a:prstGeom>
          <a:solidFill>
            <a:srgbClr val="FFFFFF"/>
          </a:solidFill>
          <a:ln w="9525">
            <a:solidFill>
              <a:srgbClr val="DC3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3976" y="3186862"/>
            <a:ext cx="384733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 asks where they should meet. Charlie suggests the entrance. Nicole agrees, saying it's the best place because it's too crowded inside. Eve agrees.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648200" y="1069485"/>
            <a:ext cx="4152900" cy="2891627"/>
          </a:xfrm>
          <a:prstGeom prst="roundRect">
            <a:avLst>
              <a:gd name="adj" fmla="val 21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1069485"/>
            <a:ext cx="0" cy="2891627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99457" y="121972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GupShup (Hindi-English, Zero-Shot)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00600" y="1414985"/>
            <a:ext cx="3963924" cy="100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CONVERSATION: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800600" y="1540596"/>
            <a:ext cx="3886200" cy="825332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57750" y="1597746"/>
            <a:ext cx="3847338" cy="40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you going to the birthday party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Maxx: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Haan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I love bowling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yaar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Mujhe bhi pasand hai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600" dirty="0"/>
          </a:p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Maxx:</a:t>
            </a: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See you!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800600" y="2487966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OUTPUT: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800600" y="2613577"/>
            <a:ext cx="3886200" cy="234255"/>
          </a:xfrm>
          <a:prstGeom prst="roundRect">
            <a:avLst>
              <a:gd name="adj" fmla="val 16264"/>
            </a:avLst>
          </a:prstGeom>
          <a:solidFill>
            <a:srgbClr val="D4EDDA"/>
          </a:solidFill>
          <a:ln w="9525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0" y="267072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 and Maxx are going to the birthday party tomorrow.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800600" y="3009858"/>
            <a:ext cx="396392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OUTPUT: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800600" y="3135469"/>
            <a:ext cx="3886200" cy="312241"/>
          </a:xfrm>
          <a:prstGeom prst="roundRect">
            <a:avLst>
              <a:gd name="adj" fmla="val 12202"/>
            </a:avLst>
          </a:prstGeom>
          <a:solidFill>
            <a:srgbClr val="FFFFFF"/>
          </a:solidFill>
          <a:ln w="9525">
            <a:solidFill>
              <a:srgbClr val="DC354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57750" y="3192619"/>
            <a:ext cx="384733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Tobi asks Maxx if he is going to the birthday party tomorrow. Maxx says yes and mentions he loves bowling. Tobi agrees. Maxx says "See you!"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44425" y="4468622"/>
            <a:ext cx="8458200" cy="323850"/>
          </a:xfrm>
          <a:prstGeom prst="roundRect">
            <a:avLst>
              <a:gd name="adj" fmla="val 1764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775" y="4563872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GPT-4.1 paraphrases each turn verbosely. CSCL learns concise summary style from fine-tuning data.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Scores?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142875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47725"/>
            <a:ext cx="4133850" cy="0"/>
          </a:xfrm>
          <a:prstGeom prst="line">
            <a:avLst/>
          </a:prstGeom>
          <a:noFill/>
          <a:ln w="1905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3345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GPT-4.1 UNDERPERFORMS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57200" y="10743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 task-specific fine-tuning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3791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Code-mixed text rare in 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683990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Zero-shot is harder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000" y="2112615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1000" y="2122140"/>
            <a:ext cx="4133850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07865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 CURRICULUM &gt; CSCL IN-DOMAIN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57200" y="23488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Overfits to training distribution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26536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Memorizes language-specific patterns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958405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Specialization vs generalization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1000" y="3387030"/>
            <a:ext cx="4133850" cy="1226790"/>
          </a:xfrm>
          <a:prstGeom prst="roundRect">
            <a:avLst>
              <a:gd name="adj" fmla="val 3106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81000" y="3396555"/>
            <a:ext cx="4133850" cy="0"/>
          </a:xfrm>
          <a:prstGeom prst="line">
            <a:avLst/>
          </a:prstGeom>
          <a:noFill/>
          <a:ln w="1905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48228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CSCL TRANSFERS BETTER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57200" y="36232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Learns patterns before specifics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9280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Gradual complexity = robust features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2328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Curriculum prevents overfitting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29150" y="838200"/>
            <a:ext cx="4133850" cy="569416"/>
          </a:xfrm>
          <a:prstGeom prst="roundRect">
            <a:avLst>
              <a:gd name="adj" fmla="val 669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5350" y="914400"/>
            <a:ext cx="4061079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SURPRISE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705350" y="1055340"/>
            <a:ext cx="406107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 (in-domain) = 0.361 (zero-shot Hindi)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05350" y="1200001"/>
            <a:ext cx="406107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never saw Hindi in training!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4629150" y="1455241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43438" y="1455241"/>
            <a:ext cx="0" cy="418058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3925" y="1531441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H1: SHARED PRAGMATICS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733925" y="1672382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serves same functions across languages.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4629150" y="1920925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1920925"/>
            <a:ext cx="0" cy="418058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3925" y="1997125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ENGLISH ANCHOR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733925" y="2138065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pairs include English. Model anchors on it.</a:t>
            </a:r>
            <a:endParaRPr lang="en-US" sz="525" dirty="0"/>
          </a:p>
        </p:txBody>
      </p:sp>
      <p:sp>
        <p:nvSpPr>
          <p:cNvPr id="34" name="Text 32"/>
          <p:cNvSpPr/>
          <p:nvPr/>
        </p:nvSpPr>
        <p:spPr>
          <a:xfrm>
            <a:off x="4629150" y="2386608"/>
            <a:ext cx="4133850" cy="418058"/>
          </a:xfrm>
          <a:prstGeom prst="roundRect">
            <a:avLst>
              <a:gd name="adj" fmla="val 911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43438" y="2386608"/>
            <a:ext cx="0" cy="418058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33925" y="2462808"/>
            <a:ext cx="4031933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H3: LATENT MULTILINGUAL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733925" y="2603748"/>
            <a:ext cx="4031933" cy="8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8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activates Llama's latent Hindi knowledge.</a:t>
            </a:r>
            <a:endParaRPr lang="en-US" sz="5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Transfer Work?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4427786" cy="1263700"/>
          </a:xfrm>
          <a:prstGeom prst="roundRect">
            <a:avLst>
              <a:gd name="adj" fmla="val 452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95350"/>
            <a:ext cx="0" cy="1263700"/>
          </a:xfrm>
          <a:prstGeom prst="line">
            <a:avLst/>
          </a:prstGeom>
          <a:noFill/>
          <a:ln w="38100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3400" y="1009650"/>
            <a:ext cx="424430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Language-Agnostic Pragmatics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1203871"/>
            <a:ext cx="4244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Code-mixing follows universal patterns: emphasis, topic transitions, emotional expression. These patterns are the same across Hindi-EN, Tamil-EN, Chinese-EN.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254300"/>
            <a:ext cx="4427786" cy="1263700"/>
          </a:xfrm>
          <a:prstGeom prst="roundRect">
            <a:avLst>
              <a:gd name="adj" fmla="val 452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254300"/>
            <a:ext cx="0" cy="1263700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3400" y="2368600"/>
            <a:ext cx="424430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Shared English Anchor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2562820"/>
            <a:ext cx="4244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language pairs include English. The model anchors understanding in English portions, then learns to handle non-English segments.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81000" y="3613249"/>
            <a:ext cx="4427786" cy="1263700"/>
          </a:xfrm>
          <a:prstGeom prst="roundRect">
            <a:avLst>
              <a:gd name="adj" fmla="val 452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613249"/>
            <a:ext cx="0" cy="126370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3400" y="3727549"/>
            <a:ext cx="4244307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Multilingual Pretraining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400" y="3921770"/>
            <a:ext cx="4244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Llama-3.2 was pretrained on 100+ languages including Hindi. CSCL activates these latent multilingual capabilities.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99286" y="895350"/>
            <a:ext cx="3763714" cy="683865"/>
          </a:xfrm>
          <a:prstGeom prst="roundRect">
            <a:avLst>
              <a:gd name="adj" fmla="val 835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99286" y="909638"/>
            <a:ext cx="3763714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8234" y="1076325"/>
            <a:ext cx="360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Languages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78234" y="1266825"/>
            <a:ext cx="36058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Mandarin + Malay + Tamil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99286" y="1674465"/>
            <a:ext cx="3763714" cy="2221409"/>
          </a:xfrm>
          <a:prstGeom prst="roundRect">
            <a:avLst>
              <a:gd name="adj" fmla="val 2573"/>
            </a:avLst>
          </a:prstGeom>
          <a:solidFill>
            <a:srgbClr val="D4EDDA"/>
          </a:solidFill>
          <a:ln w="19050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17096" y="1864965"/>
            <a:ext cx="35280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Learns: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17096" y="2087761"/>
            <a:ext cx="35280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to summarize code-switched conversations"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17096" y="2350591"/>
            <a:ext cx="35280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language-specific rules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17096" y="2522041"/>
            <a:ext cx="35280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vocabulary memorization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17096" y="2693491"/>
            <a:ext cx="35280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translation patterns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99286" y="3991124"/>
            <a:ext cx="3763714" cy="885676"/>
          </a:xfrm>
          <a:prstGeom prst="roundRect">
            <a:avLst>
              <a:gd name="adj" fmla="val 6453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97665" y="4162574"/>
            <a:ext cx="3566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Transfer To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97665" y="4334024"/>
            <a:ext cx="35669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Hindi-English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97665" y="4585395"/>
            <a:ext cx="35669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seen in training!</a:t>
            </a:r>
            <a:endParaRPr lang="en-US" sz="6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429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Flow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561975"/>
            <a:ext cx="1333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03065" y="800100"/>
            <a:ext cx="1905000" cy="578941"/>
          </a:xfrm>
          <a:prstGeom prst="roundRect">
            <a:avLst>
              <a:gd name="adj" fmla="val 8226"/>
            </a:avLst>
          </a:prstGeom>
          <a:solidFill>
            <a:srgbClr val="FFF3CD"/>
          </a:solidFill>
          <a:ln w="9525">
            <a:solidFill>
              <a:srgbClr val="FFC10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07840" y="904875"/>
            <a:ext cx="17293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2007840" y="1049536"/>
            <a:ext cx="172935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Hey, aaj weather accha!</a:t>
            </a:r>
            <a:endParaRPr lang="en-US" sz="525" dirty="0"/>
          </a:p>
        </p:txBody>
      </p:sp>
      <p:sp>
        <p:nvSpPr>
          <p:cNvPr id="7" name="Text 5"/>
          <p:cNvSpPr/>
          <p:nvPr/>
        </p:nvSpPr>
        <p:spPr>
          <a:xfrm>
            <a:off x="2007840" y="1180951"/>
            <a:ext cx="172935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Let's go hiking.</a:t>
            </a:r>
            <a:endParaRPr lang="en-US" sz="525" dirty="0"/>
          </a:p>
        </p:txBody>
      </p:sp>
      <p:sp>
        <p:nvSpPr>
          <p:cNvPr id="8" name="Text 6"/>
          <p:cNvSpPr/>
          <p:nvPr/>
        </p:nvSpPr>
        <p:spPr>
          <a:xfrm>
            <a:off x="2843064" y="1445716"/>
            <a:ext cx="253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08796" y="1645741"/>
            <a:ext cx="693390" cy="245715"/>
          </a:xfrm>
          <a:prstGeom prst="roundRect">
            <a:avLst>
              <a:gd name="adj" fmla="val 15506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04046" y="1721941"/>
            <a:ext cx="51294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2470547" y="2158157"/>
            <a:ext cx="770037" cy="348555"/>
          </a:xfrm>
          <a:prstGeom prst="roundRect">
            <a:avLst>
              <a:gd name="adj" fmla="val 16396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98864" y="2272457"/>
            <a:ext cx="51340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Model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1903065" y="2773412"/>
            <a:ext cx="1905000" cy="447526"/>
          </a:xfrm>
          <a:prstGeom prst="roundRect">
            <a:avLst>
              <a:gd name="adj" fmla="val 10642"/>
            </a:avLst>
          </a:prstGeom>
          <a:solidFill>
            <a:srgbClr val="D4EDDA"/>
          </a:solidFill>
          <a:ln w="9525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07840" y="2878187"/>
            <a:ext cx="17293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1987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007840" y="3022848"/>
            <a:ext cx="172935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and B plan hiking. Meet at park.</a:t>
            </a:r>
            <a:endParaRPr lang="en-US" sz="525" dirty="0"/>
          </a:p>
        </p:txBody>
      </p:sp>
      <p:sp>
        <p:nvSpPr>
          <p:cNvPr id="18" name="Text 16"/>
          <p:cNvSpPr/>
          <p:nvPr/>
        </p:nvSpPr>
        <p:spPr>
          <a:xfrm>
            <a:off x="5463480" y="800100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77768" y="800100"/>
            <a:ext cx="0" cy="424755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68255" y="876300"/>
            <a:ext cx="3180915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MIX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68255" y="1017240"/>
            <a:ext cx="31809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Mandarin, Malay, Tamil</a:t>
            </a:r>
            <a:endParaRPr lang="en-US" sz="525" dirty="0"/>
          </a:p>
        </p:txBody>
      </p:sp>
      <p:sp>
        <p:nvSpPr>
          <p:cNvPr id="22" name="Text 20"/>
          <p:cNvSpPr/>
          <p:nvPr/>
        </p:nvSpPr>
        <p:spPr>
          <a:xfrm>
            <a:off x="5463480" y="1272480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77768" y="1272480"/>
            <a:ext cx="0" cy="424755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68255" y="1348680"/>
            <a:ext cx="3180915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568255" y="1489621"/>
            <a:ext cx="31809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language pairs work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5463480" y="1744861"/>
            <a:ext cx="3299520" cy="424755"/>
          </a:xfrm>
          <a:prstGeom prst="roundRect">
            <a:avLst>
              <a:gd name="adj" fmla="val 897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477768" y="1744861"/>
            <a:ext cx="0" cy="424755"/>
          </a:xfrm>
          <a:prstGeom prst="line">
            <a:avLst/>
          </a:prstGeom>
          <a:noFill/>
          <a:ln w="28575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68255" y="1821061"/>
            <a:ext cx="3180915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225"/>
              </a:spcAft>
              <a:buNone/>
            </a:pPr>
            <a:r>
              <a:rPr lang="en-US" sz="675" b="1" dirty="0">
                <a:solidFill>
                  <a:srgbClr val="1987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568255" y="1962001"/>
            <a:ext cx="318091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GPU compatible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5463480" y="2217241"/>
            <a:ext cx="3299520" cy="2469059"/>
          </a:xfrm>
          <a:prstGeom prst="roundRect">
            <a:avLst>
              <a:gd name="adj" fmla="val 1543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77344" y="3312765"/>
            <a:ext cx="2951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77344" y="3510855"/>
            <a:ext cx="295108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ROUGE-L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7747715" y="3312765"/>
            <a:ext cx="3014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47715" y="3510855"/>
            <a:ext cx="301484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GPT-4.1</a:t>
            </a:r>
            <a:endParaRPr lang="en-US" sz="45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9A673F-7096-97BE-E75E-5D5FB8E4C4C0}"/>
              </a:ext>
            </a:extLst>
          </p:cNvPr>
          <p:cNvCxnSpPr>
            <a:stCxn id="4" idx="2"/>
            <a:endCxn id="9" idx="0"/>
          </p:cNvCxnSpPr>
          <p:nvPr/>
        </p:nvCxnSpPr>
        <p:spPr>
          <a:xfrm flipH="1">
            <a:off x="2855491" y="1379041"/>
            <a:ext cx="74" cy="266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DA092D-401B-F275-5086-83ADA9E11491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2855491" y="1891456"/>
            <a:ext cx="75" cy="266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FDEF19-AB6D-AEE6-7F0A-F785E42C1FD2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 flipH="1">
            <a:off x="2855565" y="2506712"/>
            <a:ext cx="1" cy="266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3281" y="1454815"/>
            <a:ext cx="4095750" cy="1474291"/>
          </a:xfrm>
          <a:prstGeom prst="roundRect">
            <a:avLst>
              <a:gd name="adj" fmla="val 3876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43281" y="1469103"/>
            <a:ext cx="4095750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6631" y="1616740"/>
            <a:ext cx="390563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6631" y="1849061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Curriculum: .480 / .340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6631" y="2039561"/>
            <a:ext cx="3829050" cy="337096"/>
          </a:xfrm>
          <a:prstGeom prst="roundRect">
            <a:avLst>
              <a:gd name="adj" fmla="val 11302"/>
            </a:avLst>
          </a:prstGeom>
          <a:solidFill>
            <a:srgbClr val="011F5B">
              <a:alpha val="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919" y="2039561"/>
            <a:ext cx="0" cy="337096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2356" y="2134811"/>
            <a:ext cx="3759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3-phase: .353 / .355 (+4.4%)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631" y="2433806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2-phase: .391 / .348 (+2.4%)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6631" y="2624306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Reverse: .362 / .331 (-2.6%)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3281" y="3024357"/>
            <a:ext cx="4095750" cy="801738"/>
          </a:xfrm>
          <a:prstGeom prst="roundRect">
            <a:avLst>
              <a:gd name="adj" fmla="val 236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3281" y="3038644"/>
            <a:ext cx="4095750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581" y="3167231"/>
            <a:ext cx="394449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581" y="3380502"/>
            <a:ext cx="3944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sacrifices 27% in-domain to gain 4% zero-shot transfer capability.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29531" y="1454815"/>
            <a:ext cx="4095750" cy="563761"/>
          </a:xfrm>
          <a:prstGeom prst="roundRect">
            <a:avLst>
              <a:gd name="adj" fmla="val 101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8581" y="1454815"/>
            <a:ext cx="0" cy="563761"/>
          </a:xfrm>
          <a:prstGeom prst="line">
            <a:avLst/>
          </a:prstGeom>
          <a:noFill/>
          <a:ln w="38100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81931" y="1569115"/>
            <a:ext cx="390563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3 PHASES?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81931" y="1732826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phase bridges easy to hard. Without it, jump is too large.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29531" y="2094776"/>
            <a:ext cx="4095750" cy="563761"/>
          </a:xfrm>
          <a:prstGeom prst="roundRect">
            <a:avLst>
              <a:gd name="adj" fmla="val 101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581" y="2094776"/>
            <a:ext cx="0" cy="563761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81931" y="2209076"/>
            <a:ext cx="390563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REVERSE FAILS?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81931" y="2372787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first confuses model before learning basics.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29531" y="2734737"/>
            <a:ext cx="4095750" cy="563761"/>
          </a:xfrm>
          <a:prstGeom prst="roundRect">
            <a:avLst>
              <a:gd name="adj" fmla="val 10137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48581" y="2734737"/>
            <a:ext cx="0" cy="563761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1931" y="2849037"/>
            <a:ext cx="3905631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LR DECAY?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81931" y="3012748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forgetting earlier phases.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29531" y="3374698"/>
            <a:ext cx="4095750" cy="451396"/>
          </a:xfrm>
          <a:prstGeom prst="roundRect">
            <a:avLst>
              <a:gd name="adj" fmla="val 12661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160" y="352709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= Specialization vs Generalization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9050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33450"/>
            <a:ext cx="46418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predictions with ROUGE-L below 0.2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285726"/>
            <a:ext cx="47625" cy="285750"/>
          </a:xfrm>
          <a:prstGeom prst="roundRect">
            <a:avLst>
              <a:gd name="adj" fmla="val 60000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276350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Over-compression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19125" y="1461046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Omits important details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531519" y="1322040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1771501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" y="1914227"/>
            <a:ext cx="47625" cy="285750"/>
          </a:xfrm>
          <a:prstGeom prst="roundRect">
            <a:avLst>
              <a:gd name="adj" fmla="val 60000"/>
            </a:avLst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1904851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Entities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19125" y="2089547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Names, places, dates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31519" y="1950541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2400002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2542729"/>
            <a:ext cx="47625" cy="285750"/>
          </a:xfrm>
          <a:prstGeom prst="roundRect">
            <a:avLst>
              <a:gd name="adj" fmla="val 60000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2533352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9125" y="2718048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not in original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531519" y="2579043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000" y="3028504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6250" y="317123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3161854"/>
            <a:ext cx="38934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Confusion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9125" y="3346549"/>
            <a:ext cx="38934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Misinterprets switching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531519" y="3207544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11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1000" y="3657005"/>
            <a:ext cx="4550866" cy="571351"/>
          </a:xfrm>
          <a:prstGeom prst="roundRect">
            <a:avLst>
              <a:gd name="adj" fmla="val 1000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" y="3799731"/>
            <a:ext cx="47625" cy="285750"/>
          </a:xfrm>
          <a:prstGeom prst="roundRect">
            <a:avLst>
              <a:gd name="adj" fmla="val 60000"/>
            </a:avLst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9125" y="3790355"/>
            <a:ext cx="3980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19125" y="3975050"/>
            <a:ext cx="39800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Formatting, repetition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16351" y="3836045"/>
            <a:ext cx="2246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2366" y="895350"/>
            <a:ext cx="3640634" cy="1112490"/>
          </a:xfrm>
          <a:prstGeom prst="roundRect">
            <a:avLst>
              <a:gd name="adj" fmla="val 5137"/>
            </a:avLst>
          </a:prstGeom>
          <a:solidFill>
            <a:srgbClr val="011F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21977" y="1066800"/>
            <a:ext cx="3441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Confusion Rate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21977" y="1238250"/>
            <a:ext cx="344141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221977" y="1703040"/>
            <a:ext cx="3441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20% without curriculum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122366" y="2103090"/>
            <a:ext cx="3640634" cy="1213396"/>
          </a:xfrm>
          <a:prstGeom prst="roundRect">
            <a:avLst>
              <a:gd name="adj" fmla="val 4710"/>
            </a:avLst>
          </a:prstGeom>
          <a:solidFill>
            <a:srgbClr val="D4EDDA"/>
          </a:solidFill>
          <a:ln w="19050">
            <a:solidFill>
              <a:srgbClr val="19875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74766" y="2255490"/>
            <a:ext cx="340255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557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74766" y="2468761"/>
            <a:ext cx="34025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reduces language confusion errors by 40% compared to standard fine-tuning (12% vs 20%).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274766" y="2859286"/>
            <a:ext cx="340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learning teaches the model to handle code-switching progressively, reducing confusion.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22366" y="3411736"/>
            <a:ext cx="3640634" cy="533400"/>
          </a:xfrm>
          <a:prstGeom prst="roundRect">
            <a:avLst>
              <a:gd name="adj" fmla="val 10714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141416" y="3411736"/>
            <a:ext cx="0" cy="533400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55716" y="3545086"/>
            <a:ext cx="3480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r>
              <a:rPr lang="en-US" sz="7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Over-compression (38%) is a general summarization issue, not specific to code-mixing.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Improvements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1000" y="600075"/>
            <a:ext cx="2095500" cy="285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4124325" cy="618976"/>
          </a:xfrm>
          <a:prstGeom prst="roundRect">
            <a:avLst>
              <a:gd name="adj" fmla="val 769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5288" y="838200"/>
            <a:ext cx="0" cy="618976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4825" y="933450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SOFT CURRICULUM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4825" y="1085850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weights instead of hard thresholds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04825" y="1230511"/>
            <a:ext cx="398335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25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w(CMI) = sigmoid(β × (epoch - CMI/τ))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381000" y="1514326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5288" y="1514326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4825" y="1609576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MORE LANGUAGE PAIRS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4825" y="1761976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Japanese-EN, Korean-EN, Arabic-EN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81000" y="2059037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059037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4825" y="2154287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LARGER MODELS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4825" y="2306687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Llama-8B, Llama-70B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81000" y="2603748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5288" y="2603748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4825" y="2698998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DYNAMIC CURRICULUM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4825" y="2851398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difficulty based on model loss per example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81000" y="3148459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95288" y="3148459"/>
            <a:ext cx="0" cy="487561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4825" y="3243709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MULTI-TASK LEARNING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4825" y="3396109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training: summarization + NER + sentiment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38675" y="838200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52963" y="838200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62500" y="933450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REAL-TIME ADAPTATION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62500" y="1085850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LoRA updates for new language pairs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638675" y="1382911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52963" y="1382911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62500" y="1478161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BETTER EVALUATION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62500" y="1630561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eval, factual consistency, QA-based metrics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38675" y="1927622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52963" y="1927622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62500" y="2022872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CROSS-LINGUAL OUTPUT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62500" y="2175272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summaries in pure English if preferred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638675" y="2472333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52963" y="2472333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62500" y="2567583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3+ LANGUAGE MIXING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62500" y="2719983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conversations with multiple non-English langs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38675" y="3017044"/>
            <a:ext cx="4124325" cy="487561"/>
          </a:xfrm>
          <a:prstGeom prst="roundRect">
            <a:avLst>
              <a:gd name="adj" fmla="val 976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52963" y="3017044"/>
            <a:ext cx="0" cy="487561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62500" y="3112294"/>
            <a:ext cx="39833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INTERPRETABILITY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62500" y="3264694"/>
            <a:ext cx="398335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which attention heads detect code-switches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81000" y="4299645"/>
            <a:ext cx="8382000" cy="348555"/>
          </a:xfrm>
          <a:prstGeom prst="roundRect">
            <a:avLst>
              <a:gd name="adj" fmla="val 10931"/>
            </a:avLst>
          </a:prstGeom>
          <a:solidFill>
            <a:srgbClr val="E8F4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00050" y="4299645"/>
            <a:ext cx="0" cy="348555"/>
          </a:xfrm>
          <a:prstGeom prst="line">
            <a:avLst/>
          </a:prstGeom>
          <a:noFill/>
          <a:ln w="381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5300" y="4413945"/>
            <a:ext cx="83553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r>
              <a:rPr lang="en-US" sz="675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code-mixed NLP as robust as monolingual NLP</a:t>
            </a:r>
            <a:endParaRPr lang="en-US" sz="6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714500" cy="38100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76350"/>
            <a:ext cx="4105275" cy="611386"/>
          </a:xfrm>
          <a:prstGeom prst="roundRect">
            <a:avLst>
              <a:gd name="adj" fmla="val 9348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290638"/>
            <a:ext cx="4105275" cy="0"/>
          </a:xfrm>
          <a:prstGeom prst="line">
            <a:avLst/>
          </a:prstGeom>
          <a:noFill/>
          <a:ln w="28575">
            <a:solidFill>
              <a:srgbClr val="011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5300" y="1419225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95300" y="1601986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CSCL - curriculum learning ordered by CMI, easy to hard.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1963936"/>
            <a:ext cx="4105275" cy="1354336"/>
          </a:xfrm>
          <a:prstGeom prst="roundRect">
            <a:avLst>
              <a:gd name="adj" fmla="val 422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1000" y="1978223"/>
            <a:ext cx="4105275" cy="0"/>
          </a:xfrm>
          <a:prstGeom prst="line">
            <a:avLst/>
          </a:prstGeom>
          <a:noFill/>
          <a:ln w="28575">
            <a:solidFill>
              <a:srgbClr val="99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300" y="2106811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5300" y="22895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better than GPT-4.1 in-domain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5300" y="25943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better zero-shot on unseen Hindi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5300" y="28991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0.340 in-domain = 0.361 zero-shot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1000" y="3394472"/>
            <a:ext cx="4105275" cy="688026"/>
          </a:xfrm>
          <a:prstGeom prst="roundRect">
            <a:avLst>
              <a:gd name="adj" fmla="val 32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508772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95300" y="3691533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enables cross-lingual transfer without target data.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57725" y="1276350"/>
            <a:ext cx="4105275" cy="716161"/>
          </a:xfrm>
          <a:prstGeom prst="roundRect">
            <a:avLst>
              <a:gd name="adj" fmla="val 79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76775" y="1276350"/>
            <a:ext cx="0" cy="716161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0125" y="1390650"/>
            <a:ext cx="3915347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97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0125" y="1573411"/>
            <a:ext cx="3915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run, automatic metrics, English output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57725" y="2068711"/>
            <a:ext cx="4105275" cy="716161"/>
          </a:xfrm>
          <a:prstGeom prst="roundRect">
            <a:avLst>
              <a:gd name="adj" fmla="val 798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2025" y="2183011"/>
            <a:ext cx="3954209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11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72025" y="2365772"/>
            <a:ext cx="3954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languages, human eval, other tasks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57725" y="2918222"/>
            <a:ext cx="4105275" cy="682377"/>
          </a:xfrm>
          <a:prstGeom prst="roundRect">
            <a:avLst>
              <a:gd name="adj" fmla="val 3177"/>
            </a:avLst>
          </a:prstGeom>
          <a:solidFill>
            <a:srgbClr val="99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33258" y="3210818"/>
            <a:ext cx="3954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for 1.5B+ multilingual speakers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3902</Words>
  <Application>Microsoft Office PowerPoint</Application>
  <PresentationFormat>On-screen Show (16:9)</PresentationFormat>
  <Paragraphs>787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CSCL: Code-Switching Curriculum Learning</dc:title>
  <dc:subject>CIS 5300 Final Project - University of Pennsylvania</dc:subject>
  <dc:creator>Prednya Ramesh et al.</dc:creator>
  <cp:lastModifiedBy>Prednya Ramesh</cp:lastModifiedBy>
  <cp:revision>2</cp:revision>
  <dcterms:created xsi:type="dcterms:W3CDTF">2025-12-15T04:28:20Z</dcterms:created>
  <dcterms:modified xsi:type="dcterms:W3CDTF">2025-12-16T13:24:50Z</dcterms:modified>
</cp:coreProperties>
</file>