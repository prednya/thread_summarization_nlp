
<file path=[Content_Types].xml><?xml version="1.0" encoding="utf-8"?>
<Types xmlns="http://schemas.openxmlformats.org/package/2006/content-types">
  <Default Extension="bin" ContentType="image/unknown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9" r:id="rId14"/>
    <p:sldId id="270" r:id="rId15"/>
    <p:sldId id="271" r:id="rId16"/>
    <p:sldId id="272" r:id="rId17"/>
    <p:sldId id="291" r:id="rId18"/>
    <p:sldId id="274" r:id="rId19"/>
    <p:sldId id="275" r:id="rId20"/>
    <p:sldId id="276" r:id="rId21"/>
    <p:sldId id="277" r:id="rId22"/>
    <p:sldId id="278" r:id="rId23"/>
    <p:sldId id="279" r:id="rId24"/>
    <p:sldId id="280" r:id="rId25"/>
    <p:sldId id="281" r:id="rId26"/>
    <p:sldId id="282" r:id="rId27"/>
    <p:sldId id="283" r:id="rId28"/>
    <p:sldId id="292" r:id="rId29"/>
    <p:sldId id="284" r:id="rId30"/>
    <p:sldId id="285" r:id="rId31"/>
    <p:sldId id="286" r:id="rId32"/>
    <p:sldId id="287" r:id="rId33"/>
    <p:sldId id="288" r:id="rId34"/>
    <p:sldId id="289" r:id="rId35"/>
    <p:sldId id="290" r:id="rId36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4382DFF-4740-489E-BE29-FFD57ECF90A4}" v="5" dt="2025-12-16T03:10:08.52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22" d="100"/>
          <a:sy n="122" d="100"/>
        </p:scale>
        <p:origin x="220" y="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viewProps" Target="viewProp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microsoft.com/office/2016/11/relationships/changesInfo" Target="changesInfos/changesInfo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notesMaster" Target="notesMasters/notesMaster1.xml"/><Relationship Id="rId40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microsoft.com/office/2015/10/relationships/revisionInfo" Target="revisionInfo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Prednya Ramesh" userId="af62c1cb85fe1248" providerId="LiveId" clId="{73C18D23-9D38-4A40-871B-D11EFA0135C7}"/>
    <pc:docChg chg="undo custSel addSld delSld modSld sldOrd">
      <pc:chgData name="Prednya Ramesh" userId="af62c1cb85fe1248" providerId="LiveId" clId="{73C18D23-9D38-4A40-871B-D11EFA0135C7}" dt="2025-12-16T03:14:35.092" v="117" actId="1076"/>
      <pc:docMkLst>
        <pc:docMk/>
      </pc:docMkLst>
      <pc:sldChg chg="add del ord setBg">
        <pc:chgData name="Prednya Ramesh" userId="af62c1cb85fe1248" providerId="LiveId" clId="{73C18D23-9D38-4A40-871B-D11EFA0135C7}" dt="2025-12-15T07:03:35.606" v="8"/>
        <pc:sldMkLst>
          <pc:docMk/>
          <pc:sldMk cId="0" sldId="258"/>
        </pc:sldMkLst>
      </pc:sldChg>
      <pc:sldChg chg="modSp mod">
        <pc:chgData name="Prednya Ramesh" userId="af62c1cb85fe1248" providerId="LiveId" clId="{73C18D23-9D38-4A40-871B-D11EFA0135C7}" dt="2025-12-15T07:43:49.915" v="25" actId="20577"/>
        <pc:sldMkLst>
          <pc:docMk/>
          <pc:sldMk cId="0" sldId="260"/>
        </pc:sldMkLst>
        <pc:spChg chg="mod">
          <ac:chgData name="Prednya Ramesh" userId="af62c1cb85fe1248" providerId="LiveId" clId="{73C18D23-9D38-4A40-871B-D11EFA0135C7}" dt="2025-12-15T07:43:49.915" v="25" actId="20577"/>
          <ac:spMkLst>
            <pc:docMk/>
            <pc:sldMk cId="0" sldId="260"/>
            <ac:spMk id="23" creationId="{00000000-0000-0000-0000-000000000000}"/>
          </ac:spMkLst>
        </pc:spChg>
      </pc:sldChg>
      <pc:sldChg chg="modSp mod">
        <pc:chgData name="Prednya Ramesh" userId="af62c1cb85fe1248" providerId="LiveId" clId="{73C18D23-9D38-4A40-871B-D11EFA0135C7}" dt="2025-12-15T07:48:04.264" v="45" actId="14100"/>
        <pc:sldMkLst>
          <pc:docMk/>
          <pc:sldMk cId="0" sldId="261"/>
        </pc:sldMkLst>
        <pc:spChg chg="mod">
          <ac:chgData name="Prednya Ramesh" userId="af62c1cb85fe1248" providerId="LiveId" clId="{73C18D23-9D38-4A40-871B-D11EFA0135C7}" dt="2025-12-15T07:48:04.264" v="45" actId="14100"/>
          <ac:spMkLst>
            <pc:docMk/>
            <pc:sldMk cId="0" sldId="261"/>
            <ac:spMk id="4" creationId="{00000000-0000-0000-0000-000000000000}"/>
          </ac:spMkLst>
        </pc:spChg>
        <pc:spChg chg="mod">
          <ac:chgData name="Prednya Ramesh" userId="af62c1cb85fe1248" providerId="LiveId" clId="{73C18D23-9D38-4A40-871B-D11EFA0135C7}" dt="2025-12-15T07:48:03.927" v="44" actId="1076"/>
          <ac:spMkLst>
            <pc:docMk/>
            <pc:sldMk cId="0" sldId="261"/>
            <ac:spMk id="5" creationId="{00000000-0000-0000-0000-000000000000}"/>
          </ac:spMkLst>
        </pc:spChg>
        <pc:spChg chg="mod">
          <ac:chgData name="Prednya Ramesh" userId="af62c1cb85fe1248" providerId="LiveId" clId="{73C18D23-9D38-4A40-871B-D11EFA0135C7}" dt="2025-12-15T07:48:03.927" v="44" actId="1076"/>
          <ac:spMkLst>
            <pc:docMk/>
            <pc:sldMk cId="0" sldId="261"/>
            <ac:spMk id="6" creationId="{00000000-0000-0000-0000-000000000000}"/>
          </ac:spMkLst>
        </pc:spChg>
        <pc:spChg chg="mod">
          <ac:chgData name="Prednya Ramesh" userId="af62c1cb85fe1248" providerId="LiveId" clId="{73C18D23-9D38-4A40-871B-D11EFA0135C7}" dt="2025-12-15T07:48:03.927" v="44" actId="1076"/>
          <ac:spMkLst>
            <pc:docMk/>
            <pc:sldMk cId="0" sldId="261"/>
            <ac:spMk id="7" creationId="{00000000-0000-0000-0000-000000000000}"/>
          </ac:spMkLst>
        </pc:spChg>
        <pc:spChg chg="mod">
          <ac:chgData name="Prednya Ramesh" userId="af62c1cb85fe1248" providerId="LiveId" clId="{73C18D23-9D38-4A40-871B-D11EFA0135C7}" dt="2025-12-15T07:48:03.927" v="44" actId="1076"/>
          <ac:spMkLst>
            <pc:docMk/>
            <pc:sldMk cId="0" sldId="261"/>
            <ac:spMk id="8" creationId="{00000000-0000-0000-0000-000000000000}"/>
          </ac:spMkLst>
        </pc:spChg>
        <pc:spChg chg="mod">
          <ac:chgData name="Prednya Ramesh" userId="af62c1cb85fe1248" providerId="LiveId" clId="{73C18D23-9D38-4A40-871B-D11EFA0135C7}" dt="2025-12-15T07:48:03.927" v="44" actId="1076"/>
          <ac:spMkLst>
            <pc:docMk/>
            <pc:sldMk cId="0" sldId="261"/>
            <ac:spMk id="9" creationId="{00000000-0000-0000-0000-000000000000}"/>
          </ac:spMkLst>
        </pc:spChg>
        <pc:spChg chg="mod">
          <ac:chgData name="Prednya Ramesh" userId="af62c1cb85fe1248" providerId="LiveId" clId="{73C18D23-9D38-4A40-871B-D11EFA0135C7}" dt="2025-12-15T07:48:03.927" v="44" actId="1076"/>
          <ac:spMkLst>
            <pc:docMk/>
            <pc:sldMk cId="0" sldId="261"/>
            <ac:spMk id="10" creationId="{00000000-0000-0000-0000-000000000000}"/>
          </ac:spMkLst>
        </pc:spChg>
        <pc:spChg chg="mod">
          <ac:chgData name="Prednya Ramesh" userId="af62c1cb85fe1248" providerId="LiveId" clId="{73C18D23-9D38-4A40-871B-D11EFA0135C7}" dt="2025-12-15T07:48:03.927" v="44" actId="1076"/>
          <ac:spMkLst>
            <pc:docMk/>
            <pc:sldMk cId="0" sldId="261"/>
            <ac:spMk id="11" creationId="{00000000-0000-0000-0000-000000000000}"/>
          </ac:spMkLst>
        </pc:spChg>
        <pc:spChg chg="mod">
          <ac:chgData name="Prednya Ramesh" userId="af62c1cb85fe1248" providerId="LiveId" clId="{73C18D23-9D38-4A40-871B-D11EFA0135C7}" dt="2025-12-15T07:48:03.927" v="44" actId="1076"/>
          <ac:spMkLst>
            <pc:docMk/>
            <pc:sldMk cId="0" sldId="261"/>
            <ac:spMk id="12" creationId="{00000000-0000-0000-0000-000000000000}"/>
          </ac:spMkLst>
        </pc:spChg>
      </pc:sldChg>
      <pc:sldChg chg="addSp modSp mod">
        <pc:chgData name="Prednya Ramesh" userId="af62c1cb85fe1248" providerId="LiveId" clId="{73C18D23-9D38-4A40-871B-D11EFA0135C7}" dt="2025-12-15T08:02:48.711" v="65" actId="11529"/>
        <pc:sldMkLst>
          <pc:docMk/>
          <pc:sldMk cId="0" sldId="263"/>
        </pc:sldMkLst>
        <pc:spChg chg="mod">
          <ac:chgData name="Prednya Ramesh" userId="af62c1cb85fe1248" providerId="LiveId" clId="{73C18D23-9D38-4A40-871B-D11EFA0135C7}" dt="2025-12-15T08:02:13.817" v="58" actId="20577"/>
          <ac:spMkLst>
            <pc:docMk/>
            <pc:sldMk cId="0" sldId="263"/>
            <ac:spMk id="7" creationId="{00000000-0000-0000-0000-000000000000}"/>
          </ac:spMkLst>
        </pc:spChg>
        <pc:spChg chg="mod">
          <ac:chgData name="Prednya Ramesh" userId="af62c1cb85fe1248" providerId="LiveId" clId="{73C18D23-9D38-4A40-871B-D11EFA0135C7}" dt="2025-12-15T08:02:17.123" v="60" actId="20577"/>
          <ac:spMkLst>
            <pc:docMk/>
            <pc:sldMk cId="0" sldId="263"/>
            <ac:spMk id="11" creationId="{00000000-0000-0000-0000-000000000000}"/>
          </ac:spMkLst>
        </pc:spChg>
        <pc:spChg chg="mod">
          <ac:chgData name="Prednya Ramesh" userId="af62c1cb85fe1248" providerId="LiveId" clId="{73C18D23-9D38-4A40-871B-D11EFA0135C7}" dt="2025-12-15T08:02:19.259" v="62" actId="20577"/>
          <ac:spMkLst>
            <pc:docMk/>
            <pc:sldMk cId="0" sldId="263"/>
            <ac:spMk id="15" creationId="{00000000-0000-0000-0000-000000000000}"/>
          </ac:spMkLst>
        </pc:spChg>
        <pc:cxnChg chg="add">
          <ac:chgData name="Prednya Ramesh" userId="af62c1cb85fe1248" providerId="LiveId" clId="{73C18D23-9D38-4A40-871B-D11EFA0135C7}" dt="2025-12-15T08:02:33.136" v="63" actId="11529"/>
          <ac:cxnSpMkLst>
            <pc:docMk/>
            <pc:sldMk cId="0" sldId="263"/>
            <ac:cxnSpMk id="41" creationId="{0AD1A81F-EC9D-E2E2-ECA1-698B4B0C9D90}"/>
          </ac:cxnSpMkLst>
        </pc:cxnChg>
        <pc:cxnChg chg="add">
          <ac:chgData name="Prednya Ramesh" userId="af62c1cb85fe1248" providerId="LiveId" clId="{73C18D23-9D38-4A40-871B-D11EFA0135C7}" dt="2025-12-15T08:02:41.933" v="64" actId="11529"/>
          <ac:cxnSpMkLst>
            <pc:docMk/>
            <pc:sldMk cId="0" sldId="263"/>
            <ac:cxnSpMk id="43" creationId="{8EF1485E-FBC8-BEFA-104A-C07123FF9143}"/>
          </ac:cxnSpMkLst>
        </pc:cxnChg>
        <pc:cxnChg chg="add">
          <ac:chgData name="Prednya Ramesh" userId="af62c1cb85fe1248" providerId="LiveId" clId="{73C18D23-9D38-4A40-871B-D11EFA0135C7}" dt="2025-12-15T08:02:48.711" v="65" actId="11529"/>
          <ac:cxnSpMkLst>
            <pc:docMk/>
            <pc:sldMk cId="0" sldId="263"/>
            <ac:cxnSpMk id="45" creationId="{0BBA2537-32E1-E9A2-F212-880362B095D9}"/>
          </ac:cxnSpMkLst>
        </pc:cxnChg>
      </pc:sldChg>
      <pc:sldChg chg="modSp mod">
        <pc:chgData name="Prednya Ramesh" userId="af62c1cb85fe1248" providerId="LiveId" clId="{73C18D23-9D38-4A40-871B-D11EFA0135C7}" dt="2025-12-15T08:05:44.945" v="68" actId="404"/>
        <pc:sldMkLst>
          <pc:docMk/>
          <pc:sldMk cId="0" sldId="265"/>
        </pc:sldMkLst>
        <pc:spChg chg="mod">
          <ac:chgData name="Prednya Ramesh" userId="af62c1cb85fe1248" providerId="LiveId" clId="{73C18D23-9D38-4A40-871B-D11EFA0135C7}" dt="2025-12-15T08:05:44.945" v="68" actId="404"/>
          <ac:spMkLst>
            <pc:docMk/>
            <pc:sldMk cId="0" sldId="265"/>
            <ac:spMk id="7" creationId="{00000000-0000-0000-0000-000000000000}"/>
          </ac:spMkLst>
        </pc:spChg>
      </pc:sldChg>
      <pc:sldChg chg="modSp mod">
        <pc:chgData name="Prednya Ramesh" userId="af62c1cb85fe1248" providerId="LiveId" clId="{73C18D23-9D38-4A40-871B-D11EFA0135C7}" dt="2025-12-15T07:49:37.310" v="56" actId="1076"/>
        <pc:sldMkLst>
          <pc:docMk/>
          <pc:sldMk cId="0" sldId="266"/>
        </pc:sldMkLst>
        <pc:spChg chg="mod">
          <ac:chgData name="Prednya Ramesh" userId="af62c1cb85fe1248" providerId="LiveId" clId="{73C18D23-9D38-4A40-871B-D11EFA0135C7}" dt="2025-12-15T07:48:36.336" v="46" actId="14100"/>
          <ac:spMkLst>
            <pc:docMk/>
            <pc:sldMk cId="0" sldId="266"/>
            <ac:spMk id="6" creationId="{00000000-0000-0000-0000-000000000000}"/>
          </ac:spMkLst>
        </pc:spChg>
        <pc:spChg chg="mod">
          <ac:chgData name="Prednya Ramesh" userId="af62c1cb85fe1248" providerId="LiveId" clId="{73C18D23-9D38-4A40-871B-D11EFA0135C7}" dt="2025-12-15T07:48:44.806" v="48" actId="1076"/>
          <ac:spMkLst>
            <pc:docMk/>
            <pc:sldMk cId="0" sldId="266"/>
            <ac:spMk id="9" creationId="{00000000-0000-0000-0000-000000000000}"/>
          </ac:spMkLst>
        </pc:spChg>
        <pc:spChg chg="mod">
          <ac:chgData name="Prednya Ramesh" userId="af62c1cb85fe1248" providerId="LiveId" clId="{73C18D23-9D38-4A40-871B-D11EFA0135C7}" dt="2025-12-15T07:49:00.247" v="50" actId="1076"/>
          <ac:spMkLst>
            <pc:docMk/>
            <pc:sldMk cId="0" sldId="266"/>
            <ac:spMk id="10" creationId="{00000000-0000-0000-0000-000000000000}"/>
          </ac:spMkLst>
        </pc:spChg>
        <pc:spChg chg="mod">
          <ac:chgData name="Prednya Ramesh" userId="af62c1cb85fe1248" providerId="LiveId" clId="{73C18D23-9D38-4A40-871B-D11EFA0135C7}" dt="2025-12-15T07:49:11.448" v="52" actId="1076"/>
          <ac:spMkLst>
            <pc:docMk/>
            <pc:sldMk cId="0" sldId="266"/>
            <ac:spMk id="11" creationId="{00000000-0000-0000-0000-000000000000}"/>
          </ac:spMkLst>
        </pc:spChg>
        <pc:spChg chg="mod">
          <ac:chgData name="Prednya Ramesh" userId="af62c1cb85fe1248" providerId="LiveId" clId="{73C18D23-9D38-4A40-871B-D11EFA0135C7}" dt="2025-12-15T07:49:30.027" v="54" actId="1076"/>
          <ac:spMkLst>
            <pc:docMk/>
            <pc:sldMk cId="0" sldId="266"/>
            <ac:spMk id="14" creationId="{00000000-0000-0000-0000-000000000000}"/>
          </ac:spMkLst>
        </pc:spChg>
        <pc:spChg chg="mod">
          <ac:chgData name="Prednya Ramesh" userId="af62c1cb85fe1248" providerId="LiveId" clId="{73C18D23-9D38-4A40-871B-D11EFA0135C7}" dt="2025-12-15T07:49:37.310" v="56" actId="1076"/>
          <ac:spMkLst>
            <pc:docMk/>
            <pc:sldMk cId="0" sldId="266"/>
            <ac:spMk id="15" creationId="{00000000-0000-0000-0000-000000000000}"/>
          </ac:spMkLst>
        </pc:spChg>
      </pc:sldChg>
      <pc:sldChg chg="del">
        <pc:chgData name="Prednya Ramesh" userId="af62c1cb85fe1248" providerId="LiveId" clId="{73C18D23-9D38-4A40-871B-D11EFA0135C7}" dt="2025-12-15T07:05:22.476" v="14" actId="47"/>
        <pc:sldMkLst>
          <pc:docMk/>
          <pc:sldMk cId="0" sldId="273"/>
        </pc:sldMkLst>
      </pc:sldChg>
      <pc:sldChg chg="modSp mod">
        <pc:chgData name="Prednya Ramesh" userId="af62c1cb85fe1248" providerId="LiveId" clId="{73C18D23-9D38-4A40-871B-D11EFA0135C7}" dt="2025-12-15T07:02:50.326" v="4" actId="1076"/>
        <pc:sldMkLst>
          <pc:docMk/>
          <pc:sldMk cId="0" sldId="275"/>
        </pc:sldMkLst>
        <pc:picChg chg="mod modCrop">
          <ac:chgData name="Prednya Ramesh" userId="af62c1cb85fe1248" providerId="LiveId" clId="{73C18D23-9D38-4A40-871B-D11EFA0135C7}" dt="2025-12-15T07:02:50.326" v="4" actId="1076"/>
          <ac:picMkLst>
            <pc:docMk/>
            <pc:sldMk cId="0" sldId="275"/>
            <ac:picMk id="4" creationId="{00000000-0000-0000-0000-000000000000}"/>
          </ac:picMkLst>
        </pc:picChg>
      </pc:sldChg>
      <pc:sldChg chg="modSp mod">
        <pc:chgData name="Prednya Ramesh" userId="af62c1cb85fe1248" providerId="LiveId" clId="{73C18D23-9D38-4A40-871B-D11EFA0135C7}" dt="2025-12-15T08:12:06.549" v="87" actId="1076"/>
        <pc:sldMkLst>
          <pc:docMk/>
          <pc:sldMk cId="0" sldId="277"/>
        </pc:sldMkLst>
        <pc:spChg chg="mod">
          <ac:chgData name="Prednya Ramesh" userId="af62c1cb85fe1248" providerId="LiveId" clId="{73C18D23-9D38-4A40-871B-D11EFA0135C7}" dt="2025-12-15T08:10:23.656" v="73" actId="1076"/>
          <ac:spMkLst>
            <pc:docMk/>
            <pc:sldMk cId="0" sldId="277"/>
            <ac:spMk id="4" creationId="{00000000-0000-0000-0000-000000000000}"/>
          </ac:spMkLst>
        </pc:spChg>
        <pc:spChg chg="mod">
          <ac:chgData name="Prednya Ramesh" userId="af62c1cb85fe1248" providerId="LiveId" clId="{73C18D23-9D38-4A40-871B-D11EFA0135C7}" dt="2025-12-15T08:10:36.280" v="74" actId="1076"/>
          <ac:spMkLst>
            <pc:docMk/>
            <pc:sldMk cId="0" sldId="277"/>
            <ac:spMk id="7" creationId="{00000000-0000-0000-0000-000000000000}"/>
          </ac:spMkLst>
        </pc:spChg>
        <pc:spChg chg="mod">
          <ac:chgData name="Prednya Ramesh" userId="af62c1cb85fe1248" providerId="LiveId" clId="{73C18D23-9D38-4A40-871B-D11EFA0135C7}" dt="2025-12-15T08:10:55.955" v="77" actId="1076"/>
          <ac:spMkLst>
            <pc:docMk/>
            <pc:sldMk cId="0" sldId="277"/>
            <ac:spMk id="8" creationId="{00000000-0000-0000-0000-000000000000}"/>
          </ac:spMkLst>
        </pc:spChg>
        <pc:spChg chg="mod">
          <ac:chgData name="Prednya Ramesh" userId="af62c1cb85fe1248" providerId="LiveId" clId="{73C18D23-9D38-4A40-871B-D11EFA0135C7}" dt="2025-12-15T08:11:10.858" v="79" actId="1076"/>
          <ac:spMkLst>
            <pc:docMk/>
            <pc:sldMk cId="0" sldId="277"/>
            <ac:spMk id="9" creationId="{00000000-0000-0000-0000-000000000000}"/>
          </ac:spMkLst>
        </pc:spChg>
        <pc:spChg chg="mod">
          <ac:chgData name="Prednya Ramesh" userId="af62c1cb85fe1248" providerId="LiveId" clId="{73C18D23-9D38-4A40-871B-D11EFA0135C7}" dt="2025-12-15T08:11:20.911" v="81" actId="1076"/>
          <ac:spMkLst>
            <pc:docMk/>
            <pc:sldMk cId="0" sldId="277"/>
            <ac:spMk id="10" creationId="{00000000-0000-0000-0000-000000000000}"/>
          </ac:spMkLst>
        </pc:spChg>
        <pc:spChg chg="mod">
          <ac:chgData name="Prednya Ramesh" userId="af62c1cb85fe1248" providerId="LiveId" clId="{73C18D23-9D38-4A40-871B-D11EFA0135C7}" dt="2025-12-15T08:11:35.881" v="83" actId="1076"/>
          <ac:spMkLst>
            <pc:docMk/>
            <pc:sldMk cId="0" sldId="277"/>
            <ac:spMk id="11" creationId="{00000000-0000-0000-0000-000000000000}"/>
          </ac:spMkLst>
        </pc:spChg>
        <pc:spChg chg="mod">
          <ac:chgData name="Prednya Ramesh" userId="af62c1cb85fe1248" providerId="LiveId" clId="{73C18D23-9D38-4A40-871B-D11EFA0135C7}" dt="2025-12-15T08:11:57.463" v="85" actId="1076"/>
          <ac:spMkLst>
            <pc:docMk/>
            <pc:sldMk cId="0" sldId="277"/>
            <ac:spMk id="12" creationId="{00000000-0000-0000-0000-000000000000}"/>
          </ac:spMkLst>
        </pc:spChg>
        <pc:spChg chg="mod">
          <ac:chgData name="Prednya Ramesh" userId="af62c1cb85fe1248" providerId="LiveId" clId="{73C18D23-9D38-4A40-871B-D11EFA0135C7}" dt="2025-12-15T08:12:06.549" v="87" actId="1076"/>
          <ac:spMkLst>
            <pc:docMk/>
            <pc:sldMk cId="0" sldId="277"/>
            <ac:spMk id="13" creationId="{00000000-0000-0000-0000-000000000000}"/>
          </ac:spMkLst>
        </pc:spChg>
      </pc:sldChg>
      <pc:sldChg chg="modSp mod">
        <pc:chgData name="Prednya Ramesh" userId="af62c1cb85fe1248" providerId="LiveId" clId="{73C18D23-9D38-4A40-871B-D11EFA0135C7}" dt="2025-12-15T07:05:53.694" v="15" actId="14100"/>
        <pc:sldMkLst>
          <pc:docMk/>
          <pc:sldMk cId="0" sldId="281"/>
        </pc:sldMkLst>
        <pc:spChg chg="mod">
          <ac:chgData name="Prednya Ramesh" userId="af62c1cb85fe1248" providerId="LiveId" clId="{73C18D23-9D38-4A40-871B-D11EFA0135C7}" dt="2025-12-15T07:05:53.694" v="15" actId="14100"/>
          <ac:spMkLst>
            <pc:docMk/>
            <pc:sldMk cId="0" sldId="281"/>
            <ac:spMk id="2" creationId="{00000000-0000-0000-0000-000000000000}"/>
          </ac:spMkLst>
        </pc:spChg>
      </pc:sldChg>
      <pc:sldChg chg="add del ord setBg">
        <pc:chgData name="Prednya Ramesh" userId="af62c1cb85fe1248" providerId="LiveId" clId="{73C18D23-9D38-4A40-871B-D11EFA0135C7}" dt="2025-12-15T07:05:21.556" v="13"/>
        <pc:sldMkLst>
          <pc:docMk/>
          <pc:sldMk cId="0" sldId="291"/>
        </pc:sldMkLst>
      </pc:sldChg>
      <pc:sldChg chg="modSp add mod setBg">
        <pc:chgData name="Prednya Ramesh" userId="af62c1cb85fe1248" providerId="LiveId" clId="{73C18D23-9D38-4A40-871B-D11EFA0135C7}" dt="2025-12-16T03:14:35.092" v="117" actId="1076"/>
        <pc:sldMkLst>
          <pc:docMk/>
          <pc:sldMk cId="0" sldId="292"/>
        </pc:sldMkLst>
        <pc:spChg chg="mod">
          <ac:chgData name="Prednya Ramesh" userId="af62c1cb85fe1248" providerId="LiveId" clId="{73C18D23-9D38-4A40-871B-D11EFA0135C7}" dt="2025-12-16T03:10:13.922" v="89" actId="14100"/>
          <ac:spMkLst>
            <pc:docMk/>
            <pc:sldMk cId="0" sldId="292"/>
            <ac:spMk id="2" creationId="{00000000-0000-0000-0000-000000000000}"/>
          </ac:spMkLst>
        </pc:spChg>
        <pc:spChg chg="mod">
          <ac:chgData name="Prednya Ramesh" userId="af62c1cb85fe1248" providerId="LiveId" clId="{73C18D23-9D38-4A40-871B-D11EFA0135C7}" dt="2025-12-16T03:14:35.092" v="117" actId="1076"/>
          <ac:spMkLst>
            <pc:docMk/>
            <pc:sldMk cId="0" sldId="292"/>
            <ac:spMk id="4" creationId="{00000000-0000-0000-0000-000000000000}"/>
          </ac:spMkLst>
        </pc:spChg>
        <pc:spChg chg="mod">
          <ac:chgData name="Prednya Ramesh" userId="af62c1cb85fe1248" providerId="LiveId" clId="{73C18D23-9D38-4A40-871B-D11EFA0135C7}" dt="2025-12-16T03:11:59.373" v="104" actId="14100"/>
          <ac:spMkLst>
            <pc:docMk/>
            <pc:sldMk cId="0" sldId="292"/>
            <ac:spMk id="5" creationId="{00000000-0000-0000-0000-000000000000}"/>
          </ac:spMkLst>
        </pc:spChg>
        <pc:spChg chg="mod">
          <ac:chgData name="Prednya Ramesh" userId="af62c1cb85fe1248" providerId="LiveId" clId="{73C18D23-9D38-4A40-871B-D11EFA0135C7}" dt="2025-12-16T03:12:22.723" v="105" actId="1076"/>
          <ac:spMkLst>
            <pc:docMk/>
            <pc:sldMk cId="0" sldId="292"/>
            <ac:spMk id="6" creationId="{00000000-0000-0000-0000-000000000000}"/>
          </ac:spMkLst>
        </pc:spChg>
        <pc:spChg chg="mod">
          <ac:chgData name="Prednya Ramesh" userId="af62c1cb85fe1248" providerId="LiveId" clId="{73C18D23-9D38-4A40-871B-D11EFA0135C7}" dt="2025-12-16T03:14:35.092" v="117" actId="1076"/>
          <ac:spMkLst>
            <pc:docMk/>
            <pc:sldMk cId="0" sldId="292"/>
            <ac:spMk id="7" creationId="{00000000-0000-0000-0000-000000000000}"/>
          </ac:spMkLst>
        </pc:spChg>
        <pc:spChg chg="mod">
          <ac:chgData name="Prednya Ramesh" userId="af62c1cb85fe1248" providerId="LiveId" clId="{73C18D23-9D38-4A40-871B-D11EFA0135C7}" dt="2025-12-16T03:14:35.092" v="117" actId="1076"/>
          <ac:spMkLst>
            <pc:docMk/>
            <pc:sldMk cId="0" sldId="292"/>
            <ac:spMk id="8" creationId="{00000000-0000-0000-0000-000000000000}"/>
          </ac:spMkLst>
        </pc:spChg>
        <pc:spChg chg="mod">
          <ac:chgData name="Prednya Ramesh" userId="af62c1cb85fe1248" providerId="LiveId" clId="{73C18D23-9D38-4A40-871B-D11EFA0135C7}" dt="2025-12-16T03:12:22.723" v="105" actId="1076"/>
          <ac:spMkLst>
            <pc:docMk/>
            <pc:sldMk cId="0" sldId="292"/>
            <ac:spMk id="10" creationId="{00000000-0000-0000-0000-000000000000}"/>
          </ac:spMkLst>
        </pc:spChg>
        <pc:spChg chg="mod">
          <ac:chgData name="Prednya Ramesh" userId="af62c1cb85fe1248" providerId="LiveId" clId="{73C18D23-9D38-4A40-871B-D11EFA0135C7}" dt="2025-12-16T03:12:22.723" v="105" actId="1076"/>
          <ac:spMkLst>
            <pc:docMk/>
            <pc:sldMk cId="0" sldId="292"/>
            <ac:spMk id="11" creationId="{00000000-0000-0000-0000-000000000000}"/>
          </ac:spMkLst>
        </pc:spChg>
        <pc:spChg chg="mod">
          <ac:chgData name="Prednya Ramesh" userId="af62c1cb85fe1248" providerId="LiveId" clId="{73C18D23-9D38-4A40-871B-D11EFA0135C7}" dt="2025-12-16T03:14:35.092" v="117" actId="1076"/>
          <ac:spMkLst>
            <pc:docMk/>
            <pc:sldMk cId="0" sldId="292"/>
            <ac:spMk id="12" creationId="{00000000-0000-0000-0000-000000000000}"/>
          </ac:spMkLst>
        </pc:spChg>
        <pc:spChg chg="mod">
          <ac:chgData name="Prednya Ramesh" userId="af62c1cb85fe1248" providerId="LiveId" clId="{73C18D23-9D38-4A40-871B-D11EFA0135C7}" dt="2025-12-16T03:14:35.092" v="117" actId="1076"/>
          <ac:spMkLst>
            <pc:docMk/>
            <pc:sldMk cId="0" sldId="292"/>
            <ac:spMk id="13" creationId="{00000000-0000-0000-0000-000000000000}"/>
          </ac:spMkLst>
        </pc:spChg>
        <pc:spChg chg="mod">
          <ac:chgData name="Prednya Ramesh" userId="af62c1cb85fe1248" providerId="LiveId" clId="{73C18D23-9D38-4A40-871B-D11EFA0135C7}" dt="2025-12-16T03:12:22.723" v="105" actId="1076"/>
          <ac:spMkLst>
            <pc:docMk/>
            <pc:sldMk cId="0" sldId="292"/>
            <ac:spMk id="14" creationId="{00000000-0000-0000-0000-000000000000}"/>
          </ac:spMkLst>
        </pc:spChg>
        <pc:spChg chg="mod">
          <ac:chgData name="Prednya Ramesh" userId="af62c1cb85fe1248" providerId="LiveId" clId="{73C18D23-9D38-4A40-871B-D11EFA0135C7}" dt="2025-12-16T03:12:22.723" v="105" actId="1076"/>
          <ac:spMkLst>
            <pc:docMk/>
            <pc:sldMk cId="0" sldId="292"/>
            <ac:spMk id="15" creationId="{00000000-0000-0000-0000-000000000000}"/>
          </ac:spMkLst>
        </pc:spChg>
        <pc:spChg chg="mod">
          <ac:chgData name="Prednya Ramesh" userId="af62c1cb85fe1248" providerId="LiveId" clId="{73C18D23-9D38-4A40-871B-D11EFA0135C7}" dt="2025-12-16T03:14:35.092" v="117" actId="1076"/>
          <ac:spMkLst>
            <pc:docMk/>
            <pc:sldMk cId="0" sldId="292"/>
            <ac:spMk id="16" creationId="{00000000-0000-0000-0000-000000000000}"/>
          </ac:spMkLst>
        </pc:spChg>
        <pc:spChg chg="mod">
          <ac:chgData name="Prednya Ramesh" userId="af62c1cb85fe1248" providerId="LiveId" clId="{73C18D23-9D38-4A40-871B-D11EFA0135C7}" dt="2025-12-16T03:14:13.977" v="115" actId="14100"/>
          <ac:spMkLst>
            <pc:docMk/>
            <pc:sldMk cId="0" sldId="292"/>
            <ac:spMk id="17" creationId="{00000000-0000-0000-0000-000000000000}"/>
          </ac:spMkLst>
        </pc:spChg>
        <pc:spChg chg="mod">
          <ac:chgData name="Prednya Ramesh" userId="af62c1cb85fe1248" providerId="LiveId" clId="{73C18D23-9D38-4A40-871B-D11EFA0135C7}" dt="2025-12-16T03:14:35.092" v="117" actId="1076"/>
          <ac:spMkLst>
            <pc:docMk/>
            <pc:sldMk cId="0" sldId="292"/>
            <ac:spMk id="18" creationId="{00000000-0000-0000-0000-000000000000}"/>
          </ac:spMkLst>
        </pc:spChg>
        <pc:spChg chg="mod">
          <ac:chgData name="Prednya Ramesh" userId="af62c1cb85fe1248" providerId="LiveId" clId="{73C18D23-9D38-4A40-871B-D11EFA0135C7}" dt="2025-12-16T03:13:46.030" v="110" actId="14100"/>
          <ac:spMkLst>
            <pc:docMk/>
            <pc:sldMk cId="0" sldId="292"/>
            <ac:spMk id="19" creationId="{00000000-0000-0000-0000-000000000000}"/>
          </ac:spMkLst>
        </pc:spChg>
        <pc:spChg chg="mod">
          <ac:chgData name="Prednya Ramesh" userId="af62c1cb85fe1248" providerId="LiveId" clId="{73C18D23-9D38-4A40-871B-D11EFA0135C7}" dt="2025-12-16T03:13:46.030" v="110" actId="14100"/>
          <ac:spMkLst>
            <pc:docMk/>
            <pc:sldMk cId="0" sldId="292"/>
            <ac:spMk id="20" creationId="{00000000-0000-0000-0000-000000000000}"/>
          </ac:spMkLst>
        </pc:spChg>
        <pc:spChg chg="mod">
          <ac:chgData name="Prednya Ramesh" userId="af62c1cb85fe1248" providerId="LiveId" clId="{73C18D23-9D38-4A40-871B-D11EFA0135C7}" dt="2025-12-16T03:13:46.030" v="110" actId="14100"/>
          <ac:spMkLst>
            <pc:docMk/>
            <pc:sldMk cId="0" sldId="292"/>
            <ac:spMk id="21" creationId="{00000000-0000-0000-0000-000000000000}"/>
          </ac:spMkLst>
        </pc:spChg>
        <pc:spChg chg="mod">
          <ac:chgData name="Prednya Ramesh" userId="af62c1cb85fe1248" providerId="LiveId" clId="{73C18D23-9D38-4A40-871B-D11EFA0135C7}" dt="2025-12-16T03:13:15.261" v="107" actId="1076"/>
          <ac:spMkLst>
            <pc:docMk/>
            <pc:sldMk cId="0" sldId="292"/>
            <ac:spMk id="22" creationId="{00000000-0000-0000-0000-000000000000}"/>
          </ac:spMkLst>
        </pc:spChg>
        <pc:spChg chg="mod">
          <ac:chgData name="Prednya Ramesh" userId="af62c1cb85fe1248" providerId="LiveId" clId="{73C18D23-9D38-4A40-871B-D11EFA0135C7}" dt="2025-12-16T03:13:15.261" v="107" actId="1076"/>
          <ac:spMkLst>
            <pc:docMk/>
            <pc:sldMk cId="0" sldId="292"/>
            <ac:spMk id="23" creationId="{00000000-0000-0000-0000-000000000000}"/>
          </ac:spMkLst>
        </pc:spChg>
        <pc:spChg chg="mod">
          <ac:chgData name="Prednya Ramesh" userId="af62c1cb85fe1248" providerId="LiveId" clId="{73C18D23-9D38-4A40-871B-D11EFA0135C7}" dt="2025-12-16T03:14:35.092" v="117" actId="1076"/>
          <ac:spMkLst>
            <pc:docMk/>
            <pc:sldMk cId="0" sldId="292"/>
            <ac:spMk id="24" creationId="{00000000-0000-0000-0000-000000000000}"/>
          </ac:spMkLst>
        </pc:spChg>
        <pc:spChg chg="mod">
          <ac:chgData name="Prednya Ramesh" userId="af62c1cb85fe1248" providerId="LiveId" clId="{73C18D23-9D38-4A40-871B-D11EFA0135C7}" dt="2025-12-16T03:14:35.092" v="117" actId="1076"/>
          <ac:spMkLst>
            <pc:docMk/>
            <pc:sldMk cId="0" sldId="292"/>
            <ac:spMk id="25" creationId="{00000000-0000-0000-0000-000000000000}"/>
          </ac:spMkLst>
        </pc:spChg>
        <pc:spChg chg="mod">
          <ac:chgData name="Prednya Ramesh" userId="af62c1cb85fe1248" providerId="LiveId" clId="{73C18D23-9D38-4A40-871B-D11EFA0135C7}" dt="2025-12-16T03:14:35.092" v="117" actId="1076"/>
          <ac:spMkLst>
            <pc:docMk/>
            <pc:sldMk cId="0" sldId="292"/>
            <ac:spMk id="26" creationId="{00000000-0000-0000-0000-000000000000}"/>
          </ac:spMkLst>
        </pc:spChg>
        <pc:spChg chg="mod">
          <ac:chgData name="Prednya Ramesh" userId="af62c1cb85fe1248" providerId="LiveId" clId="{73C18D23-9D38-4A40-871B-D11EFA0135C7}" dt="2025-12-16T03:12:51.148" v="106" actId="1076"/>
          <ac:spMkLst>
            <pc:docMk/>
            <pc:sldMk cId="0" sldId="292"/>
            <ac:spMk id="27" creationId="{00000000-0000-0000-0000-000000000000}"/>
          </ac:spMkLst>
        </pc:spChg>
        <pc:spChg chg="mod">
          <ac:chgData name="Prednya Ramesh" userId="af62c1cb85fe1248" providerId="LiveId" clId="{73C18D23-9D38-4A40-871B-D11EFA0135C7}" dt="2025-12-16T03:14:25.409" v="116" actId="1076"/>
          <ac:spMkLst>
            <pc:docMk/>
            <pc:sldMk cId="0" sldId="292"/>
            <ac:spMk id="28" creationId="{00000000-0000-0000-0000-000000000000}"/>
          </ac:spMkLst>
        </pc:spChg>
        <pc:spChg chg="mod">
          <ac:chgData name="Prednya Ramesh" userId="af62c1cb85fe1248" providerId="LiveId" clId="{73C18D23-9D38-4A40-871B-D11EFA0135C7}" dt="2025-12-16T03:14:25.409" v="116" actId="1076"/>
          <ac:spMkLst>
            <pc:docMk/>
            <pc:sldMk cId="0" sldId="292"/>
            <ac:spMk id="29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5935624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bin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762000"/>
          </a:xfrm>
          <a:prstGeom prst="rect">
            <a:avLst/>
          </a:prstGeom>
          <a:solidFill>
            <a:srgbClr val="011F5B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0" y="762000"/>
            <a:ext cx="9144000" cy="57150"/>
          </a:xfrm>
          <a:prstGeom prst="rect">
            <a:avLst/>
          </a:prstGeom>
          <a:solidFill>
            <a:srgbClr val="99000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381000" y="266700"/>
            <a:ext cx="2325800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7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05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UNIVERSITY OF PENNSYLVANIA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6678811" y="266700"/>
            <a:ext cx="2125873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CIS 5300 - Natural Language Processing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710785" y="1590203"/>
            <a:ext cx="5722430" cy="4457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3510"/>
              </a:lnSpc>
              <a:spcAft>
                <a:spcPts val="1200"/>
              </a:spcAft>
              <a:buNone/>
            </a:pPr>
            <a:r>
              <a:rPr lang="en-US" sz="2700" b="1" dirty="0">
                <a:solidFill>
                  <a:srgbClr val="011F5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Code-Switching Curriculum Learning</a:t>
            </a:r>
            <a:endParaRPr lang="en-US" sz="2700" dirty="0"/>
          </a:p>
        </p:txBody>
      </p:sp>
      <p:sp>
        <p:nvSpPr>
          <p:cNvPr id="7" name="Text 5"/>
          <p:cNvSpPr/>
          <p:nvPr/>
        </p:nvSpPr>
        <p:spPr>
          <a:xfrm>
            <a:off x="1851660" y="2538413"/>
            <a:ext cx="5440680" cy="2116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667"/>
              </a:lnSpc>
              <a:spcAft>
                <a:spcPts val="2400"/>
              </a:spcAft>
              <a:buNone/>
            </a:pPr>
            <a:r>
              <a:rPr lang="en-US" sz="1500" dirty="0">
                <a:solidFill>
                  <a:srgbClr val="55555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Cross-Lingual Transfer for Code-Mixed Conversation Summarization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297180" y="3054846"/>
            <a:ext cx="854964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575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125" b="1" dirty="0">
                <a:solidFill>
                  <a:srgbClr val="011F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Prednya Ramesh, Aneesh Edara, Richard Raup, Akira Nair</a:t>
            </a:r>
            <a:endParaRPr lang="en-US" sz="1125" dirty="0"/>
          </a:p>
        </p:txBody>
      </p:sp>
      <p:sp>
        <p:nvSpPr>
          <p:cNvPr id="9" name="Text 7"/>
          <p:cNvSpPr/>
          <p:nvPr/>
        </p:nvSpPr>
        <p:spPr>
          <a:xfrm>
            <a:off x="297180" y="3312021"/>
            <a:ext cx="8549640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365"/>
              </a:lnSpc>
              <a:spcBef>
                <a:spcPts val="450"/>
              </a:spcBef>
              <a:spcAft>
                <a:spcPts val="300"/>
              </a:spcAft>
              <a:buNone/>
            </a:pPr>
            <a:r>
              <a:rPr lang="en-US" sz="975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School of Engineering and Applied Science</a:t>
            </a:r>
            <a:endParaRPr lang="en-US" sz="975" dirty="0"/>
          </a:p>
        </p:txBody>
      </p:sp>
      <p:sp>
        <p:nvSpPr>
          <p:cNvPr id="13" name="Text 11"/>
          <p:cNvSpPr/>
          <p:nvPr/>
        </p:nvSpPr>
        <p:spPr>
          <a:xfrm>
            <a:off x="381000" y="4768304"/>
            <a:ext cx="760541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825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December 2024</a:t>
            </a:r>
            <a:endParaRPr lang="en-US" sz="825" dirty="0"/>
          </a:p>
        </p:txBody>
      </p:sp>
      <p:sp>
        <p:nvSpPr>
          <p:cNvPr id="14" name="Text 12"/>
          <p:cNvSpPr/>
          <p:nvPr/>
        </p:nvSpPr>
        <p:spPr>
          <a:xfrm>
            <a:off x="7563296" y="4768304"/>
            <a:ext cx="1223698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825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Final Project Presentation</a:t>
            </a:r>
            <a:endParaRPr lang="en-US" sz="825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266700"/>
            <a:ext cx="4676938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950" b="1" dirty="0">
                <a:solidFill>
                  <a:srgbClr val="011F5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 Code-Mixed Summarization?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381000" y="571500"/>
            <a:ext cx="1905000" cy="38100"/>
          </a:xfrm>
          <a:prstGeom prst="rect">
            <a:avLst/>
          </a:prstGeom>
          <a:solidFill>
            <a:srgbClr val="99000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381000" y="914400"/>
            <a:ext cx="4248150" cy="3962400"/>
          </a:xfrm>
          <a:prstGeom prst="roundRect">
            <a:avLst>
              <a:gd name="adj" fmla="val 1442"/>
            </a:avLst>
          </a:prstGeom>
          <a:solidFill>
            <a:srgbClr val="F8F8F8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Shape 3"/>
          <p:cNvSpPr/>
          <p:nvPr/>
        </p:nvSpPr>
        <p:spPr>
          <a:xfrm>
            <a:off x="381000" y="928688"/>
            <a:ext cx="4248150" cy="0"/>
          </a:xfrm>
          <a:prstGeom prst="line">
            <a:avLst/>
          </a:prstGeom>
          <a:noFill/>
          <a:ln w="28575">
            <a:solidFill>
              <a:srgbClr val="011F5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52450" y="1114425"/>
            <a:ext cx="3983355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spcAft>
                <a:spcPts val="1050"/>
              </a:spcAft>
              <a:buNone/>
            </a:pPr>
            <a:r>
              <a:rPr lang="en-US" sz="1050" b="1" dirty="0">
                <a:solidFill>
                  <a:srgbClr val="011F5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PROBLEM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552450" y="1407765"/>
            <a:ext cx="3983355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65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975" b="1" dirty="0">
                <a:solidFill>
                  <a:srgbClr val="99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1.5B+</a:t>
            </a:r>
            <a:r>
              <a:rPr lang="en-US" sz="975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multilingual speakers</a:t>
            </a:r>
            <a:endParaRPr lang="en-US" sz="975" dirty="0"/>
          </a:p>
        </p:txBody>
      </p:sp>
      <p:sp>
        <p:nvSpPr>
          <p:cNvPr id="8" name="Text 6"/>
          <p:cNvSpPr/>
          <p:nvPr/>
        </p:nvSpPr>
        <p:spPr>
          <a:xfrm>
            <a:off x="552450" y="1619101"/>
            <a:ext cx="3983355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825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Mix languages in daily communication</a:t>
            </a:r>
            <a:endParaRPr lang="en-US" sz="825" dirty="0"/>
          </a:p>
        </p:txBody>
      </p:sp>
      <p:sp>
        <p:nvSpPr>
          <p:cNvPr id="9" name="Text 7"/>
          <p:cNvSpPr/>
          <p:nvPr/>
        </p:nvSpPr>
        <p:spPr>
          <a:xfrm>
            <a:off x="552450" y="1899047"/>
            <a:ext cx="3983355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65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975" b="1" dirty="0">
                <a:solidFill>
                  <a:srgbClr val="99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NLP systems fail</a:t>
            </a:r>
            <a:r>
              <a:rPr lang="en-US" sz="975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on code-mixed text</a:t>
            </a:r>
            <a:endParaRPr lang="en-US" sz="975" dirty="0"/>
          </a:p>
        </p:txBody>
      </p:sp>
      <p:sp>
        <p:nvSpPr>
          <p:cNvPr id="10" name="Text 8"/>
          <p:cNvSpPr/>
          <p:nvPr/>
        </p:nvSpPr>
        <p:spPr>
          <a:xfrm>
            <a:off x="552450" y="2110383"/>
            <a:ext cx="3983355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825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Trained on monolingual corpora</a:t>
            </a:r>
            <a:endParaRPr lang="en-US" sz="825" dirty="0"/>
          </a:p>
        </p:txBody>
      </p:sp>
      <p:sp>
        <p:nvSpPr>
          <p:cNvPr id="11" name="Text 9"/>
          <p:cNvSpPr/>
          <p:nvPr/>
        </p:nvSpPr>
        <p:spPr>
          <a:xfrm>
            <a:off x="552450" y="2390329"/>
            <a:ext cx="3983355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65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975" b="1" dirty="0">
                <a:solidFill>
                  <a:srgbClr val="99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transfer</a:t>
            </a:r>
            <a:r>
              <a:rPr lang="en-US" sz="975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across language pairs</a:t>
            </a:r>
            <a:endParaRPr lang="en-US" sz="975" dirty="0"/>
          </a:p>
        </p:txBody>
      </p:sp>
      <p:sp>
        <p:nvSpPr>
          <p:cNvPr id="12" name="Text 10"/>
          <p:cNvSpPr/>
          <p:nvPr/>
        </p:nvSpPr>
        <p:spPr>
          <a:xfrm>
            <a:off x="552450" y="2601664"/>
            <a:ext cx="3983355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825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Separate models per pair</a:t>
            </a:r>
            <a:endParaRPr lang="en-US" sz="825" dirty="0"/>
          </a:p>
        </p:txBody>
      </p:sp>
      <p:sp>
        <p:nvSpPr>
          <p:cNvPr id="13" name="Text 11"/>
          <p:cNvSpPr/>
          <p:nvPr/>
        </p:nvSpPr>
        <p:spPr>
          <a:xfrm>
            <a:off x="4857750" y="914400"/>
            <a:ext cx="3905250" cy="3200549"/>
          </a:xfrm>
          <a:prstGeom prst="roundRect">
            <a:avLst>
              <a:gd name="adj" fmla="val 1786"/>
            </a:avLst>
          </a:prstGeom>
          <a:solidFill>
            <a:srgbClr val="F8F8F8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4" name="Shape 12"/>
          <p:cNvSpPr/>
          <p:nvPr/>
        </p:nvSpPr>
        <p:spPr>
          <a:xfrm>
            <a:off x="4857750" y="928688"/>
            <a:ext cx="3905250" cy="0"/>
          </a:xfrm>
          <a:prstGeom prst="line">
            <a:avLst/>
          </a:prstGeom>
          <a:noFill/>
          <a:ln w="28575">
            <a:solidFill>
              <a:srgbClr val="99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5010150" y="1095375"/>
            <a:ext cx="3672459" cy="1485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70"/>
              </a:lnSpc>
              <a:spcAft>
                <a:spcPts val="750"/>
              </a:spcAft>
              <a:buNone/>
            </a:pPr>
            <a:r>
              <a:rPr lang="en-US" sz="975" b="1" dirty="0">
                <a:solidFill>
                  <a:srgbClr val="9900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EXAMPLE: Hindi-English</a:t>
            </a:r>
            <a:endParaRPr lang="en-US" sz="975" dirty="0"/>
          </a:p>
        </p:txBody>
      </p:sp>
      <p:sp>
        <p:nvSpPr>
          <p:cNvPr id="16" name="Text 14"/>
          <p:cNvSpPr/>
          <p:nvPr/>
        </p:nvSpPr>
        <p:spPr>
          <a:xfrm>
            <a:off x="5010150" y="1339155"/>
            <a:ext cx="3672459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spcBef>
                <a:spcPts val="300"/>
              </a:spcBef>
              <a:spcAft>
                <a:spcPts val="375"/>
              </a:spcAft>
              <a:buNone/>
            </a:pPr>
            <a:r>
              <a:rPr lang="en-US" sz="1500" b="1" dirty="0">
                <a:solidFill>
                  <a:srgbClr val="011F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A:</a:t>
            </a: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Hey, aaj weather accha! Hiking?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5010150" y="1653480"/>
            <a:ext cx="3672459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spcBef>
                <a:spcPts val="300"/>
              </a:spcBef>
              <a:spcAft>
                <a:spcPts val="375"/>
              </a:spcAft>
              <a:buNone/>
            </a:pPr>
            <a:r>
              <a:rPr lang="en-US" sz="1500" b="1" dirty="0">
                <a:solidFill>
                  <a:srgbClr val="011F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B:</a:t>
            </a: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Good! But homework karna hai.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5010150" y="1967805"/>
            <a:ext cx="3672459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spcBef>
                <a:spcPts val="300"/>
              </a:spcBef>
              <a:spcAft>
                <a:spcPts val="375"/>
              </a:spcAft>
              <a:buNone/>
            </a:pPr>
            <a:r>
              <a:rPr lang="en-US" sz="1500" b="1" dirty="0">
                <a:solidFill>
                  <a:srgbClr val="011F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A:</a:t>
            </a: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Ok, afternoon chalte hain.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5010150" y="2282130"/>
            <a:ext cx="3672459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500" b="1" dirty="0">
                <a:solidFill>
                  <a:srgbClr val="011F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B:</a:t>
            </a: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Perfect, 3 baje milte hain!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4857750" y="4229249"/>
            <a:ext cx="3905250" cy="647551"/>
          </a:xfrm>
          <a:prstGeom prst="roundRect">
            <a:avLst>
              <a:gd name="adj" fmla="val 8826"/>
            </a:avLst>
          </a:prstGeom>
          <a:solidFill>
            <a:srgbClr val="011F5B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4991100" y="4362599"/>
            <a:ext cx="3711321" cy="1256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90"/>
              </a:lnSpc>
              <a:spcAft>
                <a:spcPts val="450"/>
              </a:spcAft>
              <a:buNone/>
            </a:pPr>
            <a:r>
              <a:rPr lang="en-US" sz="825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TARGET SUMMARY</a:t>
            </a:r>
            <a:endParaRPr lang="en-US" sz="825" dirty="0"/>
          </a:p>
        </p:txBody>
      </p:sp>
      <p:sp>
        <p:nvSpPr>
          <p:cNvPr id="22" name="Text 20"/>
          <p:cNvSpPr/>
          <p:nvPr/>
        </p:nvSpPr>
        <p:spPr>
          <a:xfrm>
            <a:off x="4991100" y="4545360"/>
            <a:ext cx="3711321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suggests hiking. B agrees but needs homework. Meet at 3pm.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304800"/>
            <a:ext cx="4284536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650" b="1" dirty="0">
                <a:solidFill>
                  <a:srgbClr val="011F5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Related Work &amp; Literature</a:t>
            </a:r>
            <a:endParaRPr lang="en-US" sz="1650" dirty="0"/>
          </a:p>
        </p:txBody>
      </p:sp>
      <p:sp>
        <p:nvSpPr>
          <p:cNvPr id="3" name="Text 1"/>
          <p:cNvSpPr/>
          <p:nvPr/>
        </p:nvSpPr>
        <p:spPr>
          <a:xfrm>
            <a:off x="381000" y="552450"/>
            <a:ext cx="2095500" cy="28575"/>
          </a:xfrm>
          <a:prstGeom prst="rect">
            <a:avLst/>
          </a:prstGeom>
          <a:solidFill>
            <a:srgbClr val="99000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381000" y="809625"/>
            <a:ext cx="2717750" cy="323850"/>
          </a:xfrm>
          <a:prstGeom prst="roundRect">
            <a:avLst>
              <a:gd name="adj" fmla="val 11765"/>
            </a:avLst>
          </a:prstGeom>
          <a:solidFill>
            <a:srgbClr val="011F5B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476250" y="904875"/>
            <a:ext cx="2577795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Multilingual Models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381000" y="1190625"/>
            <a:ext cx="2717750" cy="1139875"/>
          </a:xfrm>
          <a:prstGeom prst="roundRect">
            <a:avLst>
              <a:gd name="adj" fmla="val 3342"/>
            </a:avLst>
          </a:prstGeom>
          <a:solidFill>
            <a:srgbClr val="F8F8F8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" name="Shape 5"/>
          <p:cNvSpPr/>
          <p:nvPr/>
        </p:nvSpPr>
        <p:spPr>
          <a:xfrm>
            <a:off x="395288" y="1190625"/>
            <a:ext cx="0" cy="1139875"/>
          </a:xfrm>
          <a:prstGeom prst="line">
            <a:avLst/>
          </a:prstGeom>
          <a:noFill/>
          <a:ln w="28575">
            <a:solidFill>
              <a:srgbClr val="011F5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85775" y="1304925"/>
            <a:ext cx="2587511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45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675" b="1" dirty="0">
                <a:solidFill>
                  <a:srgbClr val="011F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mBART-50</a:t>
            </a:r>
            <a:endParaRPr lang="en-US" sz="675" dirty="0"/>
          </a:p>
        </p:txBody>
      </p:sp>
      <p:sp>
        <p:nvSpPr>
          <p:cNvPr id="9" name="Text 7"/>
          <p:cNvSpPr/>
          <p:nvPr/>
        </p:nvSpPr>
        <p:spPr>
          <a:xfrm>
            <a:off x="485775" y="1462980"/>
            <a:ext cx="2587511" cy="933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735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525" i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Liu et al., ACL 2020</a:t>
            </a:r>
            <a:endParaRPr lang="en-US" sz="525" dirty="0"/>
          </a:p>
        </p:txBody>
      </p:sp>
      <p:sp>
        <p:nvSpPr>
          <p:cNvPr id="10" name="Text 8"/>
          <p:cNvSpPr/>
          <p:nvPr/>
        </p:nvSpPr>
        <p:spPr>
          <a:xfrm>
            <a:off x="485775" y="1594396"/>
            <a:ext cx="2587511" cy="2131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84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Multilingual denoising pre-training for neural machine translation across 50 languages.</a:t>
            </a:r>
            <a:endParaRPr lang="en-US" sz="600" dirty="0"/>
          </a:p>
        </p:txBody>
      </p:sp>
      <p:sp>
        <p:nvSpPr>
          <p:cNvPr id="11" name="Text 9"/>
          <p:cNvSpPr/>
          <p:nvPr/>
        </p:nvSpPr>
        <p:spPr>
          <a:xfrm>
            <a:off x="381000" y="2387650"/>
            <a:ext cx="2717750" cy="1139875"/>
          </a:xfrm>
          <a:prstGeom prst="roundRect">
            <a:avLst>
              <a:gd name="adj" fmla="val 3342"/>
            </a:avLst>
          </a:prstGeom>
          <a:solidFill>
            <a:srgbClr val="F8F8F8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2" name="Shape 10"/>
          <p:cNvSpPr/>
          <p:nvPr/>
        </p:nvSpPr>
        <p:spPr>
          <a:xfrm>
            <a:off x="395288" y="2387650"/>
            <a:ext cx="0" cy="1139875"/>
          </a:xfrm>
          <a:prstGeom prst="line">
            <a:avLst/>
          </a:prstGeom>
          <a:noFill/>
          <a:ln w="28575">
            <a:solidFill>
              <a:srgbClr val="011F5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485775" y="2501950"/>
            <a:ext cx="2587511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45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675" b="1" dirty="0">
                <a:solidFill>
                  <a:srgbClr val="011F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mT5</a:t>
            </a:r>
            <a:endParaRPr lang="en-US" sz="675" dirty="0"/>
          </a:p>
        </p:txBody>
      </p:sp>
      <p:sp>
        <p:nvSpPr>
          <p:cNvPr id="14" name="Text 12"/>
          <p:cNvSpPr/>
          <p:nvPr/>
        </p:nvSpPr>
        <p:spPr>
          <a:xfrm>
            <a:off x="485775" y="2660005"/>
            <a:ext cx="2587511" cy="933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735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525" i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Xue et al., NAACL 2021</a:t>
            </a:r>
            <a:endParaRPr lang="en-US" sz="525" dirty="0"/>
          </a:p>
        </p:txBody>
      </p:sp>
      <p:sp>
        <p:nvSpPr>
          <p:cNvPr id="15" name="Text 13"/>
          <p:cNvSpPr/>
          <p:nvPr/>
        </p:nvSpPr>
        <p:spPr>
          <a:xfrm>
            <a:off x="485775" y="2791420"/>
            <a:ext cx="2587511" cy="106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84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Massively multilingual text-to-text transformer covering 101 languages.</a:t>
            </a:r>
            <a:endParaRPr lang="en-US" sz="600" dirty="0"/>
          </a:p>
        </p:txBody>
      </p:sp>
      <p:sp>
        <p:nvSpPr>
          <p:cNvPr id="16" name="Text 14"/>
          <p:cNvSpPr/>
          <p:nvPr/>
        </p:nvSpPr>
        <p:spPr>
          <a:xfrm>
            <a:off x="381000" y="3584674"/>
            <a:ext cx="2717750" cy="1139875"/>
          </a:xfrm>
          <a:prstGeom prst="roundRect">
            <a:avLst>
              <a:gd name="adj" fmla="val 3342"/>
            </a:avLst>
          </a:prstGeom>
          <a:solidFill>
            <a:srgbClr val="F8F8F8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7" name="Shape 15"/>
          <p:cNvSpPr/>
          <p:nvPr/>
        </p:nvSpPr>
        <p:spPr>
          <a:xfrm>
            <a:off x="395288" y="3584674"/>
            <a:ext cx="0" cy="1139875"/>
          </a:xfrm>
          <a:prstGeom prst="line">
            <a:avLst/>
          </a:prstGeom>
          <a:noFill/>
          <a:ln w="28575">
            <a:solidFill>
              <a:srgbClr val="011F5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485775" y="3698974"/>
            <a:ext cx="2587511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45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675" b="1" dirty="0">
                <a:solidFill>
                  <a:srgbClr val="011F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Llama-3</a:t>
            </a:r>
            <a:endParaRPr lang="en-US" sz="675" dirty="0"/>
          </a:p>
        </p:txBody>
      </p:sp>
      <p:sp>
        <p:nvSpPr>
          <p:cNvPr id="19" name="Text 17"/>
          <p:cNvSpPr/>
          <p:nvPr/>
        </p:nvSpPr>
        <p:spPr>
          <a:xfrm>
            <a:off x="485775" y="3857030"/>
            <a:ext cx="2587511" cy="933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735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525" i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Touvron et al., Meta 2024</a:t>
            </a:r>
            <a:endParaRPr lang="en-US" sz="525" dirty="0"/>
          </a:p>
        </p:txBody>
      </p:sp>
      <p:sp>
        <p:nvSpPr>
          <p:cNvPr id="20" name="Text 18"/>
          <p:cNvSpPr/>
          <p:nvPr/>
        </p:nvSpPr>
        <p:spPr>
          <a:xfrm>
            <a:off x="485775" y="3988445"/>
            <a:ext cx="2587511" cy="2131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84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foundation model with strong multilingual capabilities and instruction-tuning.</a:t>
            </a:r>
            <a:endParaRPr lang="en-US" sz="600" dirty="0"/>
          </a:p>
        </p:txBody>
      </p:sp>
      <p:sp>
        <p:nvSpPr>
          <p:cNvPr id="21" name="Text 19"/>
          <p:cNvSpPr/>
          <p:nvPr/>
        </p:nvSpPr>
        <p:spPr>
          <a:xfrm>
            <a:off x="3213050" y="809625"/>
            <a:ext cx="2717750" cy="323850"/>
          </a:xfrm>
          <a:prstGeom prst="roundRect">
            <a:avLst>
              <a:gd name="adj" fmla="val 11765"/>
            </a:avLst>
          </a:prstGeom>
          <a:solidFill>
            <a:srgbClr val="99000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3308300" y="904875"/>
            <a:ext cx="2577795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Code-Mixed NLP</a:t>
            </a:r>
            <a:endParaRPr lang="en-US" sz="750" dirty="0"/>
          </a:p>
        </p:txBody>
      </p:sp>
      <p:sp>
        <p:nvSpPr>
          <p:cNvPr id="23" name="Text 21"/>
          <p:cNvSpPr/>
          <p:nvPr/>
        </p:nvSpPr>
        <p:spPr>
          <a:xfrm>
            <a:off x="3213050" y="1190625"/>
            <a:ext cx="2717750" cy="1139875"/>
          </a:xfrm>
          <a:prstGeom prst="roundRect">
            <a:avLst>
              <a:gd name="adj" fmla="val 3342"/>
            </a:avLst>
          </a:prstGeom>
          <a:solidFill>
            <a:srgbClr val="F8F8F8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4" name="Shape 22"/>
          <p:cNvSpPr/>
          <p:nvPr/>
        </p:nvSpPr>
        <p:spPr>
          <a:xfrm>
            <a:off x="3227338" y="1190625"/>
            <a:ext cx="0" cy="1139875"/>
          </a:xfrm>
          <a:prstGeom prst="line">
            <a:avLst/>
          </a:prstGeom>
          <a:noFill/>
          <a:ln w="28575">
            <a:solidFill>
              <a:srgbClr val="99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3317825" y="1304925"/>
            <a:ext cx="2587511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45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675" b="1" dirty="0">
                <a:solidFill>
                  <a:srgbClr val="99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Code-Mixing Index (CMI)</a:t>
            </a:r>
            <a:endParaRPr lang="en-US" sz="675" dirty="0"/>
          </a:p>
        </p:txBody>
      </p:sp>
      <p:sp>
        <p:nvSpPr>
          <p:cNvPr id="26" name="Text 24"/>
          <p:cNvSpPr/>
          <p:nvPr/>
        </p:nvSpPr>
        <p:spPr>
          <a:xfrm>
            <a:off x="3317825" y="1462980"/>
            <a:ext cx="2587511" cy="933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735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525" i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Gambäck &amp; Das, EMNLP 2014</a:t>
            </a:r>
            <a:endParaRPr lang="en-US" sz="525" dirty="0"/>
          </a:p>
        </p:txBody>
      </p:sp>
      <p:sp>
        <p:nvSpPr>
          <p:cNvPr id="27" name="Text 25"/>
          <p:cNvSpPr/>
          <p:nvPr/>
        </p:nvSpPr>
        <p:spPr>
          <a:xfrm>
            <a:off x="3317825" y="1594396"/>
            <a:ext cx="2587511" cy="106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84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Quantitative measure of code-switching complexity in multilingual text.</a:t>
            </a:r>
            <a:endParaRPr lang="en-US" sz="600" dirty="0"/>
          </a:p>
        </p:txBody>
      </p:sp>
      <p:sp>
        <p:nvSpPr>
          <p:cNvPr id="28" name="Text 26"/>
          <p:cNvSpPr/>
          <p:nvPr/>
        </p:nvSpPr>
        <p:spPr>
          <a:xfrm>
            <a:off x="3213050" y="2387650"/>
            <a:ext cx="2717750" cy="1139875"/>
          </a:xfrm>
          <a:prstGeom prst="roundRect">
            <a:avLst>
              <a:gd name="adj" fmla="val 3342"/>
            </a:avLst>
          </a:prstGeom>
          <a:solidFill>
            <a:srgbClr val="F8F8F8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9" name="Shape 27"/>
          <p:cNvSpPr/>
          <p:nvPr/>
        </p:nvSpPr>
        <p:spPr>
          <a:xfrm>
            <a:off x="3227338" y="2387650"/>
            <a:ext cx="0" cy="1139875"/>
          </a:xfrm>
          <a:prstGeom prst="line">
            <a:avLst/>
          </a:prstGeom>
          <a:noFill/>
          <a:ln w="28575">
            <a:solidFill>
              <a:srgbClr val="99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3317825" y="2501950"/>
            <a:ext cx="2587511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45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675" b="1" dirty="0">
                <a:solidFill>
                  <a:srgbClr val="99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GLUECoS Benchmark</a:t>
            </a:r>
            <a:endParaRPr lang="en-US" sz="675" dirty="0"/>
          </a:p>
        </p:txBody>
      </p:sp>
      <p:sp>
        <p:nvSpPr>
          <p:cNvPr id="31" name="Text 29"/>
          <p:cNvSpPr/>
          <p:nvPr/>
        </p:nvSpPr>
        <p:spPr>
          <a:xfrm>
            <a:off x="3317825" y="2660005"/>
            <a:ext cx="2587511" cy="933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735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525" i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Khanuja et al., ACL 2020</a:t>
            </a:r>
            <a:endParaRPr lang="en-US" sz="525" dirty="0"/>
          </a:p>
        </p:txBody>
      </p:sp>
      <p:sp>
        <p:nvSpPr>
          <p:cNvPr id="32" name="Text 30"/>
          <p:cNvSpPr/>
          <p:nvPr/>
        </p:nvSpPr>
        <p:spPr>
          <a:xfrm>
            <a:off x="3317825" y="2791420"/>
            <a:ext cx="2587511" cy="106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84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Benchmark for code-switched NLU tasks including NER, sentiment, QA.</a:t>
            </a:r>
            <a:endParaRPr lang="en-US" sz="600" dirty="0"/>
          </a:p>
        </p:txBody>
      </p:sp>
      <p:sp>
        <p:nvSpPr>
          <p:cNvPr id="33" name="Text 31"/>
          <p:cNvSpPr/>
          <p:nvPr/>
        </p:nvSpPr>
        <p:spPr>
          <a:xfrm>
            <a:off x="3213050" y="3584674"/>
            <a:ext cx="2717750" cy="1139875"/>
          </a:xfrm>
          <a:prstGeom prst="roundRect">
            <a:avLst>
              <a:gd name="adj" fmla="val 3342"/>
            </a:avLst>
          </a:prstGeom>
          <a:solidFill>
            <a:srgbClr val="F8F8F8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4" name="Shape 32"/>
          <p:cNvSpPr/>
          <p:nvPr/>
        </p:nvSpPr>
        <p:spPr>
          <a:xfrm>
            <a:off x="3227338" y="3584674"/>
            <a:ext cx="0" cy="1139875"/>
          </a:xfrm>
          <a:prstGeom prst="line">
            <a:avLst/>
          </a:prstGeom>
          <a:noFill/>
          <a:ln w="28575">
            <a:solidFill>
              <a:srgbClr val="99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3317825" y="3698974"/>
            <a:ext cx="2587511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45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675" b="1" dirty="0">
                <a:solidFill>
                  <a:srgbClr val="99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CS-SUM Dataset</a:t>
            </a:r>
            <a:endParaRPr lang="en-US" sz="675" dirty="0"/>
          </a:p>
        </p:txBody>
      </p:sp>
      <p:sp>
        <p:nvSpPr>
          <p:cNvPr id="36" name="Text 34"/>
          <p:cNvSpPr/>
          <p:nvPr/>
        </p:nvSpPr>
        <p:spPr>
          <a:xfrm>
            <a:off x="3317825" y="3857030"/>
            <a:ext cx="2587511" cy="933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735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525" i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Mehnaz et al., AACL 2021</a:t>
            </a:r>
            <a:endParaRPr lang="en-US" sz="525" dirty="0"/>
          </a:p>
        </p:txBody>
      </p:sp>
      <p:sp>
        <p:nvSpPr>
          <p:cNvPr id="37" name="Text 35"/>
          <p:cNvSpPr/>
          <p:nvPr/>
        </p:nvSpPr>
        <p:spPr>
          <a:xfrm>
            <a:off x="3317825" y="3988445"/>
            <a:ext cx="2587511" cy="2131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84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Code-switched conversation summarization dataset for multiple language pairs.</a:t>
            </a:r>
            <a:endParaRPr lang="en-US" sz="600" dirty="0"/>
          </a:p>
        </p:txBody>
      </p:sp>
      <p:sp>
        <p:nvSpPr>
          <p:cNvPr id="38" name="Text 36"/>
          <p:cNvSpPr/>
          <p:nvPr/>
        </p:nvSpPr>
        <p:spPr>
          <a:xfrm>
            <a:off x="6045101" y="809625"/>
            <a:ext cx="2717750" cy="323850"/>
          </a:xfrm>
          <a:prstGeom prst="roundRect">
            <a:avLst>
              <a:gd name="adj" fmla="val 11765"/>
            </a:avLst>
          </a:prstGeom>
          <a:solidFill>
            <a:srgbClr val="198754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9" name="Text 37"/>
          <p:cNvSpPr/>
          <p:nvPr/>
        </p:nvSpPr>
        <p:spPr>
          <a:xfrm>
            <a:off x="6140351" y="904875"/>
            <a:ext cx="2577795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Curriculum Learning</a:t>
            </a:r>
            <a:endParaRPr lang="en-US" sz="750" dirty="0"/>
          </a:p>
        </p:txBody>
      </p:sp>
      <p:sp>
        <p:nvSpPr>
          <p:cNvPr id="40" name="Text 38"/>
          <p:cNvSpPr/>
          <p:nvPr/>
        </p:nvSpPr>
        <p:spPr>
          <a:xfrm>
            <a:off x="6045101" y="1190625"/>
            <a:ext cx="2717750" cy="1127075"/>
          </a:xfrm>
          <a:prstGeom prst="roundRect">
            <a:avLst>
              <a:gd name="adj" fmla="val 3380"/>
            </a:avLst>
          </a:prstGeom>
          <a:solidFill>
            <a:srgbClr val="F8F8F8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1" name="Shape 39"/>
          <p:cNvSpPr/>
          <p:nvPr/>
        </p:nvSpPr>
        <p:spPr>
          <a:xfrm>
            <a:off x="6059388" y="1190625"/>
            <a:ext cx="0" cy="1127075"/>
          </a:xfrm>
          <a:prstGeom prst="line">
            <a:avLst/>
          </a:prstGeom>
          <a:noFill/>
          <a:ln w="28575">
            <a:solidFill>
              <a:srgbClr val="19875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Text 40"/>
          <p:cNvSpPr/>
          <p:nvPr/>
        </p:nvSpPr>
        <p:spPr>
          <a:xfrm>
            <a:off x="6149876" y="1304925"/>
            <a:ext cx="2587511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45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675" b="1" dirty="0">
                <a:solidFill>
                  <a:srgbClr val="1987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Curriculum Learning</a:t>
            </a:r>
            <a:endParaRPr lang="en-US" sz="675" dirty="0"/>
          </a:p>
        </p:txBody>
      </p:sp>
      <p:sp>
        <p:nvSpPr>
          <p:cNvPr id="43" name="Text 41"/>
          <p:cNvSpPr/>
          <p:nvPr/>
        </p:nvSpPr>
        <p:spPr>
          <a:xfrm>
            <a:off x="6149876" y="1462980"/>
            <a:ext cx="2587511" cy="933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735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525" i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Bengio et al., ICML 2009</a:t>
            </a:r>
            <a:endParaRPr lang="en-US" sz="525" dirty="0"/>
          </a:p>
        </p:txBody>
      </p:sp>
      <p:sp>
        <p:nvSpPr>
          <p:cNvPr id="44" name="Text 42"/>
          <p:cNvSpPr/>
          <p:nvPr/>
        </p:nvSpPr>
        <p:spPr>
          <a:xfrm>
            <a:off x="6149876" y="1594396"/>
            <a:ext cx="2587511" cy="2131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84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Training on progressively harder examples improves convergence and generalization.</a:t>
            </a:r>
            <a:endParaRPr lang="en-US" sz="600" dirty="0"/>
          </a:p>
        </p:txBody>
      </p:sp>
      <p:sp>
        <p:nvSpPr>
          <p:cNvPr id="45" name="Text 43"/>
          <p:cNvSpPr/>
          <p:nvPr/>
        </p:nvSpPr>
        <p:spPr>
          <a:xfrm>
            <a:off x="6045101" y="2374850"/>
            <a:ext cx="2717750" cy="1127075"/>
          </a:xfrm>
          <a:prstGeom prst="roundRect">
            <a:avLst>
              <a:gd name="adj" fmla="val 3380"/>
            </a:avLst>
          </a:prstGeom>
          <a:solidFill>
            <a:srgbClr val="F8F8F8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6" name="Shape 44"/>
          <p:cNvSpPr/>
          <p:nvPr/>
        </p:nvSpPr>
        <p:spPr>
          <a:xfrm>
            <a:off x="6059388" y="2374850"/>
            <a:ext cx="0" cy="1127075"/>
          </a:xfrm>
          <a:prstGeom prst="line">
            <a:avLst/>
          </a:prstGeom>
          <a:noFill/>
          <a:ln w="28575">
            <a:solidFill>
              <a:srgbClr val="19875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7" name="Text 45"/>
          <p:cNvSpPr/>
          <p:nvPr/>
        </p:nvSpPr>
        <p:spPr>
          <a:xfrm>
            <a:off x="6149876" y="2489150"/>
            <a:ext cx="2587511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45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675" b="1" dirty="0">
                <a:solidFill>
                  <a:srgbClr val="1987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LoRA</a:t>
            </a:r>
            <a:endParaRPr lang="en-US" sz="675" dirty="0"/>
          </a:p>
        </p:txBody>
      </p:sp>
      <p:sp>
        <p:nvSpPr>
          <p:cNvPr id="48" name="Text 46"/>
          <p:cNvSpPr/>
          <p:nvPr/>
        </p:nvSpPr>
        <p:spPr>
          <a:xfrm>
            <a:off x="6149876" y="2647206"/>
            <a:ext cx="2587511" cy="933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735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525" i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 et al., ICLR 2022</a:t>
            </a:r>
            <a:endParaRPr lang="en-US" sz="525" dirty="0"/>
          </a:p>
        </p:txBody>
      </p:sp>
      <p:sp>
        <p:nvSpPr>
          <p:cNvPr id="49" name="Text 47"/>
          <p:cNvSpPr/>
          <p:nvPr/>
        </p:nvSpPr>
        <p:spPr>
          <a:xfrm>
            <a:off x="6149876" y="2778621"/>
            <a:ext cx="2587511" cy="106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84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Low-rank adaptation for efficient fine-tuning of large language models.</a:t>
            </a:r>
            <a:endParaRPr lang="en-US" sz="600" dirty="0"/>
          </a:p>
        </p:txBody>
      </p:sp>
      <p:sp>
        <p:nvSpPr>
          <p:cNvPr id="50" name="Text 48"/>
          <p:cNvSpPr/>
          <p:nvPr/>
        </p:nvSpPr>
        <p:spPr>
          <a:xfrm>
            <a:off x="6045101" y="3559076"/>
            <a:ext cx="2717750" cy="1165175"/>
          </a:xfrm>
          <a:prstGeom prst="roundRect">
            <a:avLst>
              <a:gd name="adj" fmla="val 3270"/>
            </a:avLst>
          </a:prstGeom>
          <a:solidFill>
            <a:srgbClr val="D4EDDA"/>
          </a:solidFill>
          <a:ln w="19050">
            <a:solidFill>
              <a:srgbClr val="198754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1" name="Text 49"/>
          <p:cNvSpPr/>
          <p:nvPr/>
        </p:nvSpPr>
        <p:spPr>
          <a:xfrm>
            <a:off x="6140351" y="3692426"/>
            <a:ext cx="2577795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45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675" b="1" dirty="0">
                <a:solidFill>
                  <a:srgbClr val="1557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Our Contribution: CSCL</a:t>
            </a:r>
            <a:endParaRPr lang="en-US" sz="675" dirty="0"/>
          </a:p>
        </p:txBody>
      </p:sp>
      <p:sp>
        <p:nvSpPr>
          <p:cNvPr id="52" name="Text 50"/>
          <p:cNvSpPr/>
          <p:nvPr/>
        </p:nvSpPr>
        <p:spPr>
          <a:xfrm>
            <a:off x="6140351" y="3850481"/>
            <a:ext cx="2577795" cy="2131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84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600" dirty="0">
                <a:solidFill>
                  <a:srgbClr val="1557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First application of curriculum learning using CMI as difficulty metric for code-mixed summarization.</a:t>
            </a:r>
            <a:endParaRPr lang="en-US" sz="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0999" y="266700"/>
            <a:ext cx="4722743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950" b="1" dirty="0">
                <a:solidFill>
                  <a:srgbClr val="011F5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is Code-Mixing Index (CMI)?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381000" y="571500"/>
            <a:ext cx="1905000" cy="38100"/>
          </a:xfrm>
          <a:prstGeom prst="rect">
            <a:avLst/>
          </a:prstGeom>
          <a:solidFill>
            <a:srgbClr val="99000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381000" y="895350"/>
            <a:ext cx="4095750" cy="1697236"/>
          </a:xfrm>
          <a:prstGeom prst="roundRect">
            <a:avLst>
              <a:gd name="adj" fmla="val 3367"/>
            </a:avLst>
          </a:prstGeom>
          <a:solidFill>
            <a:srgbClr val="F8F8F8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Shape 3"/>
          <p:cNvSpPr/>
          <p:nvPr/>
        </p:nvSpPr>
        <p:spPr>
          <a:xfrm>
            <a:off x="381000" y="909638"/>
            <a:ext cx="4095750" cy="0"/>
          </a:xfrm>
          <a:prstGeom prst="line">
            <a:avLst/>
          </a:prstGeom>
          <a:noFill/>
          <a:ln w="28575">
            <a:solidFill>
              <a:srgbClr val="011F5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14350" y="1057275"/>
            <a:ext cx="3905631" cy="1485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70"/>
              </a:lnSpc>
              <a:spcAft>
                <a:spcPts val="750"/>
              </a:spcAft>
              <a:buNone/>
            </a:pPr>
            <a:r>
              <a:rPr lang="en-US" sz="975" b="1" dirty="0">
                <a:solidFill>
                  <a:srgbClr val="011F5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FORMULA</a:t>
            </a:r>
            <a:endParaRPr lang="en-US" sz="975" dirty="0"/>
          </a:p>
        </p:txBody>
      </p:sp>
      <p:sp>
        <p:nvSpPr>
          <p:cNvPr id="7" name="Text 5"/>
          <p:cNvSpPr/>
          <p:nvPr/>
        </p:nvSpPr>
        <p:spPr>
          <a:xfrm>
            <a:off x="514350" y="1301055"/>
            <a:ext cx="3829050" cy="472380"/>
          </a:xfrm>
          <a:prstGeom prst="roundRect">
            <a:avLst>
              <a:gd name="adj" fmla="val 8066"/>
            </a:avLst>
          </a:prstGeom>
          <a:solidFill>
            <a:srgbClr val="FFFFFF"/>
          </a:solidFill>
          <a:ln w="9525">
            <a:solidFill>
              <a:srgbClr val="DDDDDD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582930" y="1443930"/>
            <a:ext cx="3691890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47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050" dirty="0">
                <a:solidFill>
                  <a:srgbClr val="011F5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CMI = (N - max(w1,w2)) / N x 100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514350" y="1849636"/>
            <a:ext cx="3905631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5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 = total tokens, w1/w2 = per language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514350" y="2154436"/>
            <a:ext cx="3905631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5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Range: 0% (mono) to ~50% (balanced)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381000" y="2687836"/>
            <a:ext cx="4095750" cy="2188964"/>
          </a:xfrm>
          <a:prstGeom prst="roundRect">
            <a:avLst>
              <a:gd name="adj" fmla="val 2611"/>
            </a:avLst>
          </a:prstGeom>
          <a:solidFill>
            <a:srgbClr val="F8F8F8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2" name="Shape 10"/>
          <p:cNvSpPr/>
          <p:nvPr/>
        </p:nvSpPr>
        <p:spPr>
          <a:xfrm>
            <a:off x="381000" y="2702123"/>
            <a:ext cx="4095750" cy="0"/>
          </a:xfrm>
          <a:prstGeom prst="line">
            <a:avLst/>
          </a:prstGeom>
          <a:noFill/>
          <a:ln w="28575">
            <a:solidFill>
              <a:srgbClr val="99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514350" y="2849761"/>
            <a:ext cx="3905631" cy="1485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70"/>
              </a:lnSpc>
              <a:spcAft>
                <a:spcPts val="600"/>
              </a:spcAft>
              <a:buNone/>
            </a:pPr>
            <a:r>
              <a:rPr lang="en-US" sz="975" b="1" dirty="0">
                <a:solidFill>
                  <a:srgbClr val="9900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 IT MATTERS</a:t>
            </a:r>
            <a:endParaRPr lang="en-US" sz="975" dirty="0"/>
          </a:p>
        </p:txBody>
      </p:sp>
      <p:sp>
        <p:nvSpPr>
          <p:cNvPr id="14" name="Text 12"/>
          <p:cNvSpPr/>
          <p:nvPr/>
        </p:nvSpPr>
        <p:spPr>
          <a:xfrm>
            <a:off x="514350" y="3074491"/>
            <a:ext cx="3905631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Quantifies mixing difficulty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514350" y="3379291"/>
            <a:ext cx="3905631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Higher = more switches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514350" y="3684091"/>
            <a:ext cx="3905631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Enables curriculum ordering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4667250" y="895350"/>
            <a:ext cx="4095750" cy="647700"/>
          </a:xfrm>
          <a:prstGeom prst="roundRect">
            <a:avLst>
              <a:gd name="adj" fmla="val 8824"/>
            </a:avLst>
          </a:prstGeom>
          <a:solidFill>
            <a:srgbClr val="198754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4781550" y="1009650"/>
            <a:ext cx="646688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8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EASY (12%)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8299103" y="1047750"/>
            <a:ext cx="356589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750" dirty="0">
                <a:solidFill>
                  <a:srgbClr val="FFFFFF">
                    <a:alpha val="67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1</a:t>
            </a:r>
            <a:endParaRPr lang="en-US" sz="750" dirty="0"/>
          </a:p>
        </p:txBody>
      </p:sp>
      <p:sp>
        <p:nvSpPr>
          <p:cNvPr id="20" name="Text 18"/>
          <p:cNvSpPr/>
          <p:nvPr/>
        </p:nvSpPr>
        <p:spPr>
          <a:xfrm>
            <a:off x="4781550" y="1257300"/>
            <a:ext cx="3944493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750" dirty="0">
                <a:solidFill>
                  <a:srgbClr val="FFFFFF">
                    <a:alpha val="8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Mostly English, occasional Hindi</a:t>
            </a:r>
            <a:endParaRPr lang="en-US" sz="750" dirty="0"/>
          </a:p>
        </p:txBody>
      </p:sp>
      <p:sp>
        <p:nvSpPr>
          <p:cNvPr id="21" name="Text 19"/>
          <p:cNvSpPr/>
          <p:nvPr/>
        </p:nvSpPr>
        <p:spPr>
          <a:xfrm>
            <a:off x="4667250" y="1619250"/>
            <a:ext cx="4095750" cy="647700"/>
          </a:xfrm>
          <a:prstGeom prst="roundRect">
            <a:avLst>
              <a:gd name="adj" fmla="val 8824"/>
            </a:avLst>
          </a:prstGeom>
          <a:solidFill>
            <a:srgbClr val="FFC107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4781550" y="1733550"/>
            <a:ext cx="851624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80"/>
              </a:lnSpc>
              <a:buNone/>
            </a:pPr>
            <a:r>
              <a:rPr lang="en-US" sz="9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MEDIUM (32%)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8299103" y="1771650"/>
            <a:ext cx="356589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750" dirty="0">
                <a:solidFill>
                  <a:srgbClr val="1A1A1A">
                    <a:alpha val="67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2</a:t>
            </a:r>
            <a:endParaRPr lang="en-US" sz="750" dirty="0"/>
          </a:p>
        </p:txBody>
      </p:sp>
      <p:sp>
        <p:nvSpPr>
          <p:cNvPr id="24" name="Text 22"/>
          <p:cNvSpPr/>
          <p:nvPr/>
        </p:nvSpPr>
        <p:spPr>
          <a:xfrm>
            <a:off x="4781550" y="1981200"/>
            <a:ext cx="3944493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750" dirty="0">
                <a:solidFill>
                  <a:srgbClr val="1A1A1A">
                    <a:alpha val="8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Balanced code-switching</a:t>
            </a:r>
            <a:endParaRPr lang="en-US" sz="750" dirty="0"/>
          </a:p>
        </p:txBody>
      </p:sp>
      <p:sp>
        <p:nvSpPr>
          <p:cNvPr id="25" name="Text 23"/>
          <p:cNvSpPr/>
          <p:nvPr/>
        </p:nvSpPr>
        <p:spPr>
          <a:xfrm>
            <a:off x="4667250" y="2343150"/>
            <a:ext cx="4095750" cy="647700"/>
          </a:xfrm>
          <a:prstGeom prst="roundRect">
            <a:avLst>
              <a:gd name="adj" fmla="val 8824"/>
            </a:avLst>
          </a:prstGeom>
          <a:solidFill>
            <a:srgbClr val="99000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6" name="Text 24"/>
          <p:cNvSpPr/>
          <p:nvPr/>
        </p:nvSpPr>
        <p:spPr>
          <a:xfrm>
            <a:off x="4781550" y="2457450"/>
            <a:ext cx="683273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8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HARD (51%)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8299103" y="2495550"/>
            <a:ext cx="356589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750" dirty="0">
                <a:solidFill>
                  <a:srgbClr val="FFFFFF">
                    <a:alpha val="67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3</a:t>
            </a:r>
            <a:endParaRPr lang="en-US" sz="750" dirty="0"/>
          </a:p>
        </p:txBody>
      </p:sp>
      <p:sp>
        <p:nvSpPr>
          <p:cNvPr id="28" name="Text 26"/>
          <p:cNvSpPr/>
          <p:nvPr/>
        </p:nvSpPr>
        <p:spPr>
          <a:xfrm>
            <a:off x="4781550" y="2705100"/>
            <a:ext cx="3944493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750" dirty="0">
                <a:solidFill>
                  <a:srgbClr val="FFFFFF">
                    <a:alpha val="8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Frequent intra-sentence switching</a:t>
            </a:r>
            <a:endParaRPr lang="en-US" sz="750" dirty="0"/>
          </a:p>
        </p:txBody>
      </p:sp>
      <p:sp>
        <p:nvSpPr>
          <p:cNvPr id="29" name="Text 27"/>
          <p:cNvSpPr/>
          <p:nvPr/>
        </p:nvSpPr>
        <p:spPr>
          <a:xfrm>
            <a:off x="4667250" y="3067050"/>
            <a:ext cx="4095750" cy="426690"/>
          </a:xfrm>
          <a:prstGeom prst="roundRect">
            <a:avLst>
              <a:gd name="adj" fmla="val 13394"/>
            </a:avLst>
          </a:prstGeom>
          <a:solidFill>
            <a:srgbClr val="011F5B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0" name="Text 28"/>
          <p:cNvSpPr/>
          <p:nvPr/>
        </p:nvSpPr>
        <p:spPr>
          <a:xfrm>
            <a:off x="4723447" y="3200400"/>
            <a:ext cx="3983355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26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Dataset: </a:t>
            </a: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0% to 65%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283071"/>
            <a:ext cx="4284536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650" b="1" dirty="0">
                <a:solidFill>
                  <a:srgbClr val="011F5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Key Equations: CMI Formula</a:t>
            </a:r>
            <a:endParaRPr lang="en-US" sz="1650" dirty="0"/>
          </a:p>
        </p:txBody>
      </p:sp>
      <p:sp>
        <p:nvSpPr>
          <p:cNvPr id="3" name="Text 1"/>
          <p:cNvSpPr/>
          <p:nvPr/>
        </p:nvSpPr>
        <p:spPr>
          <a:xfrm>
            <a:off x="381000" y="530721"/>
            <a:ext cx="1524000" cy="28575"/>
          </a:xfrm>
          <a:prstGeom prst="rect">
            <a:avLst/>
          </a:prstGeom>
          <a:solidFill>
            <a:srgbClr val="99000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381000" y="787896"/>
            <a:ext cx="4114800" cy="811411"/>
          </a:xfrm>
          <a:prstGeom prst="roundRect">
            <a:avLst>
              <a:gd name="adj" fmla="val 9391"/>
            </a:avLst>
          </a:prstGeom>
          <a:solidFill>
            <a:srgbClr val="011F5B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495300" y="978396"/>
            <a:ext cx="388620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050"/>
              </a:lnSpc>
              <a:spcBef>
                <a:spcPts val="300"/>
              </a:spcBef>
              <a:spcAft>
                <a:spcPts val="450"/>
              </a:spcAft>
              <a:buNone/>
            </a:pPr>
            <a:r>
              <a:rPr lang="en-US" sz="750" dirty="0">
                <a:solidFill>
                  <a:srgbClr val="FFFFFF">
                    <a:alpha val="67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CODE-MIXING INDEX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495300" y="1168896"/>
            <a:ext cx="3886200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89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5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CMI(C) = (N - max(w1, w2)) / N x 100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381000" y="1675507"/>
            <a:ext cx="4114800" cy="1649611"/>
          </a:xfrm>
          <a:prstGeom prst="roundRect">
            <a:avLst>
              <a:gd name="adj" fmla="val 3464"/>
            </a:avLst>
          </a:prstGeom>
          <a:solidFill>
            <a:srgbClr val="F8F8F8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" name="Shape 6"/>
          <p:cNvSpPr/>
          <p:nvPr/>
        </p:nvSpPr>
        <p:spPr>
          <a:xfrm>
            <a:off x="400050" y="1675507"/>
            <a:ext cx="0" cy="1649611"/>
          </a:xfrm>
          <a:prstGeom prst="line">
            <a:avLst/>
          </a:prstGeom>
          <a:noFill/>
          <a:ln w="38100">
            <a:solidFill>
              <a:srgbClr val="011F5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533400" y="1789807"/>
            <a:ext cx="3925062" cy="1256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90"/>
              </a:lnSpc>
              <a:spcAft>
                <a:spcPts val="600"/>
              </a:spcAft>
              <a:buNone/>
            </a:pPr>
            <a:r>
              <a:rPr lang="en-US" sz="825" b="1" dirty="0">
                <a:solidFill>
                  <a:srgbClr val="011F5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VARIABLE DEFINITIONS</a:t>
            </a:r>
            <a:endParaRPr lang="en-US" sz="825" dirty="0"/>
          </a:p>
        </p:txBody>
      </p:sp>
      <p:sp>
        <p:nvSpPr>
          <p:cNvPr id="10" name="Text 8"/>
          <p:cNvSpPr/>
          <p:nvPr/>
        </p:nvSpPr>
        <p:spPr>
          <a:xfrm>
            <a:off x="533400" y="1991618"/>
            <a:ext cx="3925062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5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</a:t>
            </a: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= Total tokens in conversation C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533400" y="2296418"/>
            <a:ext cx="3925062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5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w1</a:t>
            </a: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= Count of Language 1 tokens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533400" y="2601218"/>
            <a:ext cx="3925062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5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w2</a:t>
            </a: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= Count of Language 2 tokens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533400" y="2906018"/>
            <a:ext cx="3925062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5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max(w1,w2)</a:t>
            </a: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= Dominant language count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381000" y="3401318"/>
            <a:ext cx="4114800" cy="1344811"/>
          </a:xfrm>
          <a:prstGeom prst="roundRect">
            <a:avLst>
              <a:gd name="adj" fmla="val 4250"/>
            </a:avLst>
          </a:prstGeom>
          <a:solidFill>
            <a:srgbClr val="F8F8F8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5" name="Shape 13"/>
          <p:cNvSpPr/>
          <p:nvPr/>
        </p:nvSpPr>
        <p:spPr>
          <a:xfrm>
            <a:off x="400050" y="3401318"/>
            <a:ext cx="0" cy="1344811"/>
          </a:xfrm>
          <a:prstGeom prst="line">
            <a:avLst/>
          </a:prstGeom>
          <a:noFill/>
          <a:ln w="38100">
            <a:solidFill>
              <a:srgbClr val="99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533400" y="3515618"/>
            <a:ext cx="3925062" cy="1256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90"/>
              </a:lnSpc>
              <a:spcAft>
                <a:spcPts val="600"/>
              </a:spcAft>
              <a:buNone/>
            </a:pPr>
            <a:r>
              <a:rPr lang="en-US" sz="825" b="1" dirty="0">
                <a:solidFill>
                  <a:srgbClr val="9900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INTUITION</a:t>
            </a:r>
            <a:endParaRPr lang="en-US" sz="825" dirty="0"/>
          </a:p>
        </p:txBody>
      </p:sp>
      <p:sp>
        <p:nvSpPr>
          <p:cNvPr id="17" name="Text 15"/>
          <p:cNvSpPr/>
          <p:nvPr/>
        </p:nvSpPr>
        <p:spPr>
          <a:xfrm>
            <a:off x="533400" y="3717429"/>
            <a:ext cx="3925062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CMI measures mixing intensity: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533400" y="4022229"/>
            <a:ext cx="3925062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CMI = 0% means monolingual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533400" y="4327029"/>
            <a:ext cx="3925062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CMI = 50% means perfectly balanced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4648200" y="787896"/>
            <a:ext cx="4114800" cy="1196280"/>
          </a:xfrm>
          <a:prstGeom prst="roundRect">
            <a:avLst>
              <a:gd name="adj" fmla="val 4777"/>
            </a:avLst>
          </a:prstGeom>
          <a:solidFill>
            <a:srgbClr val="F8F8F8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1" name="Shape 19"/>
          <p:cNvSpPr/>
          <p:nvPr/>
        </p:nvSpPr>
        <p:spPr>
          <a:xfrm>
            <a:off x="4648200" y="802184"/>
            <a:ext cx="4114800" cy="0"/>
          </a:xfrm>
          <a:prstGeom prst="line">
            <a:avLst/>
          </a:prstGeom>
          <a:noFill/>
          <a:ln w="28575">
            <a:solidFill>
              <a:srgbClr val="19875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4762500" y="930771"/>
            <a:ext cx="3963924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00"/>
              </a:lnSpc>
              <a:spcAft>
                <a:spcPts val="450"/>
              </a:spcAft>
              <a:buNone/>
            </a:pPr>
            <a:r>
              <a:rPr lang="en-US" sz="750" b="1" dirty="0">
                <a:solidFill>
                  <a:srgbClr val="19875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EXAMPLE 1: Low CMI</a:t>
            </a:r>
            <a:endParaRPr lang="en-US" sz="750" dirty="0"/>
          </a:p>
        </p:txBody>
      </p:sp>
      <p:sp>
        <p:nvSpPr>
          <p:cNvPr id="23" name="Text 21"/>
          <p:cNvSpPr/>
          <p:nvPr/>
        </p:nvSpPr>
        <p:spPr>
          <a:xfrm>
            <a:off x="4762500" y="1102221"/>
            <a:ext cx="3963924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45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675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"Hey hi what's up, </a:t>
            </a:r>
            <a:r>
              <a:rPr lang="en-US" sz="675" dirty="0" err="1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kya</a:t>
            </a:r>
            <a:r>
              <a:rPr lang="en-US" sz="675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675" dirty="0" err="1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hua</a:t>
            </a:r>
            <a:r>
              <a:rPr lang="en-US" sz="675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</a:t>
            </a:r>
            <a:endParaRPr lang="en-US" sz="675" dirty="0"/>
          </a:p>
        </p:txBody>
      </p:sp>
      <p:sp>
        <p:nvSpPr>
          <p:cNvPr id="24" name="Text 22"/>
          <p:cNvSpPr/>
          <p:nvPr/>
        </p:nvSpPr>
        <p:spPr>
          <a:xfrm>
            <a:off x="4762500" y="1260277"/>
            <a:ext cx="3963924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N=6, English=4, Hindi=2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4762500" y="1565077"/>
            <a:ext cx="3963924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CMI = (6-4)/6 x 100 = </a:t>
            </a:r>
            <a:r>
              <a:rPr lang="en-US" sz="1500" b="1" dirty="0">
                <a:solidFill>
                  <a:srgbClr val="1987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33%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4648200" y="2060377"/>
            <a:ext cx="4114800" cy="1196280"/>
          </a:xfrm>
          <a:prstGeom prst="roundRect">
            <a:avLst>
              <a:gd name="adj" fmla="val 4777"/>
            </a:avLst>
          </a:prstGeom>
          <a:solidFill>
            <a:srgbClr val="F8F8F8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7" name="Shape 25"/>
          <p:cNvSpPr/>
          <p:nvPr/>
        </p:nvSpPr>
        <p:spPr>
          <a:xfrm>
            <a:off x="4648200" y="2074664"/>
            <a:ext cx="4114800" cy="0"/>
          </a:xfrm>
          <a:prstGeom prst="line">
            <a:avLst/>
          </a:prstGeom>
          <a:noFill/>
          <a:ln w="28575">
            <a:solidFill>
              <a:srgbClr val="99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4762500" y="2203252"/>
            <a:ext cx="3963924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00"/>
              </a:lnSpc>
              <a:spcAft>
                <a:spcPts val="450"/>
              </a:spcAft>
              <a:buNone/>
            </a:pPr>
            <a:r>
              <a:rPr lang="en-US" sz="750" b="1" dirty="0">
                <a:solidFill>
                  <a:srgbClr val="9900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EXAMPLE 2: High CMI</a:t>
            </a:r>
            <a:endParaRPr lang="en-US" sz="750" dirty="0"/>
          </a:p>
        </p:txBody>
      </p:sp>
      <p:sp>
        <p:nvSpPr>
          <p:cNvPr id="29" name="Text 27"/>
          <p:cNvSpPr/>
          <p:nvPr/>
        </p:nvSpPr>
        <p:spPr>
          <a:xfrm>
            <a:off x="4762500" y="2374702"/>
            <a:ext cx="3963924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45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675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"Mujhe lagta hai we should go hiking aaj"</a:t>
            </a:r>
            <a:endParaRPr lang="en-US" sz="675" dirty="0"/>
          </a:p>
        </p:txBody>
      </p:sp>
      <p:sp>
        <p:nvSpPr>
          <p:cNvPr id="30" name="Text 28"/>
          <p:cNvSpPr/>
          <p:nvPr/>
        </p:nvSpPr>
        <p:spPr>
          <a:xfrm>
            <a:off x="4762500" y="2532757"/>
            <a:ext cx="3963924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N=8, English=4, Hindi=4</a:t>
            </a:r>
            <a:endParaRPr lang="en-US" sz="1500" dirty="0"/>
          </a:p>
        </p:txBody>
      </p:sp>
      <p:sp>
        <p:nvSpPr>
          <p:cNvPr id="31" name="Text 29"/>
          <p:cNvSpPr/>
          <p:nvPr/>
        </p:nvSpPr>
        <p:spPr>
          <a:xfrm>
            <a:off x="4762500" y="2837557"/>
            <a:ext cx="3963924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CMI = (8-4)/8 x 100 = </a:t>
            </a:r>
            <a:r>
              <a:rPr lang="en-US" sz="1500" b="1" dirty="0">
                <a:solidFill>
                  <a:srgbClr val="99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50%</a:t>
            </a:r>
            <a:endParaRPr lang="en-US" sz="1500" dirty="0"/>
          </a:p>
        </p:txBody>
      </p:sp>
      <p:sp>
        <p:nvSpPr>
          <p:cNvPr id="32" name="Text 30"/>
          <p:cNvSpPr/>
          <p:nvPr/>
        </p:nvSpPr>
        <p:spPr>
          <a:xfrm>
            <a:off x="4648200" y="3332857"/>
            <a:ext cx="4114800" cy="558105"/>
          </a:xfrm>
          <a:prstGeom prst="roundRect">
            <a:avLst>
              <a:gd name="adj" fmla="val 10240"/>
            </a:avLst>
          </a:prstGeom>
          <a:solidFill>
            <a:srgbClr val="011F5B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3" name="Text 31"/>
          <p:cNvSpPr/>
          <p:nvPr/>
        </p:nvSpPr>
        <p:spPr>
          <a:xfrm>
            <a:off x="4762500" y="3447157"/>
            <a:ext cx="3963924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00"/>
              </a:lnSpc>
              <a:spcAft>
                <a:spcPts val="450"/>
              </a:spcAft>
              <a:buNone/>
            </a:pPr>
            <a:r>
              <a:rPr lang="en-US" sz="7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 THIS MATTERS</a:t>
            </a:r>
            <a:endParaRPr lang="en-US" sz="750" dirty="0"/>
          </a:p>
        </p:txBody>
      </p:sp>
      <p:sp>
        <p:nvSpPr>
          <p:cNvPr id="34" name="Text 32"/>
          <p:cNvSpPr/>
          <p:nvPr/>
        </p:nvSpPr>
        <p:spPr>
          <a:xfrm>
            <a:off x="4762500" y="3618607"/>
            <a:ext cx="3963924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45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675" dirty="0">
                <a:solidFill>
                  <a:srgbClr val="FFFFFF">
                    <a:alpha val="8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CMI gives us a principled way to order training samples by difficulty - crucial for curriculum learning!</a:t>
            </a:r>
            <a:endParaRPr lang="en-US" sz="675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342900"/>
            <a:ext cx="4284536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500" b="1" dirty="0">
                <a:solidFill>
                  <a:srgbClr val="011F5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Code: CMI Computation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381000" y="561975"/>
            <a:ext cx="1333500" cy="28575"/>
          </a:xfrm>
          <a:prstGeom prst="rect">
            <a:avLst/>
          </a:prstGeom>
          <a:solidFill>
            <a:srgbClr val="99000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381000" y="800100"/>
            <a:ext cx="5036790" cy="3886200"/>
          </a:xfrm>
          <a:prstGeom prst="roundRect">
            <a:avLst>
              <a:gd name="adj" fmla="val 1225"/>
            </a:avLst>
          </a:prstGeom>
          <a:solidFill>
            <a:srgbClr val="1E1E1E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476250" y="933450"/>
            <a:ext cx="4943216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500" dirty="0">
                <a:solidFill>
                  <a:srgbClr val="569C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</a:t>
            </a:r>
            <a:r>
              <a:rPr lang="en-US" sz="1500" dirty="0">
                <a:solidFill>
                  <a:srgbClr val="D4D4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500" dirty="0">
                <a:solidFill>
                  <a:srgbClr val="DCDC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compute_cmi</a:t>
            </a:r>
            <a:r>
              <a:rPr lang="en-US" sz="1500" dirty="0">
                <a:solidFill>
                  <a:srgbClr val="D4D4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(text):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690477" y="1238250"/>
            <a:ext cx="1666059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500" dirty="0">
                <a:solidFill>
                  <a:srgbClr val="D4D4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words = text.split()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690477" y="1538315"/>
            <a:ext cx="2496856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500" dirty="0">
                <a:solidFill>
                  <a:srgbClr val="D4D4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lang = {</a:t>
            </a:r>
            <a:r>
              <a:rPr lang="en-US" sz="1500" dirty="0">
                <a:solidFill>
                  <a:srgbClr val="CE91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'non_latin'</a:t>
            </a:r>
            <a:r>
              <a:rPr lang="en-US" sz="1500" dirty="0">
                <a:solidFill>
                  <a:srgbClr val="D4D4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</a:t>
            </a:r>
            <a:r>
              <a:rPr lang="en-US" sz="1500" dirty="0">
                <a:solidFill>
                  <a:srgbClr val="B5CE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r>
              <a:rPr lang="en-US" sz="1500" dirty="0">
                <a:solidFill>
                  <a:srgbClr val="D4D4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</a:t>
            </a:r>
            <a:r>
              <a:rPr lang="en-US" sz="1500" dirty="0">
                <a:solidFill>
                  <a:srgbClr val="CE91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'latin'</a:t>
            </a:r>
            <a:r>
              <a:rPr lang="en-US" sz="1500" dirty="0">
                <a:solidFill>
                  <a:srgbClr val="D4D4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</a:t>
            </a:r>
            <a:r>
              <a:rPr lang="en-US" sz="1500" dirty="0">
                <a:solidFill>
                  <a:srgbClr val="B5CE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r>
              <a:rPr lang="en-US" sz="1500" dirty="0">
                <a:solidFill>
                  <a:srgbClr val="D4D4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}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690477" y="1843631"/>
            <a:ext cx="1321199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500" dirty="0">
                <a:solidFill>
                  <a:srgbClr val="C586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</a:t>
            </a:r>
            <a:r>
              <a:rPr lang="en-US" sz="1500" dirty="0">
                <a:solidFill>
                  <a:srgbClr val="D4D4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w </a:t>
            </a:r>
            <a:r>
              <a:rPr lang="en-US" sz="1500" dirty="0">
                <a:solidFill>
                  <a:srgbClr val="C586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</a:t>
            </a:r>
            <a:r>
              <a:rPr lang="en-US" sz="1500" dirty="0">
                <a:solidFill>
                  <a:srgbClr val="D4D4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words: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866059" y="2136192"/>
            <a:ext cx="3035046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500" dirty="0">
                <a:solidFill>
                  <a:srgbClr val="D4D4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has_nl = </a:t>
            </a:r>
            <a:r>
              <a:rPr lang="en-US" sz="1500" dirty="0">
                <a:solidFill>
                  <a:srgbClr val="569C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any</a:t>
            </a:r>
            <a:r>
              <a:rPr lang="en-US" sz="1500" dirty="0">
                <a:solidFill>
                  <a:srgbClr val="D4D4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</a:t>
            </a:r>
            <a:r>
              <a:rPr lang="en-US" sz="1500" dirty="0">
                <a:solidFill>
                  <a:srgbClr val="DCDC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ord</a:t>
            </a:r>
            <a:r>
              <a:rPr lang="en-US" sz="1500" dirty="0">
                <a:solidFill>
                  <a:srgbClr val="D4D4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(c)&gt;</a:t>
            </a:r>
            <a:r>
              <a:rPr lang="en-US" sz="1500" dirty="0">
                <a:solidFill>
                  <a:srgbClr val="B5CE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127</a:t>
            </a:r>
            <a:r>
              <a:rPr lang="en-US" sz="1500" dirty="0">
                <a:solidFill>
                  <a:srgbClr val="D4D4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500" dirty="0">
                <a:solidFill>
                  <a:srgbClr val="C586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</a:t>
            </a:r>
            <a:r>
              <a:rPr lang="en-US" sz="1500" dirty="0">
                <a:solidFill>
                  <a:srgbClr val="D4D4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c </a:t>
            </a:r>
            <a:r>
              <a:rPr lang="en-US" sz="1500" dirty="0">
                <a:solidFill>
                  <a:srgbClr val="C586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</a:t>
            </a:r>
            <a:r>
              <a:rPr lang="en-US" sz="1500" dirty="0">
                <a:solidFill>
                  <a:srgbClr val="D4D4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w)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866059" y="2447850"/>
            <a:ext cx="336945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500" dirty="0">
                <a:solidFill>
                  <a:srgbClr val="D4D4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lang[</a:t>
            </a:r>
            <a:r>
              <a:rPr lang="en-US" sz="1500" dirty="0">
                <a:solidFill>
                  <a:srgbClr val="CE91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'non_latin' </a:t>
            </a:r>
            <a:r>
              <a:rPr lang="en-US" sz="1500" dirty="0">
                <a:solidFill>
                  <a:srgbClr val="C586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if</a:t>
            </a:r>
            <a:r>
              <a:rPr lang="en-US" sz="1500" dirty="0">
                <a:solidFill>
                  <a:srgbClr val="CE91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has_nl </a:t>
            </a:r>
            <a:r>
              <a:rPr lang="en-US" sz="1500" dirty="0">
                <a:solidFill>
                  <a:srgbClr val="C586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else</a:t>
            </a:r>
            <a:r>
              <a:rPr lang="en-US" sz="1500" dirty="0">
                <a:solidFill>
                  <a:srgbClr val="CE91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'latin'</a:t>
            </a:r>
            <a:r>
              <a:rPr lang="en-US" sz="1500" dirty="0">
                <a:solidFill>
                  <a:srgbClr val="D4D4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]+=</a:t>
            </a:r>
            <a:r>
              <a:rPr lang="en-US" sz="1500" dirty="0">
                <a:solidFill>
                  <a:srgbClr val="B5CE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685528" y="2756025"/>
            <a:ext cx="2057944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500" dirty="0">
                <a:solidFill>
                  <a:srgbClr val="D4D4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 = </a:t>
            </a:r>
            <a:r>
              <a:rPr lang="en-US" sz="1500" dirty="0">
                <a:solidFill>
                  <a:srgbClr val="DCDC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sum</a:t>
            </a:r>
            <a:r>
              <a:rPr lang="en-US" sz="1500" dirty="0">
                <a:solidFill>
                  <a:srgbClr val="D4D4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(lang.values())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685528" y="3067050"/>
            <a:ext cx="3102973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500" dirty="0">
                <a:solidFill>
                  <a:srgbClr val="C586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return</a:t>
            </a:r>
            <a:r>
              <a:rPr lang="en-US" sz="1500" dirty="0">
                <a:solidFill>
                  <a:srgbClr val="D4D4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(N-</a:t>
            </a:r>
            <a:r>
              <a:rPr lang="en-US" sz="1500" dirty="0">
                <a:solidFill>
                  <a:srgbClr val="DCDC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max</a:t>
            </a:r>
            <a:r>
              <a:rPr lang="en-US" sz="1500" dirty="0">
                <a:solidFill>
                  <a:srgbClr val="D4D4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(lang.values()))/N*</a:t>
            </a:r>
            <a:r>
              <a:rPr lang="en-US" sz="1500" dirty="0">
                <a:solidFill>
                  <a:srgbClr val="B5CE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5532090" y="800100"/>
            <a:ext cx="3230910" cy="418058"/>
          </a:xfrm>
          <a:prstGeom prst="roundRect">
            <a:avLst>
              <a:gd name="adj" fmla="val 9114"/>
            </a:avLst>
          </a:prstGeom>
          <a:solidFill>
            <a:srgbClr val="F8F8F8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4" name="Shape 12"/>
          <p:cNvSpPr/>
          <p:nvPr/>
        </p:nvSpPr>
        <p:spPr>
          <a:xfrm>
            <a:off x="5546378" y="800100"/>
            <a:ext cx="0" cy="418058"/>
          </a:xfrm>
          <a:prstGeom prst="line">
            <a:avLst/>
          </a:prstGeom>
          <a:noFill/>
          <a:ln w="28575">
            <a:solidFill>
              <a:srgbClr val="011F5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5636865" y="876300"/>
            <a:ext cx="3110933" cy="102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810"/>
              </a:lnSpc>
              <a:spcAft>
                <a:spcPts val="225"/>
              </a:spcAft>
              <a:buNone/>
            </a:pPr>
            <a:r>
              <a:rPr lang="en-US" sz="675" b="1" dirty="0">
                <a:solidFill>
                  <a:srgbClr val="011F5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ord(char) &gt; 127</a:t>
            </a:r>
            <a:endParaRPr lang="en-US" sz="675" dirty="0"/>
          </a:p>
        </p:txBody>
      </p:sp>
      <p:sp>
        <p:nvSpPr>
          <p:cNvPr id="16" name="Text 14"/>
          <p:cNvSpPr/>
          <p:nvPr/>
        </p:nvSpPr>
        <p:spPr>
          <a:xfrm>
            <a:off x="5636865" y="1017240"/>
            <a:ext cx="3110933" cy="866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682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525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ASCII ends at 127. Hindi/Tamil/Mandarin chars have higher Unicode points.</a:t>
            </a:r>
            <a:endParaRPr lang="en-US" sz="525" dirty="0"/>
          </a:p>
        </p:txBody>
      </p:sp>
      <p:sp>
        <p:nvSpPr>
          <p:cNvPr id="17" name="Text 15"/>
          <p:cNvSpPr/>
          <p:nvPr/>
        </p:nvSpPr>
        <p:spPr>
          <a:xfrm>
            <a:off x="5532090" y="1265783"/>
            <a:ext cx="3230910" cy="418058"/>
          </a:xfrm>
          <a:prstGeom prst="roundRect">
            <a:avLst>
              <a:gd name="adj" fmla="val 9114"/>
            </a:avLst>
          </a:prstGeom>
          <a:solidFill>
            <a:srgbClr val="F8F8F8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8" name="Shape 16"/>
          <p:cNvSpPr/>
          <p:nvPr/>
        </p:nvSpPr>
        <p:spPr>
          <a:xfrm>
            <a:off x="5546378" y="1265783"/>
            <a:ext cx="0" cy="418058"/>
          </a:xfrm>
          <a:prstGeom prst="line">
            <a:avLst/>
          </a:prstGeom>
          <a:noFill/>
          <a:ln w="28575">
            <a:solidFill>
              <a:srgbClr val="99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5636865" y="1341983"/>
            <a:ext cx="3110933" cy="102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810"/>
              </a:lnSpc>
              <a:spcAft>
                <a:spcPts val="225"/>
              </a:spcAft>
              <a:buNone/>
            </a:pPr>
            <a:r>
              <a:rPr lang="en-US" sz="675" b="1" dirty="0">
                <a:solidFill>
                  <a:srgbClr val="9900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BINARY SPLIT</a:t>
            </a:r>
            <a:endParaRPr lang="en-US" sz="675" dirty="0"/>
          </a:p>
        </p:txBody>
      </p:sp>
      <p:sp>
        <p:nvSpPr>
          <p:cNvPr id="20" name="Text 18"/>
          <p:cNvSpPr/>
          <p:nvPr/>
        </p:nvSpPr>
        <p:spPr>
          <a:xfrm>
            <a:off x="5636865" y="1482923"/>
            <a:ext cx="3110933" cy="866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682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525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Latin (English) vs Non-Latin. Simple but effective for our language pairs.</a:t>
            </a:r>
            <a:endParaRPr lang="en-US" sz="525" dirty="0"/>
          </a:p>
        </p:txBody>
      </p:sp>
      <p:sp>
        <p:nvSpPr>
          <p:cNvPr id="21" name="Text 19"/>
          <p:cNvSpPr/>
          <p:nvPr/>
        </p:nvSpPr>
        <p:spPr>
          <a:xfrm>
            <a:off x="5532090" y="1731466"/>
            <a:ext cx="3230910" cy="424755"/>
          </a:xfrm>
          <a:prstGeom prst="roundRect">
            <a:avLst>
              <a:gd name="adj" fmla="val 8970"/>
            </a:avLst>
          </a:prstGeom>
          <a:solidFill>
            <a:srgbClr val="011F5B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5608290" y="1807666"/>
            <a:ext cx="3140080" cy="102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810"/>
              </a:lnSpc>
              <a:spcAft>
                <a:spcPts val="225"/>
              </a:spcAft>
              <a:buNone/>
            </a:pPr>
            <a:r>
              <a:rPr lang="en-US" sz="675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OUTPUT</a:t>
            </a:r>
            <a:endParaRPr lang="en-US" sz="675" dirty="0"/>
          </a:p>
        </p:txBody>
      </p:sp>
      <p:sp>
        <p:nvSpPr>
          <p:cNvPr id="23" name="Text 21"/>
          <p:cNvSpPr/>
          <p:nvPr/>
        </p:nvSpPr>
        <p:spPr>
          <a:xfrm>
            <a:off x="5608290" y="1948607"/>
            <a:ext cx="3140080" cy="933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735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525" dirty="0">
                <a:solidFill>
                  <a:srgbClr val="FFFFFF">
                    <a:alpha val="8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Returns 0-100 score to sort training data by difficulty.</a:t>
            </a:r>
            <a:endParaRPr lang="en-US" sz="525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381000"/>
            <a:ext cx="4284536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500" b="1" dirty="0">
                <a:solidFill>
                  <a:srgbClr val="011F5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CMI Distribution in Training Data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381000" y="600075"/>
            <a:ext cx="1905000" cy="28575"/>
          </a:xfrm>
          <a:prstGeom prst="rect">
            <a:avLst/>
          </a:prstGeom>
          <a:solidFill>
            <a:srgbClr val="99000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313906" y="1774105"/>
            <a:ext cx="4949130" cy="1909911"/>
          </a:xfrm>
          <a:prstGeom prst="roundRect">
            <a:avLst>
              <a:gd name="adj" fmla="val 1250"/>
            </a:avLst>
          </a:prstGeom>
          <a:solidFill>
            <a:srgbClr val="F8F8F8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428206" y="1888405"/>
            <a:ext cx="4814941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00"/>
              </a:lnSpc>
              <a:spcAft>
                <a:spcPts val="600"/>
              </a:spcAft>
              <a:buNone/>
            </a:pPr>
            <a:r>
              <a:rPr lang="en-US" sz="750" b="1" dirty="0">
                <a:solidFill>
                  <a:srgbClr val="011F5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CMI RANGE: 0% - 65%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428206" y="2269405"/>
            <a:ext cx="507504" cy="571500"/>
          </a:xfrm>
          <a:prstGeom prst="roundRect">
            <a:avLst>
              <a:gd name="adj" fmla="val 3754"/>
            </a:avLst>
          </a:prstGeom>
          <a:solidFill>
            <a:srgbClr val="198754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954760" y="2174155"/>
            <a:ext cx="507504" cy="666750"/>
          </a:xfrm>
          <a:prstGeom prst="roundRect">
            <a:avLst>
              <a:gd name="adj" fmla="val 3754"/>
            </a:avLst>
          </a:prstGeom>
          <a:solidFill>
            <a:srgbClr val="198754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1481314" y="2317030"/>
            <a:ext cx="507504" cy="523875"/>
          </a:xfrm>
          <a:prstGeom prst="roundRect">
            <a:avLst>
              <a:gd name="adj" fmla="val 3754"/>
            </a:avLst>
          </a:prstGeom>
          <a:solidFill>
            <a:srgbClr val="198754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2007868" y="2412280"/>
            <a:ext cx="507504" cy="428625"/>
          </a:xfrm>
          <a:prstGeom prst="roundRect">
            <a:avLst>
              <a:gd name="adj" fmla="val 4444"/>
            </a:avLst>
          </a:prstGeom>
          <a:solidFill>
            <a:srgbClr val="FFC107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2534422" y="2364655"/>
            <a:ext cx="507504" cy="476250"/>
          </a:xfrm>
          <a:prstGeom prst="roundRect">
            <a:avLst>
              <a:gd name="adj" fmla="val 4000"/>
            </a:avLst>
          </a:prstGeom>
          <a:solidFill>
            <a:srgbClr val="FFC107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3060976" y="2459905"/>
            <a:ext cx="507504" cy="381000"/>
          </a:xfrm>
          <a:prstGeom prst="roundRect">
            <a:avLst>
              <a:gd name="adj" fmla="val 5000"/>
            </a:avLst>
          </a:prstGeom>
          <a:solidFill>
            <a:srgbClr val="FFC107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3587529" y="2507530"/>
            <a:ext cx="507504" cy="333375"/>
          </a:xfrm>
          <a:prstGeom prst="roundRect">
            <a:avLst>
              <a:gd name="adj" fmla="val 5714"/>
            </a:avLst>
          </a:prstGeom>
          <a:solidFill>
            <a:srgbClr val="99000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4114083" y="2555155"/>
            <a:ext cx="507504" cy="285750"/>
          </a:xfrm>
          <a:prstGeom prst="roundRect">
            <a:avLst>
              <a:gd name="adj" fmla="val 6667"/>
            </a:avLst>
          </a:prstGeom>
          <a:solidFill>
            <a:srgbClr val="99000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4640637" y="2650405"/>
            <a:ext cx="507504" cy="190500"/>
          </a:xfrm>
          <a:prstGeom prst="roundRect">
            <a:avLst>
              <a:gd name="adj" fmla="val 10000"/>
            </a:avLst>
          </a:prstGeom>
          <a:solidFill>
            <a:srgbClr val="99000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381001" y="3002830"/>
            <a:ext cx="4814941" cy="933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735"/>
              </a:lnSpc>
              <a:spcBef>
                <a:spcPts val="150"/>
              </a:spcBef>
              <a:spcAft>
                <a:spcPts val="300"/>
              </a:spcAft>
              <a:buNone/>
            </a:pPr>
            <a:r>
              <a:rPr lang="en-US" sz="525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Code-Mixing Index (%)</a:t>
            </a:r>
            <a:endParaRPr lang="en-US" sz="525" dirty="0"/>
          </a:p>
        </p:txBody>
      </p:sp>
      <p:sp>
        <p:nvSpPr>
          <p:cNvPr id="16" name="Text 14"/>
          <p:cNvSpPr/>
          <p:nvPr/>
        </p:nvSpPr>
        <p:spPr>
          <a:xfrm>
            <a:off x="1805164" y="3172345"/>
            <a:ext cx="114300" cy="114300"/>
          </a:xfrm>
          <a:prstGeom prst="roundRect">
            <a:avLst>
              <a:gd name="adj" fmla="val 16667"/>
            </a:avLst>
          </a:prstGeom>
          <a:solidFill>
            <a:srgbClr val="198754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2470426" y="3172345"/>
            <a:ext cx="114300" cy="114300"/>
          </a:xfrm>
          <a:prstGeom prst="roundRect">
            <a:avLst>
              <a:gd name="adj" fmla="val 16667"/>
            </a:avLst>
          </a:prstGeom>
          <a:solidFill>
            <a:srgbClr val="FFC107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3224538" y="3172345"/>
            <a:ext cx="114300" cy="114300"/>
          </a:xfrm>
          <a:prstGeom prst="roundRect">
            <a:avLst>
              <a:gd name="adj" fmla="val 16667"/>
            </a:avLst>
          </a:prstGeom>
          <a:solidFill>
            <a:srgbClr val="99000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5463480" y="1536510"/>
            <a:ext cx="3299520" cy="582662"/>
          </a:xfrm>
          <a:prstGeom prst="roundRect">
            <a:avLst>
              <a:gd name="adj" fmla="val 6539"/>
            </a:avLst>
          </a:prstGeom>
          <a:solidFill>
            <a:srgbClr val="198754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5539680" y="1612710"/>
            <a:ext cx="3210062" cy="102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810"/>
              </a:lnSpc>
              <a:spcAft>
                <a:spcPts val="225"/>
              </a:spcAft>
              <a:buNone/>
            </a:pPr>
            <a:r>
              <a:rPr lang="en-US" sz="675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PHASE 1: EASY</a:t>
            </a:r>
            <a:endParaRPr lang="en-US" sz="675" dirty="0"/>
          </a:p>
        </p:txBody>
      </p:sp>
      <p:sp>
        <p:nvSpPr>
          <p:cNvPr id="21" name="Text 19"/>
          <p:cNvSpPr/>
          <p:nvPr/>
        </p:nvSpPr>
        <p:spPr>
          <a:xfrm>
            <a:off x="5539680" y="1753650"/>
            <a:ext cx="3210062" cy="106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84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600" dirty="0">
                <a:solidFill>
                  <a:srgbClr val="FFFFFF">
                    <a:alpha val="8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CMI: 0-22%, Mean: 12.1%</a:t>
            </a:r>
            <a:endParaRPr lang="en-US" sz="600" dirty="0"/>
          </a:p>
        </p:txBody>
      </p:sp>
      <p:sp>
        <p:nvSpPr>
          <p:cNvPr id="22" name="Text 20"/>
          <p:cNvSpPr/>
          <p:nvPr/>
        </p:nvSpPr>
        <p:spPr>
          <a:xfrm>
            <a:off x="5539680" y="1898311"/>
            <a:ext cx="3210062" cy="106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84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600" dirty="0">
                <a:solidFill>
                  <a:srgbClr val="FFFFFF">
                    <a:alpha val="8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LR: 5×10⁻⁵</a:t>
            </a:r>
            <a:endParaRPr lang="en-US" sz="600" dirty="0"/>
          </a:p>
        </p:txBody>
      </p:sp>
      <p:sp>
        <p:nvSpPr>
          <p:cNvPr id="23" name="Text 21"/>
          <p:cNvSpPr/>
          <p:nvPr/>
        </p:nvSpPr>
        <p:spPr>
          <a:xfrm>
            <a:off x="5463480" y="2166797"/>
            <a:ext cx="3299520" cy="582662"/>
          </a:xfrm>
          <a:prstGeom prst="roundRect">
            <a:avLst>
              <a:gd name="adj" fmla="val 6539"/>
            </a:avLst>
          </a:prstGeom>
          <a:solidFill>
            <a:srgbClr val="FFC107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5539680" y="2242997"/>
            <a:ext cx="3210062" cy="102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810"/>
              </a:lnSpc>
              <a:spcAft>
                <a:spcPts val="225"/>
              </a:spcAft>
              <a:buNone/>
            </a:pPr>
            <a:r>
              <a:rPr lang="en-US" sz="675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PHASE 2: MEDIUM</a:t>
            </a:r>
            <a:endParaRPr lang="en-US" sz="675" dirty="0"/>
          </a:p>
        </p:txBody>
      </p:sp>
      <p:sp>
        <p:nvSpPr>
          <p:cNvPr id="25" name="Text 23"/>
          <p:cNvSpPr/>
          <p:nvPr/>
        </p:nvSpPr>
        <p:spPr>
          <a:xfrm>
            <a:off x="5539680" y="2383937"/>
            <a:ext cx="3210062" cy="106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84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600" dirty="0">
                <a:solidFill>
                  <a:srgbClr val="1A1A1A">
                    <a:alpha val="8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CMI: 22-42%, Mean: 31.8%</a:t>
            </a:r>
            <a:endParaRPr lang="en-US" sz="600" dirty="0"/>
          </a:p>
        </p:txBody>
      </p:sp>
      <p:sp>
        <p:nvSpPr>
          <p:cNvPr id="26" name="Text 24"/>
          <p:cNvSpPr/>
          <p:nvPr/>
        </p:nvSpPr>
        <p:spPr>
          <a:xfrm>
            <a:off x="5539680" y="2528598"/>
            <a:ext cx="3210062" cy="106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84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600" dirty="0">
                <a:solidFill>
                  <a:srgbClr val="1A1A1A">
                    <a:alpha val="8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LR: 2.5×10⁻⁵</a:t>
            </a:r>
            <a:endParaRPr lang="en-US" sz="600" dirty="0"/>
          </a:p>
        </p:txBody>
      </p:sp>
      <p:sp>
        <p:nvSpPr>
          <p:cNvPr id="27" name="Text 25"/>
          <p:cNvSpPr/>
          <p:nvPr/>
        </p:nvSpPr>
        <p:spPr>
          <a:xfrm>
            <a:off x="5463480" y="2797084"/>
            <a:ext cx="3299520" cy="582662"/>
          </a:xfrm>
          <a:prstGeom prst="roundRect">
            <a:avLst>
              <a:gd name="adj" fmla="val 6539"/>
            </a:avLst>
          </a:prstGeom>
          <a:solidFill>
            <a:srgbClr val="99000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8" name="Text 26"/>
          <p:cNvSpPr/>
          <p:nvPr/>
        </p:nvSpPr>
        <p:spPr>
          <a:xfrm>
            <a:off x="5539680" y="2873284"/>
            <a:ext cx="3210062" cy="102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810"/>
              </a:lnSpc>
              <a:spcAft>
                <a:spcPts val="225"/>
              </a:spcAft>
              <a:buNone/>
            </a:pPr>
            <a:r>
              <a:rPr lang="en-US" sz="675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PHASE 3: HARD</a:t>
            </a:r>
            <a:endParaRPr lang="en-US" sz="675" dirty="0"/>
          </a:p>
        </p:txBody>
      </p:sp>
      <p:sp>
        <p:nvSpPr>
          <p:cNvPr id="29" name="Text 27"/>
          <p:cNvSpPr/>
          <p:nvPr/>
        </p:nvSpPr>
        <p:spPr>
          <a:xfrm>
            <a:off x="5539680" y="3014224"/>
            <a:ext cx="3210062" cy="106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84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600" dirty="0">
                <a:solidFill>
                  <a:srgbClr val="FFFFFF">
                    <a:alpha val="8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CMI: 42-65%, Mean: 51.2%</a:t>
            </a:r>
            <a:endParaRPr lang="en-US" sz="600" dirty="0"/>
          </a:p>
        </p:txBody>
      </p:sp>
      <p:sp>
        <p:nvSpPr>
          <p:cNvPr id="30" name="Text 28"/>
          <p:cNvSpPr/>
          <p:nvPr/>
        </p:nvSpPr>
        <p:spPr>
          <a:xfrm>
            <a:off x="5539680" y="3158885"/>
            <a:ext cx="3210062" cy="106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84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600" dirty="0">
                <a:solidFill>
                  <a:srgbClr val="FFFFFF">
                    <a:alpha val="8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LR: 1.25×10⁻⁵</a:t>
            </a:r>
            <a:endParaRPr lang="en-US" sz="600" dirty="0"/>
          </a:p>
        </p:txBody>
      </p:sp>
      <p:sp>
        <p:nvSpPr>
          <p:cNvPr id="31" name="Text 29"/>
          <p:cNvSpPr/>
          <p:nvPr/>
        </p:nvSpPr>
        <p:spPr>
          <a:xfrm>
            <a:off x="5463480" y="3427371"/>
            <a:ext cx="3299520" cy="424755"/>
          </a:xfrm>
          <a:prstGeom prst="roundRect">
            <a:avLst>
              <a:gd name="adj" fmla="val 8970"/>
            </a:avLst>
          </a:prstGeom>
          <a:solidFill>
            <a:srgbClr val="011F5B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2" name="Text 30"/>
          <p:cNvSpPr/>
          <p:nvPr/>
        </p:nvSpPr>
        <p:spPr>
          <a:xfrm>
            <a:off x="5539680" y="3503571"/>
            <a:ext cx="3210062" cy="102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810"/>
              </a:lnSpc>
              <a:spcAft>
                <a:spcPts val="225"/>
              </a:spcAft>
              <a:buNone/>
            </a:pPr>
            <a:r>
              <a:rPr lang="en-US" sz="675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KEY INSIGHT</a:t>
            </a:r>
            <a:endParaRPr lang="en-US" sz="675" dirty="0"/>
          </a:p>
        </p:txBody>
      </p:sp>
      <p:sp>
        <p:nvSpPr>
          <p:cNvPr id="33" name="Text 31"/>
          <p:cNvSpPr/>
          <p:nvPr/>
        </p:nvSpPr>
        <p:spPr>
          <a:xfrm>
            <a:off x="5539680" y="3644512"/>
            <a:ext cx="3210062" cy="933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735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525" dirty="0">
                <a:solidFill>
                  <a:srgbClr val="FFFFFF">
                    <a:alpha val="8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Training data sorted by CMI, split into equal thirds. Progressive difficulty exposure.</a:t>
            </a:r>
            <a:endParaRPr lang="en-US" sz="525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266700"/>
            <a:ext cx="4284536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950" b="1" dirty="0">
                <a:solidFill>
                  <a:srgbClr val="011F5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Our Approach: CSCL Pipeline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381000" y="571500"/>
            <a:ext cx="1905000" cy="38100"/>
          </a:xfrm>
          <a:prstGeom prst="rect">
            <a:avLst/>
          </a:prstGeom>
          <a:solidFill>
            <a:srgbClr val="99000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2921866" y="894038"/>
            <a:ext cx="579686" cy="552301"/>
          </a:xfrm>
          <a:prstGeom prst="roundRect">
            <a:avLst>
              <a:gd name="adj" fmla="val 10348"/>
            </a:avLst>
          </a:prstGeom>
          <a:solidFill>
            <a:srgbClr val="F8F8F8"/>
          </a:solidFill>
          <a:ln w="9525">
            <a:solidFill>
              <a:srgbClr val="DDDDDD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3061802" y="1017863"/>
            <a:ext cx="299814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945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675" b="1" dirty="0">
                <a:solidFill>
                  <a:srgbClr val="99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1</a:t>
            </a:r>
            <a:endParaRPr lang="en-US" sz="675" dirty="0"/>
          </a:p>
        </p:txBody>
      </p:sp>
      <p:sp>
        <p:nvSpPr>
          <p:cNvPr id="6" name="Text 4"/>
          <p:cNvSpPr/>
          <p:nvPr/>
        </p:nvSpPr>
        <p:spPr>
          <a:xfrm>
            <a:off x="3061802" y="1175918"/>
            <a:ext cx="299814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155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825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</a:t>
            </a:r>
            <a:endParaRPr lang="en-US" sz="825" dirty="0"/>
          </a:p>
        </p:txBody>
      </p:sp>
      <p:sp>
        <p:nvSpPr>
          <p:cNvPr id="7" name="Text 5"/>
          <p:cNvSpPr/>
          <p:nvPr/>
        </p:nvSpPr>
        <p:spPr>
          <a:xfrm>
            <a:off x="3577752" y="1063553"/>
            <a:ext cx="142545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793701" y="894038"/>
            <a:ext cx="579686" cy="552301"/>
          </a:xfrm>
          <a:prstGeom prst="roundRect">
            <a:avLst>
              <a:gd name="adj" fmla="val 10348"/>
            </a:avLst>
          </a:prstGeom>
          <a:solidFill>
            <a:srgbClr val="F8F8F8"/>
          </a:solidFill>
          <a:ln w="9525">
            <a:solidFill>
              <a:srgbClr val="DDDDDD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3933637" y="1017863"/>
            <a:ext cx="299814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945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675" b="1" dirty="0">
                <a:solidFill>
                  <a:srgbClr val="99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2</a:t>
            </a:r>
            <a:endParaRPr lang="en-US" sz="675" dirty="0"/>
          </a:p>
        </p:txBody>
      </p:sp>
      <p:sp>
        <p:nvSpPr>
          <p:cNvPr id="10" name="Text 8"/>
          <p:cNvSpPr/>
          <p:nvPr/>
        </p:nvSpPr>
        <p:spPr>
          <a:xfrm>
            <a:off x="3933637" y="1175918"/>
            <a:ext cx="299814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155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825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CMI</a:t>
            </a:r>
            <a:endParaRPr lang="en-US" sz="825" dirty="0"/>
          </a:p>
        </p:txBody>
      </p:sp>
      <p:sp>
        <p:nvSpPr>
          <p:cNvPr id="11" name="Text 9"/>
          <p:cNvSpPr/>
          <p:nvPr/>
        </p:nvSpPr>
        <p:spPr>
          <a:xfrm>
            <a:off x="4449587" y="1063553"/>
            <a:ext cx="142545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665536" y="894038"/>
            <a:ext cx="579686" cy="552301"/>
          </a:xfrm>
          <a:prstGeom prst="roundRect">
            <a:avLst>
              <a:gd name="adj" fmla="val 10348"/>
            </a:avLst>
          </a:prstGeom>
          <a:solidFill>
            <a:srgbClr val="F8F8F8"/>
          </a:solidFill>
          <a:ln w="9525">
            <a:solidFill>
              <a:srgbClr val="DDDDDD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4805472" y="1017863"/>
            <a:ext cx="299814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945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675" b="1" dirty="0">
                <a:solidFill>
                  <a:srgbClr val="99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3</a:t>
            </a:r>
            <a:endParaRPr lang="en-US" sz="675" dirty="0"/>
          </a:p>
        </p:txBody>
      </p:sp>
      <p:sp>
        <p:nvSpPr>
          <p:cNvPr id="14" name="Text 12"/>
          <p:cNvSpPr/>
          <p:nvPr/>
        </p:nvSpPr>
        <p:spPr>
          <a:xfrm>
            <a:off x="4805472" y="1175918"/>
            <a:ext cx="299814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155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825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Sort</a:t>
            </a:r>
            <a:endParaRPr lang="en-US" sz="825" dirty="0"/>
          </a:p>
        </p:txBody>
      </p:sp>
      <p:sp>
        <p:nvSpPr>
          <p:cNvPr id="15" name="Text 13"/>
          <p:cNvSpPr/>
          <p:nvPr/>
        </p:nvSpPr>
        <p:spPr>
          <a:xfrm>
            <a:off x="5321422" y="1063553"/>
            <a:ext cx="142545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537372" y="903563"/>
            <a:ext cx="560636" cy="533251"/>
          </a:xfrm>
          <a:prstGeom prst="roundRect">
            <a:avLst>
              <a:gd name="adj" fmla="val 10717"/>
            </a:avLst>
          </a:prstGeom>
          <a:solidFill>
            <a:srgbClr val="011F5B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5667782" y="1017863"/>
            <a:ext cx="299814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945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67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4</a:t>
            </a:r>
            <a:endParaRPr lang="en-US" sz="675" dirty="0"/>
          </a:p>
        </p:txBody>
      </p:sp>
      <p:sp>
        <p:nvSpPr>
          <p:cNvPr id="18" name="Text 16"/>
          <p:cNvSpPr/>
          <p:nvPr/>
        </p:nvSpPr>
        <p:spPr>
          <a:xfrm>
            <a:off x="5667782" y="1175918"/>
            <a:ext cx="299814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155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82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Train</a:t>
            </a:r>
            <a:endParaRPr lang="en-US" sz="825" dirty="0"/>
          </a:p>
        </p:txBody>
      </p:sp>
      <p:sp>
        <p:nvSpPr>
          <p:cNvPr id="19" name="Text 17"/>
          <p:cNvSpPr/>
          <p:nvPr/>
        </p:nvSpPr>
        <p:spPr>
          <a:xfrm>
            <a:off x="381000" y="1826028"/>
            <a:ext cx="2705100" cy="1892053"/>
          </a:xfrm>
          <a:prstGeom prst="roundRect">
            <a:avLst>
              <a:gd name="adj" fmla="val 3070"/>
            </a:avLst>
          </a:prstGeom>
          <a:solidFill>
            <a:srgbClr val="198754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514350" y="1959378"/>
            <a:ext cx="2487168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spcAft>
                <a:spcPts val="750"/>
              </a:spcAft>
              <a:buNone/>
            </a:pPr>
            <a:r>
              <a:rPr lang="en-US" sz="10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Phase 1: Easy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514350" y="2214618"/>
            <a:ext cx="2487168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500" dirty="0">
                <a:solidFill>
                  <a:srgbClr val="FFFFFF">
                    <a:alpha val="87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CMI: 0-22%, n=861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514350" y="2519418"/>
            <a:ext cx="2487168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500" dirty="0">
                <a:solidFill>
                  <a:srgbClr val="FFFFFF">
                    <a:alpha val="87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LR: 5e-5, Epochs: 1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514350" y="2881368"/>
            <a:ext cx="2438400" cy="310455"/>
          </a:xfrm>
          <a:prstGeom prst="roundRect">
            <a:avLst>
              <a:gd name="adj" fmla="val 12272"/>
            </a:avLst>
          </a:prstGeom>
          <a:solidFill>
            <a:srgbClr val="FFFFFF">
              <a:alpha val="20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548259" y="2976618"/>
            <a:ext cx="2370582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945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67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Learn basics</a:t>
            </a:r>
            <a:endParaRPr lang="en-US" sz="675" dirty="0"/>
          </a:p>
        </p:txBody>
      </p:sp>
      <p:sp>
        <p:nvSpPr>
          <p:cNvPr id="25" name="Text 23"/>
          <p:cNvSpPr/>
          <p:nvPr/>
        </p:nvSpPr>
        <p:spPr>
          <a:xfrm>
            <a:off x="3219450" y="1826029"/>
            <a:ext cx="2705100" cy="1928340"/>
          </a:xfrm>
          <a:prstGeom prst="roundRect">
            <a:avLst>
              <a:gd name="adj" fmla="val 3070"/>
            </a:avLst>
          </a:prstGeom>
          <a:solidFill>
            <a:srgbClr val="FFC107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6" name="Text 24"/>
          <p:cNvSpPr/>
          <p:nvPr/>
        </p:nvSpPr>
        <p:spPr>
          <a:xfrm>
            <a:off x="3352800" y="1959378"/>
            <a:ext cx="2487168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spcAft>
                <a:spcPts val="750"/>
              </a:spcAft>
              <a:buNone/>
            </a:pPr>
            <a:r>
              <a:rPr lang="en-US" sz="105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Phase 2: Medium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3352800" y="2214618"/>
            <a:ext cx="2487168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500" dirty="0">
                <a:solidFill>
                  <a:srgbClr val="1A1A1A">
                    <a:alpha val="87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CMI: 22-42%, n=862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3352800" y="2519418"/>
            <a:ext cx="2487168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500" dirty="0">
                <a:solidFill>
                  <a:srgbClr val="1A1A1A">
                    <a:alpha val="87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LR: 2.5e-5 (0.5x)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3352800" y="2881368"/>
            <a:ext cx="2438400" cy="310455"/>
          </a:xfrm>
          <a:prstGeom prst="roundRect">
            <a:avLst>
              <a:gd name="adj" fmla="val 12272"/>
            </a:avLst>
          </a:prstGeom>
          <a:solidFill>
            <a:srgbClr val="000000">
              <a:alpha val="13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0" name="Text 28"/>
          <p:cNvSpPr/>
          <p:nvPr/>
        </p:nvSpPr>
        <p:spPr>
          <a:xfrm>
            <a:off x="3386709" y="2976618"/>
            <a:ext cx="2370582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945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675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Bridge gap</a:t>
            </a:r>
            <a:endParaRPr lang="en-US" sz="675" dirty="0"/>
          </a:p>
        </p:txBody>
      </p:sp>
      <p:sp>
        <p:nvSpPr>
          <p:cNvPr id="31" name="Text 29"/>
          <p:cNvSpPr/>
          <p:nvPr/>
        </p:nvSpPr>
        <p:spPr>
          <a:xfrm>
            <a:off x="6057900" y="1826028"/>
            <a:ext cx="2705100" cy="1928341"/>
          </a:xfrm>
          <a:prstGeom prst="roundRect">
            <a:avLst>
              <a:gd name="adj" fmla="val 3070"/>
            </a:avLst>
          </a:prstGeom>
          <a:solidFill>
            <a:srgbClr val="99000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2" name="Text 30"/>
          <p:cNvSpPr/>
          <p:nvPr/>
        </p:nvSpPr>
        <p:spPr>
          <a:xfrm>
            <a:off x="6191250" y="1959378"/>
            <a:ext cx="2487168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spcAft>
                <a:spcPts val="750"/>
              </a:spcAft>
              <a:buNone/>
            </a:pPr>
            <a:r>
              <a:rPr lang="en-US" sz="10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Phase 3: Hard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6191250" y="2214618"/>
            <a:ext cx="2487168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500" dirty="0">
                <a:solidFill>
                  <a:srgbClr val="FFFFFF">
                    <a:alpha val="87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CMI: 42-65%, n=861</a:t>
            </a:r>
            <a:endParaRPr lang="en-US" sz="1500" dirty="0"/>
          </a:p>
        </p:txBody>
      </p:sp>
      <p:sp>
        <p:nvSpPr>
          <p:cNvPr id="34" name="Text 32"/>
          <p:cNvSpPr/>
          <p:nvPr/>
        </p:nvSpPr>
        <p:spPr>
          <a:xfrm>
            <a:off x="6191250" y="2519418"/>
            <a:ext cx="2487168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500" dirty="0">
                <a:solidFill>
                  <a:srgbClr val="FFFFFF">
                    <a:alpha val="87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LR: 1.25e-5 (0.25x)</a:t>
            </a:r>
            <a:endParaRPr lang="en-US" sz="1500" dirty="0"/>
          </a:p>
        </p:txBody>
      </p:sp>
      <p:sp>
        <p:nvSpPr>
          <p:cNvPr id="35" name="Text 33"/>
          <p:cNvSpPr/>
          <p:nvPr/>
        </p:nvSpPr>
        <p:spPr>
          <a:xfrm>
            <a:off x="6191250" y="2881368"/>
            <a:ext cx="2438400" cy="310455"/>
          </a:xfrm>
          <a:prstGeom prst="roundRect">
            <a:avLst>
              <a:gd name="adj" fmla="val 12272"/>
            </a:avLst>
          </a:prstGeom>
          <a:solidFill>
            <a:srgbClr val="FFFFFF">
              <a:alpha val="20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6" name="Text 34"/>
          <p:cNvSpPr/>
          <p:nvPr/>
        </p:nvSpPr>
        <p:spPr>
          <a:xfrm>
            <a:off x="6225159" y="2976618"/>
            <a:ext cx="2370582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945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67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Master mixing</a:t>
            </a:r>
            <a:endParaRPr lang="en-US" sz="675" dirty="0"/>
          </a:p>
        </p:txBody>
      </p:sp>
      <p:sp>
        <p:nvSpPr>
          <p:cNvPr id="37" name="Text 35"/>
          <p:cNvSpPr/>
          <p:nvPr/>
        </p:nvSpPr>
        <p:spPr>
          <a:xfrm>
            <a:off x="382706" y="4169484"/>
            <a:ext cx="8382000" cy="413296"/>
          </a:xfrm>
          <a:prstGeom prst="roundRect">
            <a:avLst>
              <a:gd name="adj" fmla="val 9219"/>
            </a:avLst>
          </a:prstGeom>
          <a:solidFill>
            <a:srgbClr val="F8F8F8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8" name="Shape 36"/>
          <p:cNvSpPr/>
          <p:nvPr/>
        </p:nvSpPr>
        <p:spPr>
          <a:xfrm>
            <a:off x="401756" y="4169484"/>
            <a:ext cx="0" cy="413296"/>
          </a:xfrm>
          <a:prstGeom prst="line">
            <a:avLst/>
          </a:prstGeom>
          <a:noFill/>
          <a:ln w="38100">
            <a:solidFill>
              <a:srgbClr val="011F5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/>
          <p:nvPr/>
        </p:nvSpPr>
        <p:spPr>
          <a:xfrm>
            <a:off x="554156" y="4302834"/>
            <a:ext cx="8238744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825" b="1" dirty="0">
                <a:solidFill>
                  <a:srgbClr val="011F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Key:</a:t>
            </a:r>
            <a:r>
              <a:rPr lang="en-US" sz="825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LR decay prevents forgetting earlier phases</a:t>
            </a:r>
            <a:endParaRPr lang="en-US" sz="825" dirty="0"/>
          </a:p>
        </p:txBody>
      </p: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0AD1A81F-EC9D-E2E2-ECA1-698B4B0C9D90}"/>
              </a:ext>
            </a:extLst>
          </p:cNvPr>
          <p:cNvCxnSpPr>
            <a:stCxn id="4" idx="3"/>
            <a:endCxn id="8" idx="1"/>
          </p:cNvCxnSpPr>
          <p:nvPr/>
        </p:nvCxnSpPr>
        <p:spPr>
          <a:xfrm>
            <a:off x="3501552" y="1170189"/>
            <a:ext cx="292149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8EF1485E-FBC8-BEFA-104A-C07123FF9143}"/>
              </a:ext>
            </a:extLst>
          </p:cNvPr>
          <p:cNvCxnSpPr>
            <a:stCxn id="8" idx="3"/>
            <a:endCxn id="12" idx="1"/>
          </p:cNvCxnSpPr>
          <p:nvPr/>
        </p:nvCxnSpPr>
        <p:spPr>
          <a:xfrm>
            <a:off x="4373387" y="1170189"/>
            <a:ext cx="292149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0BBA2537-32E1-E9A2-F212-880362B095D9}"/>
              </a:ext>
            </a:extLst>
          </p:cNvPr>
          <p:cNvCxnSpPr>
            <a:stCxn id="12" idx="3"/>
            <a:endCxn id="16" idx="1"/>
          </p:cNvCxnSpPr>
          <p:nvPr/>
        </p:nvCxnSpPr>
        <p:spPr>
          <a:xfrm>
            <a:off x="5245222" y="1170189"/>
            <a:ext cx="29215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304800"/>
            <a:ext cx="4284536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650" b="1" dirty="0">
                <a:solidFill>
                  <a:srgbClr val="011F5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CSCL Pipeline Flowchart</a:t>
            </a:r>
            <a:endParaRPr lang="en-US" sz="1650" dirty="0"/>
          </a:p>
        </p:txBody>
      </p:sp>
      <p:sp>
        <p:nvSpPr>
          <p:cNvPr id="3" name="Text 1"/>
          <p:cNvSpPr/>
          <p:nvPr/>
        </p:nvSpPr>
        <p:spPr>
          <a:xfrm>
            <a:off x="381000" y="552450"/>
            <a:ext cx="1524000" cy="28575"/>
          </a:xfrm>
          <a:prstGeom prst="rect">
            <a:avLst/>
          </a:prstGeom>
          <a:solidFill>
            <a:srgbClr val="99000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2698105" y="1204838"/>
            <a:ext cx="908298" cy="506611"/>
          </a:xfrm>
          <a:prstGeom prst="roundRect">
            <a:avLst>
              <a:gd name="adj" fmla="val 11281"/>
            </a:avLst>
          </a:prstGeom>
          <a:solidFill>
            <a:srgbClr val="F8F8F8"/>
          </a:solidFill>
          <a:ln w="19050">
            <a:solidFill>
              <a:srgbClr val="011F5B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2844470" y="1319138"/>
            <a:ext cx="615568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05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750" b="1" dirty="0">
                <a:solidFill>
                  <a:srgbClr val="011F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Training Data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2844470" y="1490588"/>
            <a:ext cx="615568" cy="106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84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6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2,584 samples</a:t>
            </a:r>
            <a:endParaRPr lang="en-US" sz="600" dirty="0"/>
          </a:p>
        </p:txBody>
      </p:sp>
      <p:sp>
        <p:nvSpPr>
          <p:cNvPr id="7" name="Text 5"/>
          <p:cNvSpPr/>
          <p:nvPr/>
        </p:nvSpPr>
        <p:spPr>
          <a:xfrm>
            <a:off x="3682603" y="1364828"/>
            <a:ext cx="124783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70"/>
              </a:lnSpc>
              <a:spcBef>
                <a:spcPts val="300"/>
              </a:spcBef>
              <a:spcAft>
                <a:spcPts val="300"/>
              </a:spcAft>
              <a:buNone/>
            </a:pP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3909222" y="1296218"/>
            <a:ext cx="880616" cy="323850"/>
          </a:xfrm>
          <a:prstGeom prst="roundRect">
            <a:avLst>
              <a:gd name="adj" fmla="val 17647"/>
            </a:avLst>
          </a:prstGeom>
          <a:solidFill>
            <a:srgbClr val="011F5B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4008350" y="1391468"/>
            <a:ext cx="626194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05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 CMI</a:t>
            </a:r>
            <a:endParaRPr lang="en-US" sz="750" dirty="0"/>
          </a:p>
        </p:txBody>
      </p:sp>
      <p:sp>
        <p:nvSpPr>
          <p:cNvPr id="10" name="Text 8"/>
          <p:cNvSpPr/>
          <p:nvPr/>
        </p:nvSpPr>
        <p:spPr>
          <a:xfrm>
            <a:off x="4837955" y="1364828"/>
            <a:ext cx="124783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70"/>
              </a:lnSpc>
              <a:spcBef>
                <a:spcPts val="300"/>
              </a:spcBef>
              <a:spcAft>
                <a:spcPts val="300"/>
              </a:spcAft>
              <a:buNone/>
            </a:pP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5036492" y="1296218"/>
            <a:ext cx="967085" cy="323850"/>
          </a:xfrm>
          <a:prstGeom prst="roundRect">
            <a:avLst>
              <a:gd name="adj" fmla="val 17647"/>
            </a:avLst>
          </a:prstGeom>
          <a:solidFill>
            <a:srgbClr val="011F5B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5162838" y="1391468"/>
            <a:ext cx="714393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05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Sort Ascending</a:t>
            </a:r>
            <a:endParaRPr lang="en-US" sz="750" dirty="0"/>
          </a:p>
        </p:txBody>
      </p:sp>
      <p:sp>
        <p:nvSpPr>
          <p:cNvPr id="14" name="Text 12"/>
          <p:cNvSpPr/>
          <p:nvPr/>
        </p:nvSpPr>
        <p:spPr>
          <a:xfrm>
            <a:off x="2668041" y="2023839"/>
            <a:ext cx="952500" cy="638026"/>
          </a:xfrm>
          <a:prstGeom prst="roundRect">
            <a:avLst>
              <a:gd name="adj" fmla="val 8957"/>
            </a:avLst>
          </a:prstGeom>
          <a:solidFill>
            <a:srgbClr val="198754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2775102" y="2138139"/>
            <a:ext cx="738378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05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1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2775102" y="2309589"/>
            <a:ext cx="738378" cy="106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84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600" dirty="0">
                <a:solidFill>
                  <a:srgbClr val="FFFFFF">
                    <a:alpha val="8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Easy 0-22%</a:t>
            </a:r>
            <a:endParaRPr lang="en-US" sz="600" dirty="0"/>
          </a:p>
        </p:txBody>
      </p:sp>
      <p:sp>
        <p:nvSpPr>
          <p:cNvPr id="17" name="Text 15"/>
          <p:cNvSpPr/>
          <p:nvPr/>
        </p:nvSpPr>
        <p:spPr>
          <a:xfrm>
            <a:off x="2775102" y="2454250"/>
            <a:ext cx="738378" cy="933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735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525" dirty="0">
                <a:solidFill>
                  <a:srgbClr val="FFFFFF">
                    <a:alpha val="67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LR: 5e-5</a:t>
            </a:r>
            <a:endParaRPr lang="en-US" sz="525" dirty="0"/>
          </a:p>
        </p:txBody>
      </p:sp>
      <p:sp>
        <p:nvSpPr>
          <p:cNvPr id="19" name="Text 17"/>
          <p:cNvSpPr/>
          <p:nvPr/>
        </p:nvSpPr>
        <p:spPr>
          <a:xfrm>
            <a:off x="3874591" y="2023839"/>
            <a:ext cx="952500" cy="638026"/>
          </a:xfrm>
          <a:prstGeom prst="roundRect">
            <a:avLst>
              <a:gd name="adj" fmla="val 8957"/>
            </a:avLst>
          </a:prstGeom>
          <a:solidFill>
            <a:srgbClr val="FFC107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3981652" y="2138139"/>
            <a:ext cx="738378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05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7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2</a:t>
            </a:r>
            <a:endParaRPr lang="en-US" sz="750" dirty="0"/>
          </a:p>
        </p:txBody>
      </p:sp>
      <p:sp>
        <p:nvSpPr>
          <p:cNvPr id="21" name="Text 19"/>
          <p:cNvSpPr/>
          <p:nvPr/>
        </p:nvSpPr>
        <p:spPr>
          <a:xfrm>
            <a:off x="3981652" y="2309589"/>
            <a:ext cx="738378" cy="106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84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600" dirty="0">
                <a:solidFill>
                  <a:srgbClr val="1A1A1A">
                    <a:alpha val="8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Medium 22-42%</a:t>
            </a:r>
            <a:endParaRPr lang="en-US" sz="600" dirty="0"/>
          </a:p>
        </p:txBody>
      </p:sp>
      <p:sp>
        <p:nvSpPr>
          <p:cNvPr id="22" name="Text 20"/>
          <p:cNvSpPr/>
          <p:nvPr/>
        </p:nvSpPr>
        <p:spPr>
          <a:xfrm>
            <a:off x="3981652" y="2454250"/>
            <a:ext cx="738378" cy="933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735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525" dirty="0">
                <a:solidFill>
                  <a:srgbClr val="1A1A1A">
                    <a:alpha val="67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LR: 2.5e-5</a:t>
            </a:r>
            <a:endParaRPr lang="en-US" sz="525" dirty="0"/>
          </a:p>
        </p:txBody>
      </p:sp>
      <p:sp>
        <p:nvSpPr>
          <p:cNvPr id="23" name="Text 21"/>
          <p:cNvSpPr/>
          <p:nvPr/>
        </p:nvSpPr>
        <p:spPr>
          <a:xfrm>
            <a:off x="4884241" y="2236217"/>
            <a:ext cx="142545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5081141" y="2023839"/>
            <a:ext cx="952500" cy="638026"/>
          </a:xfrm>
          <a:prstGeom prst="roundRect">
            <a:avLst>
              <a:gd name="adj" fmla="val 8957"/>
            </a:avLst>
          </a:prstGeom>
          <a:solidFill>
            <a:srgbClr val="99000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5" name="Text 23"/>
          <p:cNvSpPr/>
          <p:nvPr/>
        </p:nvSpPr>
        <p:spPr>
          <a:xfrm>
            <a:off x="5188202" y="2138139"/>
            <a:ext cx="738378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05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3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5188202" y="2309589"/>
            <a:ext cx="738378" cy="106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84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600" dirty="0">
                <a:solidFill>
                  <a:srgbClr val="FFFFFF">
                    <a:alpha val="8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Hard 42-65%</a:t>
            </a:r>
            <a:endParaRPr lang="en-US" sz="600" dirty="0"/>
          </a:p>
        </p:txBody>
      </p:sp>
      <p:sp>
        <p:nvSpPr>
          <p:cNvPr id="27" name="Text 25"/>
          <p:cNvSpPr/>
          <p:nvPr/>
        </p:nvSpPr>
        <p:spPr>
          <a:xfrm>
            <a:off x="5188202" y="2454250"/>
            <a:ext cx="738378" cy="933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735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525" dirty="0">
                <a:solidFill>
                  <a:srgbClr val="FFFFFF">
                    <a:alpha val="67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LR: 1.25e-5</a:t>
            </a:r>
            <a:endParaRPr lang="en-US" sz="525" dirty="0"/>
          </a:p>
        </p:txBody>
      </p:sp>
      <p:sp>
        <p:nvSpPr>
          <p:cNvPr id="28" name="Text 26"/>
          <p:cNvSpPr/>
          <p:nvPr/>
        </p:nvSpPr>
        <p:spPr>
          <a:xfrm>
            <a:off x="4335958" y="2738065"/>
            <a:ext cx="30361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spcBef>
                <a:spcPts val="300"/>
              </a:spcBef>
              <a:spcAft>
                <a:spcPts val="300"/>
              </a:spcAft>
              <a:buNone/>
            </a:pPr>
            <a:endParaRPr lang="en-US" sz="900" dirty="0"/>
          </a:p>
        </p:txBody>
      </p:sp>
      <p:pic>
        <p:nvPicPr>
          <p:cNvPr id="29" name="Image 0" descr="/tmp/rasterized-gradient-92b1bc9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52713" y="2974256"/>
            <a:ext cx="996107" cy="375196"/>
          </a:xfrm>
          <a:prstGeom prst="rect">
            <a:avLst/>
          </a:prstGeom>
        </p:spPr>
      </p:pic>
      <p:sp>
        <p:nvSpPr>
          <p:cNvPr id="30" name="Text 27"/>
          <p:cNvSpPr/>
          <p:nvPr/>
        </p:nvSpPr>
        <p:spPr>
          <a:xfrm>
            <a:off x="4037062" y="3088556"/>
            <a:ext cx="627409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155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82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CSCL Model</a:t>
            </a:r>
            <a:endParaRPr lang="en-US" sz="825" dirty="0"/>
          </a:p>
        </p:txBody>
      </p:sp>
      <p:sp>
        <p:nvSpPr>
          <p:cNvPr id="31" name="Text 28"/>
          <p:cNvSpPr/>
          <p:nvPr/>
        </p:nvSpPr>
        <p:spPr>
          <a:xfrm>
            <a:off x="3150691" y="3595684"/>
            <a:ext cx="850404" cy="297061"/>
          </a:xfrm>
          <a:prstGeom prst="roundRect">
            <a:avLst>
              <a:gd name="adj" fmla="val 12826"/>
            </a:avLst>
          </a:prstGeom>
          <a:solidFill>
            <a:srgbClr val="F8F8F8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2" name="Shape 29"/>
          <p:cNvSpPr/>
          <p:nvPr/>
        </p:nvSpPr>
        <p:spPr>
          <a:xfrm>
            <a:off x="3164979" y="3595684"/>
            <a:ext cx="0" cy="297061"/>
          </a:xfrm>
          <a:prstGeom prst="line">
            <a:avLst/>
          </a:prstGeom>
          <a:noFill/>
          <a:ln w="28575">
            <a:solidFill>
              <a:srgbClr val="19875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0"/>
          <p:cNvSpPr/>
          <p:nvPr/>
        </p:nvSpPr>
        <p:spPr>
          <a:xfrm>
            <a:off x="3274516" y="3690934"/>
            <a:ext cx="643955" cy="106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84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epoch per phase</a:t>
            </a:r>
            <a:endParaRPr lang="en-US" sz="600" dirty="0"/>
          </a:p>
        </p:txBody>
      </p:sp>
      <p:sp>
        <p:nvSpPr>
          <p:cNvPr id="34" name="Text 31"/>
          <p:cNvSpPr/>
          <p:nvPr/>
        </p:nvSpPr>
        <p:spPr>
          <a:xfrm>
            <a:off x="4115395" y="3595684"/>
            <a:ext cx="706189" cy="297061"/>
          </a:xfrm>
          <a:prstGeom prst="roundRect">
            <a:avLst>
              <a:gd name="adj" fmla="val 12826"/>
            </a:avLst>
          </a:prstGeom>
          <a:solidFill>
            <a:srgbClr val="F8F8F8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5" name="Shape 32"/>
          <p:cNvSpPr/>
          <p:nvPr/>
        </p:nvSpPr>
        <p:spPr>
          <a:xfrm>
            <a:off x="4129682" y="3595684"/>
            <a:ext cx="0" cy="297061"/>
          </a:xfrm>
          <a:prstGeom prst="line">
            <a:avLst/>
          </a:prstGeom>
          <a:noFill/>
          <a:ln w="28575">
            <a:solidFill>
              <a:srgbClr val="FFC10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3"/>
          <p:cNvSpPr/>
          <p:nvPr/>
        </p:nvSpPr>
        <p:spPr>
          <a:xfrm>
            <a:off x="4239220" y="3690934"/>
            <a:ext cx="496857" cy="106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84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0.5x LR decay</a:t>
            </a:r>
            <a:endParaRPr lang="en-US" sz="600" dirty="0"/>
          </a:p>
        </p:txBody>
      </p:sp>
      <p:sp>
        <p:nvSpPr>
          <p:cNvPr id="37" name="Text 34"/>
          <p:cNvSpPr/>
          <p:nvPr/>
        </p:nvSpPr>
        <p:spPr>
          <a:xfrm>
            <a:off x="4935884" y="3595684"/>
            <a:ext cx="615107" cy="297061"/>
          </a:xfrm>
          <a:prstGeom prst="roundRect">
            <a:avLst>
              <a:gd name="adj" fmla="val 12826"/>
            </a:avLst>
          </a:prstGeom>
          <a:solidFill>
            <a:srgbClr val="F8F8F8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8" name="Shape 35"/>
          <p:cNvSpPr/>
          <p:nvPr/>
        </p:nvSpPr>
        <p:spPr>
          <a:xfrm>
            <a:off x="4950172" y="3595684"/>
            <a:ext cx="0" cy="297061"/>
          </a:xfrm>
          <a:prstGeom prst="line">
            <a:avLst/>
          </a:prstGeom>
          <a:noFill/>
          <a:ln w="28575">
            <a:solidFill>
              <a:srgbClr val="99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Text 36"/>
          <p:cNvSpPr/>
          <p:nvPr/>
        </p:nvSpPr>
        <p:spPr>
          <a:xfrm>
            <a:off x="5059709" y="3690934"/>
            <a:ext cx="403952" cy="106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84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~6 min total</a:t>
            </a:r>
            <a:endParaRPr lang="en-US" sz="600" dirty="0"/>
          </a:p>
        </p:txBody>
      </p: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C16F6102-011D-A2F5-36D4-E93086CD32D5}"/>
              </a:ext>
            </a:extLst>
          </p:cNvPr>
          <p:cNvCxnSpPr>
            <a:cxnSpLocks/>
            <a:stCxn id="14" idx="3"/>
            <a:endCxn id="19" idx="1"/>
          </p:cNvCxnSpPr>
          <p:nvPr/>
        </p:nvCxnSpPr>
        <p:spPr>
          <a:xfrm>
            <a:off x="3620541" y="2342852"/>
            <a:ext cx="25405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Straight Arrow Connector 45">
            <a:extLst>
              <a:ext uri="{FF2B5EF4-FFF2-40B4-BE49-F238E27FC236}">
                <a16:creationId xmlns:a16="http://schemas.microsoft.com/office/drawing/2014/main" id="{C7C76FEB-8E26-34AF-E2C6-FC424A63F147}"/>
              </a:ext>
            </a:extLst>
          </p:cNvPr>
          <p:cNvCxnSpPr>
            <a:cxnSpLocks/>
            <a:stCxn id="19" idx="3"/>
            <a:endCxn id="24" idx="1"/>
          </p:cNvCxnSpPr>
          <p:nvPr/>
        </p:nvCxnSpPr>
        <p:spPr>
          <a:xfrm>
            <a:off x="4827091" y="2342852"/>
            <a:ext cx="25405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Straight Connector 50">
            <a:extLst>
              <a:ext uri="{FF2B5EF4-FFF2-40B4-BE49-F238E27FC236}">
                <a16:creationId xmlns:a16="http://schemas.microsoft.com/office/drawing/2014/main" id="{5B024944-C897-FA11-25F8-685A1C221505}"/>
              </a:ext>
            </a:extLst>
          </p:cNvPr>
          <p:cNvCxnSpPr>
            <a:stCxn id="8" idx="2"/>
            <a:endCxn id="19" idx="0"/>
          </p:cNvCxnSpPr>
          <p:nvPr/>
        </p:nvCxnSpPr>
        <p:spPr>
          <a:xfrm>
            <a:off x="4349530" y="1620068"/>
            <a:ext cx="1311" cy="40377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Straight Connector 53">
            <a:extLst>
              <a:ext uri="{FF2B5EF4-FFF2-40B4-BE49-F238E27FC236}">
                <a16:creationId xmlns:a16="http://schemas.microsoft.com/office/drawing/2014/main" id="{236595E2-C484-2186-65F9-F1BDE1D41F63}"/>
              </a:ext>
            </a:extLst>
          </p:cNvPr>
          <p:cNvCxnSpPr>
            <a:stCxn id="19" idx="2"/>
            <a:endCxn id="29" idx="0"/>
          </p:cNvCxnSpPr>
          <p:nvPr/>
        </p:nvCxnSpPr>
        <p:spPr>
          <a:xfrm flipH="1">
            <a:off x="4350767" y="2661865"/>
            <a:ext cx="74" cy="31239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Straight Arrow Connector 55">
            <a:extLst>
              <a:ext uri="{FF2B5EF4-FFF2-40B4-BE49-F238E27FC236}">
                <a16:creationId xmlns:a16="http://schemas.microsoft.com/office/drawing/2014/main" id="{4004889E-BA24-BA14-518D-6A981708399B}"/>
              </a:ext>
            </a:extLst>
          </p:cNvPr>
          <p:cNvCxnSpPr>
            <a:stCxn id="4" idx="3"/>
            <a:endCxn id="8" idx="1"/>
          </p:cNvCxnSpPr>
          <p:nvPr/>
        </p:nvCxnSpPr>
        <p:spPr>
          <a:xfrm flipV="1">
            <a:off x="3606403" y="1458143"/>
            <a:ext cx="302819" cy="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Straight Arrow Connector 57">
            <a:extLst>
              <a:ext uri="{FF2B5EF4-FFF2-40B4-BE49-F238E27FC236}">
                <a16:creationId xmlns:a16="http://schemas.microsoft.com/office/drawing/2014/main" id="{6285B106-AE4F-1F63-2BA6-D6A9A1CE0FF3}"/>
              </a:ext>
            </a:extLst>
          </p:cNvPr>
          <p:cNvCxnSpPr>
            <a:stCxn id="8" idx="3"/>
            <a:endCxn id="11" idx="1"/>
          </p:cNvCxnSpPr>
          <p:nvPr/>
        </p:nvCxnSpPr>
        <p:spPr>
          <a:xfrm>
            <a:off x="4789838" y="1458143"/>
            <a:ext cx="246654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304800"/>
            <a:ext cx="4284536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650" b="1" dirty="0">
                <a:solidFill>
                  <a:srgbClr val="011F5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Key Equations: Training Objective</a:t>
            </a:r>
            <a:endParaRPr lang="en-US" sz="1650" dirty="0"/>
          </a:p>
        </p:txBody>
      </p:sp>
      <p:sp>
        <p:nvSpPr>
          <p:cNvPr id="3" name="Text 1"/>
          <p:cNvSpPr/>
          <p:nvPr/>
        </p:nvSpPr>
        <p:spPr>
          <a:xfrm>
            <a:off x="381000" y="552450"/>
            <a:ext cx="1524000" cy="28575"/>
          </a:xfrm>
          <a:prstGeom prst="rect">
            <a:avLst/>
          </a:prstGeom>
          <a:solidFill>
            <a:srgbClr val="99000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381000" y="809625"/>
            <a:ext cx="4114800" cy="858887"/>
          </a:xfrm>
          <a:prstGeom prst="roundRect">
            <a:avLst>
              <a:gd name="adj" fmla="val 8872"/>
            </a:avLst>
          </a:prstGeom>
          <a:solidFill>
            <a:srgbClr val="011F5B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475869" y="981075"/>
            <a:ext cx="3925062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945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675" dirty="0">
                <a:solidFill>
                  <a:srgbClr val="FFFFFF">
                    <a:alpha val="67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SUMMARIZATION OBJECTIVE</a:t>
            </a:r>
            <a:endParaRPr lang="en-US" sz="675" dirty="0"/>
          </a:p>
        </p:txBody>
      </p:sp>
      <p:sp>
        <p:nvSpPr>
          <p:cNvPr id="6" name="Text 4"/>
          <p:cNvSpPr/>
          <p:nvPr/>
        </p:nvSpPr>
        <p:spPr>
          <a:xfrm>
            <a:off x="475869" y="1139130"/>
            <a:ext cx="3925062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365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975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S* = argmax P(S|C; theta)</a:t>
            </a:r>
            <a:endParaRPr lang="en-US" sz="975" dirty="0"/>
          </a:p>
        </p:txBody>
      </p:sp>
      <p:sp>
        <p:nvSpPr>
          <p:cNvPr id="7" name="Text 5"/>
          <p:cNvSpPr/>
          <p:nvPr/>
        </p:nvSpPr>
        <p:spPr>
          <a:xfrm>
            <a:off x="475869" y="1350466"/>
            <a:ext cx="3925062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155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825" dirty="0">
                <a:solidFill>
                  <a:srgbClr val="FFFFFF">
                    <a:alpha val="8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= argmax prod P(s</a:t>
            </a:r>
            <a:r>
              <a:rPr lang="en-US" sz="600" dirty="0">
                <a:solidFill>
                  <a:srgbClr val="FFFFFF">
                    <a:alpha val="8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</a:t>
            </a:r>
            <a:r>
              <a:rPr lang="en-US" sz="825" dirty="0">
                <a:solidFill>
                  <a:srgbClr val="FFFFFF">
                    <a:alpha val="8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| s&lt;t, C; theta)</a:t>
            </a:r>
            <a:endParaRPr lang="en-US" sz="825" dirty="0"/>
          </a:p>
        </p:txBody>
      </p:sp>
      <p:sp>
        <p:nvSpPr>
          <p:cNvPr id="8" name="Text 6"/>
          <p:cNvSpPr/>
          <p:nvPr/>
        </p:nvSpPr>
        <p:spPr>
          <a:xfrm>
            <a:off x="381000" y="1744712"/>
            <a:ext cx="4114800" cy="782687"/>
          </a:xfrm>
          <a:prstGeom prst="roundRect">
            <a:avLst>
              <a:gd name="adj" fmla="val 7302"/>
            </a:avLst>
          </a:prstGeom>
          <a:solidFill>
            <a:srgbClr val="F8F8F8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9" name="Shape 7"/>
          <p:cNvSpPr/>
          <p:nvPr/>
        </p:nvSpPr>
        <p:spPr>
          <a:xfrm>
            <a:off x="381000" y="1759000"/>
            <a:ext cx="4114800" cy="0"/>
          </a:xfrm>
          <a:prstGeom prst="line">
            <a:avLst/>
          </a:prstGeom>
          <a:noFill/>
          <a:ln w="28575">
            <a:solidFill>
              <a:srgbClr val="99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95300" y="1925687"/>
            <a:ext cx="3963924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45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675" dirty="0">
                <a:solidFill>
                  <a:srgbClr val="99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CROSS-ENTROPY LOSS (per phase)</a:t>
            </a:r>
            <a:endParaRPr lang="en-US" sz="675" dirty="0"/>
          </a:p>
        </p:txBody>
      </p:sp>
      <p:sp>
        <p:nvSpPr>
          <p:cNvPr id="11" name="Text 9"/>
          <p:cNvSpPr/>
          <p:nvPr/>
        </p:nvSpPr>
        <p:spPr>
          <a:xfrm>
            <a:off x="456438" y="2083743"/>
            <a:ext cx="3963924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155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825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 = -1/|Dp| sum sum log P(st | s&lt;t, C)</a:t>
            </a:r>
            <a:endParaRPr lang="en-US" sz="825" dirty="0"/>
          </a:p>
        </p:txBody>
      </p:sp>
      <p:sp>
        <p:nvSpPr>
          <p:cNvPr id="12" name="Text 10"/>
          <p:cNvSpPr/>
          <p:nvPr/>
        </p:nvSpPr>
        <p:spPr>
          <a:xfrm>
            <a:off x="456438" y="2268438"/>
            <a:ext cx="3963924" cy="106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84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6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Sum over samples in phase, sum over tokens</a:t>
            </a:r>
            <a:endParaRPr lang="en-US" sz="600" dirty="0"/>
          </a:p>
        </p:txBody>
      </p:sp>
      <p:sp>
        <p:nvSpPr>
          <p:cNvPr id="13" name="Text 11"/>
          <p:cNvSpPr/>
          <p:nvPr/>
        </p:nvSpPr>
        <p:spPr>
          <a:xfrm>
            <a:off x="381000" y="2603599"/>
            <a:ext cx="4114800" cy="1514326"/>
          </a:xfrm>
          <a:prstGeom prst="roundRect">
            <a:avLst>
              <a:gd name="adj" fmla="val 3774"/>
            </a:avLst>
          </a:prstGeom>
          <a:solidFill>
            <a:srgbClr val="F8F8F8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4" name="Shape 12"/>
          <p:cNvSpPr/>
          <p:nvPr/>
        </p:nvSpPr>
        <p:spPr>
          <a:xfrm>
            <a:off x="381000" y="2617887"/>
            <a:ext cx="4114800" cy="0"/>
          </a:xfrm>
          <a:prstGeom prst="line">
            <a:avLst/>
          </a:prstGeom>
          <a:noFill/>
          <a:ln w="28575">
            <a:solidFill>
              <a:srgbClr val="011F5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495300" y="2784574"/>
            <a:ext cx="3963924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45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675" dirty="0">
                <a:solidFill>
                  <a:srgbClr val="011F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LEARNING RATE SCHEDULE</a:t>
            </a:r>
            <a:endParaRPr lang="en-US" sz="675" dirty="0"/>
          </a:p>
        </p:txBody>
      </p:sp>
      <p:sp>
        <p:nvSpPr>
          <p:cNvPr id="16" name="Text 14"/>
          <p:cNvSpPr/>
          <p:nvPr/>
        </p:nvSpPr>
        <p:spPr>
          <a:xfrm>
            <a:off x="456438" y="2942630"/>
            <a:ext cx="3963924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155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825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eta_p = eta_0 x gamma^(p-1)</a:t>
            </a:r>
            <a:endParaRPr lang="en-US" sz="825" dirty="0"/>
          </a:p>
        </p:txBody>
      </p:sp>
      <p:sp>
        <p:nvSpPr>
          <p:cNvPr id="17" name="Text 15"/>
          <p:cNvSpPr/>
          <p:nvPr/>
        </p:nvSpPr>
        <p:spPr>
          <a:xfrm>
            <a:off x="495300" y="3127325"/>
            <a:ext cx="3963924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5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eta_0 = 5e-5, gamma = 0.5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495300" y="3432125"/>
            <a:ext cx="3963924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5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1: 5e-5, Phase 2: 2.5e-5, Phase 3: 1.25e-5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4648200" y="809625"/>
            <a:ext cx="4114800" cy="719882"/>
          </a:xfrm>
          <a:prstGeom prst="roundRect">
            <a:avLst>
              <a:gd name="adj" fmla="val 7939"/>
            </a:avLst>
          </a:prstGeom>
          <a:solidFill>
            <a:srgbClr val="F8F8F8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0" name="Shape 18"/>
          <p:cNvSpPr/>
          <p:nvPr/>
        </p:nvSpPr>
        <p:spPr>
          <a:xfrm>
            <a:off x="4667250" y="809625"/>
            <a:ext cx="0" cy="719882"/>
          </a:xfrm>
          <a:prstGeom prst="line">
            <a:avLst/>
          </a:prstGeom>
          <a:noFill/>
          <a:ln w="38100">
            <a:solidFill>
              <a:srgbClr val="011F5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4800600" y="923925"/>
            <a:ext cx="3925062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00"/>
              </a:lnSpc>
              <a:spcAft>
                <a:spcPts val="450"/>
              </a:spcAft>
              <a:buNone/>
            </a:pPr>
            <a:r>
              <a:rPr lang="en-US" sz="750" b="1" dirty="0">
                <a:solidFill>
                  <a:srgbClr val="011F5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SEQUENTIAL TRAINING</a:t>
            </a:r>
            <a:endParaRPr lang="en-US" sz="750" dirty="0"/>
          </a:p>
        </p:txBody>
      </p:sp>
      <p:sp>
        <p:nvSpPr>
          <p:cNvPr id="22" name="Text 20"/>
          <p:cNvSpPr/>
          <p:nvPr/>
        </p:nvSpPr>
        <p:spPr>
          <a:xfrm>
            <a:off x="4800600" y="1095375"/>
            <a:ext cx="3925062" cy="1370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675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theta* = Train(Train(Train(theta_0, D_easy), D_medium), D_hard)</a:t>
            </a:r>
            <a:endParaRPr lang="en-US" sz="675" dirty="0"/>
          </a:p>
        </p:txBody>
      </p:sp>
      <p:sp>
        <p:nvSpPr>
          <p:cNvPr id="23" name="Text 21"/>
          <p:cNvSpPr/>
          <p:nvPr/>
        </p:nvSpPr>
        <p:spPr>
          <a:xfrm>
            <a:off x="4800600" y="1270546"/>
            <a:ext cx="3925062" cy="106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84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6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Each phase builds on the previous checkpoint</a:t>
            </a:r>
            <a:endParaRPr lang="en-US" sz="600" dirty="0"/>
          </a:p>
        </p:txBody>
      </p:sp>
      <p:sp>
        <p:nvSpPr>
          <p:cNvPr id="24" name="Text 22"/>
          <p:cNvSpPr/>
          <p:nvPr/>
        </p:nvSpPr>
        <p:spPr>
          <a:xfrm>
            <a:off x="4648200" y="1605707"/>
            <a:ext cx="4114800" cy="1314450"/>
          </a:xfrm>
          <a:prstGeom prst="roundRect">
            <a:avLst>
              <a:gd name="adj" fmla="val 4348"/>
            </a:avLst>
          </a:prstGeom>
          <a:solidFill>
            <a:srgbClr val="F8F8F8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5" name="Shape 23"/>
          <p:cNvSpPr/>
          <p:nvPr/>
        </p:nvSpPr>
        <p:spPr>
          <a:xfrm>
            <a:off x="4667250" y="1605707"/>
            <a:ext cx="0" cy="1314450"/>
          </a:xfrm>
          <a:prstGeom prst="line">
            <a:avLst/>
          </a:prstGeom>
          <a:noFill/>
          <a:ln w="38100">
            <a:solidFill>
              <a:srgbClr val="99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4800600" y="1720007"/>
            <a:ext cx="3925062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00"/>
              </a:lnSpc>
              <a:spcAft>
                <a:spcPts val="450"/>
              </a:spcAft>
              <a:buNone/>
            </a:pPr>
            <a:r>
              <a:rPr lang="en-US" sz="750" b="1" dirty="0">
                <a:solidFill>
                  <a:srgbClr val="9900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 LR DECAY?</a:t>
            </a:r>
            <a:endParaRPr lang="en-US" sz="750" dirty="0"/>
          </a:p>
        </p:txBody>
      </p:sp>
      <p:sp>
        <p:nvSpPr>
          <p:cNvPr id="27" name="Text 25"/>
          <p:cNvSpPr/>
          <p:nvPr/>
        </p:nvSpPr>
        <p:spPr>
          <a:xfrm>
            <a:off x="4800600" y="1891457"/>
            <a:ext cx="3925062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Prevents catastrophic forgetting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4800600" y="2196257"/>
            <a:ext cx="3925062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Finer updates for harder examples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4800600" y="2501057"/>
            <a:ext cx="3925062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Stabilizes training progression</a:t>
            </a:r>
            <a:endParaRPr lang="en-US" sz="1500" dirty="0"/>
          </a:p>
        </p:txBody>
      </p:sp>
      <p:sp>
        <p:nvSpPr>
          <p:cNvPr id="30" name="Text 28"/>
          <p:cNvSpPr/>
          <p:nvPr/>
        </p:nvSpPr>
        <p:spPr>
          <a:xfrm>
            <a:off x="4648200" y="2996357"/>
            <a:ext cx="4114800" cy="1314450"/>
          </a:xfrm>
          <a:prstGeom prst="roundRect">
            <a:avLst>
              <a:gd name="adj" fmla="val 4348"/>
            </a:avLst>
          </a:prstGeom>
          <a:solidFill>
            <a:srgbClr val="011F5B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1" name="Text 29"/>
          <p:cNvSpPr/>
          <p:nvPr/>
        </p:nvSpPr>
        <p:spPr>
          <a:xfrm>
            <a:off x="4762500" y="3110657"/>
            <a:ext cx="3963924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00"/>
              </a:lnSpc>
              <a:spcAft>
                <a:spcPts val="450"/>
              </a:spcAft>
              <a:buNone/>
            </a:pPr>
            <a:r>
              <a:rPr lang="en-US" sz="7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PARTITION THRESHOLDS</a:t>
            </a:r>
            <a:endParaRPr lang="en-US" sz="750" dirty="0"/>
          </a:p>
        </p:txBody>
      </p:sp>
      <p:sp>
        <p:nvSpPr>
          <p:cNvPr id="32" name="Text 30"/>
          <p:cNvSpPr/>
          <p:nvPr/>
        </p:nvSpPr>
        <p:spPr>
          <a:xfrm>
            <a:off x="4762500" y="3282107"/>
            <a:ext cx="3963924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500" dirty="0">
                <a:solidFill>
                  <a:srgbClr val="FFFFFF">
                    <a:alpha val="8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tau_33 = 22% (33rd percentile CMI)</a:t>
            </a:r>
            <a:endParaRPr lang="en-US" sz="1500" dirty="0"/>
          </a:p>
        </p:txBody>
      </p:sp>
      <p:sp>
        <p:nvSpPr>
          <p:cNvPr id="33" name="Text 31"/>
          <p:cNvSpPr/>
          <p:nvPr/>
        </p:nvSpPr>
        <p:spPr>
          <a:xfrm>
            <a:off x="4762500" y="3586907"/>
            <a:ext cx="3963924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500" dirty="0">
                <a:solidFill>
                  <a:srgbClr val="FFFFFF">
                    <a:alpha val="8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tau_66 = 42% (66th percentile CMI)</a:t>
            </a:r>
            <a:endParaRPr lang="en-US" sz="1500" dirty="0"/>
          </a:p>
        </p:txBody>
      </p:sp>
      <p:sp>
        <p:nvSpPr>
          <p:cNvPr id="34" name="Text 32"/>
          <p:cNvSpPr/>
          <p:nvPr/>
        </p:nvSpPr>
        <p:spPr>
          <a:xfrm>
            <a:off x="4762500" y="3891707"/>
            <a:ext cx="3963924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500" dirty="0">
                <a:solidFill>
                  <a:srgbClr val="FFFFFF">
                    <a:alpha val="8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Equal splits: ~861 samples each</a:t>
            </a:r>
            <a:endParaRPr lang="en-US" sz="15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342900"/>
            <a:ext cx="4284536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500" b="1" dirty="0">
                <a:solidFill>
                  <a:srgbClr val="011F5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Code: CSCL Training Loop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381000" y="561975"/>
            <a:ext cx="1333500" cy="28575"/>
          </a:xfrm>
          <a:prstGeom prst="rect">
            <a:avLst/>
          </a:prstGeom>
          <a:solidFill>
            <a:srgbClr val="99000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381000" y="800100"/>
            <a:ext cx="5036790" cy="3886200"/>
          </a:xfrm>
          <a:prstGeom prst="roundRect">
            <a:avLst>
              <a:gd name="adj" fmla="val 1225"/>
            </a:avLst>
          </a:prstGeom>
          <a:solidFill>
            <a:srgbClr val="1E1E1E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476250" y="933450"/>
            <a:ext cx="4943216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500" dirty="0">
                <a:solidFill>
                  <a:srgbClr val="6A99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 1. Compute CMI and sort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476250" y="1238250"/>
            <a:ext cx="3609812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500" dirty="0">
                <a:solidFill>
                  <a:srgbClr val="D4D4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= sorted(train, key=</a:t>
            </a:r>
            <a:r>
              <a:rPr lang="en-US" sz="1500" dirty="0">
                <a:solidFill>
                  <a:srgbClr val="C586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lambda</a:t>
            </a:r>
            <a:r>
              <a:rPr lang="en-US" sz="1500" dirty="0">
                <a:solidFill>
                  <a:srgbClr val="D4D4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x: cmi(x))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476250" y="1543050"/>
            <a:ext cx="4943216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500" dirty="0">
                <a:solidFill>
                  <a:srgbClr val="6A99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 2. Split into 3 phases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476250" y="1847850"/>
            <a:ext cx="4943216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500" dirty="0">
                <a:solidFill>
                  <a:srgbClr val="D4D4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 = </a:t>
            </a:r>
            <a:r>
              <a:rPr lang="en-US" sz="1500" dirty="0">
                <a:solidFill>
                  <a:srgbClr val="DCDC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len</a:t>
            </a:r>
            <a:r>
              <a:rPr lang="en-US" sz="1500" dirty="0">
                <a:solidFill>
                  <a:srgbClr val="D4D4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(data)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674805" y="2152650"/>
            <a:ext cx="262226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500" dirty="0">
                <a:solidFill>
                  <a:srgbClr val="D4D4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phases = [data[:n//</a:t>
            </a:r>
            <a:r>
              <a:rPr lang="en-US" sz="1500" dirty="0">
                <a:solidFill>
                  <a:srgbClr val="B5CE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r>
              <a:rPr lang="en-US" sz="1500" dirty="0">
                <a:solidFill>
                  <a:srgbClr val="D4D4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], </a:t>
            </a:r>
            <a:r>
              <a:rPr lang="en-US" sz="1500" dirty="0">
                <a:solidFill>
                  <a:srgbClr val="6A99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 Easy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536573" y="2453858"/>
            <a:ext cx="2120646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500" dirty="0">
                <a:solidFill>
                  <a:srgbClr val="D4D4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data[n//</a:t>
            </a:r>
            <a:r>
              <a:rPr lang="en-US" sz="1500" dirty="0">
                <a:solidFill>
                  <a:srgbClr val="B5CE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r>
              <a:rPr lang="en-US" sz="1500" dirty="0">
                <a:solidFill>
                  <a:srgbClr val="D4D4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</a:t>
            </a:r>
            <a:r>
              <a:rPr lang="en-US" sz="1500" dirty="0">
                <a:solidFill>
                  <a:srgbClr val="B5CE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r>
              <a:rPr lang="en-US" sz="1500" dirty="0">
                <a:solidFill>
                  <a:srgbClr val="D4D4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*n//</a:t>
            </a:r>
            <a:r>
              <a:rPr lang="en-US" sz="1500" dirty="0">
                <a:solidFill>
                  <a:srgbClr val="B5CE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r>
              <a:rPr lang="en-US" sz="1500" dirty="0">
                <a:solidFill>
                  <a:srgbClr val="D4D4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], </a:t>
            </a:r>
            <a:r>
              <a:rPr lang="en-US" sz="1500" dirty="0">
                <a:solidFill>
                  <a:srgbClr val="6A99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 Med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536573" y="2755066"/>
            <a:ext cx="1838488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500" dirty="0">
                <a:solidFill>
                  <a:srgbClr val="D4D4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data[</a:t>
            </a:r>
            <a:r>
              <a:rPr lang="en-US" sz="1500" dirty="0">
                <a:solidFill>
                  <a:srgbClr val="B5CE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r>
              <a:rPr lang="en-US" sz="1500" dirty="0">
                <a:solidFill>
                  <a:srgbClr val="D4D4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*n//</a:t>
            </a:r>
            <a:r>
              <a:rPr lang="en-US" sz="1500" dirty="0">
                <a:solidFill>
                  <a:srgbClr val="B5CE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r>
              <a:rPr lang="en-US" sz="1500" dirty="0">
                <a:solidFill>
                  <a:srgbClr val="D4D4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:]] </a:t>
            </a:r>
            <a:r>
              <a:rPr lang="en-US" sz="1500" dirty="0">
                <a:solidFill>
                  <a:srgbClr val="6A99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 Hard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476250" y="3067050"/>
            <a:ext cx="4943216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500" dirty="0">
                <a:solidFill>
                  <a:srgbClr val="6A99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 3. Train with LR decay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476250" y="3371850"/>
            <a:ext cx="4943216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500" dirty="0">
                <a:solidFill>
                  <a:srgbClr val="C586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</a:t>
            </a:r>
            <a:r>
              <a:rPr lang="en-US" sz="1500" dirty="0">
                <a:solidFill>
                  <a:srgbClr val="D4D4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i, phase </a:t>
            </a:r>
            <a:r>
              <a:rPr lang="en-US" sz="1500" dirty="0">
                <a:solidFill>
                  <a:srgbClr val="C586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</a:t>
            </a:r>
            <a:r>
              <a:rPr lang="en-US" sz="1500" dirty="0">
                <a:solidFill>
                  <a:srgbClr val="D4D4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500" dirty="0">
                <a:solidFill>
                  <a:srgbClr val="DCDC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enumerate</a:t>
            </a:r>
            <a:r>
              <a:rPr lang="en-US" sz="1500" dirty="0">
                <a:solidFill>
                  <a:srgbClr val="D4D4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(phases):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674805" y="3676650"/>
            <a:ext cx="1613807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500" dirty="0">
                <a:solidFill>
                  <a:srgbClr val="D4D4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lr = </a:t>
            </a:r>
            <a:r>
              <a:rPr lang="en-US" sz="1500" dirty="0">
                <a:solidFill>
                  <a:srgbClr val="B5CE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5e-5</a:t>
            </a:r>
            <a:r>
              <a:rPr lang="en-US" sz="1500" dirty="0">
                <a:solidFill>
                  <a:srgbClr val="D4D4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* (</a:t>
            </a:r>
            <a:r>
              <a:rPr lang="en-US" sz="1500" dirty="0">
                <a:solidFill>
                  <a:srgbClr val="B5CE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0.5</a:t>
            </a:r>
            <a:r>
              <a:rPr lang="en-US" sz="1500" dirty="0">
                <a:solidFill>
                  <a:srgbClr val="D4D4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**i)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674805" y="3981450"/>
            <a:ext cx="2898811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500" dirty="0">
                <a:solidFill>
                  <a:srgbClr val="D4D4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train(model, phase, lr, epochs=</a:t>
            </a:r>
            <a:r>
              <a:rPr lang="en-US" sz="1500" dirty="0">
                <a:solidFill>
                  <a:srgbClr val="B5CE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r>
              <a:rPr lang="en-US" sz="1500" dirty="0">
                <a:solidFill>
                  <a:srgbClr val="D4D4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)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5532090" y="800100"/>
            <a:ext cx="3230910" cy="424755"/>
          </a:xfrm>
          <a:prstGeom prst="roundRect">
            <a:avLst>
              <a:gd name="adj" fmla="val 8970"/>
            </a:avLst>
          </a:prstGeom>
          <a:solidFill>
            <a:srgbClr val="198754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5608290" y="876300"/>
            <a:ext cx="3140080" cy="102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810"/>
              </a:lnSpc>
              <a:spcAft>
                <a:spcPts val="150"/>
              </a:spcAft>
              <a:buNone/>
            </a:pPr>
            <a:r>
              <a:rPr lang="en-US" sz="675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SORT BY CMI</a:t>
            </a:r>
            <a:endParaRPr lang="en-US" sz="675" dirty="0"/>
          </a:p>
        </p:txBody>
      </p:sp>
      <p:sp>
        <p:nvSpPr>
          <p:cNvPr id="18" name="Text 16"/>
          <p:cNvSpPr/>
          <p:nvPr/>
        </p:nvSpPr>
        <p:spPr>
          <a:xfrm>
            <a:off x="5608290" y="1017240"/>
            <a:ext cx="3140080" cy="933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735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525" dirty="0">
                <a:solidFill>
                  <a:srgbClr val="FFFFFF">
                    <a:alpha val="8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Easy examples first</a:t>
            </a:r>
            <a:endParaRPr lang="en-US" sz="525" dirty="0"/>
          </a:p>
        </p:txBody>
      </p:sp>
      <p:sp>
        <p:nvSpPr>
          <p:cNvPr id="19" name="Text 17"/>
          <p:cNvSpPr/>
          <p:nvPr/>
        </p:nvSpPr>
        <p:spPr>
          <a:xfrm>
            <a:off x="5532090" y="1272480"/>
            <a:ext cx="3230910" cy="424755"/>
          </a:xfrm>
          <a:prstGeom prst="roundRect">
            <a:avLst>
              <a:gd name="adj" fmla="val 8970"/>
            </a:avLst>
          </a:prstGeom>
          <a:solidFill>
            <a:srgbClr val="FFC107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5608290" y="1348680"/>
            <a:ext cx="3140080" cy="102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810"/>
              </a:lnSpc>
              <a:spcAft>
                <a:spcPts val="150"/>
              </a:spcAft>
              <a:buNone/>
            </a:pPr>
            <a:r>
              <a:rPr lang="en-US" sz="675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EQUAL SPLITS</a:t>
            </a:r>
            <a:endParaRPr lang="en-US" sz="675" dirty="0"/>
          </a:p>
        </p:txBody>
      </p:sp>
      <p:sp>
        <p:nvSpPr>
          <p:cNvPr id="21" name="Text 19"/>
          <p:cNvSpPr/>
          <p:nvPr/>
        </p:nvSpPr>
        <p:spPr>
          <a:xfrm>
            <a:off x="5608290" y="1489621"/>
            <a:ext cx="3140080" cy="933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735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525" dirty="0">
                <a:solidFill>
                  <a:srgbClr val="1A1A1A">
                    <a:alpha val="8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~861 samples per phase</a:t>
            </a:r>
            <a:endParaRPr lang="en-US" sz="525" dirty="0"/>
          </a:p>
        </p:txBody>
      </p:sp>
      <p:sp>
        <p:nvSpPr>
          <p:cNvPr id="22" name="Text 20"/>
          <p:cNvSpPr/>
          <p:nvPr/>
        </p:nvSpPr>
        <p:spPr>
          <a:xfrm>
            <a:off x="5532090" y="1744861"/>
            <a:ext cx="3230910" cy="424755"/>
          </a:xfrm>
          <a:prstGeom prst="roundRect">
            <a:avLst>
              <a:gd name="adj" fmla="val 8970"/>
            </a:avLst>
          </a:prstGeom>
          <a:solidFill>
            <a:srgbClr val="99000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5608290" y="1821061"/>
            <a:ext cx="3140080" cy="102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810"/>
              </a:lnSpc>
              <a:spcAft>
                <a:spcPts val="150"/>
              </a:spcAft>
              <a:buNone/>
            </a:pPr>
            <a:r>
              <a:rPr lang="en-US" sz="675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LR DECAY</a:t>
            </a:r>
            <a:endParaRPr lang="en-US" sz="675" dirty="0"/>
          </a:p>
        </p:txBody>
      </p:sp>
      <p:sp>
        <p:nvSpPr>
          <p:cNvPr id="24" name="Text 22"/>
          <p:cNvSpPr/>
          <p:nvPr/>
        </p:nvSpPr>
        <p:spPr>
          <a:xfrm>
            <a:off x="5608290" y="1962001"/>
            <a:ext cx="3140080" cy="933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735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525" dirty="0">
                <a:solidFill>
                  <a:srgbClr val="FFFFFF">
                    <a:alpha val="8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5e-5 -&gt; 2.5e-5 -&gt; 1.25e-5</a:t>
            </a:r>
            <a:endParaRPr lang="en-US" sz="525" dirty="0"/>
          </a:p>
        </p:txBody>
      </p:sp>
      <p:sp>
        <p:nvSpPr>
          <p:cNvPr id="25" name="Text 23"/>
          <p:cNvSpPr/>
          <p:nvPr/>
        </p:nvSpPr>
        <p:spPr>
          <a:xfrm>
            <a:off x="5532090" y="2217241"/>
            <a:ext cx="3230910" cy="424755"/>
          </a:xfrm>
          <a:prstGeom prst="roundRect">
            <a:avLst>
              <a:gd name="adj" fmla="val 8970"/>
            </a:avLst>
          </a:prstGeom>
          <a:solidFill>
            <a:srgbClr val="011F5B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6" name="Text 24"/>
          <p:cNvSpPr/>
          <p:nvPr/>
        </p:nvSpPr>
        <p:spPr>
          <a:xfrm>
            <a:off x="5608290" y="2293441"/>
            <a:ext cx="3140080" cy="102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810"/>
              </a:lnSpc>
              <a:spcAft>
                <a:spcPts val="150"/>
              </a:spcAft>
              <a:buNone/>
            </a:pPr>
            <a:r>
              <a:rPr lang="en-US" sz="675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SEQUENTIAL</a:t>
            </a:r>
            <a:endParaRPr lang="en-US" sz="675" dirty="0"/>
          </a:p>
        </p:txBody>
      </p:sp>
      <p:sp>
        <p:nvSpPr>
          <p:cNvPr id="27" name="Text 25"/>
          <p:cNvSpPr/>
          <p:nvPr/>
        </p:nvSpPr>
        <p:spPr>
          <a:xfrm>
            <a:off x="5608290" y="2434382"/>
            <a:ext cx="3140080" cy="933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735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525" dirty="0">
                <a:solidFill>
                  <a:srgbClr val="FFFFFF">
                    <a:alpha val="8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Each phase builds on previous</a:t>
            </a:r>
            <a:endParaRPr lang="en-US" sz="525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381000"/>
            <a:ext cx="4284536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500" b="1" dirty="0">
                <a:solidFill>
                  <a:srgbClr val="011F5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Model Selection: What We Tried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381000" y="600075"/>
            <a:ext cx="1428750" cy="28575"/>
          </a:xfrm>
          <a:prstGeom prst="rect">
            <a:avLst/>
          </a:prstGeom>
          <a:solidFill>
            <a:srgbClr val="99000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381000" y="838200"/>
            <a:ext cx="4133850" cy="426690"/>
          </a:xfrm>
          <a:prstGeom prst="roundRect">
            <a:avLst>
              <a:gd name="adj" fmla="val 8929"/>
            </a:avLst>
          </a:prstGeom>
          <a:solidFill>
            <a:srgbClr val="F8D7D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Shape 3"/>
          <p:cNvSpPr/>
          <p:nvPr/>
        </p:nvSpPr>
        <p:spPr>
          <a:xfrm>
            <a:off x="395288" y="838200"/>
            <a:ext cx="0" cy="426690"/>
          </a:xfrm>
          <a:prstGeom prst="line">
            <a:avLst/>
          </a:prstGeom>
          <a:noFill/>
          <a:ln w="28575">
            <a:solidFill>
              <a:srgbClr val="DC354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485774" y="914400"/>
            <a:ext cx="657219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750" b="1" dirty="0">
                <a:solidFill>
                  <a:srgbClr val="DC354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mBART-50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485775" y="1057275"/>
            <a:ext cx="4031933" cy="933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735"/>
              </a:lnSpc>
              <a:spcBef>
                <a:spcPts val="225"/>
              </a:spcBef>
              <a:spcAft>
                <a:spcPts val="300"/>
              </a:spcAft>
              <a:buNone/>
            </a:pPr>
            <a:r>
              <a:rPr lang="en-US" sz="525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Encoder-decoder for MT. Poor on summarization.</a:t>
            </a:r>
            <a:endParaRPr lang="en-US" sz="525" dirty="0"/>
          </a:p>
        </p:txBody>
      </p:sp>
      <p:sp>
        <p:nvSpPr>
          <p:cNvPr id="8" name="Text 6"/>
          <p:cNvSpPr/>
          <p:nvPr/>
        </p:nvSpPr>
        <p:spPr>
          <a:xfrm>
            <a:off x="381000" y="1312515"/>
            <a:ext cx="4133850" cy="426690"/>
          </a:xfrm>
          <a:prstGeom prst="roundRect">
            <a:avLst>
              <a:gd name="adj" fmla="val 8929"/>
            </a:avLst>
          </a:prstGeom>
          <a:solidFill>
            <a:srgbClr val="F8D7D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9" name="Shape 7"/>
          <p:cNvSpPr/>
          <p:nvPr/>
        </p:nvSpPr>
        <p:spPr>
          <a:xfrm>
            <a:off x="395288" y="1312515"/>
            <a:ext cx="0" cy="426690"/>
          </a:xfrm>
          <a:prstGeom prst="line">
            <a:avLst/>
          </a:prstGeom>
          <a:noFill/>
          <a:ln w="28575">
            <a:solidFill>
              <a:srgbClr val="DC354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85775" y="1388714"/>
            <a:ext cx="463412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750" b="1" dirty="0">
                <a:solidFill>
                  <a:srgbClr val="DC354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mT5</a:t>
            </a:r>
            <a:endParaRPr lang="en-US" sz="750" dirty="0"/>
          </a:p>
        </p:txBody>
      </p:sp>
      <p:sp>
        <p:nvSpPr>
          <p:cNvPr id="11" name="Text 9"/>
          <p:cNvSpPr/>
          <p:nvPr/>
        </p:nvSpPr>
        <p:spPr>
          <a:xfrm>
            <a:off x="485775" y="1531590"/>
            <a:ext cx="4031933" cy="933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735"/>
              </a:lnSpc>
              <a:spcBef>
                <a:spcPts val="225"/>
              </a:spcBef>
              <a:spcAft>
                <a:spcPts val="300"/>
              </a:spcAft>
              <a:buNone/>
            </a:pPr>
            <a:r>
              <a:rPr lang="en-US" sz="525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101-language T5. Struggles with code-mixed input.</a:t>
            </a:r>
            <a:endParaRPr lang="en-US" sz="525" dirty="0"/>
          </a:p>
        </p:txBody>
      </p:sp>
      <p:sp>
        <p:nvSpPr>
          <p:cNvPr id="12" name="Text 10"/>
          <p:cNvSpPr/>
          <p:nvPr/>
        </p:nvSpPr>
        <p:spPr>
          <a:xfrm>
            <a:off x="381000" y="1786830"/>
            <a:ext cx="4133850" cy="426690"/>
          </a:xfrm>
          <a:prstGeom prst="roundRect">
            <a:avLst>
              <a:gd name="adj" fmla="val 8929"/>
            </a:avLst>
          </a:prstGeom>
          <a:solidFill>
            <a:srgbClr val="FFF3CD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3" name="Shape 11"/>
          <p:cNvSpPr/>
          <p:nvPr/>
        </p:nvSpPr>
        <p:spPr>
          <a:xfrm>
            <a:off x="395288" y="1786830"/>
            <a:ext cx="0" cy="426690"/>
          </a:xfrm>
          <a:prstGeom prst="line">
            <a:avLst/>
          </a:prstGeom>
          <a:noFill/>
          <a:ln w="28575">
            <a:solidFill>
              <a:srgbClr val="FFC10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485775" y="1863029"/>
            <a:ext cx="731762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750" b="1" dirty="0">
                <a:solidFill>
                  <a:srgbClr val="997A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Llama-3.1-8B</a:t>
            </a:r>
            <a:endParaRPr lang="en-US" sz="750" dirty="0"/>
          </a:p>
        </p:txBody>
      </p:sp>
      <p:sp>
        <p:nvSpPr>
          <p:cNvPr id="15" name="Text 13"/>
          <p:cNvSpPr/>
          <p:nvPr/>
        </p:nvSpPr>
        <p:spPr>
          <a:xfrm>
            <a:off x="485775" y="2005905"/>
            <a:ext cx="4031933" cy="933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735"/>
              </a:lnSpc>
              <a:spcBef>
                <a:spcPts val="225"/>
              </a:spcBef>
              <a:spcAft>
                <a:spcPts val="300"/>
              </a:spcAft>
              <a:buNone/>
            </a:pPr>
            <a:r>
              <a:rPr lang="en-US" sz="525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proportional gain. 2.5x slower, 2x memory.</a:t>
            </a:r>
            <a:endParaRPr lang="en-US" sz="525" dirty="0"/>
          </a:p>
        </p:txBody>
      </p:sp>
      <p:sp>
        <p:nvSpPr>
          <p:cNvPr id="16" name="Text 14"/>
          <p:cNvSpPr/>
          <p:nvPr/>
        </p:nvSpPr>
        <p:spPr>
          <a:xfrm>
            <a:off x="381000" y="2261146"/>
            <a:ext cx="4133850" cy="426690"/>
          </a:xfrm>
          <a:prstGeom prst="roundRect">
            <a:avLst>
              <a:gd name="adj" fmla="val 8929"/>
            </a:avLst>
          </a:prstGeom>
          <a:solidFill>
            <a:srgbClr val="D4EDD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7" name="Shape 15"/>
          <p:cNvSpPr/>
          <p:nvPr/>
        </p:nvSpPr>
        <p:spPr>
          <a:xfrm>
            <a:off x="395288" y="2261146"/>
            <a:ext cx="0" cy="426690"/>
          </a:xfrm>
          <a:prstGeom prst="line">
            <a:avLst/>
          </a:prstGeom>
          <a:noFill/>
          <a:ln w="28575">
            <a:solidFill>
              <a:srgbClr val="19875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485775" y="2337346"/>
            <a:ext cx="117406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750" b="1" dirty="0">
                <a:solidFill>
                  <a:srgbClr val="19875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Llama-3.2-3B-Instruct</a:t>
            </a:r>
            <a:endParaRPr lang="en-US" sz="750" dirty="0"/>
          </a:p>
        </p:txBody>
      </p:sp>
      <p:sp>
        <p:nvSpPr>
          <p:cNvPr id="19" name="Text 17"/>
          <p:cNvSpPr/>
          <p:nvPr/>
        </p:nvSpPr>
        <p:spPr>
          <a:xfrm>
            <a:off x="485775" y="2480221"/>
            <a:ext cx="4031933" cy="933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735"/>
              </a:lnSpc>
              <a:spcBef>
                <a:spcPts val="225"/>
              </a:spcBef>
              <a:spcAft>
                <a:spcPts val="300"/>
              </a:spcAft>
              <a:buNone/>
            </a:pPr>
            <a:r>
              <a:rPr lang="en-US" sz="525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Best balance: 100+ langs, efficient, 6 min train.</a:t>
            </a:r>
            <a:endParaRPr lang="en-US" sz="525" dirty="0"/>
          </a:p>
        </p:txBody>
      </p:sp>
      <p:sp>
        <p:nvSpPr>
          <p:cNvPr id="20" name="Text 18"/>
          <p:cNvSpPr/>
          <p:nvPr/>
        </p:nvSpPr>
        <p:spPr>
          <a:xfrm>
            <a:off x="4629150" y="838200"/>
            <a:ext cx="4133850" cy="1512540"/>
          </a:xfrm>
          <a:prstGeom prst="roundRect">
            <a:avLst>
              <a:gd name="adj" fmla="val 2519"/>
            </a:avLst>
          </a:prstGeom>
          <a:solidFill>
            <a:srgbClr val="011F5B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4705350" y="914400"/>
            <a:ext cx="4061079" cy="102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810"/>
              </a:lnSpc>
              <a:spcAft>
                <a:spcPts val="300"/>
              </a:spcAft>
              <a:buNone/>
            </a:pPr>
            <a:r>
              <a:rPr lang="en-US" sz="675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 LLAMA-3.2-3B WON</a:t>
            </a:r>
            <a:endParaRPr lang="en-US" sz="675" dirty="0"/>
          </a:p>
        </p:txBody>
      </p:sp>
      <p:sp>
        <p:nvSpPr>
          <p:cNvPr id="22" name="Text 20"/>
          <p:cNvSpPr/>
          <p:nvPr/>
        </p:nvSpPr>
        <p:spPr>
          <a:xfrm>
            <a:off x="4705350" y="1055340"/>
            <a:ext cx="4061079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500" dirty="0">
                <a:solidFill>
                  <a:srgbClr val="FFFFFF">
                    <a:alpha val="8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Decoder-only = better generation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4705350" y="1360140"/>
            <a:ext cx="4061079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500" dirty="0">
                <a:solidFill>
                  <a:srgbClr val="FFFFFF">
                    <a:alpha val="8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Instruction-tuned for tasks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4705350" y="1664940"/>
            <a:ext cx="4061079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500" dirty="0">
                <a:solidFill>
                  <a:srgbClr val="FFFFFF">
                    <a:alpha val="8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100+ language pretraining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4705350" y="1969740"/>
            <a:ext cx="4061079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500" dirty="0">
                <a:solidFill>
                  <a:srgbClr val="FFFFFF">
                    <a:alpha val="8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Efficient with LoRA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4629150" y="2398365"/>
            <a:ext cx="4133850" cy="921990"/>
          </a:xfrm>
          <a:prstGeom prst="roundRect">
            <a:avLst>
              <a:gd name="adj" fmla="val 4132"/>
            </a:avLst>
          </a:prstGeom>
          <a:solidFill>
            <a:srgbClr val="F8F8F8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7" name="Shape 25"/>
          <p:cNvSpPr/>
          <p:nvPr/>
        </p:nvSpPr>
        <p:spPr>
          <a:xfrm>
            <a:off x="4629150" y="2407890"/>
            <a:ext cx="4133850" cy="0"/>
          </a:xfrm>
          <a:prstGeom prst="line">
            <a:avLst/>
          </a:prstGeom>
          <a:noFill/>
          <a:ln w="19050">
            <a:solidFill>
              <a:srgbClr val="99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4705350" y="2493615"/>
            <a:ext cx="4061079" cy="102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810"/>
              </a:lnSpc>
              <a:spcAft>
                <a:spcPts val="225"/>
              </a:spcAft>
              <a:buNone/>
            </a:pPr>
            <a:r>
              <a:rPr lang="en-US" sz="675" b="1" dirty="0">
                <a:solidFill>
                  <a:srgbClr val="9900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 NOT ENCODER-DECODER?</a:t>
            </a:r>
            <a:endParaRPr lang="en-US" sz="675" dirty="0"/>
          </a:p>
        </p:txBody>
      </p:sp>
      <p:sp>
        <p:nvSpPr>
          <p:cNvPr id="29" name="Text 27"/>
          <p:cNvSpPr/>
          <p:nvPr/>
        </p:nvSpPr>
        <p:spPr>
          <a:xfrm>
            <a:off x="4705350" y="2634555"/>
            <a:ext cx="4061079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mBART/mT5 = translation focus</a:t>
            </a:r>
            <a:endParaRPr lang="en-US" sz="1500" dirty="0"/>
          </a:p>
        </p:txBody>
      </p:sp>
      <p:sp>
        <p:nvSpPr>
          <p:cNvPr id="30" name="Text 28"/>
          <p:cNvSpPr/>
          <p:nvPr/>
        </p:nvSpPr>
        <p:spPr>
          <a:xfrm>
            <a:off x="4705350" y="2939355"/>
            <a:ext cx="4061079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Decoder-only scales better</a:t>
            </a:r>
            <a:endParaRPr lang="en-US" sz="1500" dirty="0"/>
          </a:p>
        </p:txBody>
      </p:sp>
      <p:sp>
        <p:nvSpPr>
          <p:cNvPr id="31" name="Text 29"/>
          <p:cNvSpPr/>
          <p:nvPr/>
        </p:nvSpPr>
        <p:spPr>
          <a:xfrm>
            <a:off x="4629150" y="3367980"/>
            <a:ext cx="4133850" cy="921990"/>
          </a:xfrm>
          <a:prstGeom prst="roundRect">
            <a:avLst>
              <a:gd name="adj" fmla="val 4132"/>
            </a:avLst>
          </a:prstGeom>
          <a:solidFill>
            <a:srgbClr val="F8F8F8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2" name="Shape 30"/>
          <p:cNvSpPr/>
          <p:nvPr/>
        </p:nvSpPr>
        <p:spPr>
          <a:xfrm>
            <a:off x="4629150" y="3377505"/>
            <a:ext cx="4133850" cy="0"/>
          </a:xfrm>
          <a:prstGeom prst="line">
            <a:avLst/>
          </a:prstGeom>
          <a:noFill/>
          <a:ln w="19050">
            <a:solidFill>
              <a:srgbClr val="FFC10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4705350" y="3463230"/>
            <a:ext cx="4061079" cy="102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810"/>
              </a:lnSpc>
              <a:spcAft>
                <a:spcPts val="225"/>
              </a:spcAft>
              <a:buNone/>
            </a:pPr>
            <a:r>
              <a:rPr lang="en-US" sz="675" b="1" dirty="0">
                <a:solidFill>
                  <a:srgbClr val="997A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 NOT 8B?</a:t>
            </a:r>
            <a:endParaRPr lang="en-US" sz="675" dirty="0"/>
          </a:p>
        </p:txBody>
      </p:sp>
      <p:sp>
        <p:nvSpPr>
          <p:cNvPr id="34" name="Text 32"/>
          <p:cNvSpPr/>
          <p:nvPr/>
        </p:nvSpPr>
        <p:spPr>
          <a:xfrm>
            <a:off x="4705350" y="3604171"/>
            <a:ext cx="4061079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Diminishing returns on this task</a:t>
            </a:r>
            <a:endParaRPr lang="en-US" sz="1500" dirty="0"/>
          </a:p>
        </p:txBody>
      </p:sp>
      <p:sp>
        <p:nvSpPr>
          <p:cNvPr id="35" name="Text 33"/>
          <p:cNvSpPr/>
          <p:nvPr/>
        </p:nvSpPr>
        <p:spPr>
          <a:xfrm>
            <a:off x="4705350" y="3908971"/>
            <a:ext cx="4061079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3B captures code-mixing patterns</a:t>
            </a:r>
            <a:endParaRPr lang="en-US" sz="15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266700"/>
            <a:ext cx="4284536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950" b="1" dirty="0">
                <a:solidFill>
                  <a:srgbClr val="011F5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 Llama-3.2-3B?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381000" y="571500"/>
            <a:ext cx="1905000" cy="38100"/>
          </a:xfrm>
          <a:prstGeom prst="rect">
            <a:avLst/>
          </a:prstGeom>
          <a:solidFill>
            <a:srgbClr val="99000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381000" y="895350"/>
            <a:ext cx="4177665" cy="1256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90"/>
              </a:lnSpc>
              <a:buNone/>
            </a:pPr>
            <a:r>
              <a:rPr lang="en-US" sz="825" b="1" dirty="0">
                <a:solidFill>
                  <a:srgbClr val="66666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MODELS EVALUATED</a:t>
            </a:r>
            <a:endParaRPr lang="en-US" sz="825" dirty="0"/>
          </a:p>
        </p:txBody>
      </p:sp>
      <p:sp>
        <p:nvSpPr>
          <p:cNvPr id="5" name="Text 3"/>
          <p:cNvSpPr/>
          <p:nvPr/>
        </p:nvSpPr>
        <p:spPr>
          <a:xfrm>
            <a:off x="381000" y="1097161"/>
            <a:ext cx="4095750" cy="542925"/>
          </a:xfrm>
          <a:prstGeom prst="roundRect">
            <a:avLst>
              <a:gd name="adj" fmla="val 10526"/>
            </a:avLst>
          </a:prstGeom>
          <a:solidFill>
            <a:srgbClr val="F8F8F8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" name="Shape 4"/>
          <p:cNvSpPr/>
          <p:nvPr/>
        </p:nvSpPr>
        <p:spPr>
          <a:xfrm>
            <a:off x="400050" y="1097161"/>
            <a:ext cx="0" cy="542925"/>
          </a:xfrm>
          <a:prstGeom prst="line">
            <a:avLst/>
          </a:prstGeom>
          <a:noFill/>
          <a:ln w="38100">
            <a:solidFill>
              <a:srgbClr val="DC354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514350" y="1192411"/>
            <a:ext cx="3944493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mBART-50 / mT5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14350" y="1373386"/>
            <a:ext cx="3944493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7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Limited performance despite multilingual pretraining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381000" y="1716286"/>
            <a:ext cx="4095750" cy="542925"/>
          </a:xfrm>
          <a:prstGeom prst="roundRect">
            <a:avLst>
              <a:gd name="adj" fmla="val 10526"/>
            </a:avLst>
          </a:prstGeom>
          <a:solidFill>
            <a:srgbClr val="F8F8F8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0" name="Shape 8"/>
          <p:cNvSpPr/>
          <p:nvPr/>
        </p:nvSpPr>
        <p:spPr>
          <a:xfrm>
            <a:off x="400050" y="1716286"/>
            <a:ext cx="0" cy="542925"/>
          </a:xfrm>
          <a:prstGeom prst="line">
            <a:avLst/>
          </a:prstGeom>
          <a:noFill/>
          <a:ln w="38100">
            <a:solidFill>
              <a:srgbClr val="FFC10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514350" y="1811536"/>
            <a:ext cx="3944493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Llama-3.1-8B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514350" y="1992511"/>
            <a:ext cx="3944493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7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2.5x compute, gains not proportional</a:t>
            </a:r>
            <a:endParaRPr lang="en-US" sz="750" dirty="0"/>
          </a:p>
        </p:txBody>
      </p:sp>
      <p:sp>
        <p:nvSpPr>
          <p:cNvPr id="13" name="Text 11"/>
          <p:cNvSpPr/>
          <p:nvPr/>
        </p:nvSpPr>
        <p:spPr>
          <a:xfrm>
            <a:off x="381000" y="2335411"/>
            <a:ext cx="4095750" cy="542925"/>
          </a:xfrm>
          <a:prstGeom prst="roundRect">
            <a:avLst>
              <a:gd name="adj" fmla="val 10526"/>
            </a:avLst>
          </a:prstGeom>
          <a:solidFill>
            <a:srgbClr val="F0F7F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4" name="Shape 12"/>
          <p:cNvSpPr/>
          <p:nvPr/>
        </p:nvSpPr>
        <p:spPr>
          <a:xfrm>
            <a:off x="400050" y="2335411"/>
            <a:ext cx="0" cy="542925"/>
          </a:xfrm>
          <a:prstGeom prst="line">
            <a:avLst/>
          </a:prstGeom>
          <a:noFill/>
          <a:ln w="38100">
            <a:solidFill>
              <a:srgbClr val="19875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514350" y="2430661"/>
            <a:ext cx="3944493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Llama-3.2-3B (Selected)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514350" y="2611636"/>
            <a:ext cx="3944493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7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Best balance of performance and efficiency</a:t>
            </a:r>
            <a:endParaRPr lang="en-US" sz="750" dirty="0"/>
          </a:p>
        </p:txBody>
      </p:sp>
      <p:sp>
        <p:nvSpPr>
          <p:cNvPr id="17" name="Text 15"/>
          <p:cNvSpPr/>
          <p:nvPr/>
        </p:nvSpPr>
        <p:spPr>
          <a:xfrm>
            <a:off x="4667250" y="895350"/>
            <a:ext cx="4177665" cy="1256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90"/>
              </a:lnSpc>
              <a:buNone/>
            </a:pPr>
            <a:r>
              <a:rPr lang="en-US" sz="825" b="1" dirty="0">
                <a:solidFill>
                  <a:srgbClr val="66666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 IT WORKS</a:t>
            </a:r>
            <a:endParaRPr lang="en-US" sz="825" dirty="0"/>
          </a:p>
        </p:txBody>
      </p:sp>
      <p:sp>
        <p:nvSpPr>
          <p:cNvPr id="18" name="Text 16"/>
          <p:cNvSpPr/>
          <p:nvPr/>
        </p:nvSpPr>
        <p:spPr>
          <a:xfrm>
            <a:off x="4667250" y="1116211"/>
            <a:ext cx="4095750" cy="2869109"/>
          </a:xfrm>
          <a:prstGeom prst="roundRect">
            <a:avLst>
              <a:gd name="adj" fmla="val 1992"/>
            </a:avLst>
          </a:prstGeom>
          <a:solidFill>
            <a:srgbClr val="F8F8F8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9" name="Shape 17"/>
          <p:cNvSpPr/>
          <p:nvPr/>
        </p:nvSpPr>
        <p:spPr>
          <a:xfrm>
            <a:off x="4667250" y="1130498"/>
            <a:ext cx="4095750" cy="0"/>
          </a:xfrm>
          <a:prstGeom prst="line">
            <a:avLst/>
          </a:prstGeom>
          <a:noFill/>
          <a:ln w="28575">
            <a:solidFill>
              <a:srgbClr val="011F5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4781550" y="1259086"/>
            <a:ext cx="3944493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011F5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100+ Language Pretraining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4781550" y="1440061"/>
            <a:ext cx="3944493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7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Hindi, Tamil, Mandarin, Malay knowledge</a:t>
            </a:r>
            <a:endParaRPr lang="en-US" sz="750" dirty="0"/>
          </a:p>
        </p:txBody>
      </p:sp>
      <p:sp>
        <p:nvSpPr>
          <p:cNvPr id="22" name="Text 20"/>
          <p:cNvSpPr/>
          <p:nvPr/>
        </p:nvSpPr>
        <p:spPr>
          <a:xfrm>
            <a:off x="4781550" y="1668661"/>
            <a:ext cx="3944493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011F5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Instruction-Tuned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4781550" y="1849636"/>
            <a:ext cx="3944493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7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Understands summarization format</a:t>
            </a:r>
            <a:endParaRPr lang="en-US" sz="750" dirty="0"/>
          </a:p>
        </p:txBody>
      </p:sp>
      <p:sp>
        <p:nvSpPr>
          <p:cNvPr id="24" name="Text 22"/>
          <p:cNvSpPr/>
          <p:nvPr/>
        </p:nvSpPr>
        <p:spPr>
          <a:xfrm>
            <a:off x="4781550" y="2078236"/>
            <a:ext cx="3944493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011F5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LoRA Compatible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4781550" y="2259211"/>
            <a:ext cx="3944493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7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Only 0.26% params trainable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4667250" y="4080570"/>
            <a:ext cx="4095750" cy="796230"/>
          </a:xfrm>
          <a:prstGeom prst="roundRect">
            <a:avLst>
              <a:gd name="adj" fmla="val 7178"/>
            </a:avLst>
          </a:prstGeom>
          <a:solidFill>
            <a:srgbClr val="011F5B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7" name="Text 25"/>
          <p:cNvSpPr/>
          <p:nvPr/>
        </p:nvSpPr>
        <p:spPr>
          <a:xfrm>
            <a:off x="4742879" y="4232970"/>
            <a:ext cx="3944493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5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min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4742879" y="4591050"/>
            <a:ext cx="3944493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05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750" dirty="0">
                <a:solidFill>
                  <a:srgbClr val="FFFFFF">
                    <a:alpha val="67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Training on A100</a:t>
            </a:r>
            <a:endParaRPr lang="en-US" sz="7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381000"/>
            <a:ext cx="4284536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500" b="1" dirty="0">
                <a:solidFill>
                  <a:srgbClr val="011F5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Llama-3.2-3B: Why It Works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381000" y="600075"/>
            <a:ext cx="1428750" cy="28575"/>
          </a:xfrm>
          <a:prstGeom prst="rect">
            <a:avLst/>
          </a:prstGeom>
          <a:solidFill>
            <a:srgbClr val="99000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381000" y="838200"/>
            <a:ext cx="4133850" cy="388590"/>
          </a:xfrm>
          <a:prstGeom prst="roundRect">
            <a:avLst>
              <a:gd name="adj" fmla="val 9805"/>
            </a:avLst>
          </a:prstGeom>
          <a:solidFill>
            <a:srgbClr val="011F5B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457200" y="914400"/>
            <a:ext cx="4061079" cy="102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810"/>
              </a:lnSpc>
              <a:spcAft>
                <a:spcPts val="300"/>
              </a:spcAft>
              <a:buNone/>
            </a:pPr>
            <a:r>
              <a:rPr lang="en-US" sz="675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SPECS</a:t>
            </a:r>
            <a:endParaRPr lang="en-US" sz="675" dirty="0"/>
          </a:p>
        </p:txBody>
      </p:sp>
      <p:sp>
        <p:nvSpPr>
          <p:cNvPr id="6" name="Text 4"/>
          <p:cNvSpPr/>
          <p:nvPr/>
        </p:nvSpPr>
        <p:spPr>
          <a:xfrm>
            <a:off x="381000" y="1274415"/>
            <a:ext cx="4133850" cy="418058"/>
          </a:xfrm>
          <a:prstGeom prst="roundRect">
            <a:avLst>
              <a:gd name="adj" fmla="val 9114"/>
            </a:avLst>
          </a:prstGeom>
          <a:solidFill>
            <a:srgbClr val="F8F8F8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" name="Shape 5"/>
          <p:cNvSpPr/>
          <p:nvPr/>
        </p:nvSpPr>
        <p:spPr>
          <a:xfrm>
            <a:off x="395288" y="1274415"/>
            <a:ext cx="0" cy="418058"/>
          </a:xfrm>
          <a:prstGeom prst="line">
            <a:avLst/>
          </a:prstGeom>
          <a:noFill/>
          <a:ln w="28575">
            <a:solidFill>
              <a:srgbClr val="19875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85775" y="1350615"/>
            <a:ext cx="4031933" cy="102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810"/>
              </a:lnSpc>
              <a:spcAft>
                <a:spcPts val="225"/>
              </a:spcAft>
              <a:buNone/>
            </a:pPr>
            <a:r>
              <a:rPr lang="en-US" sz="675" b="1" dirty="0">
                <a:solidFill>
                  <a:srgbClr val="19875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MULTILINGUAL</a:t>
            </a:r>
            <a:endParaRPr lang="en-US" sz="675" dirty="0"/>
          </a:p>
        </p:txBody>
      </p:sp>
      <p:sp>
        <p:nvSpPr>
          <p:cNvPr id="9" name="Text 7"/>
          <p:cNvSpPr/>
          <p:nvPr/>
        </p:nvSpPr>
        <p:spPr>
          <a:xfrm>
            <a:off x="485775" y="1491555"/>
            <a:ext cx="4031933" cy="866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682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525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100+ languages including Hindi, Tamil, Mandarin, Malay.</a:t>
            </a:r>
            <a:endParaRPr lang="en-US" sz="525" dirty="0"/>
          </a:p>
        </p:txBody>
      </p:sp>
      <p:sp>
        <p:nvSpPr>
          <p:cNvPr id="10" name="Text 8"/>
          <p:cNvSpPr/>
          <p:nvPr/>
        </p:nvSpPr>
        <p:spPr>
          <a:xfrm>
            <a:off x="381000" y="1740098"/>
            <a:ext cx="4133850" cy="418058"/>
          </a:xfrm>
          <a:prstGeom prst="roundRect">
            <a:avLst>
              <a:gd name="adj" fmla="val 9114"/>
            </a:avLst>
          </a:prstGeom>
          <a:solidFill>
            <a:srgbClr val="F8F8F8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1" name="Shape 9"/>
          <p:cNvSpPr/>
          <p:nvPr/>
        </p:nvSpPr>
        <p:spPr>
          <a:xfrm>
            <a:off x="395288" y="1740098"/>
            <a:ext cx="0" cy="418058"/>
          </a:xfrm>
          <a:prstGeom prst="line">
            <a:avLst/>
          </a:prstGeom>
          <a:noFill/>
          <a:ln w="28575">
            <a:solidFill>
              <a:srgbClr val="011F5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85775" y="1816298"/>
            <a:ext cx="4031933" cy="102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810"/>
              </a:lnSpc>
              <a:spcAft>
                <a:spcPts val="225"/>
              </a:spcAft>
              <a:buNone/>
            </a:pPr>
            <a:r>
              <a:rPr lang="en-US" sz="675" b="1" dirty="0">
                <a:solidFill>
                  <a:srgbClr val="011F5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INSTRUCTION-TUNED</a:t>
            </a:r>
            <a:endParaRPr lang="en-US" sz="675" dirty="0"/>
          </a:p>
        </p:txBody>
      </p:sp>
      <p:sp>
        <p:nvSpPr>
          <p:cNvPr id="13" name="Text 11"/>
          <p:cNvSpPr/>
          <p:nvPr/>
        </p:nvSpPr>
        <p:spPr>
          <a:xfrm>
            <a:off x="485775" y="1957239"/>
            <a:ext cx="4031933" cy="866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682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525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"-Instruct" variant better at task comprehension.</a:t>
            </a:r>
            <a:endParaRPr lang="en-US" sz="525" dirty="0"/>
          </a:p>
        </p:txBody>
      </p:sp>
      <p:sp>
        <p:nvSpPr>
          <p:cNvPr id="14" name="Text 12"/>
          <p:cNvSpPr/>
          <p:nvPr/>
        </p:nvSpPr>
        <p:spPr>
          <a:xfrm>
            <a:off x="381000" y="2205782"/>
            <a:ext cx="4133850" cy="418058"/>
          </a:xfrm>
          <a:prstGeom prst="roundRect">
            <a:avLst>
              <a:gd name="adj" fmla="val 9114"/>
            </a:avLst>
          </a:prstGeom>
          <a:solidFill>
            <a:srgbClr val="F8F8F8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5" name="Shape 13"/>
          <p:cNvSpPr/>
          <p:nvPr/>
        </p:nvSpPr>
        <p:spPr>
          <a:xfrm>
            <a:off x="395288" y="2205782"/>
            <a:ext cx="0" cy="418058"/>
          </a:xfrm>
          <a:prstGeom prst="line">
            <a:avLst/>
          </a:prstGeom>
          <a:noFill/>
          <a:ln w="28575">
            <a:solidFill>
              <a:srgbClr val="99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485775" y="2281982"/>
            <a:ext cx="4031933" cy="102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810"/>
              </a:lnSpc>
              <a:spcAft>
                <a:spcPts val="225"/>
              </a:spcAft>
              <a:buNone/>
            </a:pPr>
            <a:r>
              <a:rPr lang="en-US" sz="675" b="1" dirty="0">
                <a:solidFill>
                  <a:srgbClr val="9900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DECODER-ONLY</a:t>
            </a:r>
            <a:endParaRPr lang="en-US" sz="675" dirty="0"/>
          </a:p>
        </p:txBody>
      </p:sp>
      <p:sp>
        <p:nvSpPr>
          <p:cNvPr id="17" name="Text 15"/>
          <p:cNvSpPr/>
          <p:nvPr/>
        </p:nvSpPr>
        <p:spPr>
          <a:xfrm>
            <a:off x="485775" y="2422922"/>
            <a:ext cx="4031933" cy="866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682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525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Better for generation. No encoder bottleneck.</a:t>
            </a:r>
            <a:endParaRPr lang="en-US" sz="525" dirty="0"/>
          </a:p>
        </p:txBody>
      </p:sp>
      <p:sp>
        <p:nvSpPr>
          <p:cNvPr id="18" name="Text 16"/>
          <p:cNvSpPr/>
          <p:nvPr/>
        </p:nvSpPr>
        <p:spPr>
          <a:xfrm>
            <a:off x="4629150" y="838200"/>
            <a:ext cx="4133850" cy="1226790"/>
          </a:xfrm>
          <a:prstGeom prst="roundRect">
            <a:avLst>
              <a:gd name="adj" fmla="val 3106"/>
            </a:avLst>
          </a:prstGeom>
          <a:solidFill>
            <a:srgbClr val="F8F8F8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9" name="Shape 17"/>
          <p:cNvSpPr/>
          <p:nvPr/>
        </p:nvSpPr>
        <p:spPr>
          <a:xfrm>
            <a:off x="4629150" y="847725"/>
            <a:ext cx="4133850" cy="0"/>
          </a:xfrm>
          <a:prstGeom prst="line">
            <a:avLst/>
          </a:prstGeom>
          <a:noFill/>
          <a:ln w="19050">
            <a:solidFill>
              <a:srgbClr val="011F5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4705350" y="933450"/>
            <a:ext cx="4061079" cy="102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810"/>
              </a:lnSpc>
              <a:spcAft>
                <a:spcPts val="225"/>
              </a:spcAft>
              <a:buNone/>
            </a:pPr>
            <a:r>
              <a:rPr lang="en-US" sz="675" b="1" dirty="0">
                <a:solidFill>
                  <a:srgbClr val="011F5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VS LLAMA-8B</a:t>
            </a:r>
            <a:endParaRPr lang="en-US" sz="675" dirty="0"/>
          </a:p>
        </p:txBody>
      </p:sp>
      <p:sp>
        <p:nvSpPr>
          <p:cNvPr id="21" name="Text 19"/>
          <p:cNvSpPr/>
          <p:nvPr/>
        </p:nvSpPr>
        <p:spPr>
          <a:xfrm>
            <a:off x="4705350" y="1074390"/>
            <a:ext cx="4061079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8B: 2.5x params, 2x memory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4705350" y="1379190"/>
            <a:ext cx="4061079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Gain: marginal (~2-3%)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4705350" y="1683990"/>
            <a:ext cx="4061079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500" b="1" dirty="0">
                <a:solidFill>
                  <a:srgbClr val="1987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3B is the sweet spot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4629150" y="2112615"/>
            <a:ext cx="4133850" cy="921990"/>
          </a:xfrm>
          <a:prstGeom prst="roundRect">
            <a:avLst>
              <a:gd name="adj" fmla="val 4132"/>
            </a:avLst>
          </a:prstGeom>
          <a:solidFill>
            <a:srgbClr val="F8F8F8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5" name="Shape 23"/>
          <p:cNvSpPr/>
          <p:nvPr/>
        </p:nvSpPr>
        <p:spPr>
          <a:xfrm>
            <a:off x="4629150" y="2122140"/>
            <a:ext cx="4133850" cy="0"/>
          </a:xfrm>
          <a:prstGeom prst="line">
            <a:avLst/>
          </a:prstGeom>
          <a:noFill/>
          <a:ln w="19050">
            <a:solidFill>
              <a:srgbClr val="99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4705350" y="2207865"/>
            <a:ext cx="4061079" cy="102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810"/>
              </a:lnSpc>
              <a:spcAft>
                <a:spcPts val="225"/>
              </a:spcAft>
              <a:buNone/>
            </a:pPr>
            <a:r>
              <a:rPr lang="en-US" sz="675" b="1" dirty="0">
                <a:solidFill>
                  <a:srgbClr val="9900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VS mBART/mT5</a:t>
            </a:r>
            <a:endParaRPr lang="en-US" sz="675" dirty="0"/>
          </a:p>
        </p:txBody>
      </p:sp>
      <p:sp>
        <p:nvSpPr>
          <p:cNvPr id="27" name="Text 25"/>
          <p:cNvSpPr/>
          <p:nvPr/>
        </p:nvSpPr>
        <p:spPr>
          <a:xfrm>
            <a:off x="4705350" y="2348805"/>
            <a:ext cx="4061079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CroCoSum: ROUGE-L ~0.25-0.30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4705350" y="2653605"/>
            <a:ext cx="4061079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500" b="1" dirty="0">
                <a:solidFill>
                  <a:srgbClr val="99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We: 0.353 (+40%)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4629150" y="3082230"/>
            <a:ext cx="4133850" cy="647551"/>
          </a:xfrm>
          <a:prstGeom prst="roundRect">
            <a:avLst>
              <a:gd name="adj" fmla="val 5884"/>
            </a:avLst>
          </a:prstGeom>
          <a:solidFill>
            <a:srgbClr val="011F5B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0" name="Text 28"/>
          <p:cNvSpPr/>
          <p:nvPr/>
        </p:nvSpPr>
        <p:spPr>
          <a:xfrm>
            <a:off x="4705350" y="3158430"/>
            <a:ext cx="4061079" cy="102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810"/>
              </a:lnSpc>
              <a:spcAft>
                <a:spcPts val="300"/>
              </a:spcAft>
              <a:buNone/>
            </a:pPr>
            <a:r>
              <a:rPr lang="en-US" sz="675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EFFICIENCY</a:t>
            </a:r>
            <a:endParaRPr lang="en-US" sz="675" dirty="0"/>
          </a:p>
        </p:txBody>
      </p:sp>
      <p:sp>
        <p:nvSpPr>
          <p:cNvPr id="31" name="Text 29"/>
          <p:cNvSpPr/>
          <p:nvPr/>
        </p:nvSpPr>
        <p:spPr>
          <a:xfrm>
            <a:off x="5267608" y="3337471"/>
            <a:ext cx="168503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26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6m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5267608" y="3535561"/>
            <a:ext cx="168503" cy="799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63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450" dirty="0">
                <a:solidFill>
                  <a:srgbClr val="FFFFFF">
                    <a:alpha val="67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Train</a:t>
            </a:r>
            <a:endParaRPr lang="en-US" sz="450" dirty="0"/>
          </a:p>
        </p:txBody>
      </p:sp>
      <p:sp>
        <p:nvSpPr>
          <p:cNvPr id="33" name="Text 31"/>
          <p:cNvSpPr/>
          <p:nvPr/>
        </p:nvSpPr>
        <p:spPr>
          <a:xfrm>
            <a:off x="6559440" y="3337471"/>
            <a:ext cx="304672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26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24GB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6559440" y="3535561"/>
            <a:ext cx="304672" cy="799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63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450" dirty="0">
                <a:solidFill>
                  <a:srgbClr val="FFFFFF">
                    <a:alpha val="67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Mem</a:t>
            </a:r>
            <a:endParaRPr lang="en-US" sz="450" dirty="0"/>
          </a:p>
        </p:txBody>
      </p:sp>
      <p:sp>
        <p:nvSpPr>
          <p:cNvPr id="35" name="Text 33"/>
          <p:cNvSpPr/>
          <p:nvPr/>
        </p:nvSpPr>
        <p:spPr>
          <a:xfrm>
            <a:off x="7987759" y="3337471"/>
            <a:ext cx="136169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26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1x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7987759" y="3535561"/>
            <a:ext cx="136169" cy="799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63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450" dirty="0">
                <a:solidFill>
                  <a:srgbClr val="FFFFFF">
                    <a:alpha val="67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A100</a:t>
            </a:r>
            <a:endParaRPr lang="en-US" sz="4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381000"/>
            <a:ext cx="4284536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500" b="1" dirty="0">
                <a:solidFill>
                  <a:srgbClr val="011F5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Llama-3.2: Attention Mechanism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381000" y="600075"/>
            <a:ext cx="1905000" cy="28575"/>
          </a:xfrm>
          <a:prstGeom prst="rect">
            <a:avLst/>
          </a:prstGeom>
          <a:solidFill>
            <a:srgbClr val="99000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381000" y="838200"/>
            <a:ext cx="4124325" cy="826740"/>
          </a:xfrm>
          <a:prstGeom prst="roundRect">
            <a:avLst>
              <a:gd name="adj" fmla="val 5761"/>
            </a:avLst>
          </a:prstGeom>
          <a:solidFill>
            <a:srgbClr val="011F5B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495300" y="952500"/>
            <a:ext cx="397364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00"/>
              </a:lnSpc>
              <a:spcAft>
                <a:spcPts val="450"/>
              </a:spcAft>
              <a:buNone/>
            </a:pPr>
            <a:r>
              <a:rPr lang="en-US" sz="7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SELF-ATTENTION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495300" y="1123950"/>
            <a:ext cx="3895725" cy="426690"/>
          </a:xfrm>
          <a:prstGeom prst="roundRect">
            <a:avLst>
              <a:gd name="adj" fmla="val 8929"/>
            </a:avLst>
          </a:prstGeom>
          <a:solidFill>
            <a:srgbClr val="FFFFFF">
              <a:alpha val="10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553498" y="1257300"/>
            <a:ext cx="3779329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26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9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Attention(Q,K,V) = softmax(QKᵀ / √dₖ) V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381000" y="1722090"/>
            <a:ext cx="4124325" cy="1306116"/>
          </a:xfrm>
          <a:prstGeom prst="roundRect">
            <a:avLst>
              <a:gd name="adj" fmla="val 3646"/>
            </a:avLst>
          </a:prstGeom>
          <a:solidFill>
            <a:srgbClr val="F8F8F8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9" name="Shape 7"/>
          <p:cNvSpPr/>
          <p:nvPr/>
        </p:nvSpPr>
        <p:spPr>
          <a:xfrm>
            <a:off x="395288" y="1722090"/>
            <a:ext cx="0" cy="1306116"/>
          </a:xfrm>
          <a:prstGeom prst="line">
            <a:avLst/>
          </a:prstGeom>
          <a:noFill/>
          <a:ln w="28575">
            <a:solidFill>
              <a:srgbClr val="99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523875" y="1836390"/>
            <a:ext cx="3944493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00"/>
              </a:lnSpc>
              <a:spcAft>
                <a:spcPts val="450"/>
              </a:spcAft>
              <a:buNone/>
            </a:pPr>
            <a:r>
              <a:rPr lang="en-US" sz="750" b="1" dirty="0">
                <a:solidFill>
                  <a:srgbClr val="9900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STEP-BY-STEP</a:t>
            </a:r>
            <a:endParaRPr lang="en-US" sz="750" dirty="0"/>
          </a:p>
        </p:txBody>
      </p:sp>
      <p:sp>
        <p:nvSpPr>
          <p:cNvPr id="11" name="Text 9"/>
          <p:cNvSpPr/>
          <p:nvPr/>
        </p:nvSpPr>
        <p:spPr>
          <a:xfrm>
            <a:off x="523875" y="2007840"/>
            <a:ext cx="3944493" cy="106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84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6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Linear Projections:</a:t>
            </a:r>
            <a:endParaRPr lang="en-US" sz="600" dirty="0"/>
          </a:p>
        </p:txBody>
      </p:sp>
      <p:sp>
        <p:nvSpPr>
          <p:cNvPr id="12" name="Text 10"/>
          <p:cNvSpPr/>
          <p:nvPr/>
        </p:nvSpPr>
        <p:spPr>
          <a:xfrm>
            <a:off x="600075" y="2152501"/>
            <a:ext cx="3866769" cy="106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84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6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 = xWQ, K = xWK, V = xWV</a:t>
            </a:r>
            <a:endParaRPr lang="en-US" sz="600" dirty="0"/>
          </a:p>
        </p:txBody>
      </p:sp>
      <p:sp>
        <p:nvSpPr>
          <p:cNvPr id="13" name="Text 11"/>
          <p:cNvSpPr/>
          <p:nvPr/>
        </p:nvSpPr>
        <p:spPr>
          <a:xfrm>
            <a:off x="523875" y="2316212"/>
            <a:ext cx="3944493" cy="106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840"/>
              </a:lnSpc>
              <a:spcBef>
                <a:spcPts val="450"/>
              </a:spcBef>
              <a:spcAft>
                <a:spcPts val="300"/>
              </a:spcAft>
              <a:buNone/>
            </a:pPr>
            <a:r>
              <a:rPr lang="en-US" sz="6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Attention Scores:</a:t>
            </a:r>
            <a:endParaRPr lang="en-US" sz="600" dirty="0"/>
          </a:p>
        </p:txBody>
      </p:sp>
      <p:sp>
        <p:nvSpPr>
          <p:cNvPr id="14" name="Text 12"/>
          <p:cNvSpPr/>
          <p:nvPr/>
        </p:nvSpPr>
        <p:spPr>
          <a:xfrm>
            <a:off x="600075" y="2460873"/>
            <a:ext cx="3866769" cy="106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84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6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scores = QKᵀ / √dₖ (scaled dot-product)</a:t>
            </a:r>
            <a:endParaRPr lang="en-US" sz="600" dirty="0"/>
          </a:p>
        </p:txBody>
      </p:sp>
      <p:sp>
        <p:nvSpPr>
          <p:cNvPr id="15" name="Text 13"/>
          <p:cNvSpPr/>
          <p:nvPr/>
        </p:nvSpPr>
        <p:spPr>
          <a:xfrm>
            <a:off x="523875" y="2624584"/>
            <a:ext cx="3944493" cy="106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840"/>
              </a:lnSpc>
              <a:spcBef>
                <a:spcPts val="450"/>
              </a:spcBef>
              <a:spcAft>
                <a:spcPts val="300"/>
              </a:spcAft>
              <a:buNone/>
            </a:pPr>
            <a:r>
              <a:rPr lang="en-US" sz="6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Softmax + Output:</a:t>
            </a:r>
            <a:endParaRPr lang="en-US" sz="600" dirty="0"/>
          </a:p>
        </p:txBody>
      </p:sp>
      <p:sp>
        <p:nvSpPr>
          <p:cNvPr id="16" name="Text 14"/>
          <p:cNvSpPr/>
          <p:nvPr/>
        </p:nvSpPr>
        <p:spPr>
          <a:xfrm>
            <a:off x="600075" y="2769245"/>
            <a:ext cx="3866769" cy="106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84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6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output = softmax(scores) × V</a:t>
            </a:r>
            <a:endParaRPr lang="en-US" sz="600" dirty="0"/>
          </a:p>
        </p:txBody>
      </p:sp>
      <p:sp>
        <p:nvSpPr>
          <p:cNvPr id="17" name="Text 15"/>
          <p:cNvSpPr/>
          <p:nvPr/>
        </p:nvSpPr>
        <p:spPr>
          <a:xfrm>
            <a:off x="381000" y="3085356"/>
            <a:ext cx="4124325" cy="834033"/>
          </a:xfrm>
          <a:prstGeom prst="roundRect">
            <a:avLst>
              <a:gd name="adj" fmla="val 5710"/>
            </a:avLst>
          </a:prstGeom>
          <a:solidFill>
            <a:srgbClr val="F8F8F8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8" name="Shape 16"/>
          <p:cNvSpPr/>
          <p:nvPr/>
        </p:nvSpPr>
        <p:spPr>
          <a:xfrm>
            <a:off x="395288" y="3085356"/>
            <a:ext cx="0" cy="834033"/>
          </a:xfrm>
          <a:prstGeom prst="line">
            <a:avLst/>
          </a:prstGeom>
          <a:noFill/>
          <a:ln w="28575">
            <a:solidFill>
              <a:srgbClr val="19875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523875" y="3199656"/>
            <a:ext cx="3944493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00"/>
              </a:lnSpc>
              <a:spcAft>
                <a:spcPts val="450"/>
              </a:spcAft>
              <a:buNone/>
            </a:pPr>
            <a:r>
              <a:rPr lang="en-US" sz="750" b="1" dirty="0">
                <a:solidFill>
                  <a:srgbClr val="19875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 SCALE BY √dₖ?</a:t>
            </a:r>
            <a:endParaRPr lang="en-US" sz="750" dirty="0"/>
          </a:p>
        </p:txBody>
      </p:sp>
      <p:sp>
        <p:nvSpPr>
          <p:cNvPr id="20" name="Text 18"/>
          <p:cNvSpPr/>
          <p:nvPr/>
        </p:nvSpPr>
        <p:spPr>
          <a:xfrm>
            <a:off x="523875" y="3371106"/>
            <a:ext cx="3944493" cy="106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84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Prevents dot products from growing too large</a:t>
            </a:r>
            <a:endParaRPr lang="en-US" sz="600" dirty="0"/>
          </a:p>
        </p:txBody>
      </p:sp>
      <p:sp>
        <p:nvSpPr>
          <p:cNvPr id="21" name="Text 19"/>
          <p:cNvSpPr/>
          <p:nvPr/>
        </p:nvSpPr>
        <p:spPr>
          <a:xfrm>
            <a:off x="523875" y="3515767"/>
            <a:ext cx="3944493" cy="106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84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6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Large values → softmax saturates → vanishing gradients</a:t>
            </a:r>
            <a:endParaRPr lang="en-US" sz="600" dirty="0"/>
          </a:p>
        </p:txBody>
      </p:sp>
      <p:sp>
        <p:nvSpPr>
          <p:cNvPr id="22" name="Text 20"/>
          <p:cNvSpPr/>
          <p:nvPr/>
        </p:nvSpPr>
        <p:spPr>
          <a:xfrm>
            <a:off x="523875" y="3660428"/>
            <a:ext cx="3944493" cy="106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84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6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dₖ = 96 (3072 / 32 heads)</a:t>
            </a:r>
            <a:endParaRPr lang="en-US" sz="600" dirty="0"/>
          </a:p>
        </p:txBody>
      </p:sp>
      <p:sp>
        <p:nvSpPr>
          <p:cNvPr id="23" name="Text 21"/>
          <p:cNvSpPr/>
          <p:nvPr/>
        </p:nvSpPr>
        <p:spPr>
          <a:xfrm>
            <a:off x="4638675" y="838200"/>
            <a:ext cx="4124325" cy="1285429"/>
          </a:xfrm>
          <a:prstGeom prst="roundRect">
            <a:avLst>
              <a:gd name="adj" fmla="val 3705"/>
            </a:avLst>
          </a:prstGeom>
          <a:solidFill>
            <a:srgbClr val="F8F8F8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4" name="Shape 22"/>
          <p:cNvSpPr/>
          <p:nvPr/>
        </p:nvSpPr>
        <p:spPr>
          <a:xfrm>
            <a:off x="4652963" y="838200"/>
            <a:ext cx="0" cy="1285429"/>
          </a:xfrm>
          <a:prstGeom prst="line">
            <a:avLst/>
          </a:prstGeom>
          <a:noFill/>
          <a:ln w="28575">
            <a:solidFill>
              <a:srgbClr val="FFC10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4781550" y="952500"/>
            <a:ext cx="3944493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00"/>
              </a:lnSpc>
              <a:spcAft>
                <a:spcPts val="450"/>
              </a:spcAft>
              <a:buNone/>
            </a:pPr>
            <a:r>
              <a:rPr lang="en-US" sz="750" b="1" dirty="0">
                <a:solidFill>
                  <a:srgbClr val="997A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ROTARY POSITION EMBEDDINGS (RoPE)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4781550" y="1123950"/>
            <a:ext cx="3867150" cy="394246"/>
          </a:xfrm>
          <a:prstGeom prst="roundRect">
            <a:avLst>
              <a:gd name="adj" fmla="val 9664"/>
            </a:avLst>
          </a:prstGeom>
          <a:solidFill>
            <a:srgbClr val="FFFFFF"/>
          </a:solidFill>
          <a:ln w="9525">
            <a:solidFill>
              <a:srgbClr val="DDDDDD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7" name="Text 25"/>
          <p:cNvSpPr/>
          <p:nvPr/>
        </p:nvSpPr>
        <p:spPr>
          <a:xfrm>
            <a:off x="4830318" y="1247775"/>
            <a:ext cx="3769614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155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825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q̃ₘ = RΘ,ₘ qₘ , k̃ₙ = RΘ,ₙ kₙ</a:t>
            </a:r>
            <a:endParaRPr lang="en-US" sz="825" dirty="0"/>
          </a:p>
        </p:txBody>
      </p:sp>
      <p:sp>
        <p:nvSpPr>
          <p:cNvPr id="28" name="Text 26"/>
          <p:cNvSpPr/>
          <p:nvPr/>
        </p:nvSpPr>
        <p:spPr>
          <a:xfrm>
            <a:off x="4781550" y="1575346"/>
            <a:ext cx="3944493" cy="106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840"/>
              </a:lnSpc>
              <a:spcBef>
                <a:spcPts val="450"/>
              </a:spcBef>
              <a:spcAft>
                <a:spcPts val="300"/>
              </a:spcAft>
              <a:buNone/>
            </a:pPr>
            <a:r>
              <a:rPr lang="en-US" sz="6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RΘ,ₘ : Rotation matrix at position m</a:t>
            </a:r>
            <a:endParaRPr lang="en-US" sz="600" dirty="0"/>
          </a:p>
        </p:txBody>
      </p:sp>
      <p:sp>
        <p:nvSpPr>
          <p:cNvPr id="29" name="Text 27"/>
          <p:cNvSpPr/>
          <p:nvPr/>
        </p:nvSpPr>
        <p:spPr>
          <a:xfrm>
            <a:off x="4781550" y="1720007"/>
            <a:ext cx="3944493" cy="106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84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6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Encodes relative position via rotation</a:t>
            </a:r>
            <a:endParaRPr lang="en-US" sz="600" dirty="0"/>
          </a:p>
        </p:txBody>
      </p:sp>
      <p:sp>
        <p:nvSpPr>
          <p:cNvPr id="30" name="Text 28"/>
          <p:cNvSpPr/>
          <p:nvPr/>
        </p:nvSpPr>
        <p:spPr>
          <a:xfrm>
            <a:off x="4781550" y="1864668"/>
            <a:ext cx="3944493" cy="106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84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6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learned position embeddings needed!</a:t>
            </a:r>
            <a:endParaRPr lang="en-US" sz="600" dirty="0"/>
          </a:p>
        </p:txBody>
      </p:sp>
      <p:sp>
        <p:nvSpPr>
          <p:cNvPr id="31" name="Text 29"/>
          <p:cNvSpPr/>
          <p:nvPr/>
        </p:nvSpPr>
        <p:spPr>
          <a:xfrm>
            <a:off x="4638675" y="2180779"/>
            <a:ext cx="4124325" cy="1390055"/>
          </a:xfrm>
          <a:prstGeom prst="roundRect">
            <a:avLst>
              <a:gd name="adj" fmla="val 3426"/>
            </a:avLst>
          </a:prstGeom>
          <a:solidFill>
            <a:srgbClr val="F8F8F8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2" name="Text 30"/>
          <p:cNvSpPr/>
          <p:nvPr/>
        </p:nvSpPr>
        <p:spPr>
          <a:xfrm>
            <a:off x="4752975" y="2295079"/>
            <a:ext cx="397364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00"/>
              </a:lnSpc>
              <a:spcAft>
                <a:spcPts val="450"/>
              </a:spcAft>
              <a:buNone/>
            </a:pPr>
            <a:r>
              <a:rPr lang="en-US" sz="750" b="1" dirty="0">
                <a:solidFill>
                  <a:srgbClr val="011F5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MULTI-HEAD ATTENTION</a:t>
            </a:r>
            <a:endParaRPr lang="en-US" sz="750" dirty="0"/>
          </a:p>
        </p:txBody>
      </p:sp>
      <p:sp>
        <p:nvSpPr>
          <p:cNvPr id="33" name="Text 31"/>
          <p:cNvSpPr/>
          <p:nvPr/>
        </p:nvSpPr>
        <p:spPr>
          <a:xfrm>
            <a:off x="4752975" y="2466529"/>
            <a:ext cx="3973640" cy="106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84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Split into 32 parallel attention heads:</a:t>
            </a:r>
            <a:endParaRPr lang="en-US" sz="600" dirty="0"/>
          </a:p>
        </p:txBody>
      </p:sp>
      <p:sp>
        <p:nvSpPr>
          <p:cNvPr id="34" name="Text 32"/>
          <p:cNvSpPr/>
          <p:nvPr/>
        </p:nvSpPr>
        <p:spPr>
          <a:xfrm>
            <a:off x="4752975" y="2649289"/>
            <a:ext cx="1967389" cy="106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84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6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Heads:</a:t>
            </a:r>
            <a:endParaRPr lang="en-US" sz="600" dirty="0"/>
          </a:p>
        </p:txBody>
      </p:sp>
      <p:sp>
        <p:nvSpPr>
          <p:cNvPr id="35" name="Text 33"/>
          <p:cNvSpPr/>
          <p:nvPr/>
        </p:nvSpPr>
        <p:spPr>
          <a:xfrm>
            <a:off x="6719888" y="2649289"/>
            <a:ext cx="1967389" cy="106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84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6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32</a:t>
            </a:r>
            <a:endParaRPr lang="en-US" sz="600" dirty="0"/>
          </a:p>
        </p:txBody>
      </p:sp>
      <p:sp>
        <p:nvSpPr>
          <p:cNvPr id="36" name="Text 34"/>
          <p:cNvSpPr/>
          <p:nvPr/>
        </p:nvSpPr>
        <p:spPr>
          <a:xfrm>
            <a:off x="4752975" y="2870150"/>
            <a:ext cx="1967389" cy="106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84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6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d_model:</a:t>
            </a:r>
            <a:endParaRPr lang="en-US" sz="600" dirty="0"/>
          </a:p>
        </p:txBody>
      </p:sp>
      <p:sp>
        <p:nvSpPr>
          <p:cNvPr id="37" name="Text 35"/>
          <p:cNvSpPr/>
          <p:nvPr/>
        </p:nvSpPr>
        <p:spPr>
          <a:xfrm>
            <a:off x="6719888" y="2870150"/>
            <a:ext cx="1967389" cy="106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84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6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3072</a:t>
            </a:r>
            <a:endParaRPr lang="en-US" sz="600" dirty="0"/>
          </a:p>
        </p:txBody>
      </p:sp>
      <p:sp>
        <p:nvSpPr>
          <p:cNvPr id="38" name="Text 36"/>
          <p:cNvSpPr/>
          <p:nvPr/>
        </p:nvSpPr>
        <p:spPr>
          <a:xfrm>
            <a:off x="4752975" y="3091011"/>
            <a:ext cx="1967389" cy="106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84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6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d_head:</a:t>
            </a:r>
            <a:endParaRPr lang="en-US" sz="600" dirty="0"/>
          </a:p>
        </p:txBody>
      </p:sp>
      <p:sp>
        <p:nvSpPr>
          <p:cNvPr id="39" name="Text 37"/>
          <p:cNvSpPr/>
          <p:nvPr/>
        </p:nvSpPr>
        <p:spPr>
          <a:xfrm>
            <a:off x="6719888" y="3091011"/>
            <a:ext cx="1967389" cy="106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84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6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96</a:t>
            </a:r>
            <a:endParaRPr lang="en-US" sz="600" dirty="0"/>
          </a:p>
        </p:txBody>
      </p:sp>
      <p:sp>
        <p:nvSpPr>
          <p:cNvPr id="40" name="Text 38"/>
          <p:cNvSpPr/>
          <p:nvPr/>
        </p:nvSpPr>
        <p:spPr>
          <a:xfrm>
            <a:off x="4752975" y="3311872"/>
            <a:ext cx="1967389" cy="106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84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6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Context:</a:t>
            </a:r>
            <a:endParaRPr lang="en-US" sz="600" dirty="0"/>
          </a:p>
        </p:txBody>
      </p:sp>
      <p:sp>
        <p:nvSpPr>
          <p:cNvPr id="41" name="Text 39"/>
          <p:cNvSpPr/>
          <p:nvPr/>
        </p:nvSpPr>
        <p:spPr>
          <a:xfrm>
            <a:off x="6719888" y="3311872"/>
            <a:ext cx="1967389" cy="106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84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6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8192 tokens</a:t>
            </a:r>
            <a:endParaRPr lang="en-US" sz="600" dirty="0"/>
          </a:p>
        </p:txBody>
      </p:sp>
      <p:sp>
        <p:nvSpPr>
          <p:cNvPr id="42" name="Text 40"/>
          <p:cNvSpPr/>
          <p:nvPr/>
        </p:nvSpPr>
        <p:spPr>
          <a:xfrm>
            <a:off x="4638675" y="3627983"/>
            <a:ext cx="4124325" cy="834033"/>
          </a:xfrm>
          <a:prstGeom prst="roundRect">
            <a:avLst>
              <a:gd name="adj" fmla="val 5710"/>
            </a:avLst>
          </a:prstGeom>
          <a:solidFill>
            <a:srgbClr val="F8F8F8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3" name="Text 41"/>
          <p:cNvSpPr/>
          <p:nvPr/>
        </p:nvSpPr>
        <p:spPr>
          <a:xfrm>
            <a:off x="4752975" y="3742283"/>
            <a:ext cx="397364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00"/>
              </a:lnSpc>
              <a:spcAft>
                <a:spcPts val="450"/>
              </a:spcAft>
              <a:buNone/>
            </a:pPr>
            <a:r>
              <a:rPr lang="en-US" sz="750" b="1" dirty="0">
                <a:solidFill>
                  <a:srgbClr val="011F5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CAUSAL MASKING</a:t>
            </a:r>
            <a:endParaRPr lang="en-US" sz="750" dirty="0"/>
          </a:p>
        </p:txBody>
      </p:sp>
      <p:sp>
        <p:nvSpPr>
          <p:cNvPr id="44" name="Text 42"/>
          <p:cNvSpPr/>
          <p:nvPr/>
        </p:nvSpPr>
        <p:spPr>
          <a:xfrm>
            <a:off x="4752975" y="3913733"/>
            <a:ext cx="3973640" cy="106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84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Decoder-only: each token only attends to previous tokens</a:t>
            </a:r>
            <a:endParaRPr lang="en-US" sz="600" dirty="0"/>
          </a:p>
        </p:txBody>
      </p:sp>
      <p:sp>
        <p:nvSpPr>
          <p:cNvPr id="45" name="Text 43"/>
          <p:cNvSpPr/>
          <p:nvPr/>
        </p:nvSpPr>
        <p:spPr>
          <a:xfrm>
            <a:off x="4752975" y="4058394"/>
            <a:ext cx="3973640" cy="106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84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6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Enables autoregressive generation:</a:t>
            </a:r>
            <a:endParaRPr lang="en-US" sz="600" dirty="0"/>
          </a:p>
        </p:txBody>
      </p:sp>
      <p:sp>
        <p:nvSpPr>
          <p:cNvPr id="46" name="Text 44"/>
          <p:cNvSpPr/>
          <p:nvPr/>
        </p:nvSpPr>
        <p:spPr>
          <a:xfrm>
            <a:off x="4752975" y="4203055"/>
            <a:ext cx="3973640" cy="106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84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600" i="1" dirty="0">
                <a:solidFill>
                  <a:srgbClr val="99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P(sₜ | s₁, s₂, ..., sₜ₋₁, C)</a:t>
            </a:r>
            <a:endParaRPr lang="en-US" sz="6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380999"/>
            <a:ext cx="4812196" cy="2553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500" b="1" dirty="0">
                <a:solidFill>
                  <a:srgbClr val="011F5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Llama-3.2: Feed-Forward Network (SwiGLU)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381000" y="600075"/>
            <a:ext cx="2667000" cy="28575"/>
          </a:xfrm>
          <a:prstGeom prst="rect">
            <a:avLst/>
          </a:prstGeom>
          <a:solidFill>
            <a:srgbClr val="99000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381000" y="838200"/>
            <a:ext cx="4124325" cy="813346"/>
          </a:xfrm>
          <a:prstGeom prst="roundRect">
            <a:avLst>
              <a:gd name="adj" fmla="val 5855"/>
            </a:avLst>
          </a:prstGeom>
          <a:solidFill>
            <a:srgbClr val="011F5B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495300" y="952500"/>
            <a:ext cx="397364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00"/>
              </a:lnSpc>
              <a:spcAft>
                <a:spcPts val="450"/>
              </a:spcAft>
              <a:buNone/>
            </a:pPr>
            <a:r>
              <a:rPr lang="en-US" sz="7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SwiGLU ACTIVATION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495300" y="1123950"/>
            <a:ext cx="3895725" cy="413296"/>
          </a:xfrm>
          <a:prstGeom prst="roundRect">
            <a:avLst>
              <a:gd name="adj" fmla="val 9219"/>
            </a:avLst>
          </a:prstGeom>
          <a:solidFill>
            <a:srgbClr val="FFFFFF">
              <a:alpha val="10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553498" y="1257300"/>
            <a:ext cx="3779329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155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825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FFN(x) = (Swish(xW_gate) ⊙ xW_up) W_down</a:t>
            </a:r>
            <a:endParaRPr lang="en-US" sz="825" dirty="0"/>
          </a:p>
        </p:txBody>
      </p:sp>
      <p:sp>
        <p:nvSpPr>
          <p:cNvPr id="8" name="Text 6"/>
          <p:cNvSpPr/>
          <p:nvPr/>
        </p:nvSpPr>
        <p:spPr>
          <a:xfrm>
            <a:off x="381000" y="1708696"/>
            <a:ext cx="4124325" cy="1614488"/>
          </a:xfrm>
          <a:prstGeom prst="roundRect">
            <a:avLst>
              <a:gd name="adj" fmla="val 2950"/>
            </a:avLst>
          </a:prstGeom>
          <a:solidFill>
            <a:srgbClr val="F8F8F8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9" name="Shape 7"/>
          <p:cNvSpPr/>
          <p:nvPr/>
        </p:nvSpPr>
        <p:spPr>
          <a:xfrm>
            <a:off x="395288" y="1708696"/>
            <a:ext cx="0" cy="1614488"/>
          </a:xfrm>
          <a:prstGeom prst="line">
            <a:avLst/>
          </a:prstGeom>
          <a:noFill/>
          <a:ln w="28575">
            <a:solidFill>
              <a:srgbClr val="99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523875" y="1822996"/>
            <a:ext cx="3944493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00"/>
              </a:lnSpc>
              <a:spcAft>
                <a:spcPts val="450"/>
              </a:spcAft>
              <a:buNone/>
            </a:pPr>
            <a:r>
              <a:rPr lang="en-US" sz="750" b="1" dirty="0">
                <a:solidFill>
                  <a:srgbClr val="9900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STEP-BY-STEP</a:t>
            </a:r>
            <a:endParaRPr lang="en-US" sz="750" dirty="0"/>
          </a:p>
        </p:txBody>
      </p:sp>
      <p:sp>
        <p:nvSpPr>
          <p:cNvPr id="11" name="Text 9"/>
          <p:cNvSpPr/>
          <p:nvPr/>
        </p:nvSpPr>
        <p:spPr>
          <a:xfrm>
            <a:off x="523875" y="1994446"/>
            <a:ext cx="3944493" cy="106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84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6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Gate projection:</a:t>
            </a:r>
            <a:endParaRPr lang="en-US" sz="600" dirty="0"/>
          </a:p>
        </p:txBody>
      </p:sp>
      <p:sp>
        <p:nvSpPr>
          <p:cNvPr id="12" name="Text 10"/>
          <p:cNvSpPr/>
          <p:nvPr/>
        </p:nvSpPr>
        <p:spPr>
          <a:xfrm>
            <a:off x="600075" y="2139107"/>
            <a:ext cx="3866769" cy="106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84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6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gate = xW_gate (3072 → 8192)</a:t>
            </a:r>
            <a:endParaRPr lang="en-US" sz="600" dirty="0"/>
          </a:p>
        </p:txBody>
      </p:sp>
      <p:sp>
        <p:nvSpPr>
          <p:cNvPr id="13" name="Text 11"/>
          <p:cNvSpPr/>
          <p:nvPr/>
        </p:nvSpPr>
        <p:spPr>
          <a:xfrm>
            <a:off x="523875" y="2302818"/>
            <a:ext cx="3944493" cy="106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840"/>
              </a:lnSpc>
              <a:spcBef>
                <a:spcPts val="450"/>
              </a:spcBef>
              <a:spcAft>
                <a:spcPts val="300"/>
              </a:spcAft>
              <a:buNone/>
            </a:pPr>
            <a:r>
              <a:rPr lang="en-US" sz="6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Up projection:</a:t>
            </a:r>
            <a:endParaRPr lang="en-US" sz="600" dirty="0"/>
          </a:p>
        </p:txBody>
      </p:sp>
      <p:sp>
        <p:nvSpPr>
          <p:cNvPr id="14" name="Text 12"/>
          <p:cNvSpPr/>
          <p:nvPr/>
        </p:nvSpPr>
        <p:spPr>
          <a:xfrm>
            <a:off x="600075" y="2447479"/>
            <a:ext cx="3866769" cy="106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84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6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 = xW_up (3072 → 8192)</a:t>
            </a:r>
            <a:endParaRPr lang="en-US" sz="600" dirty="0"/>
          </a:p>
        </p:txBody>
      </p:sp>
      <p:sp>
        <p:nvSpPr>
          <p:cNvPr id="15" name="Text 13"/>
          <p:cNvSpPr/>
          <p:nvPr/>
        </p:nvSpPr>
        <p:spPr>
          <a:xfrm>
            <a:off x="523875" y="2611189"/>
            <a:ext cx="3944493" cy="106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840"/>
              </a:lnSpc>
              <a:spcBef>
                <a:spcPts val="450"/>
              </a:spcBef>
              <a:spcAft>
                <a:spcPts val="300"/>
              </a:spcAft>
              <a:buNone/>
            </a:pPr>
            <a:r>
              <a:rPr lang="en-US" sz="6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Gated activation:</a:t>
            </a:r>
            <a:endParaRPr lang="en-US" sz="600" dirty="0"/>
          </a:p>
        </p:txBody>
      </p:sp>
      <p:sp>
        <p:nvSpPr>
          <p:cNvPr id="16" name="Text 14"/>
          <p:cNvSpPr/>
          <p:nvPr/>
        </p:nvSpPr>
        <p:spPr>
          <a:xfrm>
            <a:off x="600075" y="2755850"/>
            <a:ext cx="3866769" cy="106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84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6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hidden = Swish(gate) ⊙ up</a:t>
            </a:r>
            <a:endParaRPr lang="en-US" sz="600" dirty="0"/>
          </a:p>
        </p:txBody>
      </p:sp>
      <p:sp>
        <p:nvSpPr>
          <p:cNvPr id="17" name="Text 15"/>
          <p:cNvSpPr/>
          <p:nvPr/>
        </p:nvSpPr>
        <p:spPr>
          <a:xfrm>
            <a:off x="523875" y="2919561"/>
            <a:ext cx="3944493" cy="106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840"/>
              </a:lnSpc>
              <a:spcBef>
                <a:spcPts val="450"/>
              </a:spcBef>
              <a:spcAft>
                <a:spcPts val="300"/>
              </a:spcAft>
              <a:buNone/>
            </a:pPr>
            <a:r>
              <a:rPr lang="en-US" sz="6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Down projection:</a:t>
            </a:r>
            <a:endParaRPr lang="en-US" sz="600" dirty="0"/>
          </a:p>
        </p:txBody>
      </p:sp>
      <p:sp>
        <p:nvSpPr>
          <p:cNvPr id="18" name="Text 16"/>
          <p:cNvSpPr/>
          <p:nvPr/>
        </p:nvSpPr>
        <p:spPr>
          <a:xfrm>
            <a:off x="600075" y="3064222"/>
            <a:ext cx="3866769" cy="106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84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6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output = hidden × W_down (8192 → 3072)</a:t>
            </a:r>
            <a:endParaRPr lang="en-US" sz="600" dirty="0"/>
          </a:p>
        </p:txBody>
      </p:sp>
      <p:sp>
        <p:nvSpPr>
          <p:cNvPr id="19" name="Text 17"/>
          <p:cNvSpPr/>
          <p:nvPr/>
        </p:nvSpPr>
        <p:spPr>
          <a:xfrm>
            <a:off x="381000" y="3380333"/>
            <a:ext cx="4124325" cy="977057"/>
          </a:xfrm>
          <a:prstGeom prst="roundRect">
            <a:avLst>
              <a:gd name="adj" fmla="val 4874"/>
            </a:avLst>
          </a:prstGeom>
          <a:solidFill>
            <a:srgbClr val="F8F8F8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0" name="Shape 18"/>
          <p:cNvSpPr/>
          <p:nvPr/>
        </p:nvSpPr>
        <p:spPr>
          <a:xfrm>
            <a:off x="395288" y="3380333"/>
            <a:ext cx="0" cy="977057"/>
          </a:xfrm>
          <a:prstGeom prst="line">
            <a:avLst/>
          </a:prstGeom>
          <a:noFill/>
          <a:ln w="28575">
            <a:solidFill>
              <a:srgbClr val="FFC10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523875" y="3494633"/>
            <a:ext cx="3944493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00"/>
              </a:lnSpc>
              <a:spcAft>
                <a:spcPts val="450"/>
              </a:spcAft>
              <a:buNone/>
            </a:pPr>
            <a:r>
              <a:rPr lang="en-US" sz="750" b="1" dirty="0">
                <a:solidFill>
                  <a:srgbClr val="997A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SWISH FUNCTION</a:t>
            </a:r>
            <a:endParaRPr lang="en-US" sz="750" dirty="0"/>
          </a:p>
        </p:txBody>
      </p:sp>
      <p:sp>
        <p:nvSpPr>
          <p:cNvPr id="22" name="Text 20"/>
          <p:cNvSpPr/>
          <p:nvPr/>
        </p:nvSpPr>
        <p:spPr>
          <a:xfrm>
            <a:off x="523875" y="3666083"/>
            <a:ext cx="3867150" cy="394246"/>
          </a:xfrm>
          <a:prstGeom prst="roundRect">
            <a:avLst>
              <a:gd name="adj" fmla="val 9664"/>
            </a:avLst>
          </a:prstGeom>
          <a:solidFill>
            <a:srgbClr val="FFFFFF"/>
          </a:solidFill>
          <a:ln w="9525">
            <a:solidFill>
              <a:srgbClr val="DDDDDD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572643" y="3789908"/>
            <a:ext cx="3769614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155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825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Swish(x) = x × σ(x) = x × (1/(1+e⁻ˣ))</a:t>
            </a:r>
            <a:endParaRPr lang="en-US" sz="825" dirty="0"/>
          </a:p>
        </p:txBody>
      </p:sp>
      <p:sp>
        <p:nvSpPr>
          <p:cNvPr id="24" name="Text 22"/>
          <p:cNvSpPr/>
          <p:nvPr/>
        </p:nvSpPr>
        <p:spPr>
          <a:xfrm>
            <a:off x="523875" y="4098429"/>
            <a:ext cx="3944493" cy="106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84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6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Smooth, non-monotonic activation</a:t>
            </a:r>
            <a:endParaRPr lang="en-US" sz="600" dirty="0"/>
          </a:p>
        </p:txBody>
      </p:sp>
      <p:sp>
        <p:nvSpPr>
          <p:cNvPr id="25" name="Text 23"/>
          <p:cNvSpPr/>
          <p:nvPr/>
        </p:nvSpPr>
        <p:spPr>
          <a:xfrm>
            <a:off x="4638675" y="838200"/>
            <a:ext cx="4124325" cy="1123355"/>
          </a:xfrm>
          <a:prstGeom prst="roundRect">
            <a:avLst>
              <a:gd name="adj" fmla="val 4240"/>
            </a:avLst>
          </a:prstGeom>
          <a:solidFill>
            <a:srgbClr val="F8F8F8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6" name="Shape 24"/>
          <p:cNvSpPr/>
          <p:nvPr/>
        </p:nvSpPr>
        <p:spPr>
          <a:xfrm>
            <a:off x="4652963" y="838200"/>
            <a:ext cx="0" cy="1123355"/>
          </a:xfrm>
          <a:prstGeom prst="line">
            <a:avLst/>
          </a:prstGeom>
          <a:noFill/>
          <a:ln w="28575">
            <a:solidFill>
              <a:srgbClr val="19875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4781550" y="952500"/>
            <a:ext cx="3944493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00"/>
              </a:lnSpc>
              <a:spcAft>
                <a:spcPts val="450"/>
              </a:spcAft>
              <a:buNone/>
            </a:pPr>
            <a:r>
              <a:rPr lang="en-US" sz="750" b="1" dirty="0">
                <a:solidFill>
                  <a:srgbClr val="19875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 SwiGLU?</a:t>
            </a:r>
            <a:endParaRPr lang="en-US" sz="750" dirty="0"/>
          </a:p>
        </p:txBody>
      </p:sp>
      <p:sp>
        <p:nvSpPr>
          <p:cNvPr id="28" name="Text 26"/>
          <p:cNvSpPr/>
          <p:nvPr/>
        </p:nvSpPr>
        <p:spPr>
          <a:xfrm>
            <a:off x="4781550" y="1123950"/>
            <a:ext cx="3944493" cy="106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84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GLU (Gated Linear Unit) controls information flow:</a:t>
            </a:r>
            <a:endParaRPr lang="en-US" sz="600" dirty="0"/>
          </a:p>
        </p:txBody>
      </p:sp>
      <p:sp>
        <p:nvSpPr>
          <p:cNvPr id="29" name="Text 27"/>
          <p:cNvSpPr/>
          <p:nvPr/>
        </p:nvSpPr>
        <p:spPr>
          <a:xfrm>
            <a:off x="4781550" y="1268611"/>
            <a:ext cx="3944493" cy="106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84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6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gate ⊙ value: element-wise multiplication</a:t>
            </a:r>
            <a:endParaRPr lang="en-US" sz="600" dirty="0"/>
          </a:p>
        </p:txBody>
      </p:sp>
      <p:sp>
        <p:nvSpPr>
          <p:cNvPr id="30" name="Text 28"/>
          <p:cNvSpPr/>
          <p:nvPr/>
        </p:nvSpPr>
        <p:spPr>
          <a:xfrm>
            <a:off x="4781550" y="1413272"/>
            <a:ext cx="3944493" cy="106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84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6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Gate learns WHAT to pass through</a:t>
            </a:r>
            <a:endParaRPr lang="en-US" sz="600" dirty="0"/>
          </a:p>
        </p:txBody>
      </p:sp>
      <p:sp>
        <p:nvSpPr>
          <p:cNvPr id="31" name="Text 29"/>
          <p:cNvSpPr/>
          <p:nvPr/>
        </p:nvSpPr>
        <p:spPr>
          <a:xfrm>
            <a:off x="4781550" y="1557933"/>
            <a:ext cx="3944493" cy="106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84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6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Value learns WHAT information to represent</a:t>
            </a:r>
            <a:endParaRPr lang="en-US" sz="600" dirty="0"/>
          </a:p>
        </p:txBody>
      </p:sp>
      <p:sp>
        <p:nvSpPr>
          <p:cNvPr id="32" name="Text 30"/>
          <p:cNvSpPr/>
          <p:nvPr/>
        </p:nvSpPr>
        <p:spPr>
          <a:xfrm>
            <a:off x="4781550" y="1702594"/>
            <a:ext cx="3944493" cy="106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84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600" b="1" dirty="0">
                <a:solidFill>
                  <a:srgbClr val="1987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Result: Better gradient flow, faster training</a:t>
            </a:r>
            <a:endParaRPr lang="en-US" sz="600" dirty="0"/>
          </a:p>
        </p:txBody>
      </p:sp>
      <p:sp>
        <p:nvSpPr>
          <p:cNvPr id="33" name="Text 31"/>
          <p:cNvSpPr/>
          <p:nvPr/>
        </p:nvSpPr>
        <p:spPr>
          <a:xfrm>
            <a:off x="4638675" y="2018705"/>
            <a:ext cx="4124325" cy="1245394"/>
          </a:xfrm>
          <a:prstGeom prst="roundRect">
            <a:avLst>
              <a:gd name="adj" fmla="val 3824"/>
            </a:avLst>
          </a:prstGeom>
          <a:solidFill>
            <a:srgbClr val="F8F8F8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4" name="Text 32"/>
          <p:cNvSpPr/>
          <p:nvPr/>
        </p:nvSpPr>
        <p:spPr>
          <a:xfrm>
            <a:off x="4752975" y="2133005"/>
            <a:ext cx="397364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00"/>
              </a:lnSpc>
              <a:spcAft>
                <a:spcPts val="450"/>
              </a:spcAft>
              <a:buNone/>
            </a:pPr>
            <a:r>
              <a:rPr lang="en-US" sz="750" b="1" dirty="0">
                <a:solidFill>
                  <a:srgbClr val="011F5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DIMENSION BREAKDOWN</a:t>
            </a:r>
            <a:endParaRPr lang="en-US" sz="750" dirty="0"/>
          </a:p>
        </p:txBody>
      </p:sp>
      <p:sp>
        <p:nvSpPr>
          <p:cNvPr id="35" name="Text 33"/>
          <p:cNvSpPr/>
          <p:nvPr/>
        </p:nvSpPr>
        <p:spPr>
          <a:xfrm>
            <a:off x="4752975" y="2342555"/>
            <a:ext cx="1967389" cy="106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84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6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d_model:</a:t>
            </a:r>
            <a:endParaRPr lang="en-US" sz="600" dirty="0"/>
          </a:p>
        </p:txBody>
      </p:sp>
      <p:sp>
        <p:nvSpPr>
          <p:cNvPr id="36" name="Text 34"/>
          <p:cNvSpPr/>
          <p:nvPr/>
        </p:nvSpPr>
        <p:spPr>
          <a:xfrm>
            <a:off x="6719888" y="2342555"/>
            <a:ext cx="1967389" cy="106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84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6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3,072</a:t>
            </a:r>
            <a:endParaRPr lang="en-US" sz="600" dirty="0"/>
          </a:p>
        </p:txBody>
      </p:sp>
      <p:sp>
        <p:nvSpPr>
          <p:cNvPr id="37" name="Text 35"/>
          <p:cNvSpPr/>
          <p:nvPr/>
        </p:nvSpPr>
        <p:spPr>
          <a:xfrm>
            <a:off x="4752975" y="2563416"/>
            <a:ext cx="1967389" cy="106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84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6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d_ff (hidden):</a:t>
            </a:r>
            <a:endParaRPr lang="en-US" sz="600" dirty="0"/>
          </a:p>
        </p:txBody>
      </p:sp>
      <p:sp>
        <p:nvSpPr>
          <p:cNvPr id="38" name="Text 36"/>
          <p:cNvSpPr/>
          <p:nvPr/>
        </p:nvSpPr>
        <p:spPr>
          <a:xfrm>
            <a:off x="6719888" y="2563416"/>
            <a:ext cx="1967389" cy="106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84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6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8,192</a:t>
            </a:r>
            <a:endParaRPr lang="en-US" sz="600" dirty="0"/>
          </a:p>
        </p:txBody>
      </p:sp>
      <p:sp>
        <p:nvSpPr>
          <p:cNvPr id="39" name="Text 37"/>
          <p:cNvSpPr/>
          <p:nvPr/>
        </p:nvSpPr>
        <p:spPr>
          <a:xfrm>
            <a:off x="4752975" y="2784277"/>
            <a:ext cx="1967389" cy="106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84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6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Expansion ratio:</a:t>
            </a:r>
            <a:endParaRPr lang="en-US" sz="600" dirty="0"/>
          </a:p>
        </p:txBody>
      </p:sp>
      <p:sp>
        <p:nvSpPr>
          <p:cNvPr id="40" name="Text 38"/>
          <p:cNvSpPr/>
          <p:nvPr/>
        </p:nvSpPr>
        <p:spPr>
          <a:xfrm>
            <a:off x="6719888" y="2784277"/>
            <a:ext cx="1967389" cy="106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84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6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2.67x</a:t>
            </a:r>
            <a:endParaRPr lang="en-US" sz="600" dirty="0"/>
          </a:p>
        </p:txBody>
      </p:sp>
      <p:sp>
        <p:nvSpPr>
          <p:cNvPr id="41" name="Text 39"/>
          <p:cNvSpPr/>
          <p:nvPr/>
        </p:nvSpPr>
        <p:spPr>
          <a:xfrm>
            <a:off x="4752975" y="3005138"/>
            <a:ext cx="1967389" cy="106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84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6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Layers:</a:t>
            </a:r>
            <a:endParaRPr lang="en-US" sz="600" dirty="0"/>
          </a:p>
        </p:txBody>
      </p:sp>
      <p:sp>
        <p:nvSpPr>
          <p:cNvPr id="42" name="Text 40"/>
          <p:cNvSpPr/>
          <p:nvPr/>
        </p:nvSpPr>
        <p:spPr>
          <a:xfrm>
            <a:off x="6719888" y="3005138"/>
            <a:ext cx="1967389" cy="106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84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6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32</a:t>
            </a:r>
            <a:endParaRPr lang="en-US" sz="600" dirty="0"/>
          </a:p>
        </p:txBody>
      </p:sp>
      <p:sp>
        <p:nvSpPr>
          <p:cNvPr id="43" name="Text 41"/>
          <p:cNvSpPr/>
          <p:nvPr/>
        </p:nvSpPr>
        <p:spPr>
          <a:xfrm>
            <a:off x="4638675" y="3321248"/>
            <a:ext cx="4124325" cy="889397"/>
          </a:xfrm>
          <a:prstGeom prst="roundRect">
            <a:avLst>
              <a:gd name="adj" fmla="val 5355"/>
            </a:avLst>
          </a:prstGeom>
          <a:solidFill>
            <a:srgbClr val="F8F8F8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4" name="Text 42"/>
          <p:cNvSpPr/>
          <p:nvPr/>
        </p:nvSpPr>
        <p:spPr>
          <a:xfrm>
            <a:off x="4752975" y="3435548"/>
            <a:ext cx="397364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00"/>
              </a:lnSpc>
              <a:spcAft>
                <a:spcPts val="450"/>
              </a:spcAft>
              <a:buNone/>
            </a:pPr>
            <a:r>
              <a:rPr lang="en-US" sz="750" b="1" dirty="0">
                <a:solidFill>
                  <a:srgbClr val="011F5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LoRA ON FFN</a:t>
            </a:r>
            <a:endParaRPr lang="en-US" sz="750" dirty="0"/>
          </a:p>
        </p:txBody>
      </p:sp>
      <p:sp>
        <p:nvSpPr>
          <p:cNvPr id="45" name="Text 43"/>
          <p:cNvSpPr/>
          <p:nvPr/>
        </p:nvSpPr>
        <p:spPr>
          <a:xfrm>
            <a:off x="4752975" y="3606998"/>
            <a:ext cx="3973640" cy="106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84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apply LoRA to FFN projections too:</a:t>
            </a:r>
            <a:endParaRPr lang="en-US" sz="600" dirty="0"/>
          </a:p>
        </p:txBody>
      </p:sp>
      <p:sp>
        <p:nvSpPr>
          <p:cNvPr id="46" name="Text 44"/>
          <p:cNvSpPr/>
          <p:nvPr/>
        </p:nvSpPr>
        <p:spPr>
          <a:xfrm>
            <a:off x="4752975" y="3951684"/>
            <a:ext cx="3973640" cy="106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84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6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Adapts knowledge storage, not just attention</a:t>
            </a:r>
            <a:endParaRPr lang="en-US" sz="6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304800"/>
            <a:ext cx="4284536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650" b="1" dirty="0">
                <a:solidFill>
                  <a:srgbClr val="011F5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Model Architecture</a:t>
            </a:r>
            <a:endParaRPr lang="en-US" sz="1650" dirty="0"/>
          </a:p>
        </p:txBody>
      </p:sp>
      <p:sp>
        <p:nvSpPr>
          <p:cNvPr id="3" name="Text 1"/>
          <p:cNvSpPr/>
          <p:nvPr/>
        </p:nvSpPr>
        <p:spPr>
          <a:xfrm>
            <a:off x="381000" y="552450"/>
            <a:ext cx="1524000" cy="28575"/>
          </a:xfrm>
          <a:prstGeom prst="rect">
            <a:avLst/>
          </a:prstGeom>
          <a:solidFill>
            <a:srgbClr val="99000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1955006" y="809625"/>
            <a:ext cx="966788" cy="310455"/>
          </a:xfrm>
          <a:prstGeom prst="roundRect">
            <a:avLst>
              <a:gd name="adj" fmla="val 12272"/>
            </a:avLst>
          </a:prstGeom>
          <a:solidFill>
            <a:srgbClr val="FFF3CD"/>
          </a:solidFill>
          <a:ln w="9525">
            <a:solidFill>
              <a:srgbClr val="FFC107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2078831" y="904875"/>
            <a:ext cx="733520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45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675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Code-Mixed Input</a:t>
            </a:r>
            <a:endParaRPr lang="en-US" sz="675" dirty="0"/>
          </a:p>
        </p:txBody>
      </p:sp>
      <p:sp>
        <p:nvSpPr>
          <p:cNvPr id="6" name="Text 4"/>
          <p:cNvSpPr/>
          <p:nvPr/>
        </p:nvSpPr>
        <p:spPr>
          <a:xfrm>
            <a:off x="2414588" y="1186755"/>
            <a:ext cx="48578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750" dirty="0">
                <a:solidFill>
                  <a:srgbClr val="011F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2093863" y="1386780"/>
            <a:ext cx="688925" cy="258961"/>
          </a:xfrm>
          <a:prstGeom prst="roundRect">
            <a:avLst>
              <a:gd name="adj" fmla="val 14713"/>
            </a:avLst>
          </a:prstGeom>
          <a:solidFill>
            <a:srgbClr val="E9ECE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2189113" y="1462980"/>
            <a:ext cx="508394" cy="106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84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BPE Tokenizer</a:t>
            </a:r>
            <a:endParaRPr lang="en-US" sz="600" dirty="0"/>
          </a:p>
        </p:txBody>
      </p:sp>
      <p:sp>
        <p:nvSpPr>
          <p:cNvPr id="9" name="Text 7"/>
          <p:cNvSpPr/>
          <p:nvPr/>
        </p:nvSpPr>
        <p:spPr>
          <a:xfrm>
            <a:off x="2414588" y="1712416"/>
            <a:ext cx="48578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750" dirty="0">
                <a:solidFill>
                  <a:srgbClr val="011F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</a:t>
            </a:r>
            <a:endParaRPr lang="en-US" sz="750" dirty="0"/>
          </a:p>
        </p:txBody>
      </p:sp>
      <p:sp>
        <p:nvSpPr>
          <p:cNvPr id="10" name="Text 8"/>
          <p:cNvSpPr/>
          <p:nvPr/>
        </p:nvSpPr>
        <p:spPr>
          <a:xfrm>
            <a:off x="1876127" y="1912441"/>
            <a:ext cx="1124545" cy="258961"/>
          </a:xfrm>
          <a:prstGeom prst="roundRect">
            <a:avLst>
              <a:gd name="adj" fmla="val 14713"/>
            </a:avLst>
          </a:prstGeom>
          <a:solidFill>
            <a:srgbClr val="D4EDD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1971377" y="1988641"/>
            <a:ext cx="952726" cy="106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84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600" dirty="0">
                <a:solidFill>
                  <a:srgbClr val="1987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Token + RoPE Embeddings</a:t>
            </a:r>
            <a:endParaRPr lang="en-US" sz="600" dirty="0"/>
          </a:p>
        </p:txBody>
      </p:sp>
      <p:sp>
        <p:nvSpPr>
          <p:cNvPr id="12" name="Text 10"/>
          <p:cNvSpPr/>
          <p:nvPr/>
        </p:nvSpPr>
        <p:spPr>
          <a:xfrm>
            <a:off x="2414588" y="2238077"/>
            <a:ext cx="48578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750" dirty="0">
                <a:solidFill>
                  <a:srgbClr val="011F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</a:t>
            </a:r>
            <a:endParaRPr lang="en-US" sz="750" dirty="0"/>
          </a:p>
        </p:txBody>
      </p:sp>
      <p:sp>
        <p:nvSpPr>
          <p:cNvPr id="13" name="Text 11"/>
          <p:cNvSpPr/>
          <p:nvPr/>
        </p:nvSpPr>
        <p:spPr>
          <a:xfrm>
            <a:off x="1676400" y="2438102"/>
            <a:ext cx="1524000" cy="1104751"/>
          </a:xfrm>
          <a:prstGeom prst="roundRect">
            <a:avLst>
              <a:gd name="adj" fmla="val 5173"/>
            </a:avLst>
          </a:prstGeom>
          <a:solidFill>
            <a:srgbClr val="F8F8F8"/>
          </a:solidFill>
          <a:ln w="19050">
            <a:solidFill>
              <a:srgbClr val="011F5B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1758315" y="2571452"/>
            <a:ext cx="1360170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945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675" b="1" dirty="0">
                <a:solidFill>
                  <a:srgbClr val="011F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Transformer x32</a:t>
            </a:r>
            <a:endParaRPr lang="en-US" sz="675" dirty="0"/>
          </a:p>
        </p:txBody>
      </p:sp>
      <p:sp>
        <p:nvSpPr>
          <p:cNvPr id="15" name="Text 13"/>
          <p:cNvSpPr/>
          <p:nvPr/>
        </p:nvSpPr>
        <p:spPr>
          <a:xfrm>
            <a:off x="1771650" y="2729508"/>
            <a:ext cx="1333500" cy="226665"/>
          </a:xfrm>
          <a:prstGeom prst="roundRect">
            <a:avLst>
              <a:gd name="adj" fmla="val 12607"/>
            </a:avLst>
          </a:prstGeom>
          <a:solidFill>
            <a:srgbClr val="CCE5F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1787462" y="2796183"/>
            <a:ext cx="1301877" cy="933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735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525" dirty="0">
                <a:solidFill>
                  <a:srgbClr val="004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Multi-Head Attn + LoRA</a:t>
            </a:r>
            <a:endParaRPr lang="en-US" sz="525" dirty="0"/>
          </a:p>
        </p:txBody>
      </p:sp>
      <p:sp>
        <p:nvSpPr>
          <p:cNvPr id="17" name="Text 15"/>
          <p:cNvSpPr/>
          <p:nvPr/>
        </p:nvSpPr>
        <p:spPr>
          <a:xfrm>
            <a:off x="1771650" y="2984748"/>
            <a:ext cx="1333500" cy="207615"/>
          </a:xfrm>
          <a:prstGeom prst="roundRect">
            <a:avLst>
              <a:gd name="adj" fmla="val 13763"/>
            </a:avLst>
          </a:prstGeom>
          <a:solidFill>
            <a:srgbClr val="E9ECE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1777746" y="3041898"/>
            <a:ext cx="1321308" cy="933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735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525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RMSNorm</a:t>
            </a:r>
            <a:endParaRPr lang="en-US" sz="525" dirty="0"/>
          </a:p>
        </p:txBody>
      </p:sp>
      <p:sp>
        <p:nvSpPr>
          <p:cNvPr id="19" name="Text 17"/>
          <p:cNvSpPr/>
          <p:nvPr/>
        </p:nvSpPr>
        <p:spPr>
          <a:xfrm>
            <a:off x="1771650" y="3220938"/>
            <a:ext cx="1333500" cy="226665"/>
          </a:xfrm>
          <a:prstGeom prst="roundRect">
            <a:avLst>
              <a:gd name="adj" fmla="val 12607"/>
            </a:avLst>
          </a:prstGeom>
          <a:solidFill>
            <a:srgbClr val="FFF3CD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1787462" y="3287613"/>
            <a:ext cx="1301877" cy="933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735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525" dirty="0">
                <a:solidFill>
                  <a:srgbClr val="85640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SwiGLU FFN + LoRA</a:t>
            </a:r>
            <a:endParaRPr lang="en-US" sz="525" dirty="0"/>
          </a:p>
        </p:txBody>
      </p:sp>
      <p:sp>
        <p:nvSpPr>
          <p:cNvPr id="21" name="Text 19"/>
          <p:cNvSpPr/>
          <p:nvPr/>
        </p:nvSpPr>
        <p:spPr>
          <a:xfrm>
            <a:off x="2414588" y="3609529"/>
            <a:ext cx="48578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750" dirty="0">
                <a:solidFill>
                  <a:srgbClr val="011F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</a:t>
            </a:r>
            <a:endParaRPr lang="en-US" sz="750" dirty="0"/>
          </a:p>
        </p:txBody>
      </p:sp>
      <p:sp>
        <p:nvSpPr>
          <p:cNvPr id="22" name="Text 20"/>
          <p:cNvSpPr/>
          <p:nvPr/>
        </p:nvSpPr>
        <p:spPr>
          <a:xfrm>
            <a:off x="1962001" y="3809554"/>
            <a:ext cx="952798" cy="291405"/>
          </a:xfrm>
          <a:prstGeom prst="roundRect">
            <a:avLst>
              <a:gd name="adj" fmla="val 13075"/>
            </a:avLst>
          </a:prstGeom>
          <a:solidFill>
            <a:srgbClr val="011F5B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2076301" y="3895279"/>
            <a:ext cx="738682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45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67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English Summary</a:t>
            </a:r>
            <a:endParaRPr lang="en-US" sz="675" dirty="0"/>
          </a:p>
        </p:txBody>
      </p:sp>
      <p:sp>
        <p:nvSpPr>
          <p:cNvPr id="24" name="Text 22"/>
          <p:cNvSpPr/>
          <p:nvPr/>
        </p:nvSpPr>
        <p:spPr>
          <a:xfrm>
            <a:off x="4648200" y="809625"/>
            <a:ext cx="4114800" cy="601861"/>
          </a:xfrm>
          <a:prstGeom prst="roundRect">
            <a:avLst>
              <a:gd name="adj" fmla="val 6330"/>
            </a:avLst>
          </a:prstGeom>
          <a:solidFill>
            <a:srgbClr val="F8F8F8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5" name="Shape 23"/>
          <p:cNvSpPr/>
          <p:nvPr/>
        </p:nvSpPr>
        <p:spPr>
          <a:xfrm>
            <a:off x="4648200" y="819150"/>
            <a:ext cx="4114800" cy="0"/>
          </a:xfrm>
          <a:prstGeom prst="line">
            <a:avLst/>
          </a:prstGeom>
          <a:noFill/>
          <a:ln w="19050">
            <a:solidFill>
              <a:srgbClr val="011F5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4743450" y="923925"/>
            <a:ext cx="4002786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00"/>
              </a:lnSpc>
              <a:spcAft>
                <a:spcPts val="450"/>
              </a:spcAft>
              <a:buNone/>
            </a:pPr>
            <a:r>
              <a:rPr lang="en-US" sz="750" b="1" dirty="0">
                <a:solidFill>
                  <a:srgbClr val="011F5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LLAMA-3.2-3B</a:t>
            </a:r>
            <a:endParaRPr lang="en-US" sz="750" dirty="0"/>
          </a:p>
        </p:txBody>
      </p:sp>
      <p:sp>
        <p:nvSpPr>
          <p:cNvPr id="27" name="Text 25"/>
          <p:cNvSpPr/>
          <p:nvPr/>
        </p:nvSpPr>
        <p:spPr>
          <a:xfrm>
            <a:off x="4743450" y="1095375"/>
            <a:ext cx="546348" cy="220861"/>
          </a:xfrm>
          <a:prstGeom prst="roundRect">
            <a:avLst>
              <a:gd name="adj" fmla="val 12938"/>
            </a:avLst>
          </a:prstGeom>
          <a:solidFill>
            <a:srgbClr val="E9ECE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8" name="Text 26"/>
          <p:cNvSpPr/>
          <p:nvPr/>
        </p:nvSpPr>
        <p:spPr>
          <a:xfrm>
            <a:off x="4800600" y="1152525"/>
            <a:ext cx="440689" cy="106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84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3.2B params</a:t>
            </a:r>
            <a:endParaRPr lang="en-US" sz="600" dirty="0"/>
          </a:p>
        </p:txBody>
      </p:sp>
      <p:sp>
        <p:nvSpPr>
          <p:cNvPr id="29" name="Text 27"/>
          <p:cNvSpPr/>
          <p:nvPr/>
        </p:nvSpPr>
        <p:spPr>
          <a:xfrm>
            <a:off x="5327898" y="1095375"/>
            <a:ext cx="423565" cy="220861"/>
          </a:xfrm>
          <a:prstGeom prst="roundRect">
            <a:avLst>
              <a:gd name="adj" fmla="val 12938"/>
            </a:avLst>
          </a:prstGeom>
          <a:solidFill>
            <a:srgbClr val="E9ECE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0" name="Text 28"/>
          <p:cNvSpPr/>
          <p:nvPr/>
        </p:nvSpPr>
        <p:spPr>
          <a:xfrm>
            <a:off x="5385048" y="1152525"/>
            <a:ext cx="315450" cy="106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84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32 layers</a:t>
            </a:r>
            <a:endParaRPr lang="en-US" sz="600" dirty="0"/>
          </a:p>
        </p:txBody>
      </p:sp>
      <p:sp>
        <p:nvSpPr>
          <p:cNvPr id="31" name="Text 29"/>
          <p:cNvSpPr/>
          <p:nvPr/>
        </p:nvSpPr>
        <p:spPr>
          <a:xfrm>
            <a:off x="5789563" y="1095375"/>
            <a:ext cx="427881" cy="220861"/>
          </a:xfrm>
          <a:prstGeom prst="roundRect">
            <a:avLst>
              <a:gd name="adj" fmla="val 12938"/>
            </a:avLst>
          </a:prstGeom>
          <a:solidFill>
            <a:srgbClr val="E9ECE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2" name="Text 30"/>
          <p:cNvSpPr/>
          <p:nvPr/>
        </p:nvSpPr>
        <p:spPr>
          <a:xfrm>
            <a:off x="5846713" y="1152525"/>
            <a:ext cx="319852" cy="106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84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32 heads</a:t>
            </a:r>
            <a:endParaRPr lang="en-US" sz="600" dirty="0"/>
          </a:p>
        </p:txBody>
      </p:sp>
      <p:sp>
        <p:nvSpPr>
          <p:cNvPr id="33" name="Text 31"/>
          <p:cNvSpPr/>
          <p:nvPr/>
        </p:nvSpPr>
        <p:spPr>
          <a:xfrm>
            <a:off x="6255544" y="1095375"/>
            <a:ext cx="370731" cy="220861"/>
          </a:xfrm>
          <a:prstGeom prst="roundRect">
            <a:avLst>
              <a:gd name="adj" fmla="val 12938"/>
            </a:avLst>
          </a:prstGeom>
          <a:solidFill>
            <a:srgbClr val="E9ECE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4" name="Text 32"/>
          <p:cNvSpPr/>
          <p:nvPr/>
        </p:nvSpPr>
        <p:spPr>
          <a:xfrm>
            <a:off x="6312694" y="1152525"/>
            <a:ext cx="261559" cy="106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84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d=3072</a:t>
            </a:r>
            <a:endParaRPr lang="en-US" sz="600" dirty="0"/>
          </a:p>
        </p:txBody>
      </p:sp>
      <p:sp>
        <p:nvSpPr>
          <p:cNvPr id="35" name="Text 33"/>
          <p:cNvSpPr/>
          <p:nvPr/>
        </p:nvSpPr>
        <p:spPr>
          <a:xfrm>
            <a:off x="4648200" y="1468636"/>
            <a:ext cx="4114800" cy="2651968"/>
          </a:xfrm>
          <a:prstGeom prst="roundRect">
            <a:avLst>
              <a:gd name="adj" fmla="val 1437"/>
            </a:avLst>
          </a:prstGeom>
          <a:solidFill>
            <a:srgbClr val="F8F8F8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6" name="Shape 34"/>
          <p:cNvSpPr/>
          <p:nvPr/>
        </p:nvSpPr>
        <p:spPr>
          <a:xfrm>
            <a:off x="4648200" y="1478161"/>
            <a:ext cx="4114800" cy="0"/>
          </a:xfrm>
          <a:prstGeom prst="line">
            <a:avLst/>
          </a:prstGeom>
          <a:noFill/>
          <a:ln w="19050">
            <a:solidFill>
              <a:srgbClr val="99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4743450" y="1582936"/>
            <a:ext cx="4002786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00"/>
              </a:lnSpc>
              <a:spcAft>
                <a:spcPts val="450"/>
              </a:spcAft>
              <a:buNone/>
            </a:pPr>
            <a:r>
              <a:rPr lang="en-US" sz="750" b="1" dirty="0">
                <a:solidFill>
                  <a:srgbClr val="9900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LORA CONFIG</a:t>
            </a:r>
            <a:endParaRPr lang="en-US" sz="750" dirty="0"/>
          </a:p>
        </p:txBody>
      </p:sp>
      <p:sp>
        <p:nvSpPr>
          <p:cNvPr id="38" name="Text 36"/>
          <p:cNvSpPr/>
          <p:nvPr/>
        </p:nvSpPr>
        <p:spPr>
          <a:xfrm>
            <a:off x="4743450" y="1754386"/>
            <a:ext cx="3924300" cy="356146"/>
          </a:xfrm>
          <a:prstGeom prst="roundRect">
            <a:avLst>
              <a:gd name="adj" fmla="val 8023"/>
            </a:avLst>
          </a:prstGeom>
          <a:solidFill>
            <a:srgbClr val="FFFFFF"/>
          </a:solidFill>
          <a:ln w="9525">
            <a:solidFill>
              <a:srgbClr val="DDDDDD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9" name="Text 37"/>
          <p:cNvSpPr/>
          <p:nvPr/>
        </p:nvSpPr>
        <p:spPr>
          <a:xfrm>
            <a:off x="4772216" y="1859161"/>
            <a:ext cx="3866769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155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825" b="1" dirty="0">
                <a:solidFill>
                  <a:srgbClr val="011F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W' = W₀ + BA</a:t>
            </a:r>
            <a:endParaRPr lang="en-US" sz="825" dirty="0"/>
          </a:p>
        </p:txBody>
      </p:sp>
      <p:sp>
        <p:nvSpPr>
          <p:cNvPr id="40" name="Text 38"/>
          <p:cNvSpPr/>
          <p:nvPr/>
        </p:nvSpPr>
        <p:spPr>
          <a:xfrm>
            <a:off x="4743450" y="2167682"/>
            <a:ext cx="374005" cy="253305"/>
          </a:xfrm>
          <a:prstGeom prst="roundRect">
            <a:avLst>
              <a:gd name="adj" fmla="val 11281"/>
            </a:avLst>
          </a:prstGeom>
          <a:solidFill>
            <a:srgbClr val="990000">
              <a:alpha val="13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1" name="Text 39"/>
          <p:cNvSpPr/>
          <p:nvPr/>
        </p:nvSpPr>
        <p:spPr>
          <a:xfrm>
            <a:off x="4819650" y="2234357"/>
            <a:ext cx="226037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45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675" dirty="0">
                <a:solidFill>
                  <a:srgbClr val="99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 = 16</a:t>
            </a:r>
            <a:endParaRPr lang="en-US" sz="675" dirty="0"/>
          </a:p>
        </p:txBody>
      </p:sp>
      <p:sp>
        <p:nvSpPr>
          <p:cNvPr id="42" name="Text 40"/>
          <p:cNvSpPr/>
          <p:nvPr/>
        </p:nvSpPr>
        <p:spPr>
          <a:xfrm>
            <a:off x="5174605" y="2167682"/>
            <a:ext cx="395139" cy="253305"/>
          </a:xfrm>
          <a:prstGeom prst="roundRect">
            <a:avLst>
              <a:gd name="adj" fmla="val 11281"/>
            </a:avLst>
          </a:prstGeom>
          <a:solidFill>
            <a:srgbClr val="990000">
              <a:alpha val="13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3" name="Text 41"/>
          <p:cNvSpPr/>
          <p:nvPr/>
        </p:nvSpPr>
        <p:spPr>
          <a:xfrm>
            <a:off x="5250805" y="2234357"/>
            <a:ext cx="247593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45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675" dirty="0">
                <a:solidFill>
                  <a:srgbClr val="99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α = 32</a:t>
            </a:r>
            <a:endParaRPr lang="en-US" sz="675" dirty="0"/>
          </a:p>
        </p:txBody>
      </p:sp>
      <p:sp>
        <p:nvSpPr>
          <p:cNvPr id="44" name="Text 42"/>
          <p:cNvSpPr/>
          <p:nvPr/>
        </p:nvSpPr>
        <p:spPr>
          <a:xfrm>
            <a:off x="4743450" y="2497187"/>
            <a:ext cx="4002786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45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675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Targets (7 modules):</a:t>
            </a:r>
            <a:endParaRPr lang="en-US" sz="675" dirty="0"/>
          </a:p>
        </p:txBody>
      </p:sp>
      <p:sp>
        <p:nvSpPr>
          <p:cNvPr id="45" name="Text 43"/>
          <p:cNvSpPr/>
          <p:nvPr/>
        </p:nvSpPr>
        <p:spPr>
          <a:xfrm>
            <a:off x="4743450" y="2655243"/>
            <a:ext cx="364331" cy="239911"/>
          </a:xfrm>
          <a:prstGeom prst="roundRect">
            <a:avLst>
              <a:gd name="adj" fmla="val 11911"/>
            </a:avLst>
          </a:prstGeom>
          <a:solidFill>
            <a:srgbClr val="011F5B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6" name="Text 44"/>
          <p:cNvSpPr/>
          <p:nvPr/>
        </p:nvSpPr>
        <p:spPr>
          <a:xfrm>
            <a:off x="4819650" y="2721918"/>
            <a:ext cx="216170" cy="106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84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q_proj</a:t>
            </a:r>
            <a:endParaRPr lang="en-US" sz="600" dirty="0"/>
          </a:p>
        </p:txBody>
      </p:sp>
      <p:sp>
        <p:nvSpPr>
          <p:cNvPr id="47" name="Text 45"/>
          <p:cNvSpPr/>
          <p:nvPr/>
        </p:nvSpPr>
        <p:spPr>
          <a:xfrm>
            <a:off x="5145881" y="2655243"/>
            <a:ext cx="360015" cy="239911"/>
          </a:xfrm>
          <a:prstGeom prst="roundRect">
            <a:avLst>
              <a:gd name="adj" fmla="val 11911"/>
            </a:avLst>
          </a:prstGeom>
          <a:solidFill>
            <a:srgbClr val="011F5B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8" name="Text 46"/>
          <p:cNvSpPr/>
          <p:nvPr/>
        </p:nvSpPr>
        <p:spPr>
          <a:xfrm>
            <a:off x="5222081" y="2721918"/>
            <a:ext cx="211768" cy="106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84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k_proj</a:t>
            </a:r>
            <a:endParaRPr lang="en-US" sz="600" dirty="0"/>
          </a:p>
        </p:txBody>
      </p:sp>
      <p:sp>
        <p:nvSpPr>
          <p:cNvPr id="49" name="Text 47"/>
          <p:cNvSpPr/>
          <p:nvPr/>
        </p:nvSpPr>
        <p:spPr>
          <a:xfrm>
            <a:off x="5543996" y="2655243"/>
            <a:ext cx="360015" cy="239911"/>
          </a:xfrm>
          <a:prstGeom prst="roundRect">
            <a:avLst>
              <a:gd name="adj" fmla="val 11911"/>
            </a:avLst>
          </a:prstGeom>
          <a:solidFill>
            <a:srgbClr val="011F5B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0" name="Text 48"/>
          <p:cNvSpPr/>
          <p:nvPr/>
        </p:nvSpPr>
        <p:spPr>
          <a:xfrm>
            <a:off x="5620196" y="2721918"/>
            <a:ext cx="211768" cy="106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84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v_proj</a:t>
            </a:r>
            <a:endParaRPr lang="en-US" sz="600" dirty="0"/>
          </a:p>
        </p:txBody>
      </p:sp>
      <p:sp>
        <p:nvSpPr>
          <p:cNvPr id="51" name="Text 49"/>
          <p:cNvSpPr/>
          <p:nvPr/>
        </p:nvSpPr>
        <p:spPr>
          <a:xfrm>
            <a:off x="5942112" y="2655243"/>
            <a:ext cx="364331" cy="239911"/>
          </a:xfrm>
          <a:prstGeom prst="roundRect">
            <a:avLst>
              <a:gd name="adj" fmla="val 11911"/>
            </a:avLst>
          </a:prstGeom>
          <a:solidFill>
            <a:srgbClr val="011F5B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2" name="Text 50"/>
          <p:cNvSpPr/>
          <p:nvPr/>
        </p:nvSpPr>
        <p:spPr>
          <a:xfrm>
            <a:off x="6018312" y="2721918"/>
            <a:ext cx="216170" cy="106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84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o_proj</a:t>
            </a:r>
            <a:endParaRPr lang="en-US" sz="600" dirty="0"/>
          </a:p>
        </p:txBody>
      </p:sp>
      <p:sp>
        <p:nvSpPr>
          <p:cNvPr id="53" name="Text 51"/>
          <p:cNvSpPr/>
          <p:nvPr/>
        </p:nvSpPr>
        <p:spPr>
          <a:xfrm>
            <a:off x="4743450" y="2933254"/>
            <a:ext cx="470148" cy="239911"/>
          </a:xfrm>
          <a:prstGeom prst="roundRect">
            <a:avLst>
              <a:gd name="adj" fmla="val 11911"/>
            </a:avLst>
          </a:prstGeom>
          <a:solidFill>
            <a:srgbClr val="99000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4" name="Text 52"/>
          <p:cNvSpPr/>
          <p:nvPr/>
        </p:nvSpPr>
        <p:spPr>
          <a:xfrm>
            <a:off x="4819650" y="2999929"/>
            <a:ext cx="324103" cy="106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84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gate_proj</a:t>
            </a:r>
            <a:endParaRPr lang="en-US" sz="600" dirty="0"/>
          </a:p>
        </p:txBody>
      </p:sp>
      <p:sp>
        <p:nvSpPr>
          <p:cNvPr id="55" name="Text 53"/>
          <p:cNvSpPr/>
          <p:nvPr/>
        </p:nvSpPr>
        <p:spPr>
          <a:xfrm>
            <a:off x="5251698" y="2933254"/>
            <a:ext cx="406598" cy="239911"/>
          </a:xfrm>
          <a:prstGeom prst="roundRect">
            <a:avLst>
              <a:gd name="adj" fmla="val 11911"/>
            </a:avLst>
          </a:prstGeom>
          <a:solidFill>
            <a:srgbClr val="99000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6" name="Text 54"/>
          <p:cNvSpPr/>
          <p:nvPr/>
        </p:nvSpPr>
        <p:spPr>
          <a:xfrm>
            <a:off x="5327898" y="2999929"/>
            <a:ext cx="259282" cy="106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84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up_proj</a:t>
            </a:r>
            <a:endParaRPr lang="en-US" sz="600" dirty="0"/>
          </a:p>
        </p:txBody>
      </p:sp>
      <p:sp>
        <p:nvSpPr>
          <p:cNvPr id="57" name="Text 55"/>
          <p:cNvSpPr/>
          <p:nvPr/>
        </p:nvSpPr>
        <p:spPr>
          <a:xfrm>
            <a:off x="5696396" y="2933254"/>
            <a:ext cx="504081" cy="239911"/>
          </a:xfrm>
          <a:prstGeom prst="roundRect">
            <a:avLst>
              <a:gd name="adj" fmla="val 11911"/>
            </a:avLst>
          </a:prstGeom>
          <a:solidFill>
            <a:srgbClr val="99000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8" name="Text 56"/>
          <p:cNvSpPr/>
          <p:nvPr/>
        </p:nvSpPr>
        <p:spPr>
          <a:xfrm>
            <a:off x="5772596" y="2999929"/>
            <a:ext cx="358714" cy="106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84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down_proj</a:t>
            </a:r>
            <a:endParaRPr lang="en-US" sz="600" dirty="0"/>
          </a:p>
        </p:txBody>
      </p:sp>
      <p:sp>
        <p:nvSpPr>
          <p:cNvPr id="59" name="Text 57"/>
          <p:cNvSpPr/>
          <p:nvPr/>
        </p:nvSpPr>
        <p:spPr>
          <a:xfrm>
            <a:off x="4648200" y="4177754"/>
            <a:ext cx="4114800" cy="546646"/>
          </a:xfrm>
          <a:prstGeom prst="roundRect">
            <a:avLst>
              <a:gd name="adj" fmla="val 6970"/>
            </a:avLst>
          </a:prstGeom>
          <a:solidFill>
            <a:srgbClr val="011F5B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0" name="Text 58"/>
          <p:cNvSpPr/>
          <p:nvPr/>
        </p:nvSpPr>
        <p:spPr>
          <a:xfrm>
            <a:off x="5227302" y="4292054"/>
            <a:ext cx="302395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47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8.4M</a:t>
            </a:r>
            <a:endParaRPr lang="en-US" sz="1050" dirty="0"/>
          </a:p>
        </p:txBody>
      </p:sp>
      <p:sp>
        <p:nvSpPr>
          <p:cNvPr id="61" name="Text 59"/>
          <p:cNvSpPr/>
          <p:nvPr/>
        </p:nvSpPr>
        <p:spPr>
          <a:xfrm>
            <a:off x="5227302" y="4516785"/>
            <a:ext cx="302395" cy="933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735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525" dirty="0">
                <a:solidFill>
                  <a:srgbClr val="FFFFFF">
                    <a:alpha val="67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Trainable</a:t>
            </a:r>
            <a:endParaRPr lang="en-US" sz="525" dirty="0"/>
          </a:p>
        </p:txBody>
      </p:sp>
      <p:sp>
        <p:nvSpPr>
          <p:cNvPr id="62" name="Text 60"/>
          <p:cNvSpPr/>
          <p:nvPr/>
        </p:nvSpPr>
        <p:spPr>
          <a:xfrm>
            <a:off x="6535798" y="4292054"/>
            <a:ext cx="287366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47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2hrs</a:t>
            </a:r>
            <a:endParaRPr lang="en-US" sz="1050" dirty="0"/>
          </a:p>
        </p:txBody>
      </p:sp>
      <p:sp>
        <p:nvSpPr>
          <p:cNvPr id="63" name="Text 61"/>
          <p:cNvSpPr/>
          <p:nvPr/>
        </p:nvSpPr>
        <p:spPr>
          <a:xfrm>
            <a:off x="6535798" y="4516785"/>
            <a:ext cx="287366" cy="933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735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525" dirty="0">
                <a:solidFill>
                  <a:srgbClr val="FFFFFF">
                    <a:alpha val="67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Training</a:t>
            </a:r>
            <a:endParaRPr lang="en-US" sz="525" dirty="0"/>
          </a:p>
        </p:txBody>
      </p:sp>
      <p:sp>
        <p:nvSpPr>
          <p:cNvPr id="64" name="Text 62"/>
          <p:cNvSpPr/>
          <p:nvPr/>
        </p:nvSpPr>
        <p:spPr>
          <a:xfrm>
            <a:off x="7828745" y="4292054"/>
            <a:ext cx="355375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47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24GB</a:t>
            </a:r>
            <a:endParaRPr lang="en-US" sz="1050" dirty="0"/>
          </a:p>
        </p:txBody>
      </p:sp>
      <p:sp>
        <p:nvSpPr>
          <p:cNvPr id="65" name="Text 63"/>
          <p:cNvSpPr/>
          <p:nvPr/>
        </p:nvSpPr>
        <p:spPr>
          <a:xfrm>
            <a:off x="7828745" y="4516785"/>
            <a:ext cx="355375" cy="933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735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525" dirty="0">
                <a:solidFill>
                  <a:srgbClr val="FFFFFF">
                    <a:alpha val="67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Memory</a:t>
            </a:r>
            <a:endParaRPr lang="en-US" sz="525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381000"/>
            <a:ext cx="4284536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500" b="1" dirty="0">
                <a:solidFill>
                  <a:srgbClr val="011F5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 LoRA?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381000" y="600075"/>
            <a:ext cx="952500" cy="28575"/>
          </a:xfrm>
          <a:prstGeom prst="rect">
            <a:avLst/>
          </a:prstGeom>
          <a:solidFill>
            <a:srgbClr val="99000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381000" y="838200"/>
            <a:ext cx="4124325" cy="1152376"/>
          </a:xfrm>
          <a:prstGeom prst="roundRect">
            <a:avLst>
              <a:gd name="adj" fmla="val 4133"/>
            </a:avLst>
          </a:prstGeom>
          <a:solidFill>
            <a:srgbClr val="F8F8F8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Shape 3"/>
          <p:cNvSpPr/>
          <p:nvPr/>
        </p:nvSpPr>
        <p:spPr>
          <a:xfrm>
            <a:off x="381000" y="852488"/>
            <a:ext cx="4124325" cy="0"/>
          </a:xfrm>
          <a:prstGeom prst="line">
            <a:avLst/>
          </a:prstGeom>
          <a:noFill/>
          <a:ln w="28575">
            <a:solidFill>
              <a:srgbClr val="99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476250" y="962025"/>
            <a:ext cx="4012501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00"/>
              </a:lnSpc>
              <a:spcAft>
                <a:spcPts val="300"/>
              </a:spcAft>
              <a:buNone/>
            </a:pPr>
            <a:r>
              <a:rPr lang="en-US" sz="750" b="1" dirty="0">
                <a:solidFill>
                  <a:srgbClr val="9900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LOW-RANK ADAPTATION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476250" y="1114425"/>
            <a:ext cx="3933825" cy="407640"/>
          </a:xfrm>
          <a:prstGeom prst="roundRect">
            <a:avLst>
              <a:gd name="adj" fmla="val 9346"/>
            </a:avLst>
          </a:prstGeom>
          <a:solidFill>
            <a:srgbClr val="FFFFFF"/>
          </a:solidFill>
          <a:ln w="9525">
            <a:solidFill>
              <a:srgbClr val="DDDDDD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524351" y="1238250"/>
            <a:ext cx="3837622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26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9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 = W0x + (α/r)BAx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476250" y="1579215"/>
            <a:ext cx="4012501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45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675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W0: Frozen (3.2B)</a:t>
            </a:r>
            <a:endParaRPr lang="en-US" sz="675" dirty="0"/>
          </a:p>
        </p:txBody>
      </p:sp>
      <p:sp>
        <p:nvSpPr>
          <p:cNvPr id="10" name="Text 8"/>
          <p:cNvSpPr/>
          <p:nvPr/>
        </p:nvSpPr>
        <p:spPr>
          <a:xfrm>
            <a:off x="476250" y="1737271"/>
            <a:ext cx="4012501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45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675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B,A: Trainable, r=16, α=32</a:t>
            </a:r>
            <a:endParaRPr lang="en-US" sz="675" dirty="0"/>
          </a:p>
        </p:txBody>
      </p:sp>
      <p:sp>
        <p:nvSpPr>
          <p:cNvPr id="11" name="Text 9"/>
          <p:cNvSpPr/>
          <p:nvPr/>
        </p:nvSpPr>
        <p:spPr>
          <a:xfrm>
            <a:off x="381000" y="2047726"/>
            <a:ext cx="4124325" cy="817066"/>
          </a:xfrm>
          <a:prstGeom prst="roundRect">
            <a:avLst>
              <a:gd name="adj" fmla="val 5829"/>
            </a:avLst>
          </a:prstGeom>
          <a:solidFill>
            <a:srgbClr val="F8F8F8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2" name="Shape 10"/>
          <p:cNvSpPr/>
          <p:nvPr/>
        </p:nvSpPr>
        <p:spPr>
          <a:xfrm>
            <a:off x="395288" y="2047726"/>
            <a:ext cx="0" cy="817066"/>
          </a:xfrm>
          <a:prstGeom prst="line">
            <a:avLst/>
          </a:prstGeom>
          <a:noFill/>
          <a:ln w="28575">
            <a:solidFill>
              <a:srgbClr val="99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504825" y="2142976"/>
            <a:ext cx="3983355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00"/>
              </a:lnSpc>
              <a:spcAft>
                <a:spcPts val="300"/>
              </a:spcAft>
              <a:buNone/>
            </a:pPr>
            <a:r>
              <a:rPr lang="en-US" sz="750" b="1" dirty="0">
                <a:solidFill>
                  <a:srgbClr val="9900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 NOT FULL FINE-TUNE?</a:t>
            </a:r>
            <a:endParaRPr lang="en-US" sz="750" dirty="0"/>
          </a:p>
        </p:txBody>
      </p:sp>
      <p:sp>
        <p:nvSpPr>
          <p:cNvPr id="14" name="Text 12"/>
          <p:cNvSpPr/>
          <p:nvPr/>
        </p:nvSpPr>
        <p:spPr>
          <a:xfrm>
            <a:off x="504825" y="2295376"/>
            <a:ext cx="3983355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45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675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3.2B params = massive memory</a:t>
            </a:r>
            <a:endParaRPr lang="en-US" sz="675" dirty="0"/>
          </a:p>
        </p:txBody>
      </p:sp>
      <p:sp>
        <p:nvSpPr>
          <p:cNvPr id="15" name="Text 13"/>
          <p:cNvSpPr/>
          <p:nvPr/>
        </p:nvSpPr>
        <p:spPr>
          <a:xfrm>
            <a:off x="504825" y="2453432"/>
            <a:ext cx="3983355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45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675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Catastrophic forgetting risk</a:t>
            </a:r>
            <a:endParaRPr lang="en-US" sz="675" dirty="0"/>
          </a:p>
        </p:txBody>
      </p:sp>
      <p:sp>
        <p:nvSpPr>
          <p:cNvPr id="16" name="Text 14"/>
          <p:cNvSpPr/>
          <p:nvPr/>
        </p:nvSpPr>
        <p:spPr>
          <a:xfrm>
            <a:off x="504825" y="2611487"/>
            <a:ext cx="3983355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45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675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Multiple GPUs required</a:t>
            </a:r>
            <a:endParaRPr lang="en-US" sz="675" dirty="0"/>
          </a:p>
        </p:txBody>
      </p:sp>
      <p:sp>
        <p:nvSpPr>
          <p:cNvPr id="17" name="Text 15"/>
          <p:cNvSpPr/>
          <p:nvPr/>
        </p:nvSpPr>
        <p:spPr>
          <a:xfrm>
            <a:off x="4638675" y="838200"/>
            <a:ext cx="4124325" cy="956072"/>
          </a:xfrm>
          <a:prstGeom prst="roundRect">
            <a:avLst>
              <a:gd name="adj" fmla="val 4981"/>
            </a:avLst>
          </a:prstGeom>
          <a:solidFill>
            <a:srgbClr val="011F5B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4694587" y="971550"/>
            <a:ext cx="4012501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945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675" dirty="0">
                <a:solidFill>
                  <a:srgbClr val="FFFFFF">
                    <a:alpha val="67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TRAINABLE</a:t>
            </a:r>
            <a:endParaRPr lang="en-US" sz="675" dirty="0"/>
          </a:p>
        </p:txBody>
      </p:sp>
      <p:sp>
        <p:nvSpPr>
          <p:cNvPr id="19" name="Text 17"/>
          <p:cNvSpPr/>
          <p:nvPr/>
        </p:nvSpPr>
        <p:spPr>
          <a:xfrm>
            <a:off x="4694587" y="1129605"/>
            <a:ext cx="4012501" cy="3732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94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2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8.4M</a:t>
            </a:r>
            <a:endParaRPr lang="en-US" sz="2100" dirty="0"/>
          </a:p>
        </p:txBody>
      </p:sp>
      <p:sp>
        <p:nvSpPr>
          <p:cNvPr id="20" name="Text 18"/>
          <p:cNvSpPr/>
          <p:nvPr/>
        </p:nvSpPr>
        <p:spPr>
          <a:xfrm>
            <a:off x="4694587" y="1540966"/>
            <a:ext cx="4012501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945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675" dirty="0">
                <a:solidFill>
                  <a:srgbClr val="FFFFFF">
                    <a:alpha val="8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 3.2B (0.26%)</a:t>
            </a:r>
            <a:endParaRPr lang="en-US" sz="675" dirty="0"/>
          </a:p>
        </p:txBody>
      </p:sp>
      <p:sp>
        <p:nvSpPr>
          <p:cNvPr id="21" name="Text 19"/>
          <p:cNvSpPr/>
          <p:nvPr/>
        </p:nvSpPr>
        <p:spPr>
          <a:xfrm>
            <a:off x="4638675" y="1851422"/>
            <a:ext cx="4124325" cy="674340"/>
          </a:xfrm>
          <a:prstGeom prst="roundRect">
            <a:avLst>
              <a:gd name="adj" fmla="val 7062"/>
            </a:avLst>
          </a:prstGeom>
          <a:solidFill>
            <a:srgbClr val="F8F8F8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4733925" y="1946672"/>
            <a:ext cx="4012501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00"/>
              </a:lnSpc>
              <a:spcAft>
                <a:spcPts val="450"/>
              </a:spcAft>
              <a:buNone/>
            </a:pPr>
            <a:r>
              <a:rPr lang="en-US" sz="750" b="1" dirty="0">
                <a:solidFill>
                  <a:srgbClr val="011F5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TARGETS (7)</a:t>
            </a:r>
            <a:endParaRPr lang="en-US" sz="750" dirty="0"/>
          </a:p>
        </p:txBody>
      </p:sp>
      <p:sp>
        <p:nvSpPr>
          <p:cNvPr id="23" name="Text 21"/>
          <p:cNvSpPr/>
          <p:nvPr/>
        </p:nvSpPr>
        <p:spPr>
          <a:xfrm>
            <a:off x="4733925" y="2299097"/>
            <a:ext cx="4012501" cy="933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735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525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Blue=Attention, Red=FFN</a:t>
            </a:r>
            <a:endParaRPr lang="en-US" sz="525" dirty="0"/>
          </a:p>
        </p:txBody>
      </p:sp>
      <p:sp>
        <p:nvSpPr>
          <p:cNvPr id="24" name="Text 22"/>
          <p:cNvSpPr/>
          <p:nvPr/>
        </p:nvSpPr>
        <p:spPr>
          <a:xfrm>
            <a:off x="4638675" y="2582912"/>
            <a:ext cx="4124325" cy="546646"/>
          </a:xfrm>
          <a:prstGeom prst="roundRect">
            <a:avLst>
              <a:gd name="adj" fmla="val 8712"/>
            </a:avLst>
          </a:prstGeom>
          <a:solidFill>
            <a:srgbClr val="F8F8F8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5" name="Text 23"/>
          <p:cNvSpPr/>
          <p:nvPr/>
        </p:nvSpPr>
        <p:spPr>
          <a:xfrm>
            <a:off x="5191659" y="2697212"/>
            <a:ext cx="355375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47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050" b="1" dirty="0">
                <a:solidFill>
                  <a:srgbClr val="011F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24GB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5191659" y="2921943"/>
            <a:ext cx="355375" cy="933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735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525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Memory</a:t>
            </a:r>
            <a:endParaRPr lang="en-US" sz="525" dirty="0"/>
          </a:p>
        </p:txBody>
      </p:sp>
      <p:sp>
        <p:nvSpPr>
          <p:cNvPr id="27" name="Text 25"/>
          <p:cNvSpPr/>
          <p:nvPr/>
        </p:nvSpPr>
        <p:spPr>
          <a:xfrm>
            <a:off x="6499564" y="2697212"/>
            <a:ext cx="476515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47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050" b="1" dirty="0">
                <a:solidFill>
                  <a:srgbClr val="011F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1xA100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6499564" y="2921943"/>
            <a:ext cx="476515" cy="933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735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525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GPU</a:t>
            </a:r>
            <a:endParaRPr lang="en-US" sz="525" dirty="0"/>
          </a:p>
        </p:txBody>
      </p:sp>
      <p:sp>
        <p:nvSpPr>
          <p:cNvPr id="29" name="Text 27"/>
          <p:cNvSpPr/>
          <p:nvPr/>
        </p:nvSpPr>
        <p:spPr>
          <a:xfrm>
            <a:off x="7929350" y="2697212"/>
            <a:ext cx="279776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47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050" b="1" dirty="0">
                <a:solidFill>
                  <a:srgbClr val="011F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bf16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7929350" y="2921943"/>
            <a:ext cx="279776" cy="933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735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525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Precision</a:t>
            </a:r>
            <a:endParaRPr lang="en-US" sz="525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011F5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274320" y="109728"/>
            <a:ext cx="8595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LoRA: Low-Rank Adaptation for Efficient Fine-tuning</a:t>
            </a:r>
            <a:endParaRPr lang="en-US" sz="1800" dirty="0"/>
          </a:p>
        </p:txBody>
      </p:sp>
      <p:pic>
        <p:nvPicPr>
          <p:cNvPr id="4" name="Image 0" descr="/home/claude/pptx/img_lora.png"/>
          <p:cNvPicPr>
            <a:picLocks noChangeAspect="1"/>
          </p:cNvPicPr>
          <p:nvPr/>
        </p:nvPicPr>
        <p:blipFill>
          <a:blip r:embed="rId3"/>
          <a:srcRect t="8571"/>
          <a:stretch>
            <a:fillRect/>
          </a:stretch>
        </p:blipFill>
        <p:spPr>
          <a:xfrm>
            <a:off x="274320" y="914400"/>
            <a:ext cx="8595360" cy="3845705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381000"/>
            <a:ext cx="4284536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500" b="1" dirty="0">
                <a:solidFill>
                  <a:srgbClr val="011F5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LoRA: Mathematical Foundation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381000" y="600075"/>
            <a:ext cx="1905000" cy="28575"/>
          </a:xfrm>
          <a:prstGeom prst="rect">
            <a:avLst/>
          </a:prstGeom>
          <a:solidFill>
            <a:srgbClr val="99000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381000" y="838200"/>
            <a:ext cx="4124325" cy="558105"/>
          </a:xfrm>
          <a:prstGeom prst="roundRect">
            <a:avLst>
              <a:gd name="adj" fmla="val 8533"/>
            </a:avLst>
          </a:prstGeom>
          <a:solidFill>
            <a:srgbClr val="011F5B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495300" y="952500"/>
            <a:ext cx="397364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00"/>
              </a:lnSpc>
              <a:spcAft>
                <a:spcPts val="450"/>
              </a:spcAft>
              <a:buNone/>
            </a:pPr>
            <a:r>
              <a:rPr lang="en-US" sz="7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CORE IDEA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495300" y="1123950"/>
            <a:ext cx="3973640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45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675" dirty="0">
                <a:solidFill>
                  <a:srgbClr val="FFFFFF">
                    <a:alpha val="8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Instead of updating all 3.2B parameters, decompose weight updates into low-rank matrices</a:t>
            </a:r>
            <a:endParaRPr lang="en-US" sz="675" dirty="0"/>
          </a:p>
        </p:txBody>
      </p:sp>
      <p:sp>
        <p:nvSpPr>
          <p:cNvPr id="7" name="Text 5"/>
          <p:cNvSpPr/>
          <p:nvPr/>
        </p:nvSpPr>
        <p:spPr>
          <a:xfrm>
            <a:off x="381000" y="1453455"/>
            <a:ext cx="4124325" cy="1350169"/>
          </a:xfrm>
          <a:prstGeom prst="roundRect">
            <a:avLst>
              <a:gd name="adj" fmla="val 3527"/>
            </a:avLst>
          </a:prstGeom>
          <a:solidFill>
            <a:srgbClr val="F8F8F8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" name="Shape 6"/>
          <p:cNvSpPr/>
          <p:nvPr/>
        </p:nvSpPr>
        <p:spPr>
          <a:xfrm>
            <a:off x="395288" y="1453455"/>
            <a:ext cx="0" cy="1350169"/>
          </a:xfrm>
          <a:prstGeom prst="line">
            <a:avLst/>
          </a:prstGeom>
          <a:noFill/>
          <a:ln w="28575">
            <a:solidFill>
              <a:srgbClr val="99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523875" y="1567755"/>
            <a:ext cx="3944493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00"/>
              </a:lnSpc>
              <a:spcAft>
                <a:spcPts val="450"/>
              </a:spcAft>
              <a:buNone/>
            </a:pPr>
            <a:r>
              <a:rPr lang="en-US" sz="750" b="1" dirty="0">
                <a:solidFill>
                  <a:srgbClr val="9900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FORWARD PASS</a:t>
            </a:r>
            <a:endParaRPr lang="en-US" sz="750" dirty="0"/>
          </a:p>
        </p:txBody>
      </p:sp>
      <p:sp>
        <p:nvSpPr>
          <p:cNvPr id="10" name="Text 8"/>
          <p:cNvSpPr/>
          <p:nvPr/>
        </p:nvSpPr>
        <p:spPr>
          <a:xfrm>
            <a:off x="523875" y="1739205"/>
            <a:ext cx="3867150" cy="458986"/>
          </a:xfrm>
          <a:prstGeom prst="roundRect">
            <a:avLst>
              <a:gd name="adj" fmla="val 8301"/>
            </a:avLst>
          </a:prstGeom>
          <a:solidFill>
            <a:srgbClr val="FFFFFF"/>
          </a:solidFill>
          <a:ln w="9525">
            <a:solidFill>
              <a:srgbClr val="DDDDDD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592074" y="1882080"/>
            <a:ext cx="3730752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365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975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 = W₀x + ΔWx = W₀x + BAx</a:t>
            </a:r>
            <a:endParaRPr lang="en-US" sz="975" dirty="0"/>
          </a:p>
        </p:txBody>
      </p:sp>
      <p:sp>
        <p:nvSpPr>
          <p:cNvPr id="12" name="Text 10"/>
          <p:cNvSpPr/>
          <p:nvPr/>
        </p:nvSpPr>
        <p:spPr>
          <a:xfrm>
            <a:off x="523875" y="2255341"/>
            <a:ext cx="3944493" cy="106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840"/>
              </a:lnSpc>
              <a:spcBef>
                <a:spcPts val="450"/>
              </a:spcBef>
              <a:spcAft>
                <a:spcPts val="300"/>
              </a:spcAft>
              <a:buNone/>
            </a:pPr>
            <a:r>
              <a:rPr lang="en-US" sz="6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W₀ : Original weights (FROZEN)</a:t>
            </a:r>
            <a:endParaRPr lang="en-US" sz="600" dirty="0"/>
          </a:p>
        </p:txBody>
      </p:sp>
      <p:sp>
        <p:nvSpPr>
          <p:cNvPr id="13" name="Text 11"/>
          <p:cNvSpPr/>
          <p:nvPr/>
        </p:nvSpPr>
        <p:spPr>
          <a:xfrm>
            <a:off x="523875" y="2400002"/>
            <a:ext cx="3944493" cy="106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84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6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 : Down-projection (d × r)</a:t>
            </a:r>
            <a:endParaRPr lang="en-US" sz="600" dirty="0"/>
          </a:p>
        </p:txBody>
      </p:sp>
      <p:sp>
        <p:nvSpPr>
          <p:cNvPr id="14" name="Text 12"/>
          <p:cNvSpPr/>
          <p:nvPr/>
        </p:nvSpPr>
        <p:spPr>
          <a:xfrm>
            <a:off x="523875" y="2544663"/>
            <a:ext cx="3944493" cy="106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84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6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: Up-projection (r × k)</a:t>
            </a:r>
            <a:endParaRPr lang="en-US" sz="600" dirty="0"/>
          </a:p>
        </p:txBody>
      </p:sp>
      <p:sp>
        <p:nvSpPr>
          <p:cNvPr id="15" name="Text 13"/>
          <p:cNvSpPr/>
          <p:nvPr/>
        </p:nvSpPr>
        <p:spPr>
          <a:xfrm>
            <a:off x="381000" y="2860774"/>
            <a:ext cx="4124325" cy="1005483"/>
          </a:xfrm>
          <a:prstGeom prst="roundRect">
            <a:avLst>
              <a:gd name="adj" fmla="val 4737"/>
            </a:avLst>
          </a:prstGeom>
          <a:solidFill>
            <a:srgbClr val="F8F8F8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6" name="Shape 14"/>
          <p:cNvSpPr/>
          <p:nvPr/>
        </p:nvSpPr>
        <p:spPr>
          <a:xfrm>
            <a:off x="395288" y="2860774"/>
            <a:ext cx="0" cy="1005483"/>
          </a:xfrm>
          <a:prstGeom prst="line">
            <a:avLst/>
          </a:prstGeom>
          <a:noFill/>
          <a:ln w="28575">
            <a:solidFill>
              <a:srgbClr val="19875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523875" y="2975074"/>
            <a:ext cx="3944493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00"/>
              </a:lnSpc>
              <a:spcAft>
                <a:spcPts val="450"/>
              </a:spcAft>
              <a:buNone/>
            </a:pPr>
            <a:r>
              <a:rPr lang="en-US" sz="750" b="1" dirty="0">
                <a:solidFill>
                  <a:srgbClr val="19875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PARAMETER REDUCTION</a:t>
            </a:r>
            <a:endParaRPr lang="en-US" sz="750" dirty="0"/>
          </a:p>
        </p:txBody>
      </p:sp>
      <p:sp>
        <p:nvSpPr>
          <p:cNvPr id="18" name="Text 16"/>
          <p:cNvSpPr/>
          <p:nvPr/>
        </p:nvSpPr>
        <p:spPr>
          <a:xfrm>
            <a:off x="523875" y="3146524"/>
            <a:ext cx="3944493" cy="106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84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 fine-tune: d × k parameters</a:t>
            </a:r>
            <a:endParaRPr lang="en-US" sz="600" dirty="0"/>
          </a:p>
        </p:txBody>
      </p:sp>
      <p:sp>
        <p:nvSpPr>
          <p:cNvPr id="19" name="Text 17"/>
          <p:cNvSpPr/>
          <p:nvPr/>
        </p:nvSpPr>
        <p:spPr>
          <a:xfrm>
            <a:off x="523875" y="3291185"/>
            <a:ext cx="3944493" cy="106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84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LoRA: r × (d + k) parameters</a:t>
            </a:r>
            <a:endParaRPr lang="en-US" sz="600" dirty="0"/>
          </a:p>
        </p:txBody>
      </p:sp>
      <p:sp>
        <p:nvSpPr>
          <p:cNvPr id="20" name="Text 18"/>
          <p:cNvSpPr/>
          <p:nvPr/>
        </p:nvSpPr>
        <p:spPr>
          <a:xfrm>
            <a:off x="523875" y="3454896"/>
            <a:ext cx="3867150" cy="297061"/>
          </a:xfrm>
          <a:prstGeom prst="roundRect">
            <a:avLst>
              <a:gd name="adj" fmla="val 9619"/>
            </a:avLst>
          </a:prstGeom>
          <a:solidFill>
            <a:srgbClr val="D4EDD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581025" y="3550146"/>
            <a:ext cx="3827907" cy="106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84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600" dirty="0">
                <a:solidFill>
                  <a:srgbClr val="1557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With r=16, d=3072: </a:t>
            </a:r>
            <a:r>
              <a:rPr lang="en-US" sz="600" b="1" dirty="0">
                <a:solidFill>
                  <a:srgbClr val="1557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99.74% reduction!</a:t>
            </a:r>
            <a:endParaRPr lang="en-US" sz="600" dirty="0"/>
          </a:p>
        </p:txBody>
      </p:sp>
      <p:sp>
        <p:nvSpPr>
          <p:cNvPr id="22" name="Text 20"/>
          <p:cNvSpPr/>
          <p:nvPr/>
        </p:nvSpPr>
        <p:spPr>
          <a:xfrm>
            <a:off x="4638675" y="838200"/>
            <a:ext cx="4124325" cy="1350169"/>
          </a:xfrm>
          <a:prstGeom prst="roundRect">
            <a:avLst>
              <a:gd name="adj" fmla="val 3527"/>
            </a:avLst>
          </a:prstGeom>
          <a:solidFill>
            <a:srgbClr val="F8F8F8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3" name="Shape 21"/>
          <p:cNvSpPr/>
          <p:nvPr/>
        </p:nvSpPr>
        <p:spPr>
          <a:xfrm>
            <a:off x="4652963" y="838200"/>
            <a:ext cx="0" cy="1350169"/>
          </a:xfrm>
          <a:prstGeom prst="line">
            <a:avLst/>
          </a:prstGeom>
          <a:noFill/>
          <a:ln w="28575">
            <a:solidFill>
              <a:srgbClr val="FFC10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4781550" y="952500"/>
            <a:ext cx="3944493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00"/>
              </a:lnSpc>
              <a:spcAft>
                <a:spcPts val="450"/>
              </a:spcAft>
              <a:buNone/>
            </a:pPr>
            <a:r>
              <a:rPr lang="en-US" sz="750" b="1" dirty="0">
                <a:solidFill>
                  <a:srgbClr val="997A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SCALING FACTOR</a:t>
            </a:r>
            <a:endParaRPr lang="en-US" sz="750" dirty="0"/>
          </a:p>
        </p:txBody>
      </p:sp>
      <p:sp>
        <p:nvSpPr>
          <p:cNvPr id="25" name="Text 23"/>
          <p:cNvSpPr/>
          <p:nvPr/>
        </p:nvSpPr>
        <p:spPr>
          <a:xfrm>
            <a:off x="4781550" y="1123950"/>
            <a:ext cx="3867150" cy="458986"/>
          </a:xfrm>
          <a:prstGeom prst="roundRect">
            <a:avLst>
              <a:gd name="adj" fmla="val 8301"/>
            </a:avLst>
          </a:prstGeom>
          <a:solidFill>
            <a:srgbClr val="FFFFFF"/>
          </a:solidFill>
          <a:ln w="9525">
            <a:solidFill>
              <a:srgbClr val="DDDDDD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6" name="Text 24"/>
          <p:cNvSpPr/>
          <p:nvPr/>
        </p:nvSpPr>
        <p:spPr>
          <a:xfrm>
            <a:off x="4849749" y="1266825"/>
            <a:ext cx="3730752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365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975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ΔW = (α/r) × BA</a:t>
            </a:r>
            <a:endParaRPr lang="en-US" sz="975" dirty="0"/>
          </a:p>
        </p:txBody>
      </p:sp>
      <p:sp>
        <p:nvSpPr>
          <p:cNvPr id="27" name="Text 25"/>
          <p:cNvSpPr/>
          <p:nvPr/>
        </p:nvSpPr>
        <p:spPr>
          <a:xfrm>
            <a:off x="4781550" y="1640086"/>
            <a:ext cx="3944493" cy="106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840"/>
              </a:lnSpc>
              <a:spcBef>
                <a:spcPts val="450"/>
              </a:spcBef>
              <a:spcAft>
                <a:spcPts val="300"/>
              </a:spcAft>
              <a:buNone/>
            </a:pPr>
            <a:r>
              <a:rPr lang="en-US" sz="6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α (alpha) = 32 : Scaling hyperparameter</a:t>
            </a:r>
            <a:endParaRPr lang="en-US" sz="600" dirty="0"/>
          </a:p>
        </p:txBody>
      </p:sp>
      <p:sp>
        <p:nvSpPr>
          <p:cNvPr id="28" name="Text 26"/>
          <p:cNvSpPr/>
          <p:nvPr/>
        </p:nvSpPr>
        <p:spPr>
          <a:xfrm>
            <a:off x="4781550" y="1784747"/>
            <a:ext cx="3944493" cy="106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84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6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 (rank) = 16 : Bottleneck dimension</a:t>
            </a:r>
            <a:endParaRPr lang="en-US" sz="600" dirty="0"/>
          </a:p>
        </p:txBody>
      </p:sp>
      <p:sp>
        <p:nvSpPr>
          <p:cNvPr id="29" name="Text 27"/>
          <p:cNvSpPr/>
          <p:nvPr/>
        </p:nvSpPr>
        <p:spPr>
          <a:xfrm>
            <a:off x="4781550" y="1929408"/>
            <a:ext cx="3944493" cy="106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84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6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Effective scaling: α/r = 32/16 = 2</a:t>
            </a:r>
            <a:endParaRPr lang="en-US" sz="600" dirty="0"/>
          </a:p>
        </p:txBody>
      </p:sp>
      <p:sp>
        <p:nvSpPr>
          <p:cNvPr id="30" name="Text 28"/>
          <p:cNvSpPr/>
          <p:nvPr/>
        </p:nvSpPr>
        <p:spPr>
          <a:xfrm>
            <a:off x="4638675" y="2245519"/>
            <a:ext cx="4124325" cy="1245394"/>
          </a:xfrm>
          <a:prstGeom prst="roundRect">
            <a:avLst>
              <a:gd name="adj" fmla="val 3824"/>
            </a:avLst>
          </a:prstGeom>
          <a:solidFill>
            <a:srgbClr val="F8F8F8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1" name="Text 29"/>
          <p:cNvSpPr/>
          <p:nvPr/>
        </p:nvSpPr>
        <p:spPr>
          <a:xfrm>
            <a:off x="4752975" y="2359819"/>
            <a:ext cx="397364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00"/>
              </a:lnSpc>
              <a:spcAft>
                <a:spcPts val="450"/>
              </a:spcAft>
              <a:buNone/>
            </a:pPr>
            <a:r>
              <a:rPr lang="en-US" sz="750" b="1" dirty="0">
                <a:solidFill>
                  <a:srgbClr val="011F5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OUR CONFIGURATION</a:t>
            </a:r>
            <a:endParaRPr lang="en-US" sz="750" dirty="0"/>
          </a:p>
        </p:txBody>
      </p:sp>
      <p:sp>
        <p:nvSpPr>
          <p:cNvPr id="32" name="Text 30"/>
          <p:cNvSpPr/>
          <p:nvPr/>
        </p:nvSpPr>
        <p:spPr>
          <a:xfrm>
            <a:off x="4752975" y="2569369"/>
            <a:ext cx="1967389" cy="106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84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6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Rank (r):</a:t>
            </a:r>
            <a:endParaRPr lang="en-US" sz="600" dirty="0"/>
          </a:p>
        </p:txBody>
      </p:sp>
      <p:sp>
        <p:nvSpPr>
          <p:cNvPr id="33" name="Text 31"/>
          <p:cNvSpPr/>
          <p:nvPr/>
        </p:nvSpPr>
        <p:spPr>
          <a:xfrm>
            <a:off x="6719888" y="2569369"/>
            <a:ext cx="1967389" cy="106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84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6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</a:t>
            </a:r>
            <a:endParaRPr lang="en-US" sz="600" dirty="0"/>
          </a:p>
        </p:txBody>
      </p:sp>
      <p:sp>
        <p:nvSpPr>
          <p:cNvPr id="34" name="Text 32"/>
          <p:cNvSpPr/>
          <p:nvPr/>
        </p:nvSpPr>
        <p:spPr>
          <a:xfrm>
            <a:off x="4752975" y="2790230"/>
            <a:ext cx="1967389" cy="106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84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6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Alpha (α):</a:t>
            </a:r>
            <a:endParaRPr lang="en-US" sz="600" dirty="0"/>
          </a:p>
        </p:txBody>
      </p:sp>
      <p:sp>
        <p:nvSpPr>
          <p:cNvPr id="35" name="Text 33"/>
          <p:cNvSpPr/>
          <p:nvPr/>
        </p:nvSpPr>
        <p:spPr>
          <a:xfrm>
            <a:off x="6719888" y="2790230"/>
            <a:ext cx="1967389" cy="106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84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6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32</a:t>
            </a:r>
            <a:endParaRPr lang="en-US" sz="600" dirty="0"/>
          </a:p>
        </p:txBody>
      </p:sp>
      <p:sp>
        <p:nvSpPr>
          <p:cNvPr id="36" name="Text 34"/>
          <p:cNvSpPr/>
          <p:nvPr/>
        </p:nvSpPr>
        <p:spPr>
          <a:xfrm>
            <a:off x="4752975" y="3011091"/>
            <a:ext cx="1967389" cy="106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84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6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Dropout:</a:t>
            </a:r>
            <a:endParaRPr lang="en-US" sz="600" dirty="0"/>
          </a:p>
        </p:txBody>
      </p:sp>
      <p:sp>
        <p:nvSpPr>
          <p:cNvPr id="37" name="Text 35"/>
          <p:cNvSpPr/>
          <p:nvPr/>
        </p:nvSpPr>
        <p:spPr>
          <a:xfrm>
            <a:off x="6719888" y="3011091"/>
            <a:ext cx="1967389" cy="106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84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6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0.05</a:t>
            </a:r>
            <a:endParaRPr lang="en-US" sz="600" dirty="0"/>
          </a:p>
        </p:txBody>
      </p:sp>
      <p:sp>
        <p:nvSpPr>
          <p:cNvPr id="38" name="Text 36"/>
          <p:cNvSpPr/>
          <p:nvPr/>
        </p:nvSpPr>
        <p:spPr>
          <a:xfrm>
            <a:off x="4752975" y="3231952"/>
            <a:ext cx="1967389" cy="106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84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6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Trainable:</a:t>
            </a:r>
            <a:endParaRPr lang="en-US" sz="600" dirty="0"/>
          </a:p>
        </p:txBody>
      </p:sp>
      <p:sp>
        <p:nvSpPr>
          <p:cNvPr id="39" name="Text 37"/>
          <p:cNvSpPr/>
          <p:nvPr/>
        </p:nvSpPr>
        <p:spPr>
          <a:xfrm>
            <a:off x="6719888" y="3231952"/>
            <a:ext cx="1967389" cy="106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84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600" b="1" dirty="0">
                <a:solidFill>
                  <a:srgbClr val="1987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8.4M (0.26%)</a:t>
            </a:r>
            <a:endParaRPr lang="en-US" sz="600" dirty="0"/>
          </a:p>
        </p:txBody>
      </p:sp>
      <p:sp>
        <p:nvSpPr>
          <p:cNvPr id="40" name="Text 38"/>
          <p:cNvSpPr/>
          <p:nvPr/>
        </p:nvSpPr>
        <p:spPr>
          <a:xfrm>
            <a:off x="4638675" y="3548063"/>
            <a:ext cx="4124325" cy="693390"/>
          </a:xfrm>
          <a:prstGeom prst="roundRect">
            <a:avLst>
              <a:gd name="adj" fmla="val 6868"/>
            </a:avLst>
          </a:prstGeom>
          <a:solidFill>
            <a:srgbClr val="F8F8F8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1" name="Text 39"/>
          <p:cNvSpPr/>
          <p:nvPr/>
        </p:nvSpPr>
        <p:spPr>
          <a:xfrm>
            <a:off x="4752975" y="3662362"/>
            <a:ext cx="397364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00"/>
              </a:lnSpc>
              <a:spcAft>
                <a:spcPts val="450"/>
              </a:spcAft>
              <a:buNone/>
            </a:pPr>
            <a:r>
              <a:rPr lang="en-US" sz="750" b="1" dirty="0">
                <a:solidFill>
                  <a:srgbClr val="011F5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TARGET MODULES (7)</a:t>
            </a:r>
            <a:endParaRPr lang="en-US" sz="750" dirty="0"/>
          </a:p>
        </p:txBody>
      </p:sp>
      <p:sp>
        <p:nvSpPr>
          <p:cNvPr id="42" name="Text 40"/>
          <p:cNvSpPr/>
          <p:nvPr/>
        </p:nvSpPr>
        <p:spPr>
          <a:xfrm>
            <a:off x="4752975" y="3995738"/>
            <a:ext cx="3973640" cy="933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735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525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Blue = Attention projections, Red = FFN projections</a:t>
            </a:r>
            <a:endParaRPr lang="en-US" sz="525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342900"/>
            <a:ext cx="4284536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500" b="1" dirty="0">
                <a:solidFill>
                  <a:srgbClr val="011F5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Code: LoRA Configuration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381000" y="561975"/>
            <a:ext cx="1333500" cy="28575"/>
          </a:xfrm>
          <a:prstGeom prst="rect">
            <a:avLst/>
          </a:prstGeom>
          <a:solidFill>
            <a:srgbClr val="99000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381000" y="800100"/>
            <a:ext cx="5036790" cy="3886200"/>
          </a:xfrm>
          <a:prstGeom prst="roundRect">
            <a:avLst>
              <a:gd name="adj" fmla="val 1225"/>
            </a:avLst>
          </a:prstGeom>
          <a:solidFill>
            <a:srgbClr val="1E1E1E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476250" y="933450"/>
            <a:ext cx="4943216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500" dirty="0">
                <a:solidFill>
                  <a:srgbClr val="C586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</a:t>
            </a:r>
            <a:r>
              <a:rPr lang="en-US" sz="1500" dirty="0">
                <a:solidFill>
                  <a:srgbClr val="D4D4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peft </a:t>
            </a:r>
            <a:r>
              <a:rPr lang="en-US" sz="1500" dirty="0">
                <a:solidFill>
                  <a:srgbClr val="C586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import</a:t>
            </a:r>
            <a:r>
              <a:rPr lang="en-US" sz="1500" dirty="0">
                <a:solidFill>
                  <a:srgbClr val="D4D4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LoraConfig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476250" y="1238250"/>
            <a:ext cx="4943216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500" dirty="0">
                <a:solidFill>
                  <a:srgbClr val="D4D4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config = </a:t>
            </a:r>
            <a:r>
              <a:rPr lang="en-US" sz="1500" dirty="0">
                <a:solidFill>
                  <a:srgbClr val="DCDC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LoraConfig</a:t>
            </a:r>
            <a:r>
              <a:rPr lang="en-US" sz="1500" dirty="0">
                <a:solidFill>
                  <a:srgbClr val="D4D4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936063" y="1538315"/>
            <a:ext cx="22774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500" dirty="0">
                <a:solidFill>
                  <a:srgbClr val="D4D4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r=</a:t>
            </a:r>
            <a:r>
              <a:rPr lang="en-US" sz="1500" dirty="0">
                <a:solidFill>
                  <a:srgbClr val="B5CE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</a:t>
            </a:r>
            <a:r>
              <a:rPr lang="en-US" sz="1500" dirty="0">
                <a:solidFill>
                  <a:srgbClr val="D4D4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</a:t>
            </a:r>
            <a:r>
              <a:rPr lang="en-US" sz="1500" dirty="0">
                <a:solidFill>
                  <a:srgbClr val="6A99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 Rank (bottleneck)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936063" y="1840721"/>
            <a:ext cx="22774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500" dirty="0">
                <a:solidFill>
                  <a:srgbClr val="D4D4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lora_alpha=</a:t>
            </a:r>
            <a:r>
              <a:rPr lang="en-US" sz="1500" dirty="0">
                <a:solidFill>
                  <a:srgbClr val="B5CE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32</a:t>
            </a:r>
            <a:r>
              <a:rPr lang="en-US" sz="1500" dirty="0">
                <a:solidFill>
                  <a:srgbClr val="D4D4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</a:t>
            </a:r>
            <a:r>
              <a:rPr lang="en-US" sz="1500" dirty="0">
                <a:solidFill>
                  <a:srgbClr val="6A99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 Scaling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936063" y="2138965"/>
            <a:ext cx="155110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500" dirty="0">
                <a:solidFill>
                  <a:srgbClr val="D4D4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target_modules=[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192095" y="2437209"/>
            <a:ext cx="2967119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500" dirty="0">
                <a:solidFill>
                  <a:srgbClr val="CE91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"q_proj","k_proj","v_proj","o_proj"</a:t>
            </a:r>
            <a:r>
              <a:rPr lang="en-US" sz="1500" dirty="0">
                <a:solidFill>
                  <a:srgbClr val="D4D4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192095" y="2745053"/>
            <a:ext cx="2967119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500" dirty="0">
                <a:solidFill>
                  <a:srgbClr val="CE91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"gate_proj","up_proj","down_proj"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936063" y="3058451"/>
            <a:ext cx="459813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500" dirty="0">
                <a:solidFill>
                  <a:srgbClr val="D4D4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],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936063" y="3371850"/>
            <a:ext cx="1692184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500" dirty="0">
                <a:solidFill>
                  <a:srgbClr val="D4D4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lora_dropout=</a:t>
            </a:r>
            <a:r>
              <a:rPr lang="en-US" sz="1500" dirty="0">
                <a:solidFill>
                  <a:srgbClr val="B5CE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0.05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476250" y="3676650"/>
            <a:ext cx="4943216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500" dirty="0">
                <a:solidFill>
                  <a:srgbClr val="D4D4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)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476250" y="3981450"/>
            <a:ext cx="4943216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500" dirty="0">
                <a:solidFill>
                  <a:srgbClr val="6A99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 Result: 8.4M trainable (0.26%)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5532090" y="800100"/>
            <a:ext cx="3230910" cy="418058"/>
          </a:xfrm>
          <a:prstGeom prst="roundRect">
            <a:avLst>
              <a:gd name="adj" fmla="val 9114"/>
            </a:avLst>
          </a:prstGeom>
          <a:solidFill>
            <a:srgbClr val="F8F8F8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7" name="Shape 15"/>
          <p:cNvSpPr/>
          <p:nvPr/>
        </p:nvSpPr>
        <p:spPr>
          <a:xfrm>
            <a:off x="5546378" y="800100"/>
            <a:ext cx="0" cy="418058"/>
          </a:xfrm>
          <a:prstGeom prst="line">
            <a:avLst/>
          </a:prstGeom>
          <a:noFill/>
          <a:ln w="28575">
            <a:solidFill>
              <a:srgbClr val="011F5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5636865" y="876300"/>
            <a:ext cx="3110933" cy="102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810"/>
              </a:lnSpc>
              <a:spcAft>
                <a:spcPts val="225"/>
              </a:spcAft>
              <a:buNone/>
            </a:pPr>
            <a:r>
              <a:rPr lang="en-US" sz="675" b="1" dirty="0">
                <a:solidFill>
                  <a:srgbClr val="011F5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r=16</a:t>
            </a:r>
            <a:endParaRPr lang="en-US" sz="675" dirty="0"/>
          </a:p>
        </p:txBody>
      </p:sp>
      <p:sp>
        <p:nvSpPr>
          <p:cNvPr id="19" name="Text 17"/>
          <p:cNvSpPr/>
          <p:nvPr/>
        </p:nvSpPr>
        <p:spPr>
          <a:xfrm>
            <a:off x="5636865" y="1017240"/>
            <a:ext cx="3110933" cy="866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682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525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Bottleneck dim. Higher = more capacity but more params.</a:t>
            </a:r>
            <a:endParaRPr lang="en-US" sz="525" dirty="0"/>
          </a:p>
        </p:txBody>
      </p:sp>
      <p:sp>
        <p:nvSpPr>
          <p:cNvPr id="20" name="Text 18"/>
          <p:cNvSpPr/>
          <p:nvPr/>
        </p:nvSpPr>
        <p:spPr>
          <a:xfrm>
            <a:off x="5532090" y="1265783"/>
            <a:ext cx="3230910" cy="418058"/>
          </a:xfrm>
          <a:prstGeom prst="roundRect">
            <a:avLst>
              <a:gd name="adj" fmla="val 9114"/>
            </a:avLst>
          </a:prstGeom>
          <a:solidFill>
            <a:srgbClr val="F8F8F8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1" name="Shape 19"/>
          <p:cNvSpPr/>
          <p:nvPr/>
        </p:nvSpPr>
        <p:spPr>
          <a:xfrm>
            <a:off x="5546378" y="1265783"/>
            <a:ext cx="0" cy="418058"/>
          </a:xfrm>
          <a:prstGeom prst="line">
            <a:avLst/>
          </a:prstGeom>
          <a:noFill/>
          <a:ln w="28575">
            <a:solidFill>
              <a:srgbClr val="99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5636865" y="1341983"/>
            <a:ext cx="3110933" cy="102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810"/>
              </a:lnSpc>
              <a:spcAft>
                <a:spcPts val="225"/>
              </a:spcAft>
              <a:buNone/>
            </a:pPr>
            <a:r>
              <a:rPr lang="en-US" sz="675" b="1" dirty="0">
                <a:solidFill>
                  <a:srgbClr val="9900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alpha/r = 2</a:t>
            </a:r>
            <a:endParaRPr lang="en-US" sz="675" dirty="0"/>
          </a:p>
        </p:txBody>
      </p:sp>
      <p:sp>
        <p:nvSpPr>
          <p:cNvPr id="23" name="Text 21"/>
          <p:cNvSpPr/>
          <p:nvPr/>
        </p:nvSpPr>
        <p:spPr>
          <a:xfrm>
            <a:off x="5636865" y="1482923"/>
            <a:ext cx="3110933" cy="866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682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525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Scaling factor. Controls LoRA output magnitude.</a:t>
            </a:r>
            <a:endParaRPr lang="en-US" sz="525" dirty="0"/>
          </a:p>
        </p:txBody>
      </p:sp>
      <p:sp>
        <p:nvSpPr>
          <p:cNvPr id="24" name="Text 22"/>
          <p:cNvSpPr/>
          <p:nvPr/>
        </p:nvSpPr>
        <p:spPr>
          <a:xfrm>
            <a:off x="5532090" y="1731466"/>
            <a:ext cx="3230910" cy="418058"/>
          </a:xfrm>
          <a:prstGeom prst="roundRect">
            <a:avLst>
              <a:gd name="adj" fmla="val 9114"/>
            </a:avLst>
          </a:prstGeom>
          <a:solidFill>
            <a:srgbClr val="F8F8F8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5" name="Shape 23"/>
          <p:cNvSpPr/>
          <p:nvPr/>
        </p:nvSpPr>
        <p:spPr>
          <a:xfrm>
            <a:off x="5546378" y="1731466"/>
            <a:ext cx="0" cy="418058"/>
          </a:xfrm>
          <a:prstGeom prst="line">
            <a:avLst/>
          </a:prstGeom>
          <a:noFill/>
          <a:ln w="28575">
            <a:solidFill>
              <a:srgbClr val="FFC10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5636865" y="1807666"/>
            <a:ext cx="3110933" cy="102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810"/>
              </a:lnSpc>
              <a:spcAft>
                <a:spcPts val="225"/>
              </a:spcAft>
              <a:buNone/>
            </a:pPr>
            <a:r>
              <a:rPr lang="en-US" sz="675" b="1" dirty="0">
                <a:solidFill>
                  <a:srgbClr val="997A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 TARGETS</a:t>
            </a:r>
            <a:endParaRPr lang="en-US" sz="675" dirty="0"/>
          </a:p>
        </p:txBody>
      </p:sp>
      <p:sp>
        <p:nvSpPr>
          <p:cNvPr id="27" name="Text 25"/>
          <p:cNvSpPr/>
          <p:nvPr/>
        </p:nvSpPr>
        <p:spPr>
          <a:xfrm>
            <a:off x="5636865" y="1948607"/>
            <a:ext cx="3110933" cy="866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682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525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attention (QKVO) + FFN projections.</a:t>
            </a:r>
            <a:endParaRPr lang="en-US" sz="525" dirty="0"/>
          </a:p>
        </p:txBody>
      </p:sp>
      <p:sp>
        <p:nvSpPr>
          <p:cNvPr id="28" name="Text 26"/>
          <p:cNvSpPr/>
          <p:nvPr/>
        </p:nvSpPr>
        <p:spPr>
          <a:xfrm>
            <a:off x="5532090" y="2197150"/>
            <a:ext cx="3230910" cy="335161"/>
          </a:xfrm>
          <a:prstGeom prst="roundRect">
            <a:avLst>
              <a:gd name="adj" fmla="val 11368"/>
            </a:avLst>
          </a:prstGeom>
          <a:solidFill>
            <a:srgbClr val="011F5B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9" name="Text 27"/>
          <p:cNvSpPr/>
          <p:nvPr/>
        </p:nvSpPr>
        <p:spPr>
          <a:xfrm>
            <a:off x="5577505" y="2311450"/>
            <a:ext cx="3140080" cy="106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84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8.4M</a:t>
            </a:r>
            <a:r>
              <a:rPr lang="en-US" sz="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of 3.2B = </a:t>
            </a:r>
            <a:r>
              <a:rPr lang="en-US" sz="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0.26%</a:t>
            </a:r>
            <a:endParaRPr lang="en-US" sz="6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342900"/>
            <a:ext cx="4284536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500" b="1" dirty="0">
                <a:solidFill>
                  <a:srgbClr val="011F5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Code: Prompt Template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381000" y="561975"/>
            <a:ext cx="1333500" cy="28575"/>
          </a:xfrm>
          <a:prstGeom prst="rect">
            <a:avLst/>
          </a:prstGeom>
          <a:solidFill>
            <a:srgbClr val="99000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381000" y="800100"/>
            <a:ext cx="4633020" cy="3886200"/>
          </a:xfrm>
          <a:prstGeom prst="roundRect">
            <a:avLst>
              <a:gd name="adj" fmla="val 1225"/>
            </a:avLst>
          </a:prstGeom>
          <a:solidFill>
            <a:srgbClr val="1E1E1E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476250" y="933450"/>
            <a:ext cx="453137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500" dirty="0">
                <a:solidFill>
                  <a:srgbClr val="CE91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&lt;|begin_of_text|&gt;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476250" y="1238250"/>
            <a:ext cx="453137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500" dirty="0">
                <a:solidFill>
                  <a:srgbClr val="CE91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&lt;|start_header_id|&gt;system&lt;|end_header_id|&gt;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476250" y="1543050"/>
            <a:ext cx="453137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500" dirty="0">
                <a:solidFill>
                  <a:srgbClr val="CE91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 are a helpful assistant that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476250" y="1847850"/>
            <a:ext cx="453137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500" dirty="0">
                <a:solidFill>
                  <a:srgbClr val="CE91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summarizes conversations. Provide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476250" y="2152650"/>
            <a:ext cx="453137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500" dirty="0">
                <a:solidFill>
                  <a:srgbClr val="CE91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clear English summary.&lt;|eot_id|&gt;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476250" y="2457450"/>
            <a:ext cx="453137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500" dirty="0">
                <a:solidFill>
                  <a:srgbClr val="CE91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&lt;|start_header_id|&gt;user&lt;|end_header_id|&gt;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476250" y="2762250"/>
            <a:ext cx="453137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500" dirty="0">
                <a:solidFill>
                  <a:srgbClr val="CE91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Summarize this conversation: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476250" y="3067050"/>
            <a:ext cx="453137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500" dirty="0">
                <a:solidFill>
                  <a:srgbClr val="CE91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{conversation}&lt;|eot_id|&gt;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476250" y="3371850"/>
            <a:ext cx="453137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500" dirty="0">
                <a:solidFill>
                  <a:srgbClr val="CE91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&lt;|start_header_id|&gt;assistant&lt;|end_header_id|&gt;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5128320" y="800100"/>
            <a:ext cx="3634680" cy="418058"/>
          </a:xfrm>
          <a:prstGeom prst="roundRect">
            <a:avLst>
              <a:gd name="adj" fmla="val 9114"/>
            </a:avLst>
          </a:prstGeom>
          <a:solidFill>
            <a:srgbClr val="F8F8F8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5" name="Shape 13"/>
          <p:cNvSpPr/>
          <p:nvPr/>
        </p:nvSpPr>
        <p:spPr>
          <a:xfrm>
            <a:off x="5142607" y="800100"/>
            <a:ext cx="0" cy="418058"/>
          </a:xfrm>
          <a:prstGeom prst="line">
            <a:avLst/>
          </a:prstGeom>
          <a:noFill/>
          <a:ln w="28575">
            <a:solidFill>
              <a:srgbClr val="011F5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5233095" y="876300"/>
            <a:ext cx="3522780" cy="102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810"/>
              </a:lnSpc>
              <a:spcAft>
                <a:spcPts val="225"/>
              </a:spcAft>
              <a:buNone/>
            </a:pPr>
            <a:r>
              <a:rPr lang="en-US" sz="675" b="1" dirty="0">
                <a:solidFill>
                  <a:srgbClr val="011F5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LLAMA-3.2 FORMAT</a:t>
            </a:r>
            <a:endParaRPr lang="en-US" sz="675" dirty="0"/>
          </a:p>
        </p:txBody>
      </p:sp>
      <p:sp>
        <p:nvSpPr>
          <p:cNvPr id="17" name="Text 15"/>
          <p:cNvSpPr/>
          <p:nvPr/>
        </p:nvSpPr>
        <p:spPr>
          <a:xfrm>
            <a:off x="5233095" y="1017240"/>
            <a:ext cx="3522780" cy="866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682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525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Special tokens mark role boundaries. Required for instruction-tuned models.</a:t>
            </a:r>
            <a:endParaRPr lang="en-US" sz="525" dirty="0"/>
          </a:p>
        </p:txBody>
      </p:sp>
      <p:sp>
        <p:nvSpPr>
          <p:cNvPr id="18" name="Text 16"/>
          <p:cNvSpPr/>
          <p:nvPr/>
        </p:nvSpPr>
        <p:spPr>
          <a:xfrm>
            <a:off x="5128320" y="1265783"/>
            <a:ext cx="3634680" cy="418058"/>
          </a:xfrm>
          <a:prstGeom prst="roundRect">
            <a:avLst>
              <a:gd name="adj" fmla="val 9114"/>
            </a:avLst>
          </a:prstGeom>
          <a:solidFill>
            <a:srgbClr val="F8F8F8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9" name="Shape 17"/>
          <p:cNvSpPr/>
          <p:nvPr/>
        </p:nvSpPr>
        <p:spPr>
          <a:xfrm>
            <a:off x="5142607" y="1265783"/>
            <a:ext cx="0" cy="418058"/>
          </a:xfrm>
          <a:prstGeom prst="line">
            <a:avLst/>
          </a:prstGeom>
          <a:noFill/>
          <a:ln w="28575">
            <a:solidFill>
              <a:srgbClr val="99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5233095" y="1341983"/>
            <a:ext cx="3522780" cy="102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810"/>
              </a:lnSpc>
              <a:spcAft>
                <a:spcPts val="225"/>
              </a:spcAft>
              <a:buNone/>
            </a:pPr>
            <a:r>
              <a:rPr lang="en-US" sz="675" b="1" dirty="0">
                <a:solidFill>
                  <a:srgbClr val="9900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SYSTEM PROMPT</a:t>
            </a:r>
            <a:endParaRPr lang="en-US" sz="675" dirty="0"/>
          </a:p>
        </p:txBody>
      </p:sp>
      <p:sp>
        <p:nvSpPr>
          <p:cNvPr id="21" name="Text 19"/>
          <p:cNvSpPr/>
          <p:nvPr/>
        </p:nvSpPr>
        <p:spPr>
          <a:xfrm>
            <a:off x="5233095" y="1482923"/>
            <a:ext cx="3522780" cy="866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682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525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Sets task. Explicitly requests English output.</a:t>
            </a:r>
            <a:endParaRPr lang="en-US" sz="525" dirty="0"/>
          </a:p>
        </p:txBody>
      </p:sp>
      <p:sp>
        <p:nvSpPr>
          <p:cNvPr id="22" name="Text 20"/>
          <p:cNvSpPr/>
          <p:nvPr/>
        </p:nvSpPr>
        <p:spPr>
          <a:xfrm>
            <a:off x="5128320" y="1731466"/>
            <a:ext cx="3634680" cy="418058"/>
          </a:xfrm>
          <a:prstGeom prst="roundRect">
            <a:avLst>
              <a:gd name="adj" fmla="val 9114"/>
            </a:avLst>
          </a:prstGeom>
          <a:solidFill>
            <a:srgbClr val="F8F8F8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3" name="Shape 21"/>
          <p:cNvSpPr/>
          <p:nvPr/>
        </p:nvSpPr>
        <p:spPr>
          <a:xfrm>
            <a:off x="5142607" y="1731466"/>
            <a:ext cx="0" cy="418058"/>
          </a:xfrm>
          <a:prstGeom prst="line">
            <a:avLst/>
          </a:prstGeom>
          <a:noFill/>
          <a:ln w="28575">
            <a:solidFill>
              <a:srgbClr val="FFC10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5233095" y="1807666"/>
            <a:ext cx="3522780" cy="102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810"/>
              </a:lnSpc>
              <a:spcAft>
                <a:spcPts val="225"/>
              </a:spcAft>
              <a:buNone/>
            </a:pPr>
            <a:r>
              <a:rPr lang="en-US" sz="675" b="1" dirty="0">
                <a:solidFill>
                  <a:srgbClr val="997A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{conversation}</a:t>
            </a:r>
            <a:endParaRPr lang="en-US" sz="675" dirty="0"/>
          </a:p>
        </p:txBody>
      </p:sp>
      <p:sp>
        <p:nvSpPr>
          <p:cNvPr id="25" name="Text 23"/>
          <p:cNvSpPr/>
          <p:nvPr/>
        </p:nvSpPr>
        <p:spPr>
          <a:xfrm>
            <a:off x="5233095" y="1948607"/>
            <a:ext cx="3522780" cy="866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682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525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Placeholder for code-mixed input text.</a:t>
            </a:r>
            <a:endParaRPr lang="en-US" sz="525" dirty="0"/>
          </a:p>
        </p:txBody>
      </p:sp>
      <p:sp>
        <p:nvSpPr>
          <p:cNvPr id="26" name="Text 24"/>
          <p:cNvSpPr/>
          <p:nvPr/>
        </p:nvSpPr>
        <p:spPr>
          <a:xfrm>
            <a:off x="5128320" y="2197150"/>
            <a:ext cx="3634680" cy="424755"/>
          </a:xfrm>
          <a:prstGeom prst="roundRect">
            <a:avLst>
              <a:gd name="adj" fmla="val 8970"/>
            </a:avLst>
          </a:prstGeom>
          <a:solidFill>
            <a:srgbClr val="011F5B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7" name="Text 25"/>
          <p:cNvSpPr/>
          <p:nvPr/>
        </p:nvSpPr>
        <p:spPr>
          <a:xfrm>
            <a:off x="5204520" y="2273350"/>
            <a:ext cx="3551926" cy="102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810"/>
              </a:lnSpc>
              <a:spcAft>
                <a:spcPts val="225"/>
              </a:spcAft>
              <a:buNone/>
            </a:pPr>
            <a:r>
              <a:rPr lang="en-US" sz="675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 IT MATTERS</a:t>
            </a:r>
            <a:endParaRPr lang="en-US" sz="675" dirty="0"/>
          </a:p>
        </p:txBody>
      </p:sp>
      <p:sp>
        <p:nvSpPr>
          <p:cNvPr id="28" name="Text 26"/>
          <p:cNvSpPr/>
          <p:nvPr/>
        </p:nvSpPr>
        <p:spPr>
          <a:xfrm>
            <a:off x="5204520" y="2414290"/>
            <a:ext cx="3551926" cy="933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735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525" dirty="0">
                <a:solidFill>
                  <a:srgbClr val="FFFFFF">
                    <a:alpha val="8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Proper formatting leverages instruction-following.</a:t>
            </a:r>
            <a:endParaRPr lang="en-US" sz="525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381000"/>
            <a:ext cx="4284536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650" b="1" dirty="0">
                <a:solidFill>
                  <a:srgbClr val="011F5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Datasets</a:t>
            </a:r>
            <a:endParaRPr lang="en-US" sz="1650" dirty="0"/>
          </a:p>
        </p:txBody>
      </p:sp>
      <p:sp>
        <p:nvSpPr>
          <p:cNvPr id="3" name="Text 1"/>
          <p:cNvSpPr/>
          <p:nvPr/>
        </p:nvSpPr>
        <p:spPr>
          <a:xfrm>
            <a:off x="381000" y="628650"/>
            <a:ext cx="762000" cy="28575"/>
          </a:xfrm>
          <a:prstGeom prst="rect">
            <a:avLst/>
          </a:prstGeom>
          <a:solidFill>
            <a:srgbClr val="99000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381000" y="885825"/>
            <a:ext cx="4114800" cy="3198614"/>
          </a:xfrm>
          <a:prstGeom prst="roundRect">
            <a:avLst>
              <a:gd name="adj" fmla="val 1787"/>
            </a:avLst>
          </a:prstGeom>
          <a:solidFill>
            <a:srgbClr val="F8F8F8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Shape 3"/>
          <p:cNvSpPr/>
          <p:nvPr/>
        </p:nvSpPr>
        <p:spPr>
          <a:xfrm>
            <a:off x="381000" y="904875"/>
            <a:ext cx="4114800" cy="0"/>
          </a:xfrm>
          <a:prstGeom prst="line">
            <a:avLst/>
          </a:prstGeom>
          <a:noFill/>
          <a:ln w="38100">
            <a:solidFill>
              <a:srgbClr val="011F5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495300" y="1038225"/>
            <a:ext cx="3963924" cy="1370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80"/>
              </a:lnSpc>
              <a:spcAft>
                <a:spcPts val="600"/>
              </a:spcAft>
              <a:buNone/>
            </a:pPr>
            <a:r>
              <a:rPr lang="en-US" sz="900" b="1" dirty="0">
                <a:solidFill>
                  <a:srgbClr val="011F5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CS-SUM (Training + In-Domain Test)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95300" y="1251496"/>
            <a:ext cx="3886200" cy="860822"/>
          </a:xfrm>
          <a:prstGeom prst="roundRect">
            <a:avLst>
              <a:gd name="adj" fmla="val 4426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590550" y="1384846"/>
            <a:ext cx="3769614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45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675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Language Pairs:</a:t>
            </a:r>
            <a:endParaRPr lang="en-US" sz="675" dirty="0"/>
          </a:p>
        </p:txBody>
      </p:sp>
      <p:sp>
        <p:nvSpPr>
          <p:cNvPr id="9" name="Text 7"/>
          <p:cNvSpPr/>
          <p:nvPr/>
        </p:nvSpPr>
        <p:spPr>
          <a:xfrm>
            <a:off x="590550" y="1542901"/>
            <a:ext cx="3769614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45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675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Mandarin-English</a:t>
            </a:r>
            <a:endParaRPr lang="en-US" sz="675" dirty="0"/>
          </a:p>
        </p:txBody>
      </p:sp>
      <p:sp>
        <p:nvSpPr>
          <p:cNvPr id="10" name="Text 8"/>
          <p:cNvSpPr/>
          <p:nvPr/>
        </p:nvSpPr>
        <p:spPr>
          <a:xfrm>
            <a:off x="590550" y="1700957"/>
            <a:ext cx="3769614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45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675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Malay-English</a:t>
            </a:r>
            <a:endParaRPr lang="en-US" sz="675" dirty="0"/>
          </a:p>
        </p:txBody>
      </p:sp>
      <p:sp>
        <p:nvSpPr>
          <p:cNvPr id="11" name="Text 9"/>
          <p:cNvSpPr/>
          <p:nvPr/>
        </p:nvSpPr>
        <p:spPr>
          <a:xfrm>
            <a:off x="590550" y="1859012"/>
            <a:ext cx="3769614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45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675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Tamil-English</a:t>
            </a:r>
            <a:endParaRPr lang="en-US" sz="675" dirty="0"/>
          </a:p>
        </p:txBody>
      </p:sp>
      <p:sp>
        <p:nvSpPr>
          <p:cNvPr id="12" name="Text 10"/>
          <p:cNvSpPr/>
          <p:nvPr/>
        </p:nvSpPr>
        <p:spPr>
          <a:xfrm>
            <a:off x="495300" y="2188518"/>
            <a:ext cx="1905000" cy="573286"/>
          </a:xfrm>
          <a:prstGeom prst="roundRect">
            <a:avLst>
              <a:gd name="adj" fmla="val 6646"/>
            </a:avLst>
          </a:prstGeom>
          <a:solidFill>
            <a:srgbClr val="011F5B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553974" y="2302818"/>
            <a:ext cx="1787652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2,584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53974" y="2554188"/>
            <a:ext cx="1787652" cy="933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735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525" dirty="0">
                <a:solidFill>
                  <a:srgbClr val="FFFFFF">
                    <a:alpha val="8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Train</a:t>
            </a:r>
            <a:endParaRPr lang="en-US" sz="525" dirty="0"/>
          </a:p>
        </p:txBody>
      </p:sp>
      <p:sp>
        <p:nvSpPr>
          <p:cNvPr id="15" name="Text 13"/>
          <p:cNvSpPr/>
          <p:nvPr/>
        </p:nvSpPr>
        <p:spPr>
          <a:xfrm>
            <a:off x="2476500" y="2188518"/>
            <a:ext cx="1905000" cy="573286"/>
          </a:xfrm>
          <a:prstGeom prst="roundRect">
            <a:avLst>
              <a:gd name="adj" fmla="val 6646"/>
            </a:avLst>
          </a:prstGeom>
          <a:solidFill>
            <a:srgbClr val="011F5B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2535174" y="2302818"/>
            <a:ext cx="1787652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325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2535174" y="2554188"/>
            <a:ext cx="1787652" cy="933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735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525" dirty="0">
                <a:solidFill>
                  <a:srgbClr val="FFFFFF">
                    <a:alpha val="8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</a:t>
            </a:r>
            <a:endParaRPr lang="en-US" sz="525" dirty="0"/>
          </a:p>
        </p:txBody>
      </p:sp>
      <p:sp>
        <p:nvSpPr>
          <p:cNvPr id="18" name="Text 16"/>
          <p:cNvSpPr/>
          <p:nvPr/>
        </p:nvSpPr>
        <p:spPr>
          <a:xfrm>
            <a:off x="495300" y="2838004"/>
            <a:ext cx="3963924" cy="106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84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6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CMI: 34.2%, Conv: 87 tokens, Sum: 19 tokens</a:t>
            </a:r>
            <a:endParaRPr lang="en-US" sz="600" dirty="0"/>
          </a:p>
        </p:txBody>
      </p:sp>
      <p:sp>
        <p:nvSpPr>
          <p:cNvPr id="19" name="Text 17"/>
          <p:cNvSpPr/>
          <p:nvPr/>
        </p:nvSpPr>
        <p:spPr>
          <a:xfrm>
            <a:off x="495300" y="2982664"/>
            <a:ext cx="3963924" cy="933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735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525" dirty="0">
                <a:solidFill>
                  <a:srgbClr val="99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Zhang and Eickhoff (LREC-COLING 2024)</a:t>
            </a:r>
            <a:endParaRPr lang="en-US" sz="525" dirty="0"/>
          </a:p>
        </p:txBody>
      </p:sp>
      <p:sp>
        <p:nvSpPr>
          <p:cNvPr id="20" name="Text 18"/>
          <p:cNvSpPr/>
          <p:nvPr/>
        </p:nvSpPr>
        <p:spPr>
          <a:xfrm>
            <a:off x="4648200" y="885825"/>
            <a:ext cx="4114800" cy="3198614"/>
          </a:xfrm>
          <a:prstGeom prst="roundRect">
            <a:avLst>
              <a:gd name="adj" fmla="val 1787"/>
            </a:avLst>
          </a:prstGeom>
          <a:solidFill>
            <a:srgbClr val="FFF3CD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1" name="Shape 19"/>
          <p:cNvSpPr/>
          <p:nvPr/>
        </p:nvSpPr>
        <p:spPr>
          <a:xfrm>
            <a:off x="4648200" y="904875"/>
            <a:ext cx="4114800" cy="0"/>
          </a:xfrm>
          <a:prstGeom prst="line">
            <a:avLst/>
          </a:prstGeom>
          <a:noFill/>
          <a:ln w="38100">
            <a:solidFill>
              <a:srgbClr val="99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4762500" y="1038225"/>
            <a:ext cx="3963924" cy="1370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80"/>
              </a:lnSpc>
              <a:spcAft>
                <a:spcPts val="600"/>
              </a:spcAft>
              <a:buNone/>
            </a:pPr>
            <a:r>
              <a:rPr lang="en-US" sz="900" b="1" dirty="0">
                <a:solidFill>
                  <a:srgbClr val="9900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GupShup (Zero-Shot Test)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4762500" y="1251496"/>
            <a:ext cx="3886200" cy="689372"/>
          </a:xfrm>
          <a:prstGeom prst="roundRect">
            <a:avLst>
              <a:gd name="adj" fmla="val 5527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4857750" y="1384846"/>
            <a:ext cx="3769614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45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675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Language Pair:</a:t>
            </a:r>
            <a:endParaRPr lang="en-US" sz="675" dirty="0"/>
          </a:p>
        </p:txBody>
      </p:sp>
      <p:sp>
        <p:nvSpPr>
          <p:cNvPr id="25" name="Text 23"/>
          <p:cNvSpPr/>
          <p:nvPr/>
        </p:nvSpPr>
        <p:spPr>
          <a:xfrm>
            <a:off x="4857750" y="1542901"/>
            <a:ext cx="3769614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45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675" b="1" dirty="0">
                <a:solidFill>
                  <a:srgbClr val="99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Hindi-English (UNSEEN!)</a:t>
            </a:r>
            <a:endParaRPr lang="en-US" sz="675" dirty="0"/>
          </a:p>
        </p:txBody>
      </p:sp>
      <p:sp>
        <p:nvSpPr>
          <p:cNvPr id="26" name="Text 24"/>
          <p:cNvSpPr/>
          <p:nvPr/>
        </p:nvSpPr>
        <p:spPr>
          <a:xfrm>
            <a:off x="4857750" y="1700957"/>
            <a:ext cx="3769614" cy="106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84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600" i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 never sees Hindi during training</a:t>
            </a:r>
            <a:endParaRPr lang="en-US" sz="600" dirty="0"/>
          </a:p>
        </p:txBody>
      </p:sp>
      <p:sp>
        <p:nvSpPr>
          <p:cNvPr id="27" name="Text 25"/>
          <p:cNvSpPr/>
          <p:nvPr/>
        </p:nvSpPr>
        <p:spPr>
          <a:xfrm>
            <a:off x="4762500" y="2017068"/>
            <a:ext cx="3886200" cy="573286"/>
          </a:xfrm>
          <a:prstGeom prst="roundRect">
            <a:avLst>
              <a:gd name="adj" fmla="val 6646"/>
            </a:avLst>
          </a:prstGeom>
          <a:solidFill>
            <a:srgbClr val="99000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8" name="Text 26"/>
          <p:cNvSpPr/>
          <p:nvPr/>
        </p:nvSpPr>
        <p:spPr>
          <a:xfrm>
            <a:off x="4801362" y="2131368"/>
            <a:ext cx="380847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501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4801362" y="2382738"/>
            <a:ext cx="3808476" cy="933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735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525" dirty="0">
                <a:solidFill>
                  <a:srgbClr val="FFFFFF">
                    <a:alpha val="8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 Samples</a:t>
            </a:r>
            <a:endParaRPr lang="en-US" sz="525" dirty="0"/>
          </a:p>
        </p:txBody>
      </p:sp>
      <p:sp>
        <p:nvSpPr>
          <p:cNvPr id="30" name="Text 28"/>
          <p:cNvSpPr/>
          <p:nvPr/>
        </p:nvSpPr>
        <p:spPr>
          <a:xfrm>
            <a:off x="4762500" y="2666554"/>
            <a:ext cx="3963924" cy="106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84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6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CMI: 41.7%, Conv: 92 tokens, Sum: 21 tokens</a:t>
            </a:r>
            <a:endParaRPr lang="en-US" sz="600" dirty="0"/>
          </a:p>
        </p:txBody>
      </p:sp>
      <p:sp>
        <p:nvSpPr>
          <p:cNvPr id="31" name="Text 29"/>
          <p:cNvSpPr/>
          <p:nvPr/>
        </p:nvSpPr>
        <p:spPr>
          <a:xfrm>
            <a:off x="4762500" y="2811214"/>
            <a:ext cx="3963924" cy="933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735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525" dirty="0">
                <a:solidFill>
                  <a:srgbClr val="99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Derived from SAMSum (Gliwa et al., 2019)</a:t>
            </a:r>
            <a:endParaRPr lang="en-US" sz="525" dirty="0"/>
          </a:p>
        </p:txBody>
      </p:sp>
      <p:sp>
        <p:nvSpPr>
          <p:cNvPr id="32" name="Text 30"/>
          <p:cNvSpPr/>
          <p:nvPr/>
        </p:nvSpPr>
        <p:spPr>
          <a:xfrm>
            <a:off x="381000" y="4313039"/>
            <a:ext cx="8382000" cy="335161"/>
          </a:xfrm>
          <a:prstGeom prst="roundRect">
            <a:avLst>
              <a:gd name="adj" fmla="val 11368"/>
            </a:avLst>
          </a:prstGeom>
          <a:solidFill>
            <a:srgbClr val="E8F4E8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3" name="Shape 31"/>
          <p:cNvSpPr/>
          <p:nvPr/>
        </p:nvSpPr>
        <p:spPr>
          <a:xfrm>
            <a:off x="395288" y="4313039"/>
            <a:ext cx="0" cy="335161"/>
          </a:xfrm>
          <a:prstGeom prst="line">
            <a:avLst/>
          </a:prstGeom>
          <a:noFill/>
          <a:ln w="28575">
            <a:solidFill>
              <a:srgbClr val="19875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485775" y="4427339"/>
            <a:ext cx="8365046" cy="106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84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600" b="1" dirty="0">
                <a:solidFill>
                  <a:srgbClr val="1987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Point:</a:t>
            </a:r>
            <a:r>
              <a:rPr lang="en-US" sz="600" dirty="0">
                <a:solidFill>
                  <a:srgbClr val="1987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Train on 3 language pairs (Mandarin/Malay/Tamil-EN), test zero-shot on unseen Hindi-English</a:t>
            </a:r>
            <a:endParaRPr lang="en-US" sz="6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266700"/>
            <a:ext cx="4284536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950" b="1" dirty="0">
                <a:solidFill>
                  <a:srgbClr val="011F5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Main Results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381000" y="571500"/>
            <a:ext cx="1905000" cy="38100"/>
          </a:xfrm>
          <a:prstGeom prst="rect">
            <a:avLst/>
          </a:prstGeom>
          <a:solidFill>
            <a:srgbClr val="99000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381000" y="876300"/>
            <a:ext cx="8382000" cy="1979116"/>
          </a:xfrm>
          <a:prstGeom prst="roundRect">
            <a:avLst>
              <a:gd name="adj" fmla="val 2888"/>
            </a:avLst>
          </a:prstGeom>
          <a:solidFill>
            <a:srgbClr val="F8F8F8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514350" y="1009650"/>
            <a:ext cx="8277606" cy="1370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80"/>
              </a:lnSpc>
              <a:spcAft>
                <a:spcPts val="750"/>
              </a:spcAft>
              <a:buNone/>
            </a:pPr>
            <a:r>
              <a:rPr lang="en-US" sz="900" b="1" dirty="0">
                <a:solidFill>
                  <a:srgbClr val="011F5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ROUGE-L SCORES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14350" y="1280071"/>
            <a:ext cx="4061079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7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Extractive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4552093" y="1280071"/>
            <a:ext cx="203054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05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7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0.089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6619018" y="1280071"/>
            <a:ext cx="203054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05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7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0.103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514350" y="1546771"/>
            <a:ext cx="4061079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7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Base Llama</a:t>
            </a:r>
            <a:endParaRPr lang="en-US" sz="750" dirty="0"/>
          </a:p>
        </p:txBody>
      </p:sp>
      <p:sp>
        <p:nvSpPr>
          <p:cNvPr id="10" name="Text 8"/>
          <p:cNvSpPr/>
          <p:nvPr/>
        </p:nvSpPr>
        <p:spPr>
          <a:xfrm>
            <a:off x="4552093" y="1546771"/>
            <a:ext cx="203054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05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7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0.175</a:t>
            </a:r>
            <a:endParaRPr lang="en-US" sz="750" dirty="0"/>
          </a:p>
        </p:txBody>
      </p:sp>
      <p:sp>
        <p:nvSpPr>
          <p:cNvPr id="11" name="Text 9"/>
          <p:cNvSpPr/>
          <p:nvPr/>
        </p:nvSpPr>
        <p:spPr>
          <a:xfrm>
            <a:off x="6619018" y="1546771"/>
            <a:ext cx="203054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05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7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0.224</a:t>
            </a:r>
            <a:endParaRPr lang="en-US" sz="750" dirty="0"/>
          </a:p>
        </p:txBody>
      </p:sp>
      <p:sp>
        <p:nvSpPr>
          <p:cNvPr id="12" name="Text 10"/>
          <p:cNvSpPr/>
          <p:nvPr/>
        </p:nvSpPr>
        <p:spPr>
          <a:xfrm>
            <a:off x="514350" y="1775371"/>
            <a:ext cx="8115300" cy="285750"/>
          </a:xfrm>
          <a:prstGeom prst="roundRect">
            <a:avLst>
              <a:gd name="adj" fmla="val 13333"/>
            </a:avLst>
          </a:prstGeom>
          <a:solidFill>
            <a:srgbClr val="E8E8E8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552450" y="1851571"/>
            <a:ext cx="4022217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7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GPT-4.1</a:t>
            </a:r>
            <a:endParaRPr lang="en-US" sz="750" dirty="0"/>
          </a:p>
        </p:txBody>
      </p:sp>
      <p:sp>
        <p:nvSpPr>
          <p:cNvPr id="14" name="Text 12"/>
          <p:cNvSpPr/>
          <p:nvPr/>
        </p:nvSpPr>
        <p:spPr>
          <a:xfrm>
            <a:off x="4552283" y="1851571"/>
            <a:ext cx="2011108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05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7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0.235</a:t>
            </a:r>
            <a:endParaRPr lang="en-US" sz="750" dirty="0"/>
          </a:p>
        </p:txBody>
      </p:sp>
      <p:sp>
        <p:nvSpPr>
          <p:cNvPr id="15" name="Text 13"/>
          <p:cNvSpPr/>
          <p:nvPr/>
        </p:nvSpPr>
        <p:spPr>
          <a:xfrm>
            <a:off x="6600158" y="1851571"/>
            <a:ext cx="2011108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05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7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0.307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514350" y="2156371"/>
            <a:ext cx="4061079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7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Curriculum</a:t>
            </a:r>
            <a:endParaRPr lang="en-US" sz="750" dirty="0"/>
          </a:p>
        </p:txBody>
      </p:sp>
      <p:sp>
        <p:nvSpPr>
          <p:cNvPr id="17" name="Text 15"/>
          <p:cNvSpPr/>
          <p:nvPr/>
        </p:nvSpPr>
        <p:spPr>
          <a:xfrm>
            <a:off x="4552093" y="2156371"/>
            <a:ext cx="203054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05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750" b="1" dirty="0">
                <a:solidFill>
                  <a:srgbClr val="011F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0.480</a:t>
            </a:r>
            <a:endParaRPr lang="en-US" sz="750" dirty="0"/>
          </a:p>
        </p:txBody>
      </p:sp>
      <p:sp>
        <p:nvSpPr>
          <p:cNvPr id="18" name="Text 16"/>
          <p:cNvSpPr/>
          <p:nvPr/>
        </p:nvSpPr>
        <p:spPr>
          <a:xfrm>
            <a:off x="6619018" y="2156371"/>
            <a:ext cx="203054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05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7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0.340</a:t>
            </a:r>
            <a:endParaRPr lang="en-US" sz="750" dirty="0"/>
          </a:p>
        </p:txBody>
      </p:sp>
      <p:pic>
        <p:nvPicPr>
          <p:cNvPr id="19" name="Image 0" descr="/tmp/rasterized-gradient-ee8aaea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4350" y="2384971"/>
            <a:ext cx="8115300" cy="337096"/>
          </a:xfrm>
          <a:prstGeom prst="rect">
            <a:avLst/>
          </a:prstGeom>
        </p:spPr>
      </p:pic>
      <p:sp>
        <p:nvSpPr>
          <p:cNvPr id="20" name="Text 17"/>
          <p:cNvSpPr/>
          <p:nvPr/>
        </p:nvSpPr>
        <p:spPr>
          <a:xfrm>
            <a:off x="571500" y="2480221"/>
            <a:ext cx="4002786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825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CSCL (Ours)</a:t>
            </a:r>
            <a:endParaRPr lang="en-US" sz="825" dirty="0"/>
          </a:p>
        </p:txBody>
      </p:sp>
      <p:sp>
        <p:nvSpPr>
          <p:cNvPr id="21" name="Text 18"/>
          <p:cNvSpPr/>
          <p:nvPr/>
        </p:nvSpPr>
        <p:spPr>
          <a:xfrm>
            <a:off x="4552379" y="2480221"/>
            <a:ext cx="2001393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155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825" b="1" dirty="0">
                <a:solidFill>
                  <a:srgbClr val="011F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0.353</a:t>
            </a:r>
            <a:endParaRPr lang="en-US" sz="825" dirty="0"/>
          </a:p>
        </p:txBody>
      </p:sp>
      <p:sp>
        <p:nvSpPr>
          <p:cNvPr id="22" name="Text 19"/>
          <p:cNvSpPr/>
          <p:nvPr/>
        </p:nvSpPr>
        <p:spPr>
          <a:xfrm>
            <a:off x="6590729" y="2480221"/>
            <a:ext cx="2001393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155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825" b="1" dirty="0">
                <a:solidFill>
                  <a:srgbClr val="99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0.355</a:t>
            </a:r>
            <a:endParaRPr lang="en-US" sz="825" dirty="0"/>
          </a:p>
        </p:txBody>
      </p:sp>
      <p:sp>
        <p:nvSpPr>
          <p:cNvPr id="23" name="Text 20"/>
          <p:cNvSpPr/>
          <p:nvPr/>
        </p:nvSpPr>
        <p:spPr>
          <a:xfrm>
            <a:off x="381000" y="3141166"/>
            <a:ext cx="2540794" cy="1735634"/>
          </a:xfrm>
          <a:prstGeom prst="roundRect">
            <a:avLst>
              <a:gd name="adj" fmla="val 3293"/>
            </a:avLst>
          </a:prstGeom>
          <a:solidFill>
            <a:srgbClr val="011F5B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4" name="Text 21"/>
          <p:cNvSpPr/>
          <p:nvPr/>
        </p:nvSpPr>
        <p:spPr>
          <a:xfrm>
            <a:off x="491609" y="3312616"/>
            <a:ext cx="2319576" cy="4799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37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2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+50%</a:t>
            </a:r>
            <a:endParaRPr lang="en-US" sz="2700" dirty="0"/>
          </a:p>
        </p:txBody>
      </p:sp>
      <p:sp>
        <p:nvSpPr>
          <p:cNvPr id="25" name="Text 22"/>
          <p:cNvSpPr/>
          <p:nvPr/>
        </p:nvSpPr>
        <p:spPr>
          <a:xfrm>
            <a:off x="491609" y="3830687"/>
            <a:ext cx="2319576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155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825" dirty="0">
                <a:solidFill>
                  <a:srgbClr val="FFFFFF">
                    <a:alpha val="8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vs GPT-4.1 In-Domain</a:t>
            </a:r>
            <a:endParaRPr lang="en-US" sz="825" dirty="0"/>
          </a:p>
        </p:txBody>
      </p:sp>
      <p:sp>
        <p:nvSpPr>
          <p:cNvPr id="26" name="Text 23"/>
          <p:cNvSpPr/>
          <p:nvPr/>
        </p:nvSpPr>
        <p:spPr>
          <a:xfrm>
            <a:off x="3055144" y="3141166"/>
            <a:ext cx="2540794" cy="1735634"/>
          </a:xfrm>
          <a:prstGeom prst="roundRect">
            <a:avLst>
              <a:gd name="adj" fmla="val 3293"/>
            </a:avLst>
          </a:prstGeom>
          <a:solidFill>
            <a:srgbClr val="99000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7" name="Text 24"/>
          <p:cNvSpPr/>
          <p:nvPr/>
        </p:nvSpPr>
        <p:spPr>
          <a:xfrm>
            <a:off x="3165753" y="3312616"/>
            <a:ext cx="2319576" cy="4799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37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2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+16%</a:t>
            </a:r>
            <a:endParaRPr lang="en-US" sz="2700" dirty="0"/>
          </a:p>
        </p:txBody>
      </p:sp>
      <p:sp>
        <p:nvSpPr>
          <p:cNvPr id="28" name="Text 25"/>
          <p:cNvSpPr/>
          <p:nvPr/>
        </p:nvSpPr>
        <p:spPr>
          <a:xfrm>
            <a:off x="3165753" y="3830687"/>
            <a:ext cx="2319576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155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825" dirty="0">
                <a:solidFill>
                  <a:srgbClr val="FFFFFF">
                    <a:alpha val="8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vs GPT-4.1 Zero-Shot</a:t>
            </a:r>
            <a:endParaRPr lang="en-US" sz="825" dirty="0"/>
          </a:p>
        </p:txBody>
      </p:sp>
      <p:sp>
        <p:nvSpPr>
          <p:cNvPr id="29" name="Text 26"/>
          <p:cNvSpPr/>
          <p:nvPr/>
        </p:nvSpPr>
        <p:spPr>
          <a:xfrm>
            <a:off x="5729288" y="3141166"/>
            <a:ext cx="3033713" cy="1735634"/>
          </a:xfrm>
          <a:prstGeom prst="roundRect">
            <a:avLst>
              <a:gd name="adj" fmla="val 3293"/>
            </a:avLst>
          </a:prstGeom>
          <a:solidFill>
            <a:srgbClr val="F8F8F8"/>
          </a:solidFill>
          <a:ln w="19050">
            <a:solidFill>
              <a:srgbClr val="011F5B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0" name="Text 27"/>
          <p:cNvSpPr/>
          <p:nvPr/>
        </p:nvSpPr>
        <p:spPr>
          <a:xfrm>
            <a:off x="5881688" y="3331666"/>
            <a:ext cx="2783491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spcBef>
                <a:spcPts val="300"/>
              </a:spcBef>
              <a:spcAft>
                <a:spcPts val="450"/>
              </a:spcAft>
              <a:buNone/>
            </a:pPr>
            <a:r>
              <a:rPr lang="en-US" sz="825" b="1" dirty="0">
                <a:solidFill>
                  <a:srgbClr val="011F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FINDING</a:t>
            </a:r>
            <a:endParaRPr lang="en-US" sz="825" dirty="0"/>
          </a:p>
        </p:txBody>
      </p:sp>
      <p:sp>
        <p:nvSpPr>
          <p:cNvPr id="31" name="Text 28"/>
          <p:cNvSpPr/>
          <p:nvPr/>
        </p:nvSpPr>
        <p:spPr>
          <a:xfrm>
            <a:off x="5881688" y="3535412"/>
            <a:ext cx="2783491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5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0.353 = 0.355</a:t>
            </a:r>
            <a:endParaRPr lang="en-US" sz="1500" dirty="0"/>
          </a:p>
        </p:txBody>
      </p:sp>
      <p:sp>
        <p:nvSpPr>
          <p:cNvPr id="32" name="Text 29"/>
          <p:cNvSpPr/>
          <p:nvPr/>
        </p:nvSpPr>
        <p:spPr>
          <a:xfrm>
            <a:off x="5881688" y="3840212"/>
            <a:ext cx="2783491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7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In-domain = Zero-shot!</a:t>
            </a:r>
            <a:endParaRPr lang="en-US" sz="75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380999"/>
            <a:ext cx="5246479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500" b="1" dirty="0">
                <a:solidFill>
                  <a:srgbClr val="011F5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Fair Comparison: How We Verified GPT-4.1 Results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381000" y="600075"/>
            <a:ext cx="3048000" cy="28575"/>
          </a:xfrm>
          <a:prstGeom prst="rect">
            <a:avLst/>
          </a:prstGeom>
          <a:solidFill>
            <a:srgbClr val="99000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381000" y="838200"/>
            <a:ext cx="4124325" cy="544711"/>
          </a:xfrm>
          <a:prstGeom prst="roundRect">
            <a:avLst>
              <a:gd name="adj" fmla="val 8743"/>
            </a:avLst>
          </a:prstGeom>
          <a:solidFill>
            <a:srgbClr val="011F5B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495300" y="952500"/>
            <a:ext cx="397364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00"/>
              </a:lnSpc>
              <a:spcAft>
                <a:spcPts val="450"/>
              </a:spcAft>
              <a:buNone/>
            </a:pPr>
            <a:r>
              <a:rPr lang="en-US" sz="7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IDENTICAL EVALUATION SETUP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495300" y="1123950"/>
            <a:ext cx="3973640" cy="106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84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600" dirty="0">
                <a:solidFill>
                  <a:srgbClr val="FFFFFF">
                    <a:alpha val="8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Both models evaluated on exact same test sets with same metrics</a:t>
            </a:r>
            <a:endParaRPr lang="en-US" sz="600" dirty="0"/>
          </a:p>
        </p:txBody>
      </p:sp>
      <p:sp>
        <p:nvSpPr>
          <p:cNvPr id="7" name="Text 5"/>
          <p:cNvSpPr/>
          <p:nvPr/>
        </p:nvSpPr>
        <p:spPr>
          <a:xfrm>
            <a:off x="381000" y="1440061"/>
            <a:ext cx="4124325" cy="1055191"/>
          </a:xfrm>
          <a:prstGeom prst="roundRect">
            <a:avLst>
              <a:gd name="adj" fmla="val 4513"/>
            </a:avLst>
          </a:prstGeom>
          <a:solidFill>
            <a:srgbClr val="F8F8F8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" name="Shape 6"/>
          <p:cNvSpPr/>
          <p:nvPr/>
        </p:nvSpPr>
        <p:spPr>
          <a:xfrm>
            <a:off x="395288" y="1440061"/>
            <a:ext cx="0" cy="1055191"/>
          </a:xfrm>
          <a:prstGeom prst="line">
            <a:avLst/>
          </a:prstGeom>
          <a:noFill/>
          <a:ln w="28575">
            <a:solidFill>
              <a:srgbClr val="19875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523875" y="1554361"/>
            <a:ext cx="3944493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00"/>
              </a:lnSpc>
              <a:spcAft>
                <a:spcPts val="450"/>
              </a:spcAft>
              <a:buNone/>
            </a:pPr>
            <a:r>
              <a:rPr lang="en-US" sz="750" b="1" dirty="0">
                <a:solidFill>
                  <a:srgbClr val="19875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SAME PROMPT TEMPLATE</a:t>
            </a:r>
            <a:endParaRPr lang="en-US" sz="750" dirty="0"/>
          </a:p>
        </p:txBody>
      </p:sp>
      <p:sp>
        <p:nvSpPr>
          <p:cNvPr id="10" name="Text 8"/>
          <p:cNvSpPr/>
          <p:nvPr/>
        </p:nvSpPr>
        <p:spPr>
          <a:xfrm>
            <a:off x="523875" y="1725811"/>
            <a:ext cx="3867150" cy="453330"/>
          </a:xfrm>
          <a:prstGeom prst="roundRect">
            <a:avLst>
              <a:gd name="adj" fmla="val 8404"/>
            </a:avLst>
          </a:prstGeom>
          <a:solidFill>
            <a:srgbClr val="1A1A1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600075" y="1840111"/>
            <a:ext cx="3789045" cy="933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735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525" dirty="0">
                <a:solidFill>
                  <a:srgbClr val="00FF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Summarize this conversation:</a:t>
            </a:r>
            <a:endParaRPr lang="en-US" sz="525" dirty="0"/>
          </a:p>
        </p:txBody>
      </p:sp>
      <p:sp>
        <p:nvSpPr>
          <p:cNvPr id="12" name="Text 10"/>
          <p:cNvSpPr/>
          <p:nvPr/>
        </p:nvSpPr>
        <p:spPr>
          <a:xfrm>
            <a:off x="600075" y="1971526"/>
            <a:ext cx="3789045" cy="933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735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525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{conversation}</a:t>
            </a:r>
            <a:endParaRPr lang="en-US" sz="525" dirty="0"/>
          </a:p>
        </p:txBody>
      </p:sp>
      <p:sp>
        <p:nvSpPr>
          <p:cNvPr id="13" name="Text 11"/>
          <p:cNvSpPr/>
          <p:nvPr/>
        </p:nvSpPr>
        <p:spPr>
          <a:xfrm>
            <a:off x="523875" y="2236291"/>
            <a:ext cx="3944493" cy="106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840"/>
              </a:lnSpc>
              <a:spcBef>
                <a:spcPts val="450"/>
              </a:spcBef>
              <a:spcAft>
                <a:spcPts val="300"/>
              </a:spcAft>
              <a:buNone/>
            </a:pPr>
            <a:r>
              <a:rPr lang="en-US" sz="6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special instructions or hints given to either model</a:t>
            </a:r>
            <a:endParaRPr lang="en-US" sz="600" dirty="0"/>
          </a:p>
        </p:txBody>
      </p:sp>
      <p:sp>
        <p:nvSpPr>
          <p:cNvPr id="14" name="Text 12"/>
          <p:cNvSpPr/>
          <p:nvPr/>
        </p:nvSpPr>
        <p:spPr>
          <a:xfrm>
            <a:off x="381000" y="2552402"/>
            <a:ext cx="4124325" cy="1245394"/>
          </a:xfrm>
          <a:prstGeom prst="roundRect">
            <a:avLst>
              <a:gd name="adj" fmla="val 3824"/>
            </a:avLst>
          </a:prstGeom>
          <a:solidFill>
            <a:srgbClr val="F8F8F8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5" name="Shape 13"/>
          <p:cNvSpPr/>
          <p:nvPr/>
        </p:nvSpPr>
        <p:spPr>
          <a:xfrm>
            <a:off x="395288" y="2552402"/>
            <a:ext cx="0" cy="1245394"/>
          </a:xfrm>
          <a:prstGeom prst="line">
            <a:avLst/>
          </a:prstGeom>
          <a:noFill/>
          <a:ln w="28575">
            <a:solidFill>
              <a:srgbClr val="99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523875" y="2666702"/>
            <a:ext cx="3944493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00"/>
              </a:lnSpc>
              <a:spcAft>
                <a:spcPts val="450"/>
              </a:spcAft>
              <a:buNone/>
            </a:pPr>
            <a:r>
              <a:rPr lang="en-US" sz="750" b="1" dirty="0">
                <a:solidFill>
                  <a:srgbClr val="9900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GPT-4.1 CONFIGURATION</a:t>
            </a:r>
            <a:endParaRPr lang="en-US" sz="750" dirty="0"/>
          </a:p>
        </p:txBody>
      </p:sp>
      <p:sp>
        <p:nvSpPr>
          <p:cNvPr id="17" name="Text 15"/>
          <p:cNvSpPr/>
          <p:nvPr/>
        </p:nvSpPr>
        <p:spPr>
          <a:xfrm>
            <a:off x="523875" y="2876252"/>
            <a:ext cx="1952816" cy="106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84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6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Model:</a:t>
            </a:r>
            <a:endParaRPr lang="en-US" sz="600" dirty="0"/>
          </a:p>
        </p:txBody>
      </p:sp>
      <p:sp>
        <p:nvSpPr>
          <p:cNvPr id="18" name="Text 16"/>
          <p:cNvSpPr/>
          <p:nvPr/>
        </p:nvSpPr>
        <p:spPr>
          <a:xfrm>
            <a:off x="2476500" y="2876252"/>
            <a:ext cx="1952816" cy="106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84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6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gpt-4.1-2025-04-14</a:t>
            </a:r>
            <a:endParaRPr lang="en-US" sz="600" dirty="0"/>
          </a:p>
        </p:txBody>
      </p:sp>
      <p:sp>
        <p:nvSpPr>
          <p:cNvPr id="19" name="Text 17"/>
          <p:cNvSpPr/>
          <p:nvPr/>
        </p:nvSpPr>
        <p:spPr>
          <a:xfrm>
            <a:off x="523875" y="3097113"/>
            <a:ext cx="1952816" cy="106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84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6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Temperature:</a:t>
            </a:r>
            <a:endParaRPr lang="en-US" sz="600" dirty="0"/>
          </a:p>
        </p:txBody>
      </p:sp>
      <p:sp>
        <p:nvSpPr>
          <p:cNvPr id="20" name="Text 18"/>
          <p:cNvSpPr/>
          <p:nvPr/>
        </p:nvSpPr>
        <p:spPr>
          <a:xfrm>
            <a:off x="2476500" y="3097113"/>
            <a:ext cx="1952816" cy="106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84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6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 (deterministic)</a:t>
            </a:r>
            <a:endParaRPr lang="en-US" sz="600" dirty="0"/>
          </a:p>
        </p:txBody>
      </p:sp>
      <p:sp>
        <p:nvSpPr>
          <p:cNvPr id="21" name="Text 19"/>
          <p:cNvSpPr/>
          <p:nvPr/>
        </p:nvSpPr>
        <p:spPr>
          <a:xfrm>
            <a:off x="523875" y="3317974"/>
            <a:ext cx="1952816" cy="106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84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6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Max tokens:</a:t>
            </a:r>
            <a:endParaRPr lang="en-US" sz="600" dirty="0"/>
          </a:p>
        </p:txBody>
      </p:sp>
      <p:sp>
        <p:nvSpPr>
          <p:cNvPr id="22" name="Text 20"/>
          <p:cNvSpPr/>
          <p:nvPr/>
        </p:nvSpPr>
        <p:spPr>
          <a:xfrm>
            <a:off x="2476500" y="3317974"/>
            <a:ext cx="1952816" cy="106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84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6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150</a:t>
            </a:r>
            <a:endParaRPr lang="en-US" sz="600" dirty="0"/>
          </a:p>
        </p:txBody>
      </p:sp>
      <p:sp>
        <p:nvSpPr>
          <p:cNvPr id="23" name="Text 21"/>
          <p:cNvSpPr/>
          <p:nvPr/>
        </p:nvSpPr>
        <p:spPr>
          <a:xfrm>
            <a:off x="523875" y="3538835"/>
            <a:ext cx="1952816" cy="106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84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6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System prompt:</a:t>
            </a:r>
            <a:endParaRPr lang="en-US" sz="600" dirty="0"/>
          </a:p>
        </p:txBody>
      </p:sp>
      <p:sp>
        <p:nvSpPr>
          <p:cNvPr id="24" name="Text 22"/>
          <p:cNvSpPr/>
          <p:nvPr/>
        </p:nvSpPr>
        <p:spPr>
          <a:xfrm>
            <a:off x="2476500" y="3538835"/>
            <a:ext cx="1952816" cy="106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84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6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None</a:t>
            </a:r>
            <a:endParaRPr lang="en-US" sz="600" dirty="0"/>
          </a:p>
        </p:txBody>
      </p:sp>
      <p:sp>
        <p:nvSpPr>
          <p:cNvPr id="25" name="Text 23"/>
          <p:cNvSpPr/>
          <p:nvPr/>
        </p:nvSpPr>
        <p:spPr>
          <a:xfrm>
            <a:off x="4638675" y="838200"/>
            <a:ext cx="4124325" cy="1306116"/>
          </a:xfrm>
          <a:prstGeom prst="roundRect">
            <a:avLst>
              <a:gd name="adj" fmla="val 3646"/>
            </a:avLst>
          </a:prstGeom>
          <a:solidFill>
            <a:srgbClr val="F8F8F8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6" name="Shape 24"/>
          <p:cNvSpPr/>
          <p:nvPr/>
        </p:nvSpPr>
        <p:spPr>
          <a:xfrm>
            <a:off x="4652963" y="838200"/>
            <a:ext cx="0" cy="1306116"/>
          </a:xfrm>
          <a:prstGeom prst="line">
            <a:avLst/>
          </a:prstGeom>
          <a:noFill/>
          <a:ln w="28575">
            <a:solidFill>
              <a:srgbClr val="FFC10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4781550" y="952500"/>
            <a:ext cx="3944493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00"/>
              </a:lnSpc>
              <a:spcAft>
                <a:spcPts val="450"/>
              </a:spcAft>
              <a:buNone/>
            </a:pPr>
            <a:r>
              <a:rPr lang="en-US" sz="750" b="1" dirty="0">
                <a:solidFill>
                  <a:srgbClr val="997A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 GPT-4.1 UNDERPERFORMS</a:t>
            </a:r>
            <a:endParaRPr lang="en-US" sz="750" dirty="0"/>
          </a:p>
        </p:txBody>
      </p:sp>
      <p:sp>
        <p:nvSpPr>
          <p:cNvPr id="28" name="Text 26"/>
          <p:cNvSpPr/>
          <p:nvPr/>
        </p:nvSpPr>
        <p:spPr>
          <a:xfrm>
            <a:off x="4781550" y="1123950"/>
            <a:ext cx="3944493" cy="106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84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6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Zero-shot vs Fine-tuned:</a:t>
            </a:r>
            <a:endParaRPr lang="en-US" sz="600" dirty="0"/>
          </a:p>
        </p:txBody>
      </p:sp>
      <p:sp>
        <p:nvSpPr>
          <p:cNvPr id="29" name="Text 27"/>
          <p:cNvSpPr/>
          <p:nvPr/>
        </p:nvSpPr>
        <p:spPr>
          <a:xfrm>
            <a:off x="4857750" y="1268611"/>
            <a:ext cx="3866769" cy="106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84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6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GPT-4.1 never saw code-mixed summarization examples</a:t>
            </a:r>
            <a:endParaRPr lang="en-US" sz="600" dirty="0"/>
          </a:p>
        </p:txBody>
      </p:sp>
      <p:sp>
        <p:nvSpPr>
          <p:cNvPr id="30" name="Text 28"/>
          <p:cNvSpPr/>
          <p:nvPr/>
        </p:nvSpPr>
        <p:spPr>
          <a:xfrm>
            <a:off x="4781550" y="1432322"/>
            <a:ext cx="3944493" cy="106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840"/>
              </a:lnSpc>
              <a:spcBef>
                <a:spcPts val="450"/>
              </a:spcBef>
              <a:spcAft>
                <a:spcPts val="300"/>
              </a:spcAft>
              <a:buNone/>
            </a:pPr>
            <a:r>
              <a:rPr lang="en-US" sz="6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Task-specific adaptation:</a:t>
            </a:r>
            <a:endParaRPr lang="en-US" sz="600" dirty="0"/>
          </a:p>
        </p:txBody>
      </p:sp>
      <p:sp>
        <p:nvSpPr>
          <p:cNvPr id="31" name="Text 29"/>
          <p:cNvSpPr/>
          <p:nvPr/>
        </p:nvSpPr>
        <p:spPr>
          <a:xfrm>
            <a:off x="4857750" y="1576983"/>
            <a:ext cx="3866769" cy="106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84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6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CSCL learns exact summary style from training data</a:t>
            </a:r>
            <a:endParaRPr lang="en-US" sz="600" dirty="0"/>
          </a:p>
        </p:txBody>
      </p:sp>
      <p:sp>
        <p:nvSpPr>
          <p:cNvPr id="32" name="Text 30"/>
          <p:cNvSpPr/>
          <p:nvPr/>
        </p:nvSpPr>
        <p:spPr>
          <a:xfrm>
            <a:off x="4781550" y="1740694"/>
            <a:ext cx="3944493" cy="106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840"/>
              </a:lnSpc>
              <a:spcBef>
                <a:spcPts val="450"/>
              </a:spcBef>
              <a:spcAft>
                <a:spcPts val="300"/>
              </a:spcAft>
              <a:buNone/>
            </a:pPr>
            <a:r>
              <a:rPr lang="en-US" sz="6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Length calibration:</a:t>
            </a:r>
            <a:endParaRPr lang="en-US" sz="600" dirty="0"/>
          </a:p>
        </p:txBody>
      </p:sp>
      <p:sp>
        <p:nvSpPr>
          <p:cNvPr id="33" name="Text 31"/>
          <p:cNvSpPr/>
          <p:nvPr/>
        </p:nvSpPr>
        <p:spPr>
          <a:xfrm>
            <a:off x="4857750" y="1885355"/>
            <a:ext cx="3866769" cy="106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84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6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Fine-tuning teaches optimal summary length</a:t>
            </a:r>
            <a:endParaRPr lang="en-US" sz="600" dirty="0"/>
          </a:p>
        </p:txBody>
      </p:sp>
      <p:sp>
        <p:nvSpPr>
          <p:cNvPr id="34" name="Text 32"/>
          <p:cNvSpPr/>
          <p:nvPr/>
        </p:nvSpPr>
        <p:spPr>
          <a:xfrm>
            <a:off x="4638675" y="2201466"/>
            <a:ext cx="4124325" cy="978694"/>
          </a:xfrm>
          <a:prstGeom prst="roundRect">
            <a:avLst>
              <a:gd name="adj" fmla="val 4866"/>
            </a:avLst>
          </a:prstGeom>
          <a:solidFill>
            <a:srgbClr val="F8F8F8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5" name="Text 33"/>
          <p:cNvSpPr/>
          <p:nvPr/>
        </p:nvSpPr>
        <p:spPr>
          <a:xfrm>
            <a:off x="4752975" y="2315766"/>
            <a:ext cx="397364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00"/>
              </a:lnSpc>
              <a:spcAft>
                <a:spcPts val="450"/>
              </a:spcAft>
              <a:buNone/>
            </a:pPr>
            <a:r>
              <a:rPr lang="en-US" sz="750" b="1" dirty="0">
                <a:solidFill>
                  <a:srgbClr val="011F5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VERIFICATION STEPS</a:t>
            </a:r>
            <a:endParaRPr lang="en-US" sz="750" dirty="0"/>
          </a:p>
        </p:txBody>
      </p:sp>
      <p:sp>
        <p:nvSpPr>
          <p:cNvPr id="36" name="Text 34"/>
          <p:cNvSpPr/>
          <p:nvPr/>
        </p:nvSpPr>
        <p:spPr>
          <a:xfrm>
            <a:off x="4752975" y="2487216"/>
            <a:ext cx="3973640" cy="106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84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Ran GPT-4.1 on FULL test sets (325 + 501 samples)</a:t>
            </a:r>
            <a:endParaRPr lang="en-US" sz="600" dirty="0"/>
          </a:p>
        </p:txBody>
      </p:sp>
      <p:sp>
        <p:nvSpPr>
          <p:cNvPr id="37" name="Text 35"/>
          <p:cNvSpPr/>
          <p:nvPr/>
        </p:nvSpPr>
        <p:spPr>
          <a:xfrm>
            <a:off x="4752975" y="2631877"/>
            <a:ext cx="3973640" cy="106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84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Used official OpenAI API (not playground)</a:t>
            </a:r>
            <a:endParaRPr lang="en-US" sz="600" dirty="0"/>
          </a:p>
        </p:txBody>
      </p:sp>
      <p:sp>
        <p:nvSpPr>
          <p:cNvPr id="38" name="Text 36"/>
          <p:cNvSpPr/>
          <p:nvPr/>
        </p:nvSpPr>
        <p:spPr>
          <a:xfrm>
            <a:off x="4752975" y="2776538"/>
            <a:ext cx="3973640" cy="106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84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Same ROUGE/BERTScore computation for all models</a:t>
            </a:r>
            <a:endParaRPr lang="en-US" sz="600" dirty="0"/>
          </a:p>
        </p:txBody>
      </p:sp>
      <p:sp>
        <p:nvSpPr>
          <p:cNvPr id="39" name="Text 37"/>
          <p:cNvSpPr/>
          <p:nvPr/>
        </p:nvSpPr>
        <p:spPr>
          <a:xfrm>
            <a:off x="4752975" y="2921198"/>
            <a:ext cx="3973640" cy="106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84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No cherry-picking of examples</a:t>
            </a:r>
            <a:endParaRPr lang="en-US" sz="600" dirty="0"/>
          </a:p>
        </p:txBody>
      </p:sp>
      <p:sp>
        <p:nvSpPr>
          <p:cNvPr id="40" name="Text 38"/>
          <p:cNvSpPr/>
          <p:nvPr/>
        </p:nvSpPr>
        <p:spPr>
          <a:xfrm>
            <a:off x="4638675" y="3237309"/>
            <a:ext cx="4124325" cy="594122"/>
          </a:xfrm>
          <a:prstGeom prst="roundRect">
            <a:avLst>
              <a:gd name="adj" fmla="val 8016"/>
            </a:avLst>
          </a:prstGeom>
          <a:solidFill>
            <a:srgbClr val="D4EDD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1" name="Shape 39"/>
          <p:cNvSpPr/>
          <p:nvPr/>
        </p:nvSpPr>
        <p:spPr>
          <a:xfrm>
            <a:off x="4652963" y="3237309"/>
            <a:ext cx="0" cy="594122"/>
          </a:xfrm>
          <a:prstGeom prst="line">
            <a:avLst/>
          </a:prstGeom>
          <a:noFill/>
          <a:ln w="28575">
            <a:solidFill>
              <a:srgbClr val="19875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Text 40"/>
          <p:cNvSpPr/>
          <p:nvPr/>
        </p:nvSpPr>
        <p:spPr>
          <a:xfrm>
            <a:off x="4762500" y="3332559"/>
            <a:ext cx="3983355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00"/>
              </a:lnSpc>
              <a:spcAft>
                <a:spcPts val="300"/>
              </a:spcAft>
              <a:buNone/>
            </a:pPr>
            <a:r>
              <a:rPr lang="en-US" sz="750" b="1" dirty="0">
                <a:solidFill>
                  <a:srgbClr val="15572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KEY INSIGHT</a:t>
            </a:r>
            <a:endParaRPr lang="en-US" sz="750" dirty="0"/>
          </a:p>
        </p:txBody>
      </p:sp>
      <p:sp>
        <p:nvSpPr>
          <p:cNvPr id="43" name="Text 41"/>
          <p:cNvSpPr/>
          <p:nvPr/>
        </p:nvSpPr>
        <p:spPr>
          <a:xfrm>
            <a:off x="4762500" y="3484959"/>
            <a:ext cx="3983355" cy="2131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84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600" dirty="0">
                <a:solidFill>
                  <a:srgbClr val="1557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Task-specific fine-tuning beats general-purpose LLMs even when the fine-tuned model is 1000x smaller (3B vs 1.8T estimated)</a:t>
            </a:r>
            <a:endParaRPr lang="en-US" sz="6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381000"/>
            <a:ext cx="4284536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500" b="1" dirty="0">
                <a:solidFill>
                  <a:srgbClr val="011F5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Results: Full Score Table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381000" y="600075"/>
            <a:ext cx="1428750" cy="28575"/>
          </a:xfrm>
          <a:prstGeom prst="rect">
            <a:avLst/>
          </a:prstGeom>
          <a:solidFill>
            <a:srgbClr val="99000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381000" y="838200"/>
            <a:ext cx="4960590" cy="297061"/>
          </a:xfrm>
          <a:prstGeom prst="roundRect">
            <a:avLst>
              <a:gd name="adj" fmla="val 9619"/>
            </a:avLst>
          </a:prstGeom>
          <a:solidFill>
            <a:srgbClr val="011F5B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438150" y="933450"/>
            <a:ext cx="2118586" cy="106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84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</a:t>
            </a:r>
            <a:endParaRPr lang="en-US" sz="600" dirty="0"/>
          </a:p>
        </p:txBody>
      </p:sp>
      <p:sp>
        <p:nvSpPr>
          <p:cNvPr id="6" name="Text 4"/>
          <p:cNvSpPr/>
          <p:nvPr/>
        </p:nvSpPr>
        <p:spPr>
          <a:xfrm>
            <a:off x="2501348" y="933450"/>
            <a:ext cx="1412391" cy="106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84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CS-SUM</a:t>
            </a:r>
            <a:endParaRPr lang="en-US" sz="600" dirty="0"/>
          </a:p>
        </p:txBody>
      </p:sp>
      <p:sp>
        <p:nvSpPr>
          <p:cNvPr id="7" name="Text 5"/>
          <p:cNvSpPr/>
          <p:nvPr/>
        </p:nvSpPr>
        <p:spPr>
          <a:xfrm>
            <a:off x="3886045" y="933450"/>
            <a:ext cx="1412391" cy="106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84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GupShup</a:t>
            </a:r>
            <a:endParaRPr lang="en-US" sz="600" dirty="0"/>
          </a:p>
        </p:txBody>
      </p:sp>
      <p:sp>
        <p:nvSpPr>
          <p:cNvPr id="8" name="Text 6"/>
          <p:cNvSpPr/>
          <p:nvPr/>
        </p:nvSpPr>
        <p:spPr>
          <a:xfrm>
            <a:off x="381000" y="1173361"/>
            <a:ext cx="4960590" cy="264765"/>
          </a:xfrm>
          <a:prstGeom prst="rect">
            <a:avLst/>
          </a:prstGeom>
          <a:solidFill>
            <a:srgbClr val="F8F8F8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438150" y="1259086"/>
            <a:ext cx="2118586" cy="933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735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525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Extractive</a:t>
            </a:r>
            <a:endParaRPr lang="en-US" sz="525" dirty="0"/>
          </a:p>
        </p:txBody>
      </p:sp>
      <p:sp>
        <p:nvSpPr>
          <p:cNvPr id="10" name="Text 8"/>
          <p:cNvSpPr/>
          <p:nvPr/>
        </p:nvSpPr>
        <p:spPr>
          <a:xfrm>
            <a:off x="2501348" y="1259086"/>
            <a:ext cx="1412391" cy="933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735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525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0.089</a:t>
            </a:r>
            <a:endParaRPr lang="en-US" sz="525" dirty="0"/>
          </a:p>
        </p:txBody>
      </p:sp>
      <p:sp>
        <p:nvSpPr>
          <p:cNvPr id="11" name="Text 9"/>
          <p:cNvSpPr/>
          <p:nvPr/>
        </p:nvSpPr>
        <p:spPr>
          <a:xfrm>
            <a:off x="3886045" y="1259086"/>
            <a:ext cx="1412391" cy="933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735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525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0.103</a:t>
            </a:r>
            <a:endParaRPr lang="en-US" sz="525" dirty="0"/>
          </a:p>
        </p:txBody>
      </p:sp>
      <p:sp>
        <p:nvSpPr>
          <p:cNvPr id="12" name="Text 10"/>
          <p:cNvSpPr/>
          <p:nvPr/>
        </p:nvSpPr>
        <p:spPr>
          <a:xfrm>
            <a:off x="381000" y="1476226"/>
            <a:ext cx="4960590" cy="264765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438150" y="1561951"/>
            <a:ext cx="2118586" cy="933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735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525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Base Llama</a:t>
            </a:r>
            <a:endParaRPr lang="en-US" sz="525" dirty="0"/>
          </a:p>
        </p:txBody>
      </p:sp>
      <p:sp>
        <p:nvSpPr>
          <p:cNvPr id="14" name="Text 12"/>
          <p:cNvSpPr/>
          <p:nvPr/>
        </p:nvSpPr>
        <p:spPr>
          <a:xfrm>
            <a:off x="2501348" y="1561951"/>
            <a:ext cx="1412391" cy="933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735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525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0.175</a:t>
            </a:r>
            <a:endParaRPr lang="en-US" sz="525" dirty="0"/>
          </a:p>
        </p:txBody>
      </p:sp>
      <p:sp>
        <p:nvSpPr>
          <p:cNvPr id="15" name="Text 13"/>
          <p:cNvSpPr/>
          <p:nvPr/>
        </p:nvSpPr>
        <p:spPr>
          <a:xfrm>
            <a:off x="3886045" y="1561951"/>
            <a:ext cx="1412391" cy="933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735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525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0.224</a:t>
            </a:r>
            <a:endParaRPr lang="en-US" sz="525" dirty="0"/>
          </a:p>
        </p:txBody>
      </p:sp>
      <p:sp>
        <p:nvSpPr>
          <p:cNvPr id="16" name="Text 14"/>
          <p:cNvSpPr/>
          <p:nvPr/>
        </p:nvSpPr>
        <p:spPr>
          <a:xfrm>
            <a:off x="381000" y="1779091"/>
            <a:ext cx="4960590" cy="264765"/>
          </a:xfrm>
          <a:prstGeom prst="rect">
            <a:avLst/>
          </a:prstGeom>
          <a:solidFill>
            <a:srgbClr val="F8F8F8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438150" y="1864816"/>
            <a:ext cx="2118586" cy="933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735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525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GPT-4.1</a:t>
            </a:r>
            <a:endParaRPr lang="en-US" sz="525" dirty="0"/>
          </a:p>
        </p:txBody>
      </p:sp>
      <p:sp>
        <p:nvSpPr>
          <p:cNvPr id="18" name="Text 16"/>
          <p:cNvSpPr/>
          <p:nvPr/>
        </p:nvSpPr>
        <p:spPr>
          <a:xfrm>
            <a:off x="2501348" y="1864816"/>
            <a:ext cx="1412391" cy="933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735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525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0.235</a:t>
            </a:r>
            <a:endParaRPr lang="en-US" sz="525" dirty="0"/>
          </a:p>
        </p:txBody>
      </p:sp>
      <p:sp>
        <p:nvSpPr>
          <p:cNvPr id="19" name="Text 17"/>
          <p:cNvSpPr/>
          <p:nvPr/>
        </p:nvSpPr>
        <p:spPr>
          <a:xfrm>
            <a:off x="3886045" y="1864816"/>
            <a:ext cx="1412391" cy="933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735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525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0.307</a:t>
            </a:r>
            <a:endParaRPr lang="en-US" sz="525" dirty="0"/>
          </a:p>
        </p:txBody>
      </p:sp>
      <p:sp>
        <p:nvSpPr>
          <p:cNvPr id="20" name="Text 18"/>
          <p:cNvSpPr/>
          <p:nvPr/>
        </p:nvSpPr>
        <p:spPr>
          <a:xfrm>
            <a:off x="381000" y="2081957"/>
            <a:ext cx="4960590" cy="264765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438150" y="2167682"/>
            <a:ext cx="2118586" cy="933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735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525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Curriculum</a:t>
            </a:r>
            <a:endParaRPr lang="en-US" sz="525" dirty="0"/>
          </a:p>
        </p:txBody>
      </p:sp>
      <p:sp>
        <p:nvSpPr>
          <p:cNvPr id="22" name="Text 20"/>
          <p:cNvSpPr/>
          <p:nvPr/>
        </p:nvSpPr>
        <p:spPr>
          <a:xfrm>
            <a:off x="2501348" y="2167682"/>
            <a:ext cx="1412391" cy="933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735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525" b="1" dirty="0">
                <a:solidFill>
                  <a:srgbClr val="011F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0.480</a:t>
            </a:r>
            <a:endParaRPr lang="en-US" sz="525" dirty="0"/>
          </a:p>
        </p:txBody>
      </p:sp>
      <p:sp>
        <p:nvSpPr>
          <p:cNvPr id="23" name="Text 21"/>
          <p:cNvSpPr/>
          <p:nvPr/>
        </p:nvSpPr>
        <p:spPr>
          <a:xfrm>
            <a:off x="3886045" y="2167682"/>
            <a:ext cx="1412391" cy="933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735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525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0.340</a:t>
            </a:r>
            <a:endParaRPr lang="en-US" sz="525" dirty="0"/>
          </a:p>
        </p:txBody>
      </p:sp>
      <p:sp>
        <p:nvSpPr>
          <p:cNvPr id="24" name="Text 22"/>
          <p:cNvSpPr/>
          <p:nvPr/>
        </p:nvSpPr>
        <p:spPr>
          <a:xfrm>
            <a:off x="381000" y="2384822"/>
            <a:ext cx="4960590" cy="264765"/>
          </a:xfrm>
          <a:prstGeom prst="rect">
            <a:avLst/>
          </a:prstGeom>
          <a:solidFill>
            <a:srgbClr val="D4EDD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5" name="Text 23"/>
          <p:cNvSpPr/>
          <p:nvPr/>
        </p:nvSpPr>
        <p:spPr>
          <a:xfrm>
            <a:off x="438150" y="2470547"/>
            <a:ext cx="2118586" cy="933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735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525" b="1" dirty="0">
                <a:solidFill>
                  <a:srgbClr val="1987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CSCL (Ours)</a:t>
            </a:r>
            <a:endParaRPr lang="en-US" sz="525" dirty="0"/>
          </a:p>
        </p:txBody>
      </p:sp>
      <p:sp>
        <p:nvSpPr>
          <p:cNvPr id="26" name="Text 24"/>
          <p:cNvSpPr/>
          <p:nvPr/>
        </p:nvSpPr>
        <p:spPr>
          <a:xfrm>
            <a:off x="2501348" y="2470547"/>
            <a:ext cx="1412391" cy="933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735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525" b="1" dirty="0">
                <a:solidFill>
                  <a:srgbClr val="1987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0.353</a:t>
            </a:r>
            <a:endParaRPr lang="en-US" sz="525" dirty="0"/>
          </a:p>
        </p:txBody>
      </p:sp>
      <p:sp>
        <p:nvSpPr>
          <p:cNvPr id="27" name="Text 25"/>
          <p:cNvSpPr/>
          <p:nvPr/>
        </p:nvSpPr>
        <p:spPr>
          <a:xfrm>
            <a:off x="3886045" y="2470547"/>
            <a:ext cx="1412391" cy="933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735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525" b="1" dirty="0">
                <a:solidFill>
                  <a:srgbClr val="99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0.355</a:t>
            </a:r>
            <a:endParaRPr lang="en-US" sz="525" dirty="0"/>
          </a:p>
        </p:txBody>
      </p:sp>
      <p:sp>
        <p:nvSpPr>
          <p:cNvPr id="28" name="Text 26"/>
          <p:cNvSpPr/>
          <p:nvPr/>
        </p:nvSpPr>
        <p:spPr>
          <a:xfrm>
            <a:off x="381000" y="2706737"/>
            <a:ext cx="5059802" cy="799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630"/>
              </a:lnSpc>
              <a:spcBef>
                <a:spcPts val="150"/>
              </a:spcBef>
              <a:spcAft>
                <a:spcPts val="300"/>
              </a:spcAft>
              <a:buNone/>
            </a:pPr>
            <a:r>
              <a:rPr lang="en-US" sz="4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CS-SUM=In-domain, GupShup=Zero-shot Hindi (unseen)</a:t>
            </a:r>
            <a:endParaRPr lang="en-US" sz="450" dirty="0"/>
          </a:p>
        </p:txBody>
      </p:sp>
      <p:sp>
        <p:nvSpPr>
          <p:cNvPr id="29" name="Text 27"/>
          <p:cNvSpPr/>
          <p:nvPr/>
        </p:nvSpPr>
        <p:spPr>
          <a:xfrm>
            <a:off x="5455890" y="838200"/>
            <a:ext cx="3307110" cy="424755"/>
          </a:xfrm>
          <a:prstGeom prst="roundRect">
            <a:avLst>
              <a:gd name="adj" fmla="val 8970"/>
            </a:avLst>
          </a:prstGeom>
          <a:solidFill>
            <a:srgbClr val="011F5B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0" name="Text 28"/>
          <p:cNvSpPr/>
          <p:nvPr/>
        </p:nvSpPr>
        <p:spPr>
          <a:xfrm>
            <a:off x="5532090" y="914400"/>
            <a:ext cx="3217804" cy="102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810"/>
              </a:lnSpc>
              <a:spcAft>
                <a:spcPts val="225"/>
              </a:spcAft>
              <a:buNone/>
            </a:pPr>
            <a:r>
              <a:rPr lang="en-US" sz="675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KEY 1</a:t>
            </a:r>
            <a:endParaRPr lang="en-US" sz="675" dirty="0"/>
          </a:p>
        </p:txBody>
      </p:sp>
      <p:sp>
        <p:nvSpPr>
          <p:cNvPr id="31" name="Text 29"/>
          <p:cNvSpPr/>
          <p:nvPr/>
        </p:nvSpPr>
        <p:spPr>
          <a:xfrm>
            <a:off x="5532090" y="1055340"/>
            <a:ext cx="3217804" cy="933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735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525" dirty="0">
                <a:solidFill>
                  <a:srgbClr val="FFFFFF">
                    <a:alpha val="8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Fine-tuning beats GPT-4.1 by </a:t>
            </a:r>
            <a:r>
              <a:rPr lang="en-US" sz="525" b="1" dirty="0">
                <a:solidFill>
                  <a:srgbClr val="FFFFFF">
                    <a:alpha val="8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50%+</a:t>
            </a:r>
            <a:endParaRPr lang="en-US" sz="525" dirty="0"/>
          </a:p>
        </p:txBody>
      </p:sp>
      <p:sp>
        <p:nvSpPr>
          <p:cNvPr id="32" name="Text 30"/>
          <p:cNvSpPr/>
          <p:nvPr/>
        </p:nvSpPr>
        <p:spPr>
          <a:xfrm>
            <a:off x="5455890" y="1310580"/>
            <a:ext cx="3307110" cy="424755"/>
          </a:xfrm>
          <a:prstGeom prst="roundRect">
            <a:avLst>
              <a:gd name="adj" fmla="val 8970"/>
            </a:avLst>
          </a:prstGeom>
          <a:solidFill>
            <a:srgbClr val="99000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3" name="Text 31"/>
          <p:cNvSpPr/>
          <p:nvPr/>
        </p:nvSpPr>
        <p:spPr>
          <a:xfrm>
            <a:off x="5532090" y="1386780"/>
            <a:ext cx="3217804" cy="102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810"/>
              </a:lnSpc>
              <a:spcAft>
                <a:spcPts val="225"/>
              </a:spcAft>
              <a:buNone/>
            </a:pPr>
            <a:r>
              <a:rPr lang="en-US" sz="675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KEY 2</a:t>
            </a:r>
            <a:endParaRPr lang="en-US" sz="675" dirty="0"/>
          </a:p>
        </p:txBody>
      </p:sp>
      <p:sp>
        <p:nvSpPr>
          <p:cNvPr id="34" name="Text 32"/>
          <p:cNvSpPr/>
          <p:nvPr/>
        </p:nvSpPr>
        <p:spPr>
          <a:xfrm>
            <a:off x="5532090" y="1527721"/>
            <a:ext cx="3217804" cy="933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735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525" dirty="0">
                <a:solidFill>
                  <a:srgbClr val="FFFFFF">
                    <a:alpha val="8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CSCL: 0.353 = 0.355 (in-domain = zero-shot!)</a:t>
            </a:r>
            <a:endParaRPr lang="en-US" sz="525" dirty="0"/>
          </a:p>
        </p:txBody>
      </p:sp>
      <p:sp>
        <p:nvSpPr>
          <p:cNvPr id="35" name="Text 33"/>
          <p:cNvSpPr/>
          <p:nvPr/>
        </p:nvSpPr>
        <p:spPr>
          <a:xfrm>
            <a:off x="5455890" y="1782961"/>
            <a:ext cx="3307110" cy="424755"/>
          </a:xfrm>
          <a:prstGeom prst="roundRect">
            <a:avLst>
              <a:gd name="adj" fmla="val 8970"/>
            </a:avLst>
          </a:prstGeom>
          <a:solidFill>
            <a:srgbClr val="F8F8F8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6" name="Shape 34"/>
          <p:cNvSpPr/>
          <p:nvPr/>
        </p:nvSpPr>
        <p:spPr>
          <a:xfrm>
            <a:off x="5470178" y="1782961"/>
            <a:ext cx="0" cy="424755"/>
          </a:xfrm>
          <a:prstGeom prst="line">
            <a:avLst/>
          </a:prstGeom>
          <a:noFill/>
          <a:ln w="28575">
            <a:solidFill>
              <a:srgbClr val="FFC10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5560665" y="1859161"/>
            <a:ext cx="3188657" cy="102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810"/>
              </a:lnSpc>
              <a:spcAft>
                <a:spcPts val="225"/>
              </a:spcAft>
              <a:buNone/>
            </a:pPr>
            <a:r>
              <a:rPr lang="en-US" sz="675" b="1" dirty="0">
                <a:solidFill>
                  <a:srgbClr val="997A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TRADE-OFF</a:t>
            </a:r>
            <a:endParaRPr lang="en-US" sz="675" dirty="0"/>
          </a:p>
        </p:txBody>
      </p:sp>
      <p:sp>
        <p:nvSpPr>
          <p:cNvPr id="38" name="Text 36"/>
          <p:cNvSpPr/>
          <p:nvPr/>
        </p:nvSpPr>
        <p:spPr>
          <a:xfrm>
            <a:off x="5560665" y="2000101"/>
            <a:ext cx="3188657" cy="933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735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525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CSCL: -27% in-domain for +4% zero-shot</a:t>
            </a:r>
            <a:endParaRPr lang="en-US" sz="525" dirty="0"/>
          </a:p>
        </p:txBody>
      </p:sp>
      <p:sp>
        <p:nvSpPr>
          <p:cNvPr id="39" name="Text 37"/>
          <p:cNvSpPr/>
          <p:nvPr/>
        </p:nvSpPr>
        <p:spPr>
          <a:xfrm>
            <a:off x="5455890" y="2255341"/>
            <a:ext cx="3307110" cy="424755"/>
          </a:xfrm>
          <a:prstGeom prst="roundRect">
            <a:avLst>
              <a:gd name="adj" fmla="val 8970"/>
            </a:avLst>
          </a:prstGeom>
          <a:solidFill>
            <a:srgbClr val="F8F8F8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0" name="Shape 38"/>
          <p:cNvSpPr/>
          <p:nvPr/>
        </p:nvSpPr>
        <p:spPr>
          <a:xfrm>
            <a:off x="5470178" y="2255341"/>
            <a:ext cx="0" cy="424755"/>
          </a:xfrm>
          <a:prstGeom prst="line">
            <a:avLst/>
          </a:prstGeom>
          <a:noFill/>
          <a:ln w="28575">
            <a:solidFill>
              <a:srgbClr val="19875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Text 39"/>
          <p:cNvSpPr/>
          <p:nvPr/>
        </p:nvSpPr>
        <p:spPr>
          <a:xfrm>
            <a:off x="5560665" y="2331541"/>
            <a:ext cx="3188657" cy="102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810"/>
              </a:lnSpc>
              <a:spcAft>
                <a:spcPts val="225"/>
              </a:spcAft>
              <a:buNone/>
            </a:pPr>
            <a:r>
              <a:rPr lang="en-US" sz="675" b="1" dirty="0">
                <a:solidFill>
                  <a:srgbClr val="19875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TAKEAWAY</a:t>
            </a:r>
            <a:endParaRPr lang="en-US" sz="675" dirty="0"/>
          </a:p>
        </p:txBody>
      </p:sp>
      <p:sp>
        <p:nvSpPr>
          <p:cNvPr id="42" name="Text 40"/>
          <p:cNvSpPr/>
          <p:nvPr/>
        </p:nvSpPr>
        <p:spPr>
          <a:xfrm>
            <a:off x="5560665" y="2472482"/>
            <a:ext cx="3188657" cy="933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735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525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CSCL learns generalizable patterns</a:t>
            </a:r>
            <a:endParaRPr lang="en-US" sz="525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0999" y="381000"/>
            <a:ext cx="4792317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500" b="1" dirty="0">
                <a:solidFill>
                  <a:srgbClr val="011F5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Results Visualization: ROUGE-L Comparison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381000" y="600075"/>
            <a:ext cx="2667000" cy="28575"/>
          </a:xfrm>
          <a:prstGeom prst="rect">
            <a:avLst/>
          </a:prstGeom>
          <a:solidFill>
            <a:srgbClr val="99000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381000" y="838200"/>
            <a:ext cx="4124325" cy="460772"/>
          </a:xfrm>
          <a:prstGeom prst="roundRect">
            <a:avLst>
              <a:gd name="adj" fmla="val 10336"/>
            </a:avLst>
          </a:prstGeom>
          <a:solidFill>
            <a:srgbClr val="011F5B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417481" y="914400"/>
            <a:ext cx="4051364" cy="1256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990"/>
              </a:lnSpc>
              <a:buNone/>
            </a:pPr>
            <a:r>
              <a:rPr lang="en-US" sz="825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CS-SUM (In-Domain)</a:t>
            </a:r>
            <a:endParaRPr lang="en-US" sz="825" dirty="0"/>
          </a:p>
        </p:txBody>
      </p:sp>
      <p:sp>
        <p:nvSpPr>
          <p:cNvPr id="6" name="Text 4"/>
          <p:cNvSpPr/>
          <p:nvPr/>
        </p:nvSpPr>
        <p:spPr>
          <a:xfrm>
            <a:off x="417481" y="1078111"/>
            <a:ext cx="4051364" cy="106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84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600" dirty="0">
                <a:solidFill>
                  <a:srgbClr val="FFFFFF">
                    <a:alpha val="67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Mandarin/Malay/Tamil-English</a:t>
            </a:r>
            <a:endParaRPr lang="en-US" sz="600" dirty="0"/>
          </a:p>
        </p:txBody>
      </p:sp>
      <p:sp>
        <p:nvSpPr>
          <p:cNvPr id="7" name="Text 5"/>
          <p:cNvSpPr/>
          <p:nvPr/>
        </p:nvSpPr>
        <p:spPr>
          <a:xfrm>
            <a:off x="381000" y="1356122"/>
            <a:ext cx="4124325" cy="2558802"/>
          </a:xfrm>
          <a:prstGeom prst="roundRect">
            <a:avLst>
              <a:gd name="adj" fmla="val 1861"/>
            </a:avLst>
          </a:prstGeom>
          <a:solidFill>
            <a:srgbClr val="F8F8F8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495300" y="1508522"/>
            <a:ext cx="680085" cy="106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84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6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Extractive</a:t>
            </a:r>
            <a:endParaRPr lang="en-US" sz="600" dirty="0"/>
          </a:p>
        </p:txBody>
      </p:sp>
      <p:sp>
        <p:nvSpPr>
          <p:cNvPr id="9" name="Text 7"/>
          <p:cNvSpPr/>
          <p:nvPr/>
        </p:nvSpPr>
        <p:spPr>
          <a:xfrm>
            <a:off x="1238250" y="1485602"/>
            <a:ext cx="171450" cy="152400"/>
          </a:xfrm>
          <a:prstGeom prst="roundRect">
            <a:avLst>
              <a:gd name="adj" fmla="val 12500"/>
            </a:avLst>
          </a:prstGeom>
          <a:solidFill>
            <a:srgbClr val="CCCCCC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1485900" y="1508522"/>
            <a:ext cx="194614" cy="106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84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0.089</a:t>
            </a:r>
            <a:endParaRPr lang="en-US" sz="600" dirty="0"/>
          </a:p>
        </p:txBody>
      </p:sp>
      <p:sp>
        <p:nvSpPr>
          <p:cNvPr id="11" name="Text 9"/>
          <p:cNvSpPr/>
          <p:nvPr/>
        </p:nvSpPr>
        <p:spPr>
          <a:xfrm>
            <a:off x="495300" y="1767483"/>
            <a:ext cx="680085" cy="106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84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6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Base Llama</a:t>
            </a:r>
            <a:endParaRPr lang="en-US" sz="600" dirty="0"/>
          </a:p>
        </p:txBody>
      </p:sp>
      <p:sp>
        <p:nvSpPr>
          <p:cNvPr id="12" name="Text 10"/>
          <p:cNvSpPr/>
          <p:nvPr/>
        </p:nvSpPr>
        <p:spPr>
          <a:xfrm>
            <a:off x="1238250" y="1744563"/>
            <a:ext cx="333375" cy="152400"/>
          </a:xfrm>
          <a:prstGeom prst="roundRect">
            <a:avLst>
              <a:gd name="adj" fmla="val 12500"/>
            </a:avLst>
          </a:prstGeom>
          <a:solidFill>
            <a:srgbClr val="6C757D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1647825" y="1767483"/>
            <a:ext cx="194614" cy="106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84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0.175</a:t>
            </a:r>
            <a:endParaRPr lang="en-US" sz="600" dirty="0"/>
          </a:p>
        </p:txBody>
      </p:sp>
      <p:sp>
        <p:nvSpPr>
          <p:cNvPr id="14" name="Text 12"/>
          <p:cNvSpPr/>
          <p:nvPr/>
        </p:nvSpPr>
        <p:spPr>
          <a:xfrm>
            <a:off x="495300" y="2026444"/>
            <a:ext cx="680085" cy="106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84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6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GPT-4.1</a:t>
            </a:r>
            <a:endParaRPr lang="en-US" sz="600" dirty="0"/>
          </a:p>
        </p:txBody>
      </p:sp>
      <p:sp>
        <p:nvSpPr>
          <p:cNvPr id="15" name="Text 13"/>
          <p:cNvSpPr/>
          <p:nvPr/>
        </p:nvSpPr>
        <p:spPr>
          <a:xfrm>
            <a:off x="1238250" y="2003524"/>
            <a:ext cx="447675" cy="152400"/>
          </a:xfrm>
          <a:prstGeom prst="roundRect">
            <a:avLst>
              <a:gd name="adj" fmla="val 12500"/>
            </a:avLst>
          </a:prstGeom>
          <a:solidFill>
            <a:srgbClr val="FFC107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1762125" y="2026444"/>
            <a:ext cx="194614" cy="106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84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0.235</a:t>
            </a:r>
            <a:endParaRPr lang="en-US" sz="600" dirty="0"/>
          </a:p>
        </p:txBody>
      </p:sp>
      <p:sp>
        <p:nvSpPr>
          <p:cNvPr id="17" name="Text 15"/>
          <p:cNvSpPr/>
          <p:nvPr/>
        </p:nvSpPr>
        <p:spPr>
          <a:xfrm>
            <a:off x="495300" y="2285405"/>
            <a:ext cx="680085" cy="106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84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600" b="1" dirty="0">
                <a:solidFill>
                  <a:srgbClr val="99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CSCL (Ours)</a:t>
            </a:r>
            <a:endParaRPr lang="en-US" sz="600" dirty="0"/>
          </a:p>
        </p:txBody>
      </p:sp>
      <p:sp>
        <p:nvSpPr>
          <p:cNvPr id="18" name="Text 16"/>
          <p:cNvSpPr/>
          <p:nvPr/>
        </p:nvSpPr>
        <p:spPr>
          <a:xfrm>
            <a:off x="1238250" y="2262485"/>
            <a:ext cx="676275" cy="152400"/>
          </a:xfrm>
          <a:prstGeom prst="roundRect">
            <a:avLst>
              <a:gd name="adj" fmla="val 12500"/>
            </a:avLst>
          </a:prstGeom>
          <a:solidFill>
            <a:srgbClr val="99000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1990725" y="2285405"/>
            <a:ext cx="194614" cy="106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84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600" b="1" dirty="0">
                <a:solidFill>
                  <a:srgbClr val="99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0.353</a:t>
            </a:r>
            <a:endParaRPr lang="en-US" sz="600" dirty="0"/>
          </a:p>
        </p:txBody>
      </p:sp>
      <p:sp>
        <p:nvSpPr>
          <p:cNvPr id="20" name="Text 18"/>
          <p:cNvSpPr/>
          <p:nvPr/>
        </p:nvSpPr>
        <p:spPr>
          <a:xfrm>
            <a:off x="495300" y="2544366"/>
            <a:ext cx="680085" cy="106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84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6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Curriculum</a:t>
            </a:r>
            <a:endParaRPr lang="en-US" sz="600" dirty="0"/>
          </a:p>
        </p:txBody>
      </p:sp>
      <p:sp>
        <p:nvSpPr>
          <p:cNvPr id="21" name="Text 19"/>
          <p:cNvSpPr/>
          <p:nvPr/>
        </p:nvSpPr>
        <p:spPr>
          <a:xfrm>
            <a:off x="1238250" y="2521446"/>
            <a:ext cx="914400" cy="152400"/>
          </a:xfrm>
          <a:prstGeom prst="roundRect">
            <a:avLst>
              <a:gd name="adj" fmla="val 12500"/>
            </a:avLst>
          </a:prstGeom>
          <a:solidFill>
            <a:srgbClr val="198754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2228850" y="2544366"/>
            <a:ext cx="194614" cy="106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84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600" b="1" dirty="0">
                <a:solidFill>
                  <a:srgbClr val="1987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0.480</a:t>
            </a:r>
            <a:endParaRPr lang="en-US" sz="600" dirty="0"/>
          </a:p>
        </p:txBody>
      </p:sp>
      <p:sp>
        <p:nvSpPr>
          <p:cNvPr id="23" name="Shape 21"/>
          <p:cNvSpPr/>
          <p:nvPr/>
        </p:nvSpPr>
        <p:spPr>
          <a:xfrm>
            <a:off x="495300" y="2789039"/>
            <a:ext cx="3895725" cy="0"/>
          </a:xfrm>
          <a:prstGeom prst="line">
            <a:avLst/>
          </a:prstGeom>
          <a:noFill/>
          <a:ln w="9525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495300" y="2908102"/>
            <a:ext cx="3973640" cy="106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84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600" b="1" dirty="0">
                <a:solidFill>
                  <a:srgbClr val="99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CSCL vs GPT-4.1: +50%</a:t>
            </a:r>
            <a:endParaRPr lang="en-US" sz="600" dirty="0"/>
          </a:p>
        </p:txBody>
      </p:sp>
      <p:sp>
        <p:nvSpPr>
          <p:cNvPr id="25" name="Text 23"/>
          <p:cNvSpPr/>
          <p:nvPr/>
        </p:nvSpPr>
        <p:spPr>
          <a:xfrm>
            <a:off x="4638675" y="838200"/>
            <a:ext cx="4124325" cy="460772"/>
          </a:xfrm>
          <a:prstGeom prst="roundRect">
            <a:avLst>
              <a:gd name="adj" fmla="val 10336"/>
            </a:avLst>
          </a:prstGeom>
          <a:solidFill>
            <a:srgbClr val="99000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6" name="Text 24"/>
          <p:cNvSpPr/>
          <p:nvPr/>
        </p:nvSpPr>
        <p:spPr>
          <a:xfrm>
            <a:off x="4675156" y="914400"/>
            <a:ext cx="4051364" cy="1256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990"/>
              </a:lnSpc>
              <a:buNone/>
            </a:pPr>
            <a:r>
              <a:rPr lang="en-US" sz="825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GupShup (Zero-Shot)</a:t>
            </a:r>
            <a:endParaRPr lang="en-US" sz="825" dirty="0"/>
          </a:p>
        </p:txBody>
      </p:sp>
      <p:sp>
        <p:nvSpPr>
          <p:cNvPr id="27" name="Text 25"/>
          <p:cNvSpPr/>
          <p:nvPr/>
        </p:nvSpPr>
        <p:spPr>
          <a:xfrm>
            <a:off x="4675156" y="1078111"/>
            <a:ext cx="4051364" cy="106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84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600" dirty="0">
                <a:solidFill>
                  <a:srgbClr val="FFFFFF">
                    <a:alpha val="67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Hindi-English (UNSEEN)</a:t>
            </a:r>
            <a:endParaRPr lang="en-US" sz="600" dirty="0"/>
          </a:p>
        </p:txBody>
      </p:sp>
      <p:sp>
        <p:nvSpPr>
          <p:cNvPr id="28" name="Text 26"/>
          <p:cNvSpPr/>
          <p:nvPr/>
        </p:nvSpPr>
        <p:spPr>
          <a:xfrm>
            <a:off x="4638675" y="1356122"/>
            <a:ext cx="4124325" cy="2558802"/>
          </a:xfrm>
          <a:prstGeom prst="roundRect">
            <a:avLst>
              <a:gd name="adj" fmla="val 1861"/>
            </a:avLst>
          </a:prstGeom>
          <a:solidFill>
            <a:srgbClr val="F8F8F8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9" name="Text 27"/>
          <p:cNvSpPr/>
          <p:nvPr/>
        </p:nvSpPr>
        <p:spPr>
          <a:xfrm>
            <a:off x="4752975" y="1508522"/>
            <a:ext cx="680085" cy="106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84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6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Extractive</a:t>
            </a:r>
            <a:endParaRPr lang="en-US" sz="600" dirty="0"/>
          </a:p>
        </p:txBody>
      </p:sp>
      <p:sp>
        <p:nvSpPr>
          <p:cNvPr id="30" name="Text 28"/>
          <p:cNvSpPr/>
          <p:nvPr/>
        </p:nvSpPr>
        <p:spPr>
          <a:xfrm>
            <a:off x="5495925" y="1485602"/>
            <a:ext cx="200025" cy="152400"/>
          </a:xfrm>
          <a:prstGeom prst="roundRect">
            <a:avLst>
              <a:gd name="adj" fmla="val 12500"/>
            </a:avLst>
          </a:prstGeom>
          <a:solidFill>
            <a:srgbClr val="CCCCCC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1" name="Text 29"/>
          <p:cNvSpPr/>
          <p:nvPr/>
        </p:nvSpPr>
        <p:spPr>
          <a:xfrm>
            <a:off x="5772150" y="1508522"/>
            <a:ext cx="194614" cy="106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84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0.103</a:t>
            </a:r>
            <a:endParaRPr lang="en-US" sz="600" dirty="0"/>
          </a:p>
        </p:txBody>
      </p:sp>
      <p:sp>
        <p:nvSpPr>
          <p:cNvPr id="32" name="Text 30"/>
          <p:cNvSpPr/>
          <p:nvPr/>
        </p:nvSpPr>
        <p:spPr>
          <a:xfrm>
            <a:off x="4752975" y="1767483"/>
            <a:ext cx="680085" cy="106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84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6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Base Llama</a:t>
            </a:r>
            <a:endParaRPr lang="en-US" sz="600" dirty="0"/>
          </a:p>
        </p:txBody>
      </p:sp>
      <p:sp>
        <p:nvSpPr>
          <p:cNvPr id="33" name="Text 31"/>
          <p:cNvSpPr/>
          <p:nvPr/>
        </p:nvSpPr>
        <p:spPr>
          <a:xfrm>
            <a:off x="5495925" y="1744563"/>
            <a:ext cx="428625" cy="152400"/>
          </a:xfrm>
          <a:prstGeom prst="roundRect">
            <a:avLst>
              <a:gd name="adj" fmla="val 12500"/>
            </a:avLst>
          </a:prstGeom>
          <a:solidFill>
            <a:srgbClr val="6C757D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4" name="Text 32"/>
          <p:cNvSpPr/>
          <p:nvPr/>
        </p:nvSpPr>
        <p:spPr>
          <a:xfrm>
            <a:off x="6000750" y="1767483"/>
            <a:ext cx="194614" cy="106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84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0.224</a:t>
            </a:r>
            <a:endParaRPr lang="en-US" sz="600" dirty="0"/>
          </a:p>
        </p:txBody>
      </p:sp>
      <p:sp>
        <p:nvSpPr>
          <p:cNvPr id="35" name="Text 33"/>
          <p:cNvSpPr/>
          <p:nvPr/>
        </p:nvSpPr>
        <p:spPr>
          <a:xfrm>
            <a:off x="4752975" y="2026444"/>
            <a:ext cx="680085" cy="106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84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6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GPT-4.1</a:t>
            </a:r>
            <a:endParaRPr lang="en-US" sz="600" dirty="0"/>
          </a:p>
        </p:txBody>
      </p:sp>
      <p:sp>
        <p:nvSpPr>
          <p:cNvPr id="36" name="Text 34"/>
          <p:cNvSpPr/>
          <p:nvPr/>
        </p:nvSpPr>
        <p:spPr>
          <a:xfrm>
            <a:off x="5495925" y="2003524"/>
            <a:ext cx="581025" cy="152400"/>
          </a:xfrm>
          <a:prstGeom prst="roundRect">
            <a:avLst>
              <a:gd name="adj" fmla="val 12500"/>
            </a:avLst>
          </a:prstGeom>
          <a:solidFill>
            <a:srgbClr val="FFC107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7" name="Text 35"/>
          <p:cNvSpPr/>
          <p:nvPr/>
        </p:nvSpPr>
        <p:spPr>
          <a:xfrm>
            <a:off x="6153150" y="2026444"/>
            <a:ext cx="194614" cy="106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84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0.307</a:t>
            </a:r>
            <a:endParaRPr lang="en-US" sz="600" dirty="0"/>
          </a:p>
        </p:txBody>
      </p:sp>
      <p:sp>
        <p:nvSpPr>
          <p:cNvPr id="38" name="Text 36"/>
          <p:cNvSpPr/>
          <p:nvPr/>
        </p:nvSpPr>
        <p:spPr>
          <a:xfrm>
            <a:off x="4752975" y="2285405"/>
            <a:ext cx="680085" cy="106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84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6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Curriculum</a:t>
            </a:r>
            <a:endParaRPr lang="en-US" sz="600" dirty="0"/>
          </a:p>
        </p:txBody>
      </p:sp>
      <p:sp>
        <p:nvSpPr>
          <p:cNvPr id="39" name="Text 37"/>
          <p:cNvSpPr/>
          <p:nvPr/>
        </p:nvSpPr>
        <p:spPr>
          <a:xfrm>
            <a:off x="5495925" y="2262485"/>
            <a:ext cx="647700" cy="152400"/>
          </a:xfrm>
          <a:prstGeom prst="roundRect">
            <a:avLst>
              <a:gd name="adj" fmla="val 12500"/>
            </a:avLst>
          </a:prstGeom>
          <a:solidFill>
            <a:srgbClr val="6C757D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0" name="Text 38"/>
          <p:cNvSpPr/>
          <p:nvPr/>
        </p:nvSpPr>
        <p:spPr>
          <a:xfrm>
            <a:off x="6219825" y="2285405"/>
            <a:ext cx="194614" cy="106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84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0.340</a:t>
            </a:r>
            <a:endParaRPr lang="en-US" sz="600" dirty="0"/>
          </a:p>
        </p:txBody>
      </p:sp>
      <p:sp>
        <p:nvSpPr>
          <p:cNvPr id="41" name="Text 39"/>
          <p:cNvSpPr/>
          <p:nvPr/>
        </p:nvSpPr>
        <p:spPr>
          <a:xfrm>
            <a:off x="4752975" y="2544366"/>
            <a:ext cx="680085" cy="106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84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600" b="1" dirty="0">
                <a:solidFill>
                  <a:srgbClr val="1987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CSCL (Ours)</a:t>
            </a:r>
            <a:endParaRPr lang="en-US" sz="600" dirty="0"/>
          </a:p>
        </p:txBody>
      </p:sp>
      <p:sp>
        <p:nvSpPr>
          <p:cNvPr id="42" name="Text 40"/>
          <p:cNvSpPr/>
          <p:nvPr/>
        </p:nvSpPr>
        <p:spPr>
          <a:xfrm>
            <a:off x="5495925" y="2521446"/>
            <a:ext cx="676275" cy="152400"/>
          </a:xfrm>
          <a:prstGeom prst="roundRect">
            <a:avLst>
              <a:gd name="adj" fmla="val 12500"/>
            </a:avLst>
          </a:prstGeom>
          <a:solidFill>
            <a:srgbClr val="198754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3" name="Text 41"/>
          <p:cNvSpPr/>
          <p:nvPr/>
        </p:nvSpPr>
        <p:spPr>
          <a:xfrm>
            <a:off x="6248400" y="2544366"/>
            <a:ext cx="475149" cy="106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84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600" b="1" dirty="0">
                <a:solidFill>
                  <a:srgbClr val="1987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0.355 (BEST)</a:t>
            </a:r>
            <a:endParaRPr lang="en-US" sz="600" dirty="0"/>
          </a:p>
        </p:txBody>
      </p:sp>
      <p:sp>
        <p:nvSpPr>
          <p:cNvPr id="44" name="Shape 42"/>
          <p:cNvSpPr/>
          <p:nvPr/>
        </p:nvSpPr>
        <p:spPr>
          <a:xfrm>
            <a:off x="4752975" y="2789039"/>
            <a:ext cx="3895725" cy="0"/>
          </a:xfrm>
          <a:prstGeom prst="line">
            <a:avLst/>
          </a:prstGeom>
          <a:noFill/>
          <a:ln w="9525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Text 43"/>
          <p:cNvSpPr/>
          <p:nvPr/>
        </p:nvSpPr>
        <p:spPr>
          <a:xfrm>
            <a:off x="4752975" y="2908102"/>
            <a:ext cx="3973640" cy="106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84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600" b="1" dirty="0">
                <a:solidFill>
                  <a:srgbClr val="1987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CSCL vs GPT-4.1: +16%</a:t>
            </a:r>
            <a:endParaRPr lang="en-US" sz="600" dirty="0"/>
          </a:p>
        </p:txBody>
      </p:sp>
      <p:sp>
        <p:nvSpPr>
          <p:cNvPr id="46" name="Text 44"/>
          <p:cNvSpPr/>
          <p:nvPr/>
        </p:nvSpPr>
        <p:spPr>
          <a:xfrm>
            <a:off x="381000" y="4143524"/>
            <a:ext cx="5023098" cy="504676"/>
          </a:xfrm>
          <a:prstGeom prst="roundRect">
            <a:avLst>
              <a:gd name="adj" fmla="val 7549"/>
            </a:avLst>
          </a:prstGeom>
          <a:solidFill>
            <a:srgbClr val="F0F0F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7" name="Text 45"/>
          <p:cNvSpPr/>
          <p:nvPr/>
        </p:nvSpPr>
        <p:spPr>
          <a:xfrm>
            <a:off x="457200" y="4257824"/>
            <a:ext cx="4968112" cy="106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84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6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Legend:</a:t>
            </a:r>
            <a:endParaRPr lang="en-US" sz="600" dirty="0"/>
          </a:p>
        </p:txBody>
      </p:sp>
      <p:sp>
        <p:nvSpPr>
          <p:cNvPr id="48" name="Text 46"/>
          <p:cNvSpPr/>
          <p:nvPr/>
        </p:nvSpPr>
        <p:spPr>
          <a:xfrm>
            <a:off x="457200" y="4430018"/>
            <a:ext cx="114300" cy="114300"/>
          </a:xfrm>
          <a:prstGeom prst="roundRect">
            <a:avLst>
              <a:gd name="adj" fmla="val 16667"/>
            </a:avLst>
          </a:prstGeom>
          <a:solidFill>
            <a:srgbClr val="CCCCCC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9" name="Text 47"/>
          <p:cNvSpPr/>
          <p:nvPr/>
        </p:nvSpPr>
        <p:spPr>
          <a:xfrm>
            <a:off x="609600" y="4440585"/>
            <a:ext cx="298600" cy="933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735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525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Extractive</a:t>
            </a:r>
            <a:endParaRPr lang="en-US" sz="525" dirty="0"/>
          </a:p>
        </p:txBody>
      </p:sp>
      <p:sp>
        <p:nvSpPr>
          <p:cNvPr id="50" name="Text 48"/>
          <p:cNvSpPr/>
          <p:nvPr/>
        </p:nvSpPr>
        <p:spPr>
          <a:xfrm>
            <a:off x="1016645" y="4430018"/>
            <a:ext cx="114300" cy="114300"/>
          </a:xfrm>
          <a:prstGeom prst="roundRect">
            <a:avLst>
              <a:gd name="adj" fmla="val 16667"/>
            </a:avLst>
          </a:prstGeom>
          <a:solidFill>
            <a:srgbClr val="6C757D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1" name="Text 49"/>
          <p:cNvSpPr/>
          <p:nvPr/>
        </p:nvSpPr>
        <p:spPr>
          <a:xfrm>
            <a:off x="1169045" y="4440585"/>
            <a:ext cx="415793" cy="933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735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525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Base/No-Curr</a:t>
            </a:r>
            <a:endParaRPr lang="en-US" sz="525" dirty="0"/>
          </a:p>
        </p:txBody>
      </p:sp>
      <p:sp>
        <p:nvSpPr>
          <p:cNvPr id="52" name="Text 50"/>
          <p:cNvSpPr/>
          <p:nvPr/>
        </p:nvSpPr>
        <p:spPr>
          <a:xfrm>
            <a:off x="1690985" y="4430018"/>
            <a:ext cx="114300" cy="114300"/>
          </a:xfrm>
          <a:prstGeom prst="roundRect">
            <a:avLst>
              <a:gd name="adj" fmla="val 16667"/>
            </a:avLst>
          </a:prstGeom>
          <a:solidFill>
            <a:srgbClr val="FFC107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3" name="Text 51"/>
          <p:cNvSpPr/>
          <p:nvPr/>
        </p:nvSpPr>
        <p:spPr>
          <a:xfrm>
            <a:off x="1843385" y="4440585"/>
            <a:ext cx="253362" cy="933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735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525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GPT-4.1</a:t>
            </a:r>
            <a:endParaRPr lang="en-US" sz="525" dirty="0"/>
          </a:p>
        </p:txBody>
      </p:sp>
      <p:sp>
        <p:nvSpPr>
          <p:cNvPr id="54" name="Text 52"/>
          <p:cNvSpPr/>
          <p:nvPr/>
        </p:nvSpPr>
        <p:spPr>
          <a:xfrm>
            <a:off x="2206079" y="4430018"/>
            <a:ext cx="114300" cy="114300"/>
          </a:xfrm>
          <a:prstGeom prst="roundRect">
            <a:avLst>
              <a:gd name="adj" fmla="val 16667"/>
            </a:avLst>
          </a:prstGeom>
          <a:solidFill>
            <a:srgbClr val="99000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5" name="Text 53"/>
          <p:cNvSpPr/>
          <p:nvPr/>
        </p:nvSpPr>
        <p:spPr>
          <a:xfrm>
            <a:off x="2358479" y="4440585"/>
            <a:ext cx="541791" cy="933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735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525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CSCL (in-domain)</a:t>
            </a:r>
            <a:endParaRPr lang="en-US" sz="525" dirty="0"/>
          </a:p>
        </p:txBody>
      </p:sp>
      <p:sp>
        <p:nvSpPr>
          <p:cNvPr id="56" name="Text 54"/>
          <p:cNvSpPr/>
          <p:nvPr/>
        </p:nvSpPr>
        <p:spPr>
          <a:xfrm>
            <a:off x="3003947" y="4430018"/>
            <a:ext cx="114300" cy="114300"/>
          </a:xfrm>
          <a:prstGeom prst="roundRect">
            <a:avLst>
              <a:gd name="adj" fmla="val 16667"/>
            </a:avLst>
          </a:prstGeom>
          <a:solidFill>
            <a:srgbClr val="198754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7" name="Text 55"/>
          <p:cNvSpPr/>
          <p:nvPr/>
        </p:nvSpPr>
        <p:spPr>
          <a:xfrm>
            <a:off x="3156347" y="4440585"/>
            <a:ext cx="495339" cy="933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735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525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Best per dataset</a:t>
            </a:r>
            <a:endParaRPr lang="en-US" sz="525" dirty="0"/>
          </a:p>
        </p:txBody>
      </p:sp>
      <p:sp>
        <p:nvSpPr>
          <p:cNvPr id="58" name="Text 56"/>
          <p:cNvSpPr/>
          <p:nvPr/>
        </p:nvSpPr>
        <p:spPr>
          <a:xfrm>
            <a:off x="5518398" y="4143524"/>
            <a:ext cx="3244602" cy="504676"/>
          </a:xfrm>
          <a:prstGeom prst="roundRect">
            <a:avLst>
              <a:gd name="adj" fmla="val 7549"/>
            </a:avLst>
          </a:prstGeom>
          <a:solidFill>
            <a:srgbClr val="FFF3CD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9" name="Shape 57"/>
          <p:cNvSpPr/>
          <p:nvPr/>
        </p:nvSpPr>
        <p:spPr>
          <a:xfrm>
            <a:off x="5532686" y="4143524"/>
            <a:ext cx="0" cy="504676"/>
          </a:xfrm>
          <a:prstGeom prst="line">
            <a:avLst/>
          </a:prstGeom>
          <a:noFill/>
          <a:ln w="28575">
            <a:solidFill>
              <a:srgbClr val="FFC10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0" name="Text 58"/>
          <p:cNvSpPr/>
          <p:nvPr/>
        </p:nvSpPr>
        <p:spPr>
          <a:xfrm>
            <a:off x="5623173" y="4257824"/>
            <a:ext cx="3124899" cy="106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84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600" b="1" dirty="0">
                <a:solidFill>
                  <a:srgbClr val="85640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Key:</a:t>
            </a:r>
            <a:r>
              <a:rPr lang="en-US" sz="600" dirty="0">
                <a:solidFill>
                  <a:srgbClr val="85640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CSCL trades in-domain (0.353 vs 0.480) for better zero-shot transfer (0.355 vs 0.340)</a:t>
            </a:r>
            <a:endParaRPr lang="en-US" sz="6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42900" y="228600"/>
            <a:ext cx="5112149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950" b="1" dirty="0">
                <a:solidFill>
                  <a:srgbClr val="011F5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Qualitative Examples: CSCL vs GPT-4.1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342900" y="523875"/>
            <a:ext cx="1714500" cy="38100"/>
          </a:xfrm>
          <a:prstGeom prst="rect">
            <a:avLst/>
          </a:prstGeom>
          <a:solidFill>
            <a:srgbClr val="99000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325375" y="1069485"/>
            <a:ext cx="4152900" cy="2891627"/>
          </a:xfrm>
          <a:prstGeom prst="roundRect">
            <a:avLst>
              <a:gd name="adj" fmla="val 2168"/>
            </a:avLst>
          </a:prstGeom>
          <a:solidFill>
            <a:srgbClr val="F8F8F8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Shape 3"/>
          <p:cNvSpPr/>
          <p:nvPr/>
        </p:nvSpPr>
        <p:spPr>
          <a:xfrm flipH="1">
            <a:off x="325375" y="1069485"/>
            <a:ext cx="19050" cy="2891627"/>
          </a:xfrm>
          <a:prstGeom prst="line">
            <a:avLst/>
          </a:prstGeom>
          <a:noFill/>
          <a:ln w="38100">
            <a:solidFill>
              <a:srgbClr val="011F5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477775" y="1221885"/>
            <a:ext cx="3963924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spcBef>
                <a:spcPts val="300"/>
              </a:spcBef>
              <a:spcAft>
                <a:spcPts val="450"/>
              </a:spcAft>
              <a:buNone/>
            </a:pPr>
            <a:r>
              <a:rPr lang="en-US" sz="750" b="1" dirty="0">
                <a:solidFill>
                  <a:srgbClr val="011F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CS-SUM (Mandarin-English)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477775" y="1412385"/>
            <a:ext cx="3963924" cy="106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840"/>
              </a:lnSpc>
              <a:spcBef>
                <a:spcPts val="300"/>
              </a:spcBef>
              <a:spcAft>
                <a:spcPts val="150"/>
              </a:spcAft>
              <a:buNone/>
            </a:pPr>
            <a:r>
              <a:rPr lang="en-US" sz="6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CONVERSATION:</a:t>
            </a:r>
            <a:endParaRPr lang="en-US" sz="600" dirty="0"/>
          </a:p>
        </p:txBody>
      </p:sp>
      <p:sp>
        <p:nvSpPr>
          <p:cNvPr id="8" name="Text 6"/>
          <p:cNvSpPr/>
          <p:nvPr/>
        </p:nvSpPr>
        <p:spPr>
          <a:xfrm>
            <a:off x="477775" y="1537996"/>
            <a:ext cx="3886200" cy="833908"/>
          </a:xfrm>
          <a:prstGeom prst="roundRect">
            <a:avLst>
              <a:gd name="adj" fmla="val 7048"/>
            </a:avLst>
          </a:prstGeom>
          <a:solidFill>
            <a:srgbClr val="FFFFFF"/>
          </a:solidFill>
          <a:ln w="9525">
            <a:solidFill>
              <a:srgbClr val="DDDDDD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534925" y="1595146"/>
            <a:ext cx="3847338" cy="4262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840"/>
              </a:lnSpc>
              <a:buNone/>
            </a:pPr>
            <a:r>
              <a:rPr lang="en-US" sz="6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Eve:</a:t>
            </a:r>
            <a:r>
              <a:rPr lang="en-US" sz="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Where should we meet?</a:t>
            </a:r>
            <a:endParaRPr lang="en-US" sz="600" dirty="0"/>
          </a:p>
          <a:p>
            <a:pPr marL="0" indent="0" algn="l">
              <a:lnSpc>
                <a:spcPts val="840"/>
              </a:lnSpc>
              <a:buNone/>
            </a:pPr>
            <a:r>
              <a:rPr lang="en-US" sz="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600" dirty="0"/>
          </a:p>
          <a:p>
            <a:pPr marL="0" indent="0" algn="l">
              <a:lnSpc>
                <a:spcPts val="840"/>
              </a:lnSpc>
              <a:buNone/>
            </a:pPr>
            <a:r>
              <a:rPr lang="en-US" sz="6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Charlie:</a:t>
            </a:r>
            <a:r>
              <a:rPr lang="en-US" sz="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Let's meet at the entrance.</a:t>
            </a:r>
            <a:endParaRPr lang="en-US" sz="600" dirty="0"/>
          </a:p>
          <a:p>
            <a:pPr marL="0" indent="0" algn="l">
              <a:lnSpc>
                <a:spcPts val="840"/>
              </a:lnSpc>
              <a:buNone/>
            </a:pPr>
            <a:r>
              <a:rPr lang="en-US" sz="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600" dirty="0"/>
          </a:p>
          <a:p>
            <a:pPr marL="0" indent="0" algn="l">
              <a:lnSpc>
                <a:spcPts val="840"/>
              </a:lnSpc>
              <a:buNone/>
            </a:pPr>
            <a:r>
              <a:rPr lang="en-US" sz="6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Nicole:</a:t>
            </a:r>
            <a:r>
              <a:rPr lang="en-US" sz="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[OK], entrance is best, [too crowded] inside.</a:t>
            </a:r>
            <a:endParaRPr lang="en-US" sz="600" dirty="0"/>
          </a:p>
          <a:p>
            <a:pPr marL="0" indent="0" algn="l">
              <a:lnSpc>
                <a:spcPts val="840"/>
              </a:lnSpc>
              <a:buNone/>
            </a:pPr>
            <a:r>
              <a:rPr lang="en-US" sz="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600" dirty="0"/>
          </a:p>
          <a:p>
            <a:pPr marL="0" indent="0" algn="l">
              <a:lnSpc>
                <a:spcPts val="840"/>
              </a:lnSpc>
              <a:buNone/>
            </a:pPr>
            <a:r>
              <a:rPr lang="en-US" sz="6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Eve:</a:t>
            </a:r>
            <a:r>
              <a:rPr lang="en-US" sz="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Ok, see you there!</a:t>
            </a:r>
            <a:endParaRPr lang="en-US" sz="600" dirty="0"/>
          </a:p>
        </p:txBody>
      </p:sp>
      <p:sp>
        <p:nvSpPr>
          <p:cNvPr id="10" name="Text 8"/>
          <p:cNvSpPr/>
          <p:nvPr/>
        </p:nvSpPr>
        <p:spPr>
          <a:xfrm>
            <a:off x="477775" y="2487966"/>
            <a:ext cx="3963924" cy="106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840"/>
              </a:lnSpc>
              <a:spcBef>
                <a:spcPts val="300"/>
              </a:spcBef>
              <a:spcAft>
                <a:spcPts val="150"/>
              </a:spcAft>
              <a:buNone/>
            </a:pPr>
            <a:r>
              <a:rPr lang="en-US" sz="600" dirty="0">
                <a:solidFill>
                  <a:srgbClr val="1987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CSCL OUTPUT:</a:t>
            </a:r>
            <a:endParaRPr lang="en-US" sz="600" dirty="0"/>
          </a:p>
        </p:txBody>
      </p:sp>
      <p:sp>
        <p:nvSpPr>
          <p:cNvPr id="11" name="Text 9"/>
          <p:cNvSpPr/>
          <p:nvPr/>
        </p:nvSpPr>
        <p:spPr>
          <a:xfrm>
            <a:off x="477775" y="2613577"/>
            <a:ext cx="3886200" cy="234255"/>
          </a:xfrm>
          <a:prstGeom prst="roundRect">
            <a:avLst>
              <a:gd name="adj" fmla="val 16264"/>
            </a:avLst>
          </a:prstGeom>
          <a:solidFill>
            <a:srgbClr val="D4EDDA"/>
          </a:solidFill>
          <a:ln w="9525">
            <a:solidFill>
              <a:srgbClr val="198754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534925" y="2670727"/>
            <a:ext cx="3847338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45"/>
              </a:lnSpc>
              <a:buNone/>
            </a:pPr>
            <a:r>
              <a:rPr lang="en-US" sz="675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Eve, Charlie and Nicole will meet at the entrance.</a:t>
            </a:r>
            <a:endParaRPr lang="en-US" sz="675" dirty="0"/>
          </a:p>
        </p:txBody>
      </p:sp>
      <p:sp>
        <p:nvSpPr>
          <p:cNvPr id="13" name="Text 11"/>
          <p:cNvSpPr/>
          <p:nvPr/>
        </p:nvSpPr>
        <p:spPr>
          <a:xfrm>
            <a:off x="496826" y="3004101"/>
            <a:ext cx="3963924" cy="106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840"/>
              </a:lnSpc>
              <a:spcBef>
                <a:spcPts val="300"/>
              </a:spcBef>
              <a:spcAft>
                <a:spcPts val="150"/>
              </a:spcAft>
              <a:buNone/>
            </a:pPr>
            <a:r>
              <a:rPr lang="en-US" sz="600" dirty="0">
                <a:solidFill>
                  <a:srgbClr val="DC3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GPT-4.1 OUTPUT:</a:t>
            </a:r>
            <a:endParaRPr lang="en-US" sz="600" dirty="0"/>
          </a:p>
        </p:txBody>
      </p:sp>
      <p:sp>
        <p:nvSpPr>
          <p:cNvPr id="14" name="Text 12"/>
          <p:cNvSpPr/>
          <p:nvPr/>
        </p:nvSpPr>
        <p:spPr>
          <a:xfrm>
            <a:off x="496826" y="3129712"/>
            <a:ext cx="3886200" cy="312241"/>
          </a:xfrm>
          <a:prstGeom prst="roundRect">
            <a:avLst>
              <a:gd name="adj" fmla="val 12202"/>
            </a:avLst>
          </a:prstGeom>
          <a:solidFill>
            <a:srgbClr val="FFFFFF"/>
          </a:solidFill>
          <a:ln w="9525">
            <a:solidFill>
              <a:srgbClr val="DC3545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553976" y="3186862"/>
            <a:ext cx="3847338" cy="1979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780"/>
              </a:lnSpc>
              <a:buNone/>
            </a:pPr>
            <a:r>
              <a:rPr lang="en-US" sz="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 asks where they should meet. Charlie suggests the entrance. Nicole agrees, saying it's the best place because it's too crowded inside. Eve agrees.</a:t>
            </a:r>
            <a:endParaRPr lang="en-US" sz="600" dirty="0"/>
          </a:p>
        </p:txBody>
      </p:sp>
      <p:sp>
        <p:nvSpPr>
          <p:cNvPr id="16" name="Text 14"/>
          <p:cNvSpPr/>
          <p:nvPr/>
        </p:nvSpPr>
        <p:spPr>
          <a:xfrm>
            <a:off x="4648200" y="1069485"/>
            <a:ext cx="4152900" cy="2891627"/>
          </a:xfrm>
          <a:prstGeom prst="roundRect">
            <a:avLst>
              <a:gd name="adj" fmla="val 2168"/>
            </a:avLst>
          </a:prstGeom>
          <a:solidFill>
            <a:srgbClr val="F8F8F8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7" name="Shape 15"/>
          <p:cNvSpPr/>
          <p:nvPr/>
        </p:nvSpPr>
        <p:spPr>
          <a:xfrm>
            <a:off x="4667250" y="1069485"/>
            <a:ext cx="0" cy="2891627"/>
          </a:xfrm>
          <a:prstGeom prst="line">
            <a:avLst/>
          </a:prstGeom>
          <a:noFill/>
          <a:ln w="38100">
            <a:solidFill>
              <a:srgbClr val="99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4799457" y="1219729"/>
            <a:ext cx="3963924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spcBef>
                <a:spcPts val="300"/>
              </a:spcBef>
              <a:spcAft>
                <a:spcPts val="450"/>
              </a:spcAft>
              <a:buNone/>
            </a:pPr>
            <a:r>
              <a:rPr lang="en-US" sz="750" b="1" dirty="0">
                <a:solidFill>
                  <a:srgbClr val="99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GupShup (Hindi-English, Zero-Shot)</a:t>
            </a:r>
            <a:endParaRPr lang="en-US" sz="750" dirty="0"/>
          </a:p>
        </p:txBody>
      </p:sp>
      <p:sp>
        <p:nvSpPr>
          <p:cNvPr id="19" name="Text 17"/>
          <p:cNvSpPr/>
          <p:nvPr/>
        </p:nvSpPr>
        <p:spPr>
          <a:xfrm>
            <a:off x="4800600" y="1414985"/>
            <a:ext cx="3963924" cy="1002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840"/>
              </a:lnSpc>
              <a:spcBef>
                <a:spcPts val="300"/>
              </a:spcBef>
              <a:spcAft>
                <a:spcPts val="150"/>
              </a:spcAft>
              <a:buNone/>
            </a:pPr>
            <a:r>
              <a:rPr lang="en-US" sz="6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CONVERSATION:</a:t>
            </a:r>
            <a:endParaRPr lang="en-US" sz="600" dirty="0"/>
          </a:p>
        </p:txBody>
      </p:sp>
      <p:sp>
        <p:nvSpPr>
          <p:cNvPr id="20" name="Text 18"/>
          <p:cNvSpPr/>
          <p:nvPr/>
        </p:nvSpPr>
        <p:spPr>
          <a:xfrm>
            <a:off x="4800600" y="1540596"/>
            <a:ext cx="3886200" cy="825332"/>
          </a:xfrm>
          <a:prstGeom prst="roundRect">
            <a:avLst>
              <a:gd name="adj" fmla="val 7048"/>
            </a:avLst>
          </a:prstGeom>
          <a:solidFill>
            <a:srgbClr val="FFFFFF"/>
          </a:solidFill>
          <a:ln w="9525">
            <a:solidFill>
              <a:srgbClr val="DDDDDD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4857750" y="1597746"/>
            <a:ext cx="3847338" cy="4008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840"/>
              </a:lnSpc>
              <a:buNone/>
            </a:pPr>
            <a:r>
              <a:rPr lang="en-US" sz="6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Tobi:</a:t>
            </a:r>
            <a:r>
              <a:rPr lang="en-US" sz="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Are you going to the birthday party </a:t>
            </a:r>
            <a:r>
              <a:rPr lang="en-US" sz="600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kal</a:t>
            </a:r>
            <a:r>
              <a:rPr lang="en-US" sz="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?</a:t>
            </a:r>
            <a:endParaRPr lang="en-US" sz="600" dirty="0"/>
          </a:p>
          <a:p>
            <a:pPr marL="0" indent="0" algn="l">
              <a:lnSpc>
                <a:spcPts val="840"/>
              </a:lnSpc>
              <a:buNone/>
            </a:pPr>
            <a:r>
              <a:rPr lang="en-US" sz="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600" dirty="0"/>
          </a:p>
          <a:p>
            <a:pPr marL="0" indent="0" algn="l">
              <a:lnSpc>
                <a:spcPts val="840"/>
              </a:lnSpc>
              <a:buNone/>
            </a:pPr>
            <a:r>
              <a:rPr lang="en-US" sz="6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Maxx:</a:t>
            </a:r>
            <a:r>
              <a:rPr lang="en-US" sz="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600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Haan</a:t>
            </a:r>
            <a:r>
              <a:rPr lang="en-US" sz="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! I love bowling </a:t>
            </a:r>
            <a:r>
              <a:rPr lang="en-US" sz="600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yaar</a:t>
            </a:r>
            <a:r>
              <a:rPr lang="en-US" sz="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600" dirty="0"/>
          </a:p>
          <a:p>
            <a:pPr marL="0" indent="0" algn="l">
              <a:lnSpc>
                <a:spcPts val="840"/>
              </a:lnSpc>
              <a:buNone/>
            </a:pPr>
            <a:r>
              <a:rPr lang="en-US" sz="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600" dirty="0"/>
          </a:p>
          <a:p>
            <a:pPr marL="0" indent="0" algn="l">
              <a:lnSpc>
                <a:spcPts val="840"/>
              </a:lnSpc>
              <a:buNone/>
            </a:pPr>
            <a:r>
              <a:rPr lang="en-US" sz="6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Tobi:</a:t>
            </a:r>
            <a:r>
              <a:rPr lang="en-US" sz="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600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Mujhe bhi pasand hai</a:t>
            </a:r>
            <a:r>
              <a:rPr lang="en-US" sz="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600" dirty="0"/>
          </a:p>
          <a:p>
            <a:pPr marL="0" indent="0" algn="l">
              <a:lnSpc>
                <a:spcPts val="840"/>
              </a:lnSpc>
              <a:buNone/>
            </a:pPr>
            <a:r>
              <a:rPr lang="en-US" sz="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600" dirty="0"/>
          </a:p>
          <a:p>
            <a:pPr marL="0" indent="0" algn="l">
              <a:lnSpc>
                <a:spcPts val="840"/>
              </a:lnSpc>
              <a:buNone/>
            </a:pPr>
            <a:r>
              <a:rPr lang="en-US" sz="6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Maxx:</a:t>
            </a:r>
            <a:r>
              <a:rPr lang="en-US" sz="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See you!</a:t>
            </a:r>
            <a:endParaRPr lang="en-US" sz="600" dirty="0"/>
          </a:p>
        </p:txBody>
      </p:sp>
      <p:sp>
        <p:nvSpPr>
          <p:cNvPr id="22" name="Text 20"/>
          <p:cNvSpPr/>
          <p:nvPr/>
        </p:nvSpPr>
        <p:spPr>
          <a:xfrm>
            <a:off x="4800600" y="2487966"/>
            <a:ext cx="3963924" cy="106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840"/>
              </a:lnSpc>
              <a:spcBef>
                <a:spcPts val="300"/>
              </a:spcBef>
              <a:spcAft>
                <a:spcPts val="150"/>
              </a:spcAft>
              <a:buNone/>
            </a:pPr>
            <a:r>
              <a:rPr lang="en-US" sz="600" dirty="0">
                <a:solidFill>
                  <a:srgbClr val="1987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CSCL OUTPUT:</a:t>
            </a:r>
            <a:endParaRPr lang="en-US" sz="600" dirty="0"/>
          </a:p>
        </p:txBody>
      </p:sp>
      <p:sp>
        <p:nvSpPr>
          <p:cNvPr id="23" name="Text 21"/>
          <p:cNvSpPr/>
          <p:nvPr/>
        </p:nvSpPr>
        <p:spPr>
          <a:xfrm>
            <a:off x="4800600" y="2613577"/>
            <a:ext cx="3886200" cy="234255"/>
          </a:xfrm>
          <a:prstGeom prst="roundRect">
            <a:avLst>
              <a:gd name="adj" fmla="val 16264"/>
            </a:avLst>
          </a:prstGeom>
          <a:solidFill>
            <a:srgbClr val="D4EDDA"/>
          </a:solidFill>
          <a:ln w="9525">
            <a:solidFill>
              <a:srgbClr val="198754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4857750" y="2670727"/>
            <a:ext cx="3847338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45"/>
              </a:lnSpc>
              <a:buNone/>
            </a:pPr>
            <a:r>
              <a:rPr lang="en-US" sz="675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Tobi and Maxx are going to the birthday party tomorrow.</a:t>
            </a:r>
            <a:endParaRPr lang="en-US" sz="675" dirty="0"/>
          </a:p>
        </p:txBody>
      </p:sp>
      <p:sp>
        <p:nvSpPr>
          <p:cNvPr id="25" name="Text 23"/>
          <p:cNvSpPr/>
          <p:nvPr/>
        </p:nvSpPr>
        <p:spPr>
          <a:xfrm>
            <a:off x="4800600" y="3009858"/>
            <a:ext cx="3963924" cy="106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840"/>
              </a:lnSpc>
              <a:spcBef>
                <a:spcPts val="300"/>
              </a:spcBef>
              <a:spcAft>
                <a:spcPts val="150"/>
              </a:spcAft>
              <a:buNone/>
            </a:pPr>
            <a:r>
              <a:rPr lang="en-US" sz="600" dirty="0">
                <a:solidFill>
                  <a:srgbClr val="DC3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GPT-4.1 OUTPUT:</a:t>
            </a:r>
            <a:endParaRPr lang="en-US" sz="600" dirty="0"/>
          </a:p>
        </p:txBody>
      </p:sp>
      <p:sp>
        <p:nvSpPr>
          <p:cNvPr id="26" name="Text 24"/>
          <p:cNvSpPr/>
          <p:nvPr/>
        </p:nvSpPr>
        <p:spPr>
          <a:xfrm>
            <a:off x="4800600" y="3135469"/>
            <a:ext cx="3886200" cy="312241"/>
          </a:xfrm>
          <a:prstGeom prst="roundRect">
            <a:avLst>
              <a:gd name="adj" fmla="val 12202"/>
            </a:avLst>
          </a:prstGeom>
          <a:solidFill>
            <a:srgbClr val="FFFFFF"/>
          </a:solidFill>
          <a:ln w="9525">
            <a:solidFill>
              <a:srgbClr val="DC3545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7" name="Text 25"/>
          <p:cNvSpPr/>
          <p:nvPr/>
        </p:nvSpPr>
        <p:spPr>
          <a:xfrm>
            <a:off x="4857750" y="3192619"/>
            <a:ext cx="3847338" cy="1979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780"/>
              </a:lnSpc>
              <a:buNone/>
            </a:pPr>
            <a:r>
              <a:rPr lang="en-US" sz="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Tobi asks Maxx if he is going to the birthday party tomorrow. Maxx says yes and mentions he loves bowling. Tobi agrees. Maxx says "See you!"</a:t>
            </a:r>
            <a:endParaRPr lang="en-US" sz="600" dirty="0"/>
          </a:p>
        </p:txBody>
      </p:sp>
      <p:sp>
        <p:nvSpPr>
          <p:cNvPr id="28" name="Text 26"/>
          <p:cNvSpPr/>
          <p:nvPr/>
        </p:nvSpPr>
        <p:spPr>
          <a:xfrm>
            <a:off x="344425" y="4468622"/>
            <a:ext cx="8458200" cy="323850"/>
          </a:xfrm>
          <a:prstGeom prst="roundRect">
            <a:avLst>
              <a:gd name="adj" fmla="val 17647"/>
            </a:avLst>
          </a:prstGeom>
          <a:solidFill>
            <a:srgbClr val="011F5B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9" name="Text 27"/>
          <p:cNvSpPr/>
          <p:nvPr/>
        </p:nvSpPr>
        <p:spPr>
          <a:xfrm>
            <a:off x="477775" y="4563872"/>
            <a:ext cx="835533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INSIGHT:</a:t>
            </a:r>
            <a:r>
              <a:rPr lang="en-US" sz="7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GPT-4.1 paraphrases each turn verbosely. CSCL learns concise summary style from fine-tuning data.</a:t>
            </a:r>
            <a:endParaRPr lang="en-US" sz="75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381000"/>
            <a:ext cx="4284536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500" b="1" dirty="0">
                <a:solidFill>
                  <a:srgbClr val="011F5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 These Scores?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381000" y="600075"/>
            <a:ext cx="1428750" cy="28575"/>
          </a:xfrm>
          <a:prstGeom prst="rect">
            <a:avLst/>
          </a:prstGeom>
          <a:solidFill>
            <a:srgbClr val="99000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381000" y="838200"/>
            <a:ext cx="4133850" cy="1226790"/>
          </a:xfrm>
          <a:prstGeom prst="roundRect">
            <a:avLst>
              <a:gd name="adj" fmla="val 3106"/>
            </a:avLst>
          </a:prstGeom>
          <a:solidFill>
            <a:srgbClr val="F8F8F8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Shape 3"/>
          <p:cNvSpPr/>
          <p:nvPr/>
        </p:nvSpPr>
        <p:spPr>
          <a:xfrm>
            <a:off x="381000" y="847725"/>
            <a:ext cx="4133850" cy="0"/>
          </a:xfrm>
          <a:prstGeom prst="line">
            <a:avLst/>
          </a:prstGeom>
          <a:noFill/>
          <a:ln w="19050">
            <a:solidFill>
              <a:srgbClr val="011F5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457200" y="933450"/>
            <a:ext cx="4061079" cy="102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810"/>
              </a:lnSpc>
              <a:spcAft>
                <a:spcPts val="300"/>
              </a:spcAft>
              <a:buNone/>
            </a:pPr>
            <a:r>
              <a:rPr lang="en-US" sz="675" b="1" dirty="0">
                <a:solidFill>
                  <a:srgbClr val="011F5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 GPT-4.1 UNDERPERFORMS</a:t>
            </a:r>
            <a:endParaRPr lang="en-US" sz="675" dirty="0"/>
          </a:p>
        </p:txBody>
      </p:sp>
      <p:sp>
        <p:nvSpPr>
          <p:cNvPr id="7" name="Text 5"/>
          <p:cNvSpPr/>
          <p:nvPr/>
        </p:nvSpPr>
        <p:spPr>
          <a:xfrm>
            <a:off x="457200" y="1074390"/>
            <a:ext cx="4061079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No task-specific fine-tuning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457200" y="1379190"/>
            <a:ext cx="4061079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Code-mixed text rare in training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457200" y="1683990"/>
            <a:ext cx="4061079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Zero-shot is harder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381000" y="2112615"/>
            <a:ext cx="4133850" cy="1226790"/>
          </a:xfrm>
          <a:prstGeom prst="roundRect">
            <a:avLst>
              <a:gd name="adj" fmla="val 3106"/>
            </a:avLst>
          </a:prstGeom>
          <a:solidFill>
            <a:srgbClr val="F8F8F8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1" name="Shape 9"/>
          <p:cNvSpPr/>
          <p:nvPr/>
        </p:nvSpPr>
        <p:spPr>
          <a:xfrm>
            <a:off x="381000" y="2122140"/>
            <a:ext cx="4133850" cy="0"/>
          </a:xfrm>
          <a:prstGeom prst="line">
            <a:avLst/>
          </a:prstGeom>
          <a:noFill/>
          <a:ln w="19050">
            <a:solidFill>
              <a:srgbClr val="99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57200" y="2207865"/>
            <a:ext cx="4061079" cy="102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810"/>
              </a:lnSpc>
              <a:spcAft>
                <a:spcPts val="300"/>
              </a:spcAft>
              <a:buNone/>
            </a:pPr>
            <a:r>
              <a:rPr lang="en-US" sz="675" b="1" dirty="0">
                <a:solidFill>
                  <a:srgbClr val="9900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 NO CURRICULUM &gt; CSCL IN-DOMAIN</a:t>
            </a:r>
            <a:endParaRPr lang="en-US" sz="675" dirty="0"/>
          </a:p>
        </p:txBody>
      </p:sp>
      <p:sp>
        <p:nvSpPr>
          <p:cNvPr id="13" name="Text 11"/>
          <p:cNvSpPr/>
          <p:nvPr/>
        </p:nvSpPr>
        <p:spPr>
          <a:xfrm>
            <a:off x="457200" y="2348805"/>
            <a:ext cx="4061079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Overfits to training distribution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457200" y="2653605"/>
            <a:ext cx="4061079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Memorizes language-specific patterns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457200" y="2958405"/>
            <a:ext cx="4061079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Specialization vs generalization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381000" y="3387030"/>
            <a:ext cx="4133850" cy="1226790"/>
          </a:xfrm>
          <a:prstGeom prst="roundRect">
            <a:avLst>
              <a:gd name="adj" fmla="val 3106"/>
            </a:avLst>
          </a:prstGeom>
          <a:solidFill>
            <a:srgbClr val="D4EDD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7" name="Shape 15"/>
          <p:cNvSpPr/>
          <p:nvPr/>
        </p:nvSpPr>
        <p:spPr>
          <a:xfrm>
            <a:off x="381000" y="3396555"/>
            <a:ext cx="4133850" cy="0"/>
          </a:xfrm>
          <a:prstGeom prst="line">
            <a:avLst/>
          </a:prstGeom>
          <a:noFill/>
          <a:ln w="19050">
            <a:solidFill>
              <a:srgbClr val="19875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457200" y="3482280"/>
            <a:ext cx="4061079" cy="102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810"/>
              </a:lnSpc>
              <a:spcAft>
                <a:spcPts val="300"/>
              </a:spcAft>
              <a:buNone/>
            </a:pPr>
            <a:r>
              <a:rPr lang="en-US" sz="675" b="1" dirty="0">
                <a:solidFill>
                  <a:srgbClr val="19875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 CSCL TRANSFERS BETTER</a:t>
            </a:r>
            <a:endParaRPr lang="en-US" sz="675" dirty="0"/>
          </a:p>
        </p:txBody>
      </p:sp>
      <p:sp>
        <p:nvSpPr>
          <p:cNvPr id="19" name="Text 17"/>
          <p:cNvSpPr/>
          <p:nvPr/>
        </p:nvSpPr>
        <p:spPr>
          <a:xfrm>
            <a:off x="457200" y="3623221"/>
            <a:ext cx="4061079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Learns patterns before specifics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457200" y="3928021"/>
            <a:ext cx="4061079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Gradual complexity = robust features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457200" y="4232821"/>
            <a:ext cx="4061079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Curriculum prevents overfitting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4629150" y="838200"/>
            <a:ext cx="4133850" cy="569416"/>
          </a:xfrm>
          <a:prstGeom prst="roundRect">
            <a:avLst>
              <a:gd name="adj" fmla="val 6691"/>
            </a:avLst>
          </a:prstGeom>
          <a:solidFill>
            <a:srgbClr val="011F5B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4705350" y="914400"/>
            <a:ext cx="4061079" cy="102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810"/>
              </a:lnSpc>
              <a:spcAft>
                <a:spcPts val="300"/>
              </a:spcAft>
              <a:buNone/>
            </a:pPr>
            <a:r>
              <a:rPr lang="en-US" sz="675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SURPRISE</a:t>
            </a:r>
            <a:endParaRPr lang="en-US" sz="675" dirty="0"/>
          </a:p>
        </p:txBody>
      </p:sp>
      <p:sp>
        <p:nvSpPr>
          <p:cNvPr id="24" name="Text 22"/>
          <p:cNvSpPr/>
          <p:nvPr/>
        </p:nvSpPr>
        <p:spPr>
          <a:xfrm>
            <a:off x="4705350" y="1055340"/>
            <a:ext cx="4061079" cy="106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84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600" dirty="0">
                <a:solidFill>
                  <a:srgbClr val="FFFFFF">
                    <a:alpha val="8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0.353 (in-domain) = 0.355 (zero-shot Hindi)</a:t>
            </a:r>
            <a:endParaRPr lang="en-US" sz="600" dirty="0"/>
          </a:p>
        </p:txBody>
      </p:sp>
      <p:sp>
        <p:nvSpPr>
          <p:cNvPr id="25" name="Text 23"/>
          <p:cNvSpPr/>
          <p:nvPr/>
        </p:nvSpPr>
        <p:spPr>
          <a:xfrm>
            <a:off x="4705350" y="1200001"/>
            <a:ext cx="4061079" cy="933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735"/>
              </a:lnSpc>
              <a:spcBef>
                <a:spcPts val="150"/>
              </a:spcBef>
              <a:spcAft>
                <a:spcPts val="300"/>
              </a:spcAft>
              <a:buNone/>
            </a:pPr>
            <a:r>
              <a:rPr lang="en-US" sz="525" dirty="0">
                <a:solidFill>
                  <a:srgbClr val="FFFFFF">
                    <a:alpha val="67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 never saw Hindi in training!</a:t>
            </a:r>
            <a:endParaRPr lang="en-US" sz="525" dirty="0"/>
          </a:p>
        </p:txBody>
      </p:sp>
      <p:sp>
        <p:nvSpPr>
          <p:cNvPr id="26" name="Text 24"/>
          <p:cNvSpPr/>
          <p:nvPr/>
        </p:nvSpPr>
        <p:spPr>
          <a:xfrm>
            <a:off x="4629150" y="1455241"/>
            <a:ext cx="4133850" cy="418058"/>
          </a:xfrm>
          <a:prstGeom prst="roundRect">
            <a:avLst>
              <a:gd name="adj" fmla="val 9114"/>
            </a:avLst>
          </a:prstGeom>
          <a:solidFill>
            <a:srgbClr val="F8F8F8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7" name="Shape 25"/>
          <p:cNvSpPr/>
          <p:nvPr/>
        </p:nvSpPr>
        <p:spPr>
          <a:xfrm>
            <a:off x="4643438" y="1455241"/>
            <a:ext cx="0" cy="418058"/>
          </a:xfrm>
          <a:prstGeom prst="line">
            <a:avLst/>
          </a:prstGeom>
          <a:noFill/>
          <a:ln w="28575">
            <a:solidFill>
              <a:srgbClr val="011F5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4733925" y="1531441"/>
            <a:ext cx="4031933" cy="102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810"/>
              </a:lnSpc>
              <a:spcAft>
                <a:spcPts val="225"/>
              </a:spcAft>
              <a:buNone/>
            </a:pPr>
            <a:r>
              <a:rPr lang="en-US" sz="675" b="1" dirty="0">
                <a:solidFill>
                  <a:srgbClr val="011F5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H1: SHARED PRAGMATICS</a:t>
            </a:r>
            <a:endParaRPr lang="en-US" sz="675" dirty="0"/>
          </a:p>
        </p:txBody>
      </p:sp>
      <p:sp>
        <p:nvSpPr>
          <p:cNvPr id="29" name="Text 27"/>
          <p:cNvSpPr/>
          <p:nvPr/>
        </p:nvSpPr>
        <p:spPr>
          <a:xfrm>
            <a:off x="4733925" y="1672382"/>
            <a:ext cx="4031933" cy="866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682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525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Code-mixing serves same functions across languages.</a:t>
            </a:r>
            <a:endParaRPr lang="en-US" sz="525" dirty="0"/>
          </a:p>
        </p:txBody>
      </p:sp>
      <p:sp>
        <p:nvSpPr>
          <p:cNvPr id="30" name="Text 28"/>
          <p:cNvSpPr/>
          <p:nvPr/>
        </p:nvSpPr>
        <p:spPr>
          <a:xfrm>
            <a:off x="4629150" y="1920925"/>
            <a:ext cx="4133850" cy="418058"/>
          </a:xfrm>
          <a:prstGeom prst="roundRect">
            <a:avLst>
              <a:gd name="adj" fmla="val 9114"/>
            </a:avLst>
          </a:prstGeom>
          <a:solidFill>
            <a:srgbClr val="F8F8F8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1" name="Shape 29"/>
          <p:cNvSpPr/>
          <p:nvPr/>
        </p:nvSpPr>
        <p:spPr>
          <a:xfrm>
            <a:off x="4643438" y="1920925"/>
            <a:ext cx="0" cy="418058"/>
          </a:xfrm>
          <a:prstGeom prst="line">
            <a:avLst/>
          </a:prstGeom>
          <a:noFill/>
          <a:ln w="28575">
            <a:solidFill>
              <a:srgbClr val="99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4733925" y="1997125"/>
            <a:ext cx="4031933" cy="102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810"/>
              </a:lnSpc>
              <a:spcAft>
                <a:spcPts val="225"/>
              </a:spcAft>
              <a:buNone/>
            </a:pPr>
            <a:r>
              <a:rPr lang="en-US" sz="675" b="1" dirty="0">
                <a:solidFill>
                  <a:srgbClr val="9900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H2: ENGLISH ANCHOR</a:t>
            </a:r>
            <a:endParaRPr lang="en-US" sz="675" dirty="0"/>
          </a:p>
        </p:txBody>
      </p:sp>
      <p:sp>
        <p:nvSpPr>
          <p:cNvPr id="33" name="Text 31"/>
          <p:cNvSpPr/>
          <p:nvPr/>
        </p:nvSpPr>
        <p:spPr>
          <a:xfrm>
            <a:off x="4733925" y="2138065"/>
            <a:ext cx="4031933" cy="866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682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525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pairs include English. Model anchors on it.</a:t>
            </a:r>
            <a:endParaRPr lang="en-US" sz="525" dirty="0"/>
          </a:p>
        </p:txBody>
      </p:sp>
      <p:sp>
        <p:nvSpPr>
          <p:cNvPr id="34" name="Text 32"/>
          <p:cNvSpPr/>
          <p:nvPr/>
        </p:nvSpPr>
        <p:spPr>
          <a:xfrm>
            <a:off x="4629150" y="2386608"/>
            <a:ext cx="4133850" cy="418058"/>
          </a:xfrm>
          <a:prstGeom prst="roundRect">
            <a:avLst>
              <a:gd name="adj" fmla="val 9114"/>
            </a:avLst>
          </a:prstGeom>
          <a:solidFill>
            <a:srgbClr val="F8F8F8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5" name="Shape 33"/>
          <p:cNvSpPr/>
          <p:nvPr/>
        </p:nvSpPr>
        <p:spPr>
          <a:xfrm>
            <a:off x="4643438" y="2386608"/>
            <a:ext cx="0" cy="418058"/>
          </a:xfrm>
          <a:prstGeom prst="line">
            <a:avLst/>
          </a:prstGeom>
          <a:noFill/>
          <a:ln w="28575">
            <a:solidFill>
              <a:srgbClr val="19875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4733925" y="2462808"/>
            <a:ext cx="4031933" cy="102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810"/>
              </a:lnSpc>
              <a:spcAft>
                <a:spcPts val="225"/>
              </a:spcAft>
              <a:buNone/>
            </a:pPr>
            <a:r>
              <a:rPr lang="en-US" sz="675" b="1" dirty="0">
                <a:solidFill>
                  <a:srgbClr val="19875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H3: LATENT MULTILINGUAL</a:t>
            </a:r>
            <a:endParaRPr lang="en-US" sz="675" dirty="0"/>
          </a:p>
        </p:txBody>
      </p:sp>
      <p:sp>
        <p:nvSpPr>
          <p:cNvPr id="37" name="Text 35"/>
          <p:cNvSpPr/>
          <p:nvPr/>
        </p:nvSpPr>
        <p:spPr>
          <a:xfrm>
            <a:off x="4733925" y="2603748"/>
            <a:ext cx="4031933" cy="866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682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525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CSCL activates Llama's latent Hindi knowledge.</a:t>
            </a:r>
            <a:endParaRPr lang="en-US" sz="525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266700"/>
            <a:ext cx="4284536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950" b="1" dirty="0">
                <a:solidFill>
                  <a:srgbClr val="011F5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 Does Transfer Work?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381000" y="571500"/>
            <a:ext cx="1905000" cy="38100"/>
          </a:xfrm>
          <a:prstGeom prst="rect">
            <a:avLst/>
          </a:prstGeom>
          <a:solidFill>
            <a:srgbClr val="99000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381000" y="895350"/>
            <a:ext cx="4427786" cy="1263700"/>
          </a:xfrm>
          <a:prstGeom prst="roundRect">
            <a:avLst>
              <a:gd name="adj" fmla="val 4522"/>
            </a:avLst>
          </a:prstGeom>
          <a:solidFill>
            <a:srgbClr val="F8F8F8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Shape 3"/>
          <p:cNvSpPr/>
          <p:nvPr/>
        </p:nvSpPr>
        <p:spPr>
          <a:xfrm>
            <a:off x="400050" y="895350"/>
            <a:ext cx="0" cy="1263700"/>
          </a:xfrm>
          <a:prstGeom prst="line">
            <a:avLst/>
          </a:prstGeom>
          <a:noFill/>
          <a:ln w="38100">
            <a:solidFill>
              <a:srgbClr val="99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33400" y="1009650"/>
            <a:ext cx="4244307" cy="1370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80"/>
              </a:lnSpc>
              <a:spcAft>
                <a:spcPts val="450"/>
              </a:spcAft>
              <a:buNone/>
            </a:pPr>
            <a:r>
              <a:rPr lang="en-US" sz="9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1. Language-Agnostic Pragmatics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33400" y="1203871"/>
            <a:ext cx="4244307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7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Code-mixing follows universal patterns: emphasis, topic transitions, emotional expression. These patterns are the same across Hindi-EN, Tamil-EN, Chinese-EN.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381000" y="2254300"/>
            <a:ext cx="4427786" cy="1263700"/>
          </a:xfrm>
          <a:prstGeom prst="roundRect">
            <a:avLst>
              <a:gd name="adj" fmla="val 4522"/>
            </a:avLst>
          </a:prstGeom>
          <a:solidFill>
            <a:srgbClr val="F8F8F8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9" name="Shape 7"/>
          <p:cNvSpPr/>
          <p:nvPr/>
        </p:nvSpPr>
        <p:spPr>
          <a:xfrm>
            <a:off x="400050" y="2254300"/>
            <a:ext cx="0" cy="1263700"/>
          </a:xfrm>
          <a:prstGeom prst="line">
            <a:avLst/>
          </a:prstGeom>
          <a:noFill/>
          <a:ln w="38100">
            <a:solidFill>
              <a:srgbClr val="011F5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533400" y="2368600"/>
            <a:ext cx="4244307" cy="1370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80"/>
              </a:lnSpc>
              <a:spcAft>
                <a:spcPts val="450"/>
              </a:spcAft>
              <a:buNone/>
            </a:pPr>
            <a:r>
              <a:rPr lang="en-US" sz="9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2. Shared English Anchor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533400" y="2562820"/>
            <a:ext cx="4244307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7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language pairs include English. The model anchors understanding in English portions, then learns to handle non-English segments.</a:t>
            </a:r>
            <a:endParaRPr lang="en-US" sz="750" dirty="0"/>
          </a:p>
        </p:txBody>
      </p:sp>
      <p:sp>
        <p:nvSpPr>
          <p:cNvPr id="12" name="Text 10"/>
          <p:cNvSpPr/>
          <p:nvPr/>
        </p:nvSpPr>
        <p:spPr>
          <a:xfrm>
            <a:off x="381000" y="3613249"/>
            <a:ext cx="4427786" cy="1263700"/>
          </a:xfrm>
          <a:prstGeom prst="roundRect">
            <a:avLst>
              <a:gd name="adj" fmla="val 4522"/>
            </a:avLst>
          </a:prstGeom>
          <a:solidFill>
            <a:srgbClr val="F8F8F8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3" name="Shape 11"/>
          <p:cNvSpPr/>
          <p:nvPr/>
        </p:nvSpPr>
        <p:spPr>
          <a:xfrm>
            <a:off x="400050" y="3613249"/>
            <a:ext cx="0" cy="1263700"/>
          </a:xfrm>
          <a:prstGeom prst="line">
            <a:avLst/>
          </a:prstGeom>
          <a:noFill/>
          <a:ln w="38100">
            <a:solidFill>
              <a:srgbClr val="FFC10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533400" y="3727549"/>
            <a:ext cx="4244307" cy="1370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80"/>
              </a:lnSpc>
              <a:spcAft>
                <a:spcPts val="450"/>
              </a:spcAft>
              <a:buNone/>
            </a:pPr>
            <a:r>
              <a:rPr lang="en-US" sz="9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3. Multilingual Pretraining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533400" y="3921770"/>
            <a:ext cx="4244307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7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Llama-3.2 was pretrained on 100+ languages including Hindi. CSCL activates these latent multilingual capabilities.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4999286" y="895350"/>
            <a:ext cx="3763714" cy="683865"/>
          </a:xfrm>
          <a:prstGeom prst="roundRect">
            <a:avLst>
              <a:gd name="adj" fmla="val 8357"/>
            </a:avLst>
          </a:prstGeom>
          <a:solidFill>
            <a:srgbClr val="F8F8F8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7" name="Shape 15"/>
          <p:cNvSpPr/>
          <p:nvPr/>
        </p:nvSpPr>
        <p:spPr>
          <a:xfrm>
            <a:off x="4999286" y="909638"/>
            <a:ext cx="3763714" cy="0"/>
          </a:xfrm>
          <a:prstGeom prst="line">
            <a:avLst/>
          </a:prstGeom>
          <a:noFill/>
          <a:ln w="28575">
            <a:solidFill>
              <a:srgbClr val="011F5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5078234" y="1076325"/>
            <a:ext cx="3605817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050"/>
              </a:lnSpc>
              <a:spcBef>
                <a:spcPts val="300"/>
              </a:spcBef>
              <a:spcAft>
                <a:spcPts val="450"/>
              </a:spcAft>
              <a:buNone/>
            </a:pPr>
            <a:r>
              <a:rPr lang="en-US" sz="7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Training Languages</a:t>
            </a:r>
            <a:endParaRPr lang="en-US" sz="750" dirty="0"/>
          </a:p>
        </p:txBody>
      </p:sp>
      <p:sp>
        <p:nvSpPr>
          <p:cNvPr id="19" name="Text 17"/>
          <p:cNvSpPr/>
          <p:nvPr/>
        </p:nvSpPr>
        <p:spPr>
          <a:xfrm>
            <a:off x="5078234" y="1266825"/>
            <a:ext cx="3605817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26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900" b="1" dirty="0">
                <a:solidFill>
                  <a:srgbClr val="011F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Mandarin + Malay + Tamil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4999286" y="1674465"/>
            <a:ext cx="3763714" cy="2221409"/>
          </a:xfrm>
          <a:prstGeom prst="roundRect">
            <a:avLst>
              <a:gd name="adj" fmla="val 2573"/>
            </a:avLst>
          </a:prstGeom>
          <a:solidFill>
            <a:srgbClr val="D4EDDA"/>
          </a:solidFill>
          <a:ln w="19050">
            <a:solidFill>
              <a:srgbClr val="198754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5117096" y="1864965"/>
            <a:ext cx="3528093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155"/>
              </a:lnSpc>
              <a:spcBef>
                <a:spcPts val="300"/>
              </a:spcBef>
              <a:spcAft>
                <a:spcPts val="600"/>
              </a:spcAft>
              <a:buNone/>
            </a:pPr>
            <a:r>
              <a:rPr lang="en-US" sz="825" b="1" dirty="0">
                <a:solidFill>
                  <a:srgbClr val="1557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CSCL Learns:</a:t>
            </a:r>
            <a:endParaRPr lang="en-US" sz="825" dirty="0"/>
          </a:p>
        </p:txBody>
      </p:sp>
      <p:sp>
        <p:nvSpPr>
          <p:cNvPr id="22" name="Text 20"/>
          <p:cNvSpPr/>
          <p:nvPr/>
        </p:nvSpPr>
        <p:spPr>
          <a:xfrm>
            <a:off x="5117096" y="2087761"/>
            <a:ext cx="3528093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47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050" b="1" dirty="0">
                <a:solidFill>
                  <a:srgbClr val="1557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"How to summarize code-switched conversations"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5117096" y="2350591"/>
            <a:ext cx="3528093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050"/>
              </a:lnSpc>
              <a:spcBef>
                <a:spcPts val="600"/>
              </a:spcBef>
              <a:spcAft>
                <a:spcPts val="300"/>
              </a:spcAft>
              <a:buNone/>
            </a:pPr>
            <a:r>
              <a:rPr lang="en-US" sz="750" dirty="0">
                <a:solidFill>
                  <a:srgbClr val="1557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 language-specific rules</a:t>
            </a:r>
            <a:endParaRPr lang="en-US" sz="750" dirty="0"/>
          </a:p>
        </p:txBody>
      </p:sp>
      <p:sp>
        <p:nvSpPr>
          <p:cNvPr id="24" name="Text 22"/>
          <p:cNvSpPr/>
          <p:nvPr/>
        </p:nvSpPr>
        <p:spPr>
          <a:xfrm>
            <a:off x="5117096" y="2522041"/>
            <a:ext cx="3528093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05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750" dirty="0">
                <a:solidFill>
                  <a:srgbClr val="1557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 vocabulary memorization</a:t>
            </a:r>
            <a:endParaRPr lang="en-US" sz="750" dirty="0"/>
          </a:p>
        </p:txBody>
      </p:sp>
      <p:sp>
        <p:nvSpPr>
          <p:cNvPr id="25" name="Text 23"/>
          <p:cNvSpPr/>
          <p:nvPr/>
        </p:nvSpPr>
        <p:spPr>
          <a:xfrm>
            <a:off x="5117096" y="2693491"/>
            <a:ext cx="3528093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05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750" dirty="0">
                <a:solidFill>
                  <a:srgbClr val="1557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 translation patterns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4999286" y="3991124"/>
            <a:ext cx="3763714" cy="885676"/>
          </a:xfrm>
          <a:prstGeom prst="roundRect">
            <a:avLst>
              <a:gd name="adj" fmla="val 6453"/>
            </a:avLst>
          </a:prstGeom>
          <a:solidFill>
            <a:srgbClr val="99000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7" name="Text 25"/>
          <p:cNvSpPr/>
          <p:nvPr/>
        </p:nvSpPr>
        <p:spPr>
          <a:xfrm>
            <a:off x="5097665" y="4162574"/>
            <a:ext cx="3566955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05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750" dirty="0">
                <a:solidFill>
                  <a:srgbClr val="FFFFFF">
                    <a:alpha val="67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Zero-Shot Transfer To</a:t>
            </a:r>
            <a:endParaRPr lang="en-US" sz="750" dirty="0"/>
          </a:p>
        </p:txBody>
      </p:sp>
      <p:sp>
        <p:nvSpPr>
          <p:cNvPr id="28" name="Text 26"/>
          <p:cNvSpPr/>
          <p:nvPr/>
        </p:nvSpPr>
        <p:spPr>
          <a:xfrm>
            <a:off x="5097665" y="4334024"/>
            <a:ext cx="3566955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Hindi-English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5097665" y="4585395"/>
            <a:ext cx="3566955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945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675" dirty="0">
                <a:solidFill>
                  <a:srgbClr val="FFFFFF">
                    <a:alpha val="67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Never seen in training!</a:t>
            </a:r>
            <a:endParaRPr lang="en-US" sz="675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342900"/>
            <a:ext cx="4284536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500" b="1" dirty="0">
                <a:solidFill>
                  <a:srgbClr val="011F5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Inference Flow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381000" y="561975"/>
            <a:ext cx="1333500" cy="28575"/>
          </a:xfrm>
          <a:prstGeom prst="rect">
            <a:avLst/>
          </a:prstGeom>
          <a:solidFill>
            <a:srgbClr val="99000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1903065" y="800100"/>
            <a:ext cx="1905000" cy="578941"/>
          </a:xfrm>
          <a:prstGeom prst="roundRect">
            <a:avLst>
              <a:gd name="adj" fmla="val 8226"/>
            </a:avLst>
          </a:prstGeom>
          <a:solidFill>
            <a:srgbClr val="FFF3CD"/>
          </a:solidFill>
          <a:ln w="9525">
            <a:solidFill>
              <a:srgbClr val="FFC107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2007840" y="904875"/>
            <a:ext cx="1729359" cy="106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840"/>
              </a:lnSpc>
              <a:spcBef>
                <a:spcPts val="300"/>
              </a:spcBef>
              <a:spcAft>
                <a:spcPts val="150"/>
              </a:spcAft>
              <a:buNone/>
            </a:pPr>
            <a:r>
              <a:rPr lang="en-US" sz="600" b="1" dirty="0">
                <a:solidFill>
                  <a:srgbClr val="85640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Input</a:t>
            </a:r>
            <a:endParaRPr lang="en-US" sz="600" dirty="0"/>
          </a:p>
        </p:txBody>
      </p:sp>
      <p:sp>
        <p:nvSpPr>
          <p:cNvPr id="6" name="Text 4"/>
          <p:cNvSpPr/>
          <p:nvPr/>
        </p:nvSpPr>
        <p:spPr>
          <a:xfrm>
            <a:off x="2007840" y="1049536"/>
            <a:ext cx="1729359" cy="933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735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525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A: Hey, aaj weather accha!</a:t>
            </a:r>
            <a:endParaRPr lang="en-US" sz="525" dirty="0"/>
          </a:p>
        </p:txBody>
      </p:sp>
      <p:sp>
        <p:nvSpPr>
          <p:cNvPr id="7" name="Text 5"/>
          <p:cNvSpPr/>
          <p:nvPr/>
        </p:nvSpPr>
        <p:spPr>
          <a:xfrm>
            <a:off x="2007840" y="1180951"/>
            <a:ext cx="1729359" cy="933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735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525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B: Let's go hiking.</a:t>
            </a:r>
            <a:endParaRPr lang="en-US" sz="525" dirty="0"/>
          </a:p>
        </p:txBody>
      </p:sp>
      <p:sp>
        <p:nvSpPr>
          <p:cNvPr id="8" name="Text 6"/>
          <p:cNvSpPr/>
          <p:nvPr/>
        </p:nvSpPr>
        <p:spPr>
          <a:xfrm>
            <a:off x="2843064" y="1445716"/>
            <a:ext cx="25351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spcBef>
                <a:spcPts val="300"/>
              </a:spcBef>
              <a:spcAft>
                <a:spcPts val="300"/>
              </a:spcAft>
              <a:buNone/>
            </a:pP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2508796" y="1645741"/>
            <a:ext cx="693390" cy="245715"/>
          </a:xfrm>
          <a:prstGeom prst="roundRect">
            <a:avLst>
              <a:gd name="adj" fmla="val 15506"/>
            </a:avLst>
          </a:prstGeom>
          <a:solidFill>
            <a:srgbClr val="E9ECE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2604046" y="1721941"/>
            <a:ext cx="512948" cy="933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735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525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Prompt Template</a:t>
            </a:r>
            <a:endParaRPr lang="en-US" sz="525" dirty="0"/>
          </a:p>
        </p:txBody>
      </p:sp>
      <p:sp>
        <p:nvSpPr>
          <p:cNvPr id="12" name="Text 10"/>
          <p:cNvSpPr/>
          <p:nvPr/>
        </p:nvSpPr>
        <p:spPr>
          <a:xfrm>
            <a:off x="2470547" y="2158157"/>
            <a:ext cx="770037" cy="348555"/>
          </a:xfrm>
          <a:prstGeom prst="roundRect">
            <a:avLst>
              <a:gd name="adj" fmla="val 16396"/>
            </a:avLst>
          </a:prstGeom>
          <a:solidFill>
            <a:srgbClr val="011F5B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2598864" y="2272457"/>
            <a:ext cx="513403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945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67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CSCL Model</a:t>
            </a:r>
            <a:endParaRPr lang="en-US" sz="675" dirty="0"/>
          </a:p>
        </p:txBody>
      </p:sp>
      <p:sp>
        <p:nvSpPr>
          <p:cNvPr id="15" name="Text 13"/>
          <p:cNvSpPr/>
          <p:nvPr/>
        </p:nvSpPr>
        <p:spPr>
          <a:xfrm>
            <a:off x="1903065" y="2773412"/>
            <a:ext cx="1905000" cy="447526"/>
          </a:xfrm>
          <a:prstGeom prst="roundRect">
            <a:avLst>
              <a:gd name="adj" fmla="val 10642"/>
            </a:avLst>
          </a:prstGeom>
          <a:solidFill>
            <a:srgbClr val="D4EDDA"/>
          </a:solidFill>
          <a:ln w="9525">
            <a:solidFill>
              <a:srgbClr val="198754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2007840" y="2878187"/>
            <a:ext cx="1729359" cy="106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840"/>
              </a:lnSpc>
              <a:spcBef>
                <a:spcPts val="300"/>
              </a:spcBef>
              <a:spcAft>
                <a:spcPts val="150"/>
              </a:spcAft>
              <a:buNone/>
            </a:pPr>
            <a:r>
              <a:rPr lang="en-US" sz="600" b="1" dirty="0">
                <a:solidFill>
                  <a:srgbClr val="1987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Output</a:t>
            </a:r>
            <a:endParaRPr lang="en-US" sz="600" dirty="0"/>
          </a:p>
        </p:txBody>
      </p:sp>
      <p:sp>
        <p:nvSpPr>
          <p:cNvPr id="17" name="Text 15"/>
          <p:cNvSpPr/>
          <p:nvPr/>
        </p:nvSpPr>
        <p:spPr>
          <a:xfrm>
            <a:off x="2007840" y="3022848"/>
            <a:ext cx="1729359" cy="933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735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525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and B plan hiking. Meet at park.</a:t>
            </a:r>
            <a:endParaRPr lang="en-US" sz="525" dirty="0"/>
          </a:p>
        </p:txBody>
      </p:sp>
      <p:sp>
        <p:nvSpPr>
          <p:cNvPr id="18" name="Text 16"/>
          <p:cNvSpPr/>
          <p:nvPr/>
        </p:nvSpPr>
        <p:spPr>
          <a:xfrm>
            <a:off x="5463480" y="800100"/>
            <a:ext cx="3299520" cy="424755"/>
          </a:xfrm>
          <a:prstGeom prst="roundRect">
            <a:avLst>
              <a:gd name="adj" fmla="val 8970"/>
            </a:avLst>
          </a:prstGeom>
          <a:solidFill>
            <a:srgbClr val="F8F8F8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9" name="Shape 17"/>
          <p:cNvSpPr/>
          <p:nvPr/>
        </p:nvSpPr>
        <p:spPr>
          <a:xfrm>
            <a:off x="5477768" y="800100"/>
            <a:ext cx="0" cy="424755"/>
          </a:xfrm>
          <a:prstGeom prst="line">
            <a:avLst/>
          </a:prstGeom>
          <a:noFill/>
          <a:ln w="28575">
            <a:solidFill>
              <a:srgbClr val="011F5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5568255" y="876300"/>
            <a:ext cx="3180915" cy="102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810"/>
              </a:lnSpc>
              <a:spcAft>
                <a:spcPts val="225"/>
              </a:spcAft>
              <a:buNone/>
            </a:pPr>
            <a:r>
              <a:rPr lang="en-US" sz="675" b="1" dirty="0">
                <a:solidFill>
                  <a:srgbClr val="011F5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ANY MIX</a:t>
            </a:r>
            <a:endParaRPr lang="en-US" sz="675" dirty="0"/>
          </a:p>
        </p:txBody>
      </p:sp>
      <p:sp>
        <p:nvSpPr>
          <p:cNvPr id="21" name="Text 19"/>
          <p:cNvSpPr/>
          <p:nvPr/>
        </p:nvSpPr>
        <p:spPr>
          <a:xfrm>
            <a:off x="5568255" y="1017240"/>
            <a:ext cx="3180915" cy="933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735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525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Hindi, Mandarin, Malay, Tamil</a:t>
            </a:r>
            <a:endParaRPr lang="en-US" sz="525" dirty="0"/>
          </a:p>
        </p:txBody>
      </p:sp>
      <p:sp>
        <p:nvSpPr>
          <p:cNvPr id="22" name="Text 20"/>
          <p:cNvSpPr/>
          <p:nvPr/>
        </p:nvSpPr>
        <p:spPr>
          <a:xfrm>
            <a:off x="5463480" y="1272480"/>
            <a:ext cx="3299520" cy="424755"/>
          </a:xfrm>
          <a:prstGeom prst="roundRect">
            <a:avLst>
              <a:gd name="adj" fmla="val 8970"/>
            </a:avLst>
          </a:prstGeom>
          <a:solidFill>
            <a:srgbClr val="F8F8F8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3" name="Shape 21"/>
          <p:cNvSpPr/>
          <p:nvPr/>
        </p:nvSpPr>
        <p:spPr>
          <a:xfrm>
            <a:off x="5477768" y="1272480"/>
            <a:ext cx="0" cy="424755"/>
          </a:xfrm>
          <a:prstGeom prst="line">
            <a:avLst/>
          </a:prstGeom>
          <a:noFill/>
          <a:ln w="28575">
            <a:solidFill>
              <a:srgbClr val="99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5568255" y="1348680"/>
            <a:ext cx="3180915" cy="102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810"/>
              </a:lnSpc>
              <a:spcAft>
                <a:spcPts val="225"/>
              </a:spcAft>
              <a:buNone/>
            </a:pPr>
            <a:r>
              <a:rPr lang="en-US" sz="675" b="1" dirty="0">
                <a:solidFill>
                  <a:srgbClr val="9900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ZERO-SHOT</a:t>
            </a:r>
            <a:endParaRPr lang="en-US" sz="675" dirty="0"/>
          </a:p>
        </p:txBody>
      </p:sp>
      <p:sp>
        <p:nvSpPr>
          <p:cNvPr id="25" name="Text 23"/>
          <p:cNvSpPr/>
          <p:nvPr/>
        </p:nvSpPr>
        <p:spPr>
          <a:xfrm>
            <a:off x="5568255" y="1489621"/>
            <a:ext cx="3180915" cy="933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735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525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Unseen language pairs work</a:t>
            </a:r>
            <a:endParaRPr lang="en-US" sz="525" dirty="0"/>
          </a:p>
        </p:txBody>
      </p:sp>
      <p:sp>
        <p:nvSpPr>
          <p:cNvPr id="26" name="Text 24"/>
          <p:cNvSpPr/>
          <p:nvPr/>
        </p:nvSpPr>
        <p:spPr>
          <a:xfrm>
            <a:off x="5463480" y="1744861"/>
            <a:ext cx="3299520" cy="424755"/>
          </a:xfrm>
          <a:prstGeom prst="roundRect">
            <a:avLst>
              <a:gd name="adj" fmla="val 8970"/>
            </a:avLst>
          </a:prstGeom>
          <a:solidFill>
            <a:srgbClr val="F8F8F8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7" name="Shape 25"/>
          <p:cNvSpPr/>
          <p:nvPr/>
        </p:nvSpPr>
        <p:spPr>
          <a:xfrm>
            <a:off x="5477768" y="1744861"/>
            <a:ext cx="0" cy="424755"/>
          </a:xfrm>
          <a:prstGeom prst="line">
            <a:avLst/>
          </a:prstGeom>
          <a:noFill/>
          <a:ln w="28575">
            <a:solidFill>
              <a:srgbClr val="19875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5568255" y="1821061"/>
            <a:ext cx="3180915" cy="102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810"/>
              </a:lnSpc>
              <a:spcAft>
                <a:spcPts val="225"/>
              </a:spcAft>
              <a:buNone/>
            </a:pPr>
            <a:r>
              <a:rPr lang="en-US" sz="675" b="1" dirty="0">
                <a:solidFill>
                  <a:srgbClr val="19875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EFFICIENT</a:t>
            </a:r>
            <a:endParaRPr lang="en-US" sz="675" dirty="0"/>
          </a:p>
        </p:txBody>
      </p:sp>
      <p:sp>
        <p:nvSpPr>
          <p:cNvPr id="29" name="Text 27"/>
          <p:cNvSpPr/>
          <p:nvPr/>
        </p:nvSpPr>
        <p:spPr>
          <a:xfrm>
            <a:off x="5568255" y="1962001"/>
            <a:ext cx="3180915" cy="933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735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525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Consumer GPU compatible</a:t>
            </a:r>
            <a:endParaRPr lang="en-US" sz="525" dirty="0"/>
          </a:p>
        </p:txBody>
      </p:sp>
      <p:sp>
        <p:nvSpPr>
          <p:cNvPr id="30" name="Text 28"/>
          <p:cNvSpPr/>
          <p:nvPr/>
        </p:nvSpPr>
        <p:spPr>
          <a:xfrm>
            <a:off x="5463480" y="2217241"/>
            <a:ext cx="3299520" cy="2469059"/>
          </a:xfrm>
          <a:prstGeom prst="roundRect">
            <a:avLst>
              <a:gd name="adj" fmla="val 1543"/>
            </a:avLst>
          </a:prstGeom>
          <a:solidFill>
            <a:srgbClr val="011F5B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1" name="Text 29"/>
          <p:cNvSpPr/>
          <p:nvPr/>
        </p:nvSpPr>
        <p:spPr>
          <a:xfrm>
            <a:off x="6177344" y="3312765"/>
            <a:ext cx="295108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26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0.35+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6177344" y="3510855"/>
            <a:ext cx="295108" cy="799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63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450" dirty="0">
                <a:solidFill>
                  <a:srgbClr val="FFFFFF">
                    <a:alpha val="67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ROUGE-L</a:t>
            </a:r>
            <a:endParaRPr lang="en-US" sz="450" dirty="0"/>
          </a:p>
        </p:txBody>
      </p:sp>
      <p:sp>
        <p:nvSpPr>
          <p:cNvPr id="33" name="Text 31"/>
          <p:cNvSpPr/>
          <p:nvPr/>
        </p:nvSpPr>
        <p:spPr>
          <a:xfrm>
            <a:off x="7747715" y="3312765"/>
            <a:ext cx="301484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26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+50%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7747715" y="3510855"/>
            <a:ext cx="301484" cy="799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63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450" dirty="0">
                <a:solidFill>
                  <a:srgbClr val="FFFFFF">
                    <a:alpha val="67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vs GPT-4.1</a:t>
            </a:r>
            <a:endParaRPr lang="en-US" sz="450" dirty="0"/>
          </a:p>
        </p:txBody>
      </p: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B09A673F-7096-97BE-E75E-5D5FB8E4C4C0}"/>
              </a:ext>
            </a:extLst>
          </p:cNvPr>
          <p:cNvCxnSpPr>
            <a:stCxn id="4" idx="2"/>
            <a:endCxn id="9" idx="0"/>
          </p:cNvCxnSpPr>
          <p:nvPr/>
        </p:nvCxnSpPr>
        <p:spPr>
          <a:xfrm flipH="1">
            <a:off x="2855491" y="1379041"/>
            <a:ext cx="74" cy="2667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D4DA092D-401B-F275-5086-83ADA9E11491}"/>
              </a:ext>
            </a:extLst>
          </p:cNvPr>
          <p:cNvCxnSpPr>
            <a:stCxn id="9" idx="2"/>
            <a:endCxn id="12" idx="0"/>
          </p:cNvCxnSpPr>
          <p:nvPr/>
        </p:nvCxnSpPr>
        <p:spPr>
          <a:xfrm>
            <a:off x="2855491" y="1891456"/>
            <a:ext cx="75" cy="26670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40FDEF19-AB6D-AEE6-7F0A-F785E42C1FD2}"/>
              </a:ext>
            </a:extLst>
          </p:cNvPr>
          <p:cNvCxnSpPr>
            <a:stCxn id="12" idx="2"/>
            <a:endCxn id="15" idx="0"/>
          </p:cNvCxnSpPr>
          <p:nvPr/>
        </p:nvCxnSpPr>
        <p:spPr>
          <a:xfrm flipH="1">
            <a:off x="2855565" y="2506712"/>
            <a:ext cx="1" cy="2667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266700"/>
            <a:ext cx="4284536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950" b="1" dirty="0">
                <a:solidFill>
                  <a:srgbClr val="011F5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Ablation Study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381000" y="571500"/>
            <a:ext cx="1905000" cy="38100"/>
          </a:xfrm>
          <a:prstGeom prst="rect">
            <a:avLst/>
          </a:prstGeom>
          <a:solidFill>
            <a:srgbClr val="99000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343281" y="1454815"/>
            <a:ext cx="4095750" cy="1474291"/>
          </a:xfrm>
          <a:prstGeom prst="roundRect">
            <a:avLst>
              <a:gd name="adj" fmla="val 3876"/>
            </a:avLst>
          </a:prstGeom>
          <a:solidFill>
            <a:srgbClr val="F8F8F8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Shape 3"/>
          <p:cNvSpPr/>
          <p:nvPr/>
        </p:nvSpPr>
        <p:spPr>
          <a:xfrm>
            <a:off x="343281" y="1469103"/>
            <a:ext cx="4095750" cy="0"/>
          </a:xfrm>
          <a:prstGeom prst="line">
            <a:avLst/>
          </a:prstGeom>
          <a:noFill/>
          <a:ln w="28575">
            <a:solidFill>
              <a:srgbClr val="011F5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476631" y="1616740"/>
            <a:ext cx="3905631" cy="1370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80"/>
              </a:lnSpc>
              <a:spcAft>
                <a:spcPts val="750"/>
              </a:spcAft>
              <a:buNone/>
            </a:pPr>
            <a:r>
              <a:rPr lang="en-US" sz="900" b="1" dirty="0">
                <a:solidFill>
                  <a:srgbClr val="011F5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RESULTS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76631" y="1849061"/>
            <a:ext cx="3905631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7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Curriculum: .480 / .340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476631" y="2039561"/>
            <a:ext cx="3829050" cy="337096"/>
          </a:xfrm>
          <a:prstGeom prst="roundRect">
            <a:avLst>
              <a:gd name="adj" fmla="val 11302"/>
            </a:avLst>
          </a:prstGeom>
          <a:solidFill>
            <a:srgbClr val="011F5B">
              <a:alpha val="7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9" name="Shape 7"/>
          <p:cNvSpPr/>
          <p:nvPr/>
        </p:nvSpPr>
        <p:spPr>
          <a:xfrm>
            <a:off x="490919" y="2039561"/>
            <a:ext cx="0" cy="337096"/>
          </a:xfrm>
          <a:prstGeom prst="line">
            <a:avLst/>
          </a:prstGeom>
          <a:noFill/>
          <a:ln w="28575">
            <a:solidFill>
              <a:srgbClr val="011F5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562356" y="2134811"/>
            <a:ext cx="3759899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825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CSCL 3-phase: .353 / .355 (+4.4%)</a:t>
            </a:r>
            <a:endParaRPr lang="en-US" sz="825" dirty="0"/>
          </a:p>
        </p:txBody>
      </p:sp>
      <p:sp>
        <p:nvSpPr>
          <p:cNvPr id="11" name="Text 9"/>
          <p:cNvSpPr/>
          <p:nvPr/>
        </p:nvSpPr>
        <p:spPr>
          <a:xfrm>
            <a:off x="476631" y="2433806"/>
            <a:ext cx="3905631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7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CSCL 2-phase: .391 / .348 (+2.4%)</a:t>
            </a:r>
            <a:endParaRPr lang="en-US" sz="750" dirty="0"/>
          </a:p>
        </p:txBody>
      </p:sp>
      <p:sp>
        <p:nvSpPr>
          <p:cNvPr id="12" name="Text 10"/>
          <p:cNvSpPr/>
          <p:nvPr/>
        </p:nvSpPr>
        <p:spPr>
          <a:xfrm>
            <a:off x="476631" y="2624306"/>
            <a:ext cx="3905631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750" dirty="0">
                <a:solidFill>
                  <a:srgbClr val="DC3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Reverse: .362 / .331 (-2.6%)</a:t>
            </a:r>
            <a:endParaRPr lang="en-US" sz="750" dirty="0"/>
          </a:p>
        </p:txBody>
      </p:sp>
      <p:sp>
        <p:nvSpPr>
          <p:cNvPr id="13" name="Text 11"/>
          <p:cNvSpPr/>
          <p:nvPr/>
        </p:nvSpPr>
        <p:spPr>
          <a:xfrm>
            <a:off x="343281" y="3024357"/>
            <a:ext cx="4095750" cy="801738"/>
          </a:xfrm>
          <a:prstGeom prst="roundRect">
            <a:avLst>
              <a:gd name="adj" fmla="val 2369"/>
            </a:avLst>
          </a:prstGeom>
          <a:solidFill>
            <a:srgbClr val="F8F8F8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4" name="Shape 12"/>
          <p:cNvSpPr/>
          <p:nvPr/>
        </p:nvSpPr>
        <p:spPr>
          <a:xfrm>
            <a:off x="343281" y="3038644"/>
            <a:ext cx="4095750" cy="0"/>
          </a:xfrm>
          <a:prstGeom prst="line">
            <a:avLst/>
          </a:prstGeom>
          <a:noFill/>
          <a:ln w="28575">
            <a:solidFill>
              <a:srgbClr val="99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457581" y="3167231"/>
            <a:ext cx="3944493" cy="1370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80"/>
              </a:lnSpc>
              <a:spcAft>
                <a:spcPts val="600"/>
              </a:spcAft>
              <a:buNone/>
            </a:pPr>
            <a:r>
              <a:rPr lang="en-US" sz="900" b="1" dirty="0">
                <a:solidFill>
                  <a:srgbClr val="9900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TRADE-OFF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457581" y="3380502"/>
            <a:ext cx="3944493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25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7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CSCL sacrifices 27% in-domain to gain 4% zero-shot transfer capability.</a:t>
            </a:r>
            <a:endParaRPr lang="en-US" sz="750" dirty="0"/>
          </a:p>
        </p:txBody>
      </p:sp>
      <p:sp>
        <p:nvSpPr>
          <p:cNvPr id="17" name="Text 15"/>
          <p:cNvSpPr/>
          <p:nvPr/>
        </p:nvSpPr>
        <p:spPr>
          <a:xfrm>
            <a:off x="4629531" y="1454815"/>
            <a:ext cx="4095750" cy="563761"/>
          </a:xfrm>
          <a:prstGeom prst="roundRect">
            <a:avLst>
              <a:gd name="adj" fmla="val 10137"/>
            </a:avLst>
          </a:prstGeom>
          <a:solidFill>
            <a:srgbClr val="F8F8F8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8" name="Shape 16"/>
          <p:cNvSpPr/>
          <p:nvPr/>
        </p:nvSpPr>
        <p:spPr>
          <a:xfrm>
            <a:off x="4648581" y="1454815"/>
            <a:ext cx="0" cy="563761"/>
          </a:xfrm>
          <a:prstGeom prst="line">
            <a:avLst/>
          </a:prstGeom>
          <a:noFill/>
          <a:ln w="38100">
            <a:solidFill>
              <a:srgbClr val="011F5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4781931" y="1569115"/>
            <a:ext cx="3905631" cy="1256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90"/>
              </a:lnSpc>
              <a:spcAft>
                <a:spcPts val="300"/>
              </a:spcAft>
              <a:buNone/>
            </a:pPr>
            <a:r>
              <a:rPr lang="en-US" sz="825" b="1" dirty="0">
                <a:solidFill>
                  <a:srgbClr val="011F5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 3 PHASES?</a:t>
            </a:r>
            <a:endParaRPr lang="en-US" sz="825" dirty="0"/>
          </a:p>
        </p:txBody>
      </p:sp>
      <p:sp>
        <p:nvSpPr>
          <p:cNvPr id="20" name="Text 18"/>
          <p:cNvSpPr/>
          <p:nvPr/>
        </p:nvSpPr>
        <p:spPr>
          <a:xfrm>
            <a:off x="4781931" y="1732826"/>
            <a:ext cx="3905631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7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Medium phase bridges easy to hard. Without it, jump is too large.</a:t>
            </a:r>
            <a:endParaRPr lang="en-US" sz="750" dirty="0"/>
          </a:p>
        </p:txBody>
      </p:sp>
      <p:sp>
        <p:nvSpPr>
          <p:cNvPr id="21" name="Text 19"/>
          <p:cNvSpPr/>
          <p:nvPr/>
        </p:nvSpPr>
        <p:spPr>
          <a:xfrm>
            <a:off x="4629531" y="2094776"/>
            <a:ext cx="4095750" cy="563761"/>
          </a:xfrm>
          <a:prstGeom prst="roundRect">
            <a:avLst>
              <a:gd name="adj" fmla="val 10137"/>
            </a:avLst>
          </a:prstGeom>
          <a:solidFill>
            <a:srgbClr val="F8F8F8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2" name="Shape 20"/>
          <p:cNvSpPr/>
          <p:nvPr/>
        </p:nvSpPr>
        <p:spPr>
          <a:xfrm>
            <a:off x="4648581" y="2094776"/>
            <a:ext cx="0" cy="563761"/>
          </a:xfrm>
          <a:prstGeom prst="line">
            <a:avLst/>
          </a:prstGeom>
          <a:noFill/>
          <a:ln w="38100">
            <a:solidFill>
              <a:srgbClr val="DC354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4781931" y="2209076"/>
            <a:ext cx="3905631" cy="1256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90"/>
              </a:lnSpc>
              <a:spcAft>
                <a:spcPts val="300"/>
              </a:spcAft>
              <a:buNone/>
            </a:pPr>
            <a:r>
              <a:rPr lang="en-US" sz="825" b="1" dirty="0">
                <a:solidFill>
                  <a:srgbClr val="DC354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 REVERSE FAILS?</a:t>
            </a:r>
            <a:endParaRPr lang="en-US" sz="825" dirty="0"/>
          </a:p>
        </p:txBody>
      </p:sp>
      <p:sp>
        <p:nvSpPr>
          <p:cNvPr id="24" name="Text 22"/>
          <p:cNvSpPr/>
          <p:nvPr/>
        </p:nvSpPr>
        <p:spPr>
          <a:xfrm>
            <a:off x="4781931" y="2372787"/>
            <a:ext cx="3905631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7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Hard first confuses model before learning basics.</a:t>
            </a:r>
            <a:endParaRPr lang="en-US" sz="750" dirty="0"/>
          </a:p>
        </p:txBody>
      </p:sp>
      <p:sp>
        <p:nvSpPr>
          <p:cNvPr id="25" name="Text 23"/>
          <p:cNvSpPr/>
          <p:nvPr/>
        </p:nvSpPr>
        <p:spPr>
          <a:xfrm>
            <a:off x="4629531" y="2734737"/>
            <a:ext cx="4095750" cy="563761"/>
          </a:xfrm>
          <a:prstGeom prst="roundRect">
            <a:avLst>
              <a:gd name="adj" fmla="val 10137"/>
            </a:avLst>
          </a:prstGeom>
          <a:solidFill>
            <a:srgbClr val="F8F8F8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6" name="Shape 24"/>
          <p:cNvSpPr/>
          <p:nvPr/>
        </p:nvSpPr>
        <p:spPr>
          <a:xfrm>
            <a:off x="4648581" y="2734737"/>
            <a:ext cx="0" cy="563761"/>
          </a:xfrm>
          <a:prstGeom prst="line">
            <a:avLst/>
          </a:prstGeom>
          <a:noFill/>
          <a:ln w="38100">
            <a:solidFill>
              <a:srgbClr val="FFC10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4781931" y="2849037"/>
            <a:ext cx="3905631" cy="1256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90"/>
              </a:lnSpc>
              <a:spcAft>
                <a:spcPts val="300"/>
              </a:spcAft>
              <a:buNone/>
            </a:pPr>
            <a:r>
              <a:rPr lang="en-US" sz="825" b="1" dirty="0">
                <a:solidFill>
                  <a:srgbClr val="997A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 LR DECAY?</a:t>
            </a:r>
            <a:endParaRPr lang="en-US" sz="825" dirty="0"/>
          </a:p>
        </p:txBody>
      </p:sp>
      <p:sp>
        <p:nvSpPr>
          <p:cNvPr id="28" name="Text 26"/>
          <p:cNvSpPr/>
          <p:nvPr/>
        </p:nvSpPr>
        <p:spPr>
          <a:xfrm>
            <a:off x="4781931" y="3012748"/>
            <a:ext cx="3905631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7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Prevents forgetting earlier phases.</a:t>
            </a:r>
            <a:endParaRPr lang="en-US" sz="750" dirty="0"/>
          </a:p>
        </p:txBody>
      </p:sp>
      <p:sp>
        <p:nvSpPr>
          <p:cNvPr id="29" name="Text 27"/>
          <p:cNvSpPr/>
          <p:nvPr/>
        </p:nvSpPr>
        <p:spPr>
          <a:xfrm>
            <a:off x="4629531" y="3374698"/>
            <a:ext cx="4095750" cy="451396"/>
          </a:xfrm>
          <a:prstGeom prst="roundRect">
            <a:avLst>
              <a:gd name="adj" fmla="val 12661"/>
            </a:avLst>
          </a:prstGeom>
          <a:solidFill>
            <a:srgbClr val="011F5B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0" name="Text 28"/>
          <p:cNvSpPr/>
          <p:nvPr/>
        </p:nvSpPr>
        <p:spPr>
          <a:xfrm>
            <a:off x="4705160" y="3527098"/>
            <a:ext cx="3944493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155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82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Curriculum = Specialization vs Generalization</a:t>
            </a:r>
            <a:endParaRPr lang="en-US" sz="825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266700"/>
            <a:ext cx="4284536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950" b="1" dirty="0">
                <a:solidFill>
                  <a:srgbClr val="011F5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Error Analysis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381000" y="571500"/>
            <a:ext cx="1905000" cy="38100"/>
          </a:xfrm>
          <a:prstGeom prst="rect">
            <a:avLst/>
          </a:prstGeom>
          <a:solidFill>
            <a:srgbClr val="99000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381000" y="933450"/>
            <a:ext cx="4641884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spcBef>
                <a:spcPts val="300"/>
              </a:spcBef>
              <a:spcAft>
                <a:spcPts val="150"/>
              </a:spcAft>
              <a:buNone/>
            </a:pPr>
            <a:r>
              <a:rPr lang="en-US" sz="7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 predictions with ROUGE-L below 0.2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381000" y="1143000"/>
            <a:ext cx="4550866" cy="571351"/>
          </a:xfrm>
          <a:prstGeom prst="roundRect">
            <a:avLst>
              <a:gd name="adj" fmla="val 10003"/>
            </a:avLst>
          </a:prstGeom>
          <a:solidFill>
            <a:srgbClr val="F8F8F8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476250" y="1285726"/>
            <a:ext cx="47625" cy="285750"/>
          </a:xfrm>
          <a:prstGeom prst="roundRect">
            <a:avLst>
              <a:gd name="adj" fmla="val 60000"/>
            </a:avLst>
          </a:prstGeom>
          <a:solidFill>
            <a:srgbClr val="DC3545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619125" y="1276350"/>
            <a:ext cx="3893487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825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Over-compression</a:t>
            </a:r>
            <a:endParaRPr lang="en-US" sz="825" dirty="0"/>
          </a:p>
        </p:txBody>
      </p:sp>
      <p:sp>
        <p:nvSpPr>
          <p:cNvPr id="8" name="Text 6"/>
          <p:cNvSpPr/>
          <p:nvPr/>
        </p:nvSpPr>
        <p:spPr>
          <a:xfrm>
            <a:off x="619125" y="1461046"/>
            <a:ext cx="3893487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45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675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Omits important details</a:t>
            </a:r>
            <a:endParaRPr lang="en-US" sz="675" dirty="0"/>
          </a:p>
        </p:txBody>
      </p:sp>
      <p:sp>
        <p:nvSpPr>
          <p:cNvPr id="9" name="Text 7"/>
          <p:cNvSpPr/>
          <p:nvPr/>
        </p:nvSpPr>
        <p:spPr>
          <a:xfrm>
            <a:off x="4531519" y="1322040"/>
            <a:ext cx="311200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DC3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38%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81000" y="1771501"/>
            <a:ext cx="4550866" cy="571351"/>
          </a:xfrm>
          <a:prstGeom prst="roundRect">
            <a:avLst>
              <a:gd name="adj" fmla="val 10003"/>
            </a:avLst>
          </a:prstGeom>
          <a:solidFill>
            <a:srgbClr val="F8F8F8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476250" y="1914227"/>
            <a:ext cx="47625" cy="285750"/>
          </a:xfrm>
          <a:prstGeom prst="roundRect">
            <a:avLst>
              <a:gd name="adj" fmla="val 60000"/>
            </a:avLst>
          </a:prstGeom>
          <a:solidFill>
            <a:srgbClr val="FFC107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619125" y="1904851"/>
            <a:ext cx="3893487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825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Missing Entities</a:t>
            </a:r>
            <a:endParaRPr lang="en-US" sz="825" dirty="0"/>
          </a:p>
        </p:txBody>
      </p:sp>
      <p:sp>
        <p:nvSpPr>
          <p:cNvPr id="13" name="Text 11"/>
          <p:cNvSpPr/>
          <p:nvPr/>
        </p:nvSpPr>
        <p:spPr>
          <a:xfrm>
            <a:off x="619125" y="2089547"/>
            <a:ext cx="3893487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45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675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Names, places, dates</a:t>
            </a:r>
            <a:endParaRPr lang="en-US" sz="675" dirty="0"/>
          </a:p>
        </p:txBody>
      </p:sp>
      <p:sp>
        <p:nvSpPr>
          <p:cNvPr id="14" name="Text 12"/>
          <p:cNvSpPr/>
          <p:nvPr/>
        </p:nvSpPr>
        <p:spPr>
          <a:xfrm>
            <a:off x="4531519" y="1950541"/>
            <a:ext cx="311200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997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26%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81000" y="2400002"/>
            <a:ext cx="4550866" cy="571351"/>
          </a:xfrm>
          <a:prstGeom prst="roundRect">
            <a:avLst>
              <a:gd name="adj" fmla="val 10003"/>
            </a:avLst>
          </a:prstGeom>
          <a:solidFill>
            <a:srgbClr val="F8F8F8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476250" y="2542729"/>
            <a:ext cx="47625" cy="285750"/>
          </a:xfrm>
          <a:prstGeom prst="roundRect">
            <a:avLst>
              <a:gd name="adj" fmla="val 60000"/>
            </a:avLst>
          </a:prstGeom>
          <a:solidFill>
            <a:srgbClr val="99000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619125" y="2533352"/>
            <a:ext cx="3893487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825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Hallucination</a:t>
            </a:r>
            <a:endParaRPr lang="en-US" sz="825" dirty="0"/>
          </a:p>
        </p:txBody>
      </p:sp>
      <p:sp>
        <p:nvSpPr>
          <p:cNvPr id="18" name="Text 16"/>
          <p:cNvSpPr/>
          <p:nvPr/>
        </p:nvSpPr>
        <p:spPr>
          <a:xfrm>
            <a:off x="619125" y="2718048"/>
            <a:ext cx="3893487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45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675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Facts not in original</a:t>
            </a:r>
            <a:endParaRPr lang="en-US" sz="675" dirty="0"/>
          </a:p>
        </p:txBody>
      </p:sp>
      <p:sp>
        <p:nvSpPr>
          <p:cNvPr id="19" name="Text 17"/>
          <p:cNvSpPr/>
          <p:nvPr/>
        </p:nvSpPr>
        <p:spPr>
          <a:xfrm>
            <a:off x="4531519" y="2579043"/>
            <a:ext cx="311200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99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18%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381000" y="3028504"/>
            <a:ext cx="4550866" cy="571351"/>
          </a:xfrm>
          <a:prstGeom prst="roundRect">
            <a:avLst>
              <a:gd name="adj" fmla="val 10003"/>
            </a:avLst>
          </a:prstGeom>
          <a:solidFill>
            <a:srgbClr val="F8F8F8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476250" y="3171230"/>
            <a:ext cx="47625" cy="285750"/>
          </a:xfrm>
          <a:prstGeom prst="roundRect">
            <a:avLst>
              <a:gd name="adj" fmla="val 60000"/>
            </a:avLst>
          </a:prstGeom>
          <a:solidFill>
            <a:srgbClr val="011F5B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619125" y="3161854"/>
            <a:ext cx="3893487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825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Language Confusion</a:t>
            </a:r>
            <a:endParaRPr lang="en-US" sz="825" dirty="0"/>
          </a:p>
        </p:txBody>
      </p:sp>
      <p:sp>
        <p:nvSpPr>
          <p:cNvPr id="23" name="Text 21"/>
          <p:cNvSpPr/>
          <p:nvPr/>
        </p:nvSpPr>
        <p:spPr>
          <a:xfrm>
            <a:off x="619125" y="3346549"/>
            <a:ext cx="3893487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45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675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Misinterprets switching</a:t>
            </a:r>
            <a:endParaRPr lang="en-US" sz="675" dirty="0"/>
          </a:p>
        </p:txBody>
      </p:sp>
      <p:sp>
        <p:nvSpPr>
          <p:cNvPr id="24" name="Text 22"/>
          <p:cNvSpPr/>
          <p:nvPr/>
        </p:nvSpPr>
        <p:spPr>
          <a:xfrm>
            <a:off x="4531519" y="3207544"/>
            <a:ext cx="311200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011F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12%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381000" y="3657005"/>
            <a:ext cx="4550866" cy="571351"/>
          </a:xfrm>
          <a:prstGeom prst="roundRect">
            <a:avLst>
              <a:gd name="adj" fmla="val 10003"/>
            </a:avLst>
          </a:prstGeom>
          <a:solidFill>
            <a:srgbClr val="F8F8F8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6" name="Text 24"/>
          <p:cNvSpPr/>
          <p:nvPr/>
        </p:nvSpPr>
        <p:spPr>
          <a:xfrm>
            <a:off x="476250" y="3799731"/>
            <a:ext cx="47625" cy="285750"/>
          </a:xfrm>
          <a:prstGeom prst="roundRect">
            <a:avLst>
              <a:gd name="adj" fmla="val 60000"/>
            </a:avLst>
          </a:prstGeom>
          <a:solidFill>
            <a:srgbClr val="6C757D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7" name="Text 25"/>
          <p:cNvSpPr/>
          <p:nvPr/>
        </p:nvSpPr>
        <p:spPr>
          <a:xfrm>
            <a:off x="619125" y="3790355"/>
            <a:ext cx="3980015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825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</a:t>
            </a:r>
            <a:endParaRPr lang="en-US" sz="825" dirty="0"/>
          </a:p>
        </p:txBody>
      </p:sp>
      <p:sp>
        <p:nvSpPr>
          <p:cNvPr id="28" name="Text 26"/>
          <p:cNvSpPr/>
          <p:nvPr/>
        </p:nvSpPr>
        <p:spPr>
          <a:xfrm>
            <a:off x="619125" y="3975050"/>
            <a:ext cx="3980015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45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675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Formatting, repetition</a:t>
            </a:r>
            <a:endParaRPr lang="en-US" sz="675" dirty="0"/>
          </a:p>
        </p:txBody>
      </p:sp>
      <p:sp>
        <p:nvSpPr>
          <p:cNvPr id="29" name="Text 27"/>
          <p:cNvSpPr/>
          <p:nvPr/>
        </p:nvSpPr>
        <p:spPr>
          <a:xfrm>
            <a:off x="4616351" y="3836045"/>
            <a:ext cx="224671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6C75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6%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5122366" y="895350"/>
            <a:ext cx="3640634" cy="1112490"/>
          </a:xfrm>
          <a:prstGeom prst="roundRect">
            <a:avLst>
              <a:gd name="adj" fmla="val 5137"/>
            </a:avLst>
          </a:prstGeom>
          <a:solidFill>
            <a:srgbClr val="011F5B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1" name="Text 29"/>
          <p:cNvSpPr/>
          <p:nvPr/>
        </p:nvSpPr>
        <p:spPr>
          <a:xfrm>
            <a:off x="5221977" y="1066800"/>
            <a:ext cx="344141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05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750" dirty="0">
                <a:solidFill>
                  <a:srgbClr val="FFFFFF">
                    <a:alpha val="67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Language Confusion Rate</a:t>
            </a:r>
            <a:endParaRPr lang="en-US" sz="750" dirty="0"/>
          </a:p>
        </p:txBody>
      </p:sp>
      <p:sp>
        <p:nvSpPr>
          <p:cNvPr id="32" name="Text 30"/>
          <p:cNvSpPr/>
          <p:nvPr/>
        </p:nvSpPr>
        <p:spPr>
          <a:xfrm>
            <a:off x="5221977" y="1238250"/>
            <a:ext cx="3441412" cy="4266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336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12%</a:t>
            </a:r>
            <a:endParaRPr lang="en-US" sz="2400" dirty="0"/>
          </a:p>
        </p:txBody>
      </p:sp>
      <p:sp>
        <p:nvSpPr>
          <p:cNvPr id="33" name="Text 31"/>
          <p:cNvSpPr/>
          <p:nvPr/>
        </p:nvSpPr>
        <p:spPr>
          <a:xfrm>
            <a:off x="5221977" y="1703040"/>
            <a:ext cx="344141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05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750" dirty="0">
                <a:solidFill>
                  <a:srgbClr val="FFFFFF">
                    <a:alpha val="67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vs 20% without curriculum</a:t>
            </a:r>
            <a:endParaRPr lang="en-US" sz="750" dirty="0"/>
          </a:p>
        </p:txBody>
      </p:sp>
      <p:sp>
        <p:nvSpPr>
          <p:cNvPr id="34" name="Text 32"/>
          <p:cNvSpPr/>
          <p:nvPr/>
        </p:nvSpPr>
        <p:spPr>
          <a:xfrm>
            <a:off x="5122366" y="2103090"/>
            <a:ext cx="3640634" cy="1213396"/>
          </a:xfrm>
          <a:prstGeom prst="roundRect">
            <a:avLst>
              <a:gd name="adj" fmla="val 4710"/>
            </a:avLst>
          </a:prstGeom>
          <a:solidFill>
            <a:srgbClr val="D4EDDA"/>
          </a:solidFill>
          <a:ln w="19050">
            <a:solidFill>
              <a:srgbClr val="198754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5" name="Text 33"/>
          <p:cNvSpPr/>
          <p:nvPr/>
        </p:nvSpPr>
        <p:spPr>
          <a:xfrm>
            <a:off x="5274766" y="2255490"/>
            <a:ext cx="3402550" cy="1370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80"/>
              </a:lnSpc>
              <a:spcAft>
                <a:spcPts val="600"/>
              </a:spcAft>
              <a:buNone/>
            </a:pPr>
            <a:r>
              <a:rPr lang="en-US" sz="900" b="1" dirty="0">
                <a:solidFill>
                  <a:srgbClr val="15572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KEY INSIGHT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5274766" y="2468761"/>
            <a:ext cx="3402550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38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825" dirty="0">
                <a:solidFill>
                  <a:srgbClr val="1557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CSCL reduces language confusion errors by 40% compared to standard fine-tuning (12% vs 20%).</a:t>
            </a:r>
            <a:endParaRPr lang="en-US" sz="825" dirty="0"/>
          </a:p>
        </p:txBody>
      </p:sp>
      <p:sp>
        <p:nvSpPr>
          <p:cNvPr id="37" name="Text 35"/>
          <p:cNvSpPr/>
          <p:nvPr/>
        </p:nvSpPr>
        <p:spPr>
          <a:xfrm>
            <a:off x="5274766" y="2859286"/>
            <a:ext cx="34025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spcBef>
                <a:spcPts val="600"/>
              </a:spcBef>
              <a:spcAft>
                <a:spcPts val="300"/>
              </a:spcAft>
              <a:buNone/>
            </a:pPr>
            <a:r>
              <a:rPr lang="en-US" sz="750" dirty="0">
                <a:solidFill>
                  <a:srgbClr val="1557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Curriculum learning teaches the model to handle code-switching progressively, reducing confusion.</a:t>
            </a:r>
            <a:endParaRPr lang="en-US" sz="750" dirty="0"/>
          </a:p>
        </p:txBody>
      </p:sp>
      <p:sp>
        <p:nvSpPr>
          <p:cNvPr id="38" name="Text 36"/>
          <p:cNvSpPr/>
          <p:nvPr/>
        </p:nvSpPr>
        <p:spPr>
          <a:xfrm>
            <a:off x="5122366" y="3411736"/>
            <a:ext cx="3640634" cy="533400"/>
          </a:xfrm>
          <a:prstGeom prst="roundRect">
            <a:avLst>
              <a:gd name="adj" fmla="val 10714"/>
            </a:avLst>
          </a:prstGeom>
          <a:solidFill>
            <a:srgbClr val="FFF3CD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9" name="Shape 37"/>
          <p:cNvSpPr/>
          <p:nvPr/>
        </p:nvSpPr>
        <p:spPr>
          <a:xfrm>
            <a:off x="5141416" y="3411736"/>
            <a:ext cx="0" cy="533400"/>
          </a:xfrm>
          <a:prstGeom prst="line">
            <a:avLst/>
          </a:prstGeom>
          <a:noFill/>
          <a:ln w="38100">
            <a:solidFill>
              <a:srgbClr val="FFC10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Text 38"/>
          <p:cNvSpPr/>
          <p:nvPr/>
        </p:nvSpPr>
        <p:spPr>
          <a:xfrm>
            <a:off x="5255716" y="3545086"/>
            <a:ext cx="3480274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750" b="1" dirty="0">
                <a:solidFill>
                  <a:srgbClr val="85640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Note:</a:t>
            </a:r>
            <a:r>
              <a:rPr lang="en-US" sz="750" dirty="0">
                <a:solidFill>
                  <a:srgbClr val="85640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Over-compression (38%) is a general summarization issue, not specific to code-mixing.</a:t>
            </a:r>
            <a:endParaRPr lang="en-US" sz="75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381000"/>
            <a:ext cx="4284536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500" b="1" dirty="0">
                <a:solidFill>
                  <a:srgbClr val="011F5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Future Work &amp; Improvements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381000" y="600075"/>
            <a:ext cx="2095500" cy="28575"/>
          </a:xfrm>
          <a:prstGeom prst="rect">
            <a:avLst/>
          </a:prstGeom>
          <a:solidFill>
            <a:srgbClr val="99000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381000" y="838200"/>
            <a:ext cx="4124325" cy="618976"/>
          </a:xfrm>
          <a:prstGeom prst="roundRect">
            <a:avLst>
              <a:gd name="adj" fmla="val 7694"/>
            </a:avLst>
          </a:prstGeom>
          <a:solidFill>
            <a:srgbClr val="F8F8F8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Shape 3"/>
          <p:cNvSpPr/>
          <p:nvPr/>
        </p:nvSpPr>
        <p:spPr>
          <a:xfrm>
            <a:off x="395288" y="838200"/>
            <a:ext cx="0" cy="618976"/>
          </a:xfrm>
          <a:prstGeom prst="line">
            <a:avLst/>
          </a:prstGeom>
          <a:noFill/>
          <a:ln w="28575">
            <a:solidFill>
              <a:srgbClr val="011F5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04825" y="933450"/>
            <a:ext cx="3983355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00"/>
              </a:lnSpc>
              <a:spcAft>
                <a:spcPts val="300"/>
              </a:spcAft>
              <a:buNone/>
            </a:pPr>
            <a:r>
              <a:rPr lang="en-US" sz="750" b="1" dirty="0">
                <a:solidFill>
                  <a:srgbClr val="011F5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1. SOFT CURRICULUM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504825" y="1085850"/>
            <a:ext cx="3983355" cy="106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84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6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Continuous weights instead of hard thresholds</a:t>
            </a:r>
            <a:endParaRPr lang="en-US" sz="600" dirty="0"/>
          </a:p>
        </p:txBody>
      </p:sp>
      <p:sp>
        <p:nvSpPr>
          <p:cNvPr id="8" name="Text 6"/>
          <p:cNvSpPr/>
          <p:nvPr/>
        </p:nvSpPr>
        <p:spPr>
          <a:xfrm>
            <a:off x="504825" y="1230511"/>
            <a:ext cx="3983355" cy="933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735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525" i="1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w(CMI) = sigmoid(β × (epoch - CMI/τ))</a:t>
            </a:r>
            <a:endParaRPr lang="en-US" sz="525" dirty="0"/>
          </a:p>
        </p:txBody>
      </p:sp>
      <p:sp>
        <p:nvSpPr>
          <p:cNvPr id="9" name="Text 7"/>
          <p:cNvSpPr/>
          <p:nvPr/>
        </p:nvSpPr>
        <p:spPr>
          <a:xfrm>
            <a:off x="381000" y="1514326"/>
            <a:ext cx="4124325" cy="487561"/>
          </a:xfrm>
          <a:prstGeom prst="roundRect">
            <a:avLst>
              <a:gd name="adj" fmla="val 9768"/>
            </a:avLst>
          </a:prstGeom>
          <a:solidFill>
            <a:srgbClr val="F8F8F8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0" name="Shape 8"/>
          <p:cNvSpPr/>
          <p:nvPr/>
        </p:nvSpPr>
        <p:spPr>
          <a:xfrm>
            <a:off x="395288" y="1514326"/>
            <a:ext cx="0" cy="487561"/>
          </a:xfrm>
          <a:prstGeom prst="line">
            <a:avLst/>
          </a:prstGeom>
          <a:noFill/>
          <a:ln w="28575">
            <a:solidFill>
              <a:srgbClr val="011F5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504825" y="1609576"/>
            <a:ext cx="3983355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00"/>
              </a:lnSpc>
              <a:spcAft>
                <a:spcPts val="300"/>
              </a:spcAft>
              <a:buNone/>
            </a:pPr>
            <a:r>
              <a:rPr lang="en-US" sz="750" b="1" dirty="0">
                <a:solidFill>
                  <a:srgbClr val="011F5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2. MORE LANGUAGE PAIRS</a:t>
            </a:r>
            <a:endParaRPr lang="en-US" sz="750" dirty="0"/>
          </a:p>
        </p:txBody>
      </p:sp>
      <p:sp>
        <p:nvSpPr>
          <p:cNvPr id="12" name="Text 10"/>
          <p:cNvSpPr/>
          <p:nvPr/>
        </p:nvSpPr>
        <p:spPr>
          <a:xfrm>
            <a:off x="504825" y="1761976"/>
            <a:ext cx="3983355" cy="106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84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6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 on Japanese-EN, Korean-EN, Arabic-EN</a:t>
            </a:r>
            <a:endParaRPr lang="en-US" sz="600" dirty="0"/>
          </a:p>
        </p:txBody>
      </p:sp>
      <p:sp>
        <p:nvSpPr>
          <p:cNvPr id="13" name="Text 11"/>
          <p:cNvSpPr/>
          <p:nvPr/>
        </p:nvSpPr>
        <p:spPr>
          <a:xfrm>
            <a:off x="381000" y="2059037"/>
            <a:ext cx="4124325" cy="487561"/>
          </a:xfrm>
          <a:prstGeom prst="roundRect">
            <a:avLst>
              <a:gd name="adj" fmla="val 9768"/>
            </a:avLst>
          </a:prstGeom>
          <a:solidFill>
            <a:srgbClr val="F8F8F8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4" name="Shape 12"/>
          <p:cNvSpPr/>
          <p:nvPr/>
        </p:nvSpPr>
        <p:spPr>
          <a:xfrm>
            <a:off x="395288" y="2059037"/>
            <a:ext cx="0" cy="487561"/>
          </a:xfrm>
          <a:prstGeom prst="line">
            <a:avLst/>
          </a:prstGeom>
          <a:noFill/>
          <a:ln w="28575">
            <a:solidFill>
              <a:srgbClr val="011F5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504825" y="2154287"/>
            <a:ext cx="3983355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00"/>
              </a:lnSpc>
              <a:spcAft>
                <a:spcPts val="300"/>
              </a:spcAft>
              <a:buNone/>
            </a:pPr>
            <a:r>
              <a:rPr lang="en-US" sz="750" b="1" dirty="0">
                <a:solidFill>
                  <a:srgbClr val="011F5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3. LARGER MODELS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504825" y="2306687"/>
            <a:ext cx="3983355" cy="106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84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6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Scale to Llama-8B, Llama-70B</a:t>
            </a:r>
            <a:endParaRPr lang="en-US" sz="600" dirty="0"/>
          </a:p>
        </p:txBody>
      </p:sp>
      <p:sp>
        <p:nvSpPr>
          <p:cNvPr id="17" name="Text 15"/>
          <p:cNvSpPr/>
          <p:nvPr/>
        </p:nvSpPr>
        <p:spPr>
          <a:xfrm>
            <a:off x="381000" y="2603748"/>
            <a:ext cx="4124325" cy="487561"/>
          </a:xfrm>
          <a:prstGeom prst="roundRect">
            <a:avLst>
              <a:gd name="adj" fmla="val 9768"/>
            </a:avLst>
          </a:prstGeom>
          <a:solidFill>
            <a:srgbClr val="F8F8F8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8" name="Shape 16"/>
          <p:cNvSpPr/>
          <p:nvPr/>
        </p:nvSpPr>
        <p:spPr>
          <a:xfrm>
            <a:off x="395288" y="2603748"/>
            <a:ext cx="0" cy="487561"/>
          </a:xfrm>
          <a:prstGeom prst="line">
            <a:avLst/>
          </a:prstGeom>
          <a:noFill/>
          <a:ln w="28575">
            <a:solidFill>
              <a:srgbClr val="011F5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504825" y="2698998"/>
            <a:ext cx="3983355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00"/>
              </a:lnSpc>
              <a:spcAft>
                <a:spcPts val="300"/>
              </a:spcAft>
              <a:buNone/>
            </a:pPr>
            <a:r>
              <a:rPr lang="en-US" sz="750" b="1" dirty="0">
                <a:solidFill>
                  <a:srgbClr val="011F5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4. DYNAMIC CURRICULUM</a:t>
            </a:r>
            <a:endParaRPr lang="en-US" sz="750" dirty="0"/>
          </a:p>
        </p:txBody>
      </p:sp>
      <p:sp>
        <p:nvSpPr>
          <p:cNvPr id="20" name="Text 18"/>
          <p:cNvSpPr/>
          <p:nvPr/>
        </p:nvSpPr>
        <p:spPr>
          <a:xfrm>
            <a:off x="504825" y="2851398"/>
            <a:ext cx="3983355" cy="106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84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6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Adjust difficulty based on model loss per example</a:t>
            </a:r>
            <a:endParaRPr lang="en-US" sz="600" dirty="0"/>
          </a:p>
        </p:txBody>
      </p:sp>
      <p:sp>
        <p:nvSpPr>
          <p:cNvPr id="21" name="Text 19"/>
          <p:cNvSpPr/>
          <p:nvPr/>
        </p:nvSpPr>
        <p:spPr>
          <a:xfrm>
            <a:off x="381000" y="3148459"/>
            <a:ext cx="4124325" cy="487561"/>
          </a:xfrm>
          <a:prstGeom prst="roundRect">
            <a:avLst>
              <a:gd name="adj" fmla="val 9768"/>
            </a:avLst>
          </a:prstGeom>
          <a:solidFill>
            <a:srgbClr val="F8F8F8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2" name="Shape 20"/>
          <p:cNvSpPr/>
          <p:nvPr/>
        </p:nvSpPr>
        <p:spPr>
          <a:xfrm>
            <a:off x="395288" y="3148459"/>
            <a:ext cx="0" cy="487561"/>
          </a:xfrm>
          <a:prstGeom prst="line">
            <a:avLst/>
          </a:prstGeom>
          <a:noFill/>
          <a:ln w="28575">
            <a:solidFill>
              <a:srgbClr val="011F5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504825" y="3243709"/>
            <a:ext cx="3983355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00"/>
              </a:lnSpc>
              <a:spcAft>
                <a:spcPts val="300"/>
              </a:spcAft>
              <a:buNone/>
            </a:pPr>
            <a:r>
              <a:rPr lang="en-US" sz="750" b="1" dirty="0">
                <a:solidFill>
                  <a:srgbClr val="011F5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5. MULTI-TASK LEARNING</a:t>
            </a:r>
            <a:endParaRPr lang="en-US" sz="750" dirty="0"/>
          </a:p>
        </p:txBody>
      </p:sp>
      <p:sp>
        <p:nvSpPr>
          <p:cNvPr id="24" name="Text 22"/>
          <p:cNvSpPr/>
          <p:nvPr/>
        </p:nvSpPr>
        <p:spPr>
          <a:xfrm>
            <a:off x="504825" y="3396109"/>
            <a:ext cx="3983355" cy="106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84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6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Joint training: summarization + NER + sentiment</a:t>
            </a:r>
            <a:endParaRPr lang="en-US" sz="600" dirty="0"/>
          </a:p>
        </p:txBody>
      </p:sp>
      <p:sp>
        <p:nvSpPr>
          <p:cNvPr id="25" name="Text 23"/>
          <p:cNvSpPr/>
          <p:nvPr/>
        </p:nvSpPr>
        <p:spPr>
          <a:xfrm>
            <a:off x="4638675" y="838200"/>
            <a:ext cx="4124325" cy="487561"/>
          </a:xfrm>
          <a:prstGeom prst="roundRect">
            <a:avLst>
              <a:gd name="adj" fmla="val 9768"/>
            </a:avLst>
          </a:prstGeom>
          <a:solidFill>
            <a:srgbClr val="F8F8F8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6" name="Shape 24"/>
          <p:cNvSpPr/>
          <p:nvPr/>
        </p:nvSpPr>
        <p:spPr>
          <a:xfrm>
            <a:off x="4652963" y="838200"/>
            <a:ext cx="0" cy="487561"/>
          </a:xfrm>
          <a:prstGeom prst="line">
            <a:avLst/>
          </a:prstGeom>
          <a:noFill/>
          <a:ln w="28575">
            <a:solidFill>
              <a:srgbClr val="99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4762500" y="933450"/>
            <a:ext cx="3983355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00"/>
              </a:lnSpc>
              <a:spcAft>
                <a:spcPts val="300"/>
              </a:spcAft>
              <a:buNone/>
            </a:pPr>
            <a:r>
              <a:rPr lang="en-US" sz="750" b="1" dirty="0">
                <a:solidFill>
                  <a:srgbClr val="9900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6. REAL-TIME ADAPTATION</a:t>
            </a:r>
            <a:endParaRPr lang="en-US" sz="750" dirty="0"/>
          </a:p>
        </p:txBody>
      </p:sp>
      <p:sp>
        <p:nvSpPr>
          <p:cNvPr id="28" name="Text 26"/>
          <p:cNvSpPr/>
          <p:nvPr/>
        </p:nvSpPr>
        <p:spPr>
          <a:xfrm>
            <a:off x="4762500" y="1085850"/>
            <a:ext cx="3983355" cy="106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84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6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Online LoRA updates for new language pairs</a:t>
            </a:r>
            <a:endParaRPr lang="en-US" sz="600" dirty="0"/>
          </a:p>
        </p:txBody>
      </p:sp>
      <p:sp>
        <p:nvSpPr>
          <p:cNvPr id="29" name="Text 27"/>
          <p:cNvSpPr/>
          <p:nvPr/>
        </p:nvSpPr>
        <p:spPr>
          <a:xfrm>
            <a:off x="4638675" y="1382911"/>
            <a:ext cx="4124325" cy="487561"/>
          </a:xfrm>
          <a:prstGeom prst="roundRect">
            <a:avLst>
              <a:gd name="adj" fmla="val 9768"/>
            </a:avLst>
          </a:prstGeom>
          <a:solidFill>
            <a:srgbClr val="F8F8F8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0" name="Shape 28"/>
          <p:cNvSpPr/>
          <p:nvPr/>
        </p:nvSpPr>
        <p:spPr>
          <a:xfrm>
            <a:off x="4652963" y="1382911"/>
            <a:ext cx="0" cy="487561"/>
          </a:xfrm>
          <a:prstGeom prst="line">
            <a:avLst/>
          </a:prstGeom>
          <a:noFill/>
          <a:ln w="28575">
            <a:solidFill>
              <a:srgbClr val="99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4762500" y="1478161"/>
            <a:ext cx="3983355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00"/>
              </a:lnSpc>
              <a:spcAft>
                <a:spcPts val="300"/>
              </a:spcAft>
              <a:buNone/>
            </a:pPr>
            <a:r>
              <a:rPr lang="en-US" sz="750" b="1" dirty="0">
                <a:solidFill>
                  <a:srgbClr val="9900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7. BETTER EVALUATION</a:t>
            </a:r>
            <a:endParaRPr lang="en-US" sz="750" dirty="0"/>
          </a:p>
        </p:txBody>
      </p:sp>
      <p:sp>
        <p:nvSpPr>
          <p:cNvPr id="32" name="Text 30"/>
          <p:cNvSpPr/>
          <p:nvPr/>
        </p:nvSpPr>
        <p:spPr>
          <a:xfrm>
            <a:off x="4762500" y="1630561"/>
            <a:ext cx="3983355" cy="106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84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6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Human eval, factual consistency, QA-based metrics</a:t>
            </a:r>
            <a:endParaRPr lang="en-US" sz="600" dirty="0"/>
          </a:p>
        </p:txBody>
      </p:sp>
      <p:sp>
        <p:nvSpPr>
          <p:cNvPr id="33" name="Text 31"/>
          <p:cNvSpPr/>
          <p:nvPr/>
        </p:nvSpPr>
        <p:spPr>
          <a:xfrm>
            <a:off x="4638675" y="1927622"/>
            <a:ext cx="4124325" cy="487561"/>
          </a:xfrm>
          <a:prstGeom prst="roundRect">
            <a:avLst>
              <a:gd name="adj" fmla="val 9768"/>
            </a:avLst>
          </a:prstGeom>
          <a:solidFill>
            <a:srgbClr val="F8F8F8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4" name="Shape 32"/>
          <p:cNvSpPr/>
          <p:nvPr/>
        </p:nvSpPr>
        <p:spPr>
          <a:xfrm>
            <a:off x="4652963" y="1927622"/>
            <a:ext cx="0" cy="487561"/>
          </a:xfrm>
          <a:prstGeom prst="line">
            <a:avLst/>
          </a:prstGeom>
          <a:noFill/>
          <a:ln w="28575">
            <a:solidFill>
              <a:srgbClr val="99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4762500" y="2022872"/>
            <a:ext cx="3983355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00"/>
              </a:lnSpc>
              <a:spcAft>
                <a:spcPts val="300"/>
              </a:spcAft>
              <a:buNone/>
            </a:pPr>
            <a:r>
              <a:rPr lang="en-US" sz="750" b="1" dirty="0">
                <a:solidFill>
                  <a:srgbClr val="9900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8. CROSS-LINGUAL OUTPUT</a:t>
            </a:r>
            <a:endParaRPr lang="en-US" sz="750" dirty="0"/>
          </a:p>
        </p:txBody>
      </p:sp>
      <p:sp>
        <p:nvSpPr>
          <p:cNvPr id="36" name="Text 34"/>
          <p:cNvSpPr/>
          <p:nvPr/>
        </p:nvSpPr>
        <p:spPr>
          <a:xfrm>
            <a:off x="4762500" y="2175272"/>
            <a:ext cx="3983355" cy="106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84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6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Generate summaries in pure English if preferred</a:t>
            </a:r>
            <a:endParaRPr lang="en-US" sz="600" dirty="0"/>
          </a:p>
        </p:txBody>
      </p:sp>
      <p:sp>
        <p:nvSpPr>
          <p:cNvPr id="37" name="Text 35"/>
          <p:cNvSpPr/>
          <p:nvPr/>
        </p:nvSpPr>
        <p:spPr>
          <a:xfrm>
            <a:off x="4638675" y="2472333"/>
            <a:ext cx="4124325" cy="487561"/>
          </a:xfrm>
          <a:prstGeom prst="roundRect">
            <a:avLst>
              <a:gd name="adj" fmla="val 9768"/>
            </a:avLst>
          </a:prstGeom>
          <a:solidFill>
            <a:srgbClr val="F8F8F8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8" name="Shape 36"/>
          <p:cNvSpPr/>
          <p:nvPr/>
        </p:nvSpPr>
        <p:spPr>
          <a:xfrm>
            <a:off x="4652963" y="2472333"/>
            <a:ext cx="0" cy="487561"/>
          </a:xfrm>
          <a:prstGeom prst="line">
            <a:avLst/>
          </a:prstGeom>
          <a:noFill/>
          <a:ln w="28575">
            <a:solidFill>
              <a:srgbClr val="99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/>
          <p:nvPr/>
        </p:nvSpPr>
        <p:spPr>
          <a:xfrm>
            <a:off x="4762500" y="2567583"/>
            <a:ext cx="3983355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00"/>
              </a:lnSpc>
              <a:spcAft>
                <a:spcPts val="300"/>
              </a:spcAft>
              <a:buNone/>
            </a:pPr>
            <a:r>
              <a:rPr lang="en-US" sz="750" b="1" dirty="0">
                <a:solidFill>
                  <a:srgbClr val="9900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9. 3+ LANGUAGE MIXING</a:t>
            </a:r>
            <a:endParaRPr lang="en-US" sz="750" dirty="0"/>
          </a:p>
        </p:txBody>
      </p:sp>
      <p:sp>
        <p:nvSpPr>
          <p:cNvPr id="40" name="Text 38"/>
          <p:cNvSpPr/>
          <p:nvPr/>
        </p:nvSpPr>
        <p:spPr>
          <a:xfrm>
            <a:off x="4762500" y="2719983"/>
            <a:ext cx="3983355" cy="106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84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6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Handle conversations with multiple non-English langs</a:t>
            </a:r>
            <a:endParaRPr lang="en-US" sz="600" dirty="0"/>
          </a:p>
        </p:txBody>
      </p:sp>
      <p:sp>
        <p:nvSpPr>
          <p:cNvPr id="41" name="Text 39"/>
          <p:cNvSpPr/>
          <p:nvPr/>
        </p:nvSpPr>
        <p:spPr>
          <a:xfrm>
            <a:off x="4638675" y="3017044"/>
            <a:ext cx="4124325" cy="487561"/>
          </a:xfrm>
          <a:prstGeom prst="roundRect">
            <a:avLst>
              <a:gd name="adj" fmla="val 9768"/>
            </a:avLst>
          </a:prstGeom>
          <a:solidFill>
            <a:srgbClr val="F8F8F8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2" name="Shape 40"/>
          <p:cNvSpPr/>
          <p:nvPr/>
        </p:nvSpPr>
        <p:spPr>
          <a:xfrm>
            <a:off x="4652963" y="3017044"/>
            <a:ext cx="0" cy="487561"/>
          </a:xfrm>
          <a:prstGeom prst="line">
            <a:avLst/>
          </a:prstGeom>
          <a:noFill/>
          <a:ln w="28575">
            <a:solidFill>
              <a:srgbClr val="99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Text 41"/>
          <p:cNvSpPr/>
          <p:nvPr/>
        </p:nvSpPr>
        <p:spPr>
          <a:xfrm>
            <a:off x="4762500" y="3112294"/>
            <a:ext cx="3983355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00"/>
              </a:lnSpc>
              <a:spcAft>
                <a:spcPts val="300"/>
              </a:spcAft>
              <a:buNone/>
            </a:pPr>
            <a:r>
              <a:rPr lang="en-US" sz="750" b="1" dirty="0">
                <a:solidFill>
                  <a:srgbClr val="9900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10. INTERPRETABILITY</a:t>
            </a:r>
            <a:endParaRPr lang="en-US" sz="750" dirty="0"/>
          </a:p>
        </p:txBody>
      </p:sp>
      <p:sp>
        <p:nvSpPr>
          <p:cNvPr id="44" name="Text 42"/>
          <p:cNvSpPr/>
          <p:nvPr/>
        </p:nvSpPr>
        <p:spPr>
          <a:xfrm>
            <a:off x="4762500" y="3264694"/>
            <a:ext cx="3983355" cy="106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84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6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Analyze which attention heads detect code-switches</a:t>
            </a:r>
            <a:endParaRPr lang="en-US" sz="600" dirty="0"/>
          </a:p>
        </p:txBody>
      </p:sp>
      <p:sp>
        <p:nvSpPr>
          <p:cNvPr id="45" name="Text 43"/>
          <p:cNvSpPr/>
          <p:nvPr/>
        </p:nvSpPr>
        <p:spPr>
          <a:xfrm>
            <a:off x="381000" y="4299645"/>
            <a:ext cx="8382000" cy="348555"/>
          </a:xfrm>
          <a:prstGeom prst="roundRect">
            <a:avLst>
              <a:gd name="adj" fmla="val 10931"/>
            </a:avLst>
          </a:prstGeom>
          <a:solidFill>
            <a:srgbClr val="E8F4E8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6" name="Shape 44"/>
          <p:cNvSpPr/>
          <p:nvPr/>
        </p:nvSpPr>
        <p:spPr>
          <a:xfrm>
            <a:off x="400050" y="4299645"/>
            <a:ext cx="0" cy="348555"/>
          </a:xfrm>
          <a:prstGeom prst="line">
            <a:avLst/>
          </a:prstGeom>
          <a:noFill/>
          <a:ln w="38100">
            <a:solidFill>
              <a:srgbClr val="19875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7" name="Text 45"/>
          <p:cNvSpPr/>
          <p:nvPr/>
        </p:nvSpPr>
        <p:spPr>
          <a:xfrm>
            <a:off x="495300" y="4413945"/>
            <a:ext cx="8355330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45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675" b="1" dirty="0">
                <a:solidFill>
                  <a:srgbClr val="1557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Goal:</a:t>
            </a:r>
            <a:r>
              <a:rPr lang="en-US" sz="675" dirty="0">
                <a:solidFill>
                  <a:srgbClr val="1557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Make code-mixed NLP as robust as monolingual NLP</a:t>
            </a:r>
            <a:endParaRPr lang="en-US" sz="675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304800"/>
            <a:ext cx="428453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800" b="1" dirty="0">
                <a:solidFill>
                  <a:srgbClr val="011F5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Conclusion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381000" y="571500"/>
            <a:ext cx="1714500" cy="38100"/>
          </a:xfrm>
          <a:prstGeom prst="rect">
            <a:avLst/>
          </a:prstGeom>
          <a:solidFill>
            <a:srgbClr val="99000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381000" y="1276350"/>
            <a:ext cx="4105275" cy="611386"/>
          </a:xfrm>
          <a:prstGeom prst="roundRect">
            <a:avLst>
              <a:gd name="adj" fmla="val 9348"/>
            </a:avLst>
          </a:prstGeom>
          <a:solidFill>
            <a:srgbClr val="F8F8F8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Shape 3"/>
          <p:cNvSpPr/>
          <p:nvPr/>
        </p:nvSpPr>
        <p:spPr>
          <a:xfrm>
            <a:off x="381000" y="1290638"/>
            <a:ext cx="4105275" cy="0"/>
          </a:xfrm>
          <a:prstGeom prst="line">
            <a:avLst/>
          </a:prstGeom>
          <a:noFill/>
          <a:ln w="28575">
            <a:solidFill>
              <a:srgbClr val="011F5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495300" y="1419225"/>
            <a:ext cx="3954209" cy="1256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90"/>
              </a:lnSpc>
              <a:spcAft>
                <a:spcPts val="450"/>
              </a:spcAft>
              <a:buNone/>
            </a:pPr>
            <a:r>
              <a:rPr lang="en-US" sz="825" b="1" dirty="0">
                <a:solidFill>
                  <a:srgbClr val="011F5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PROPOSED</a:t>
            </a:r>
            <a:endParaRPr lang="en-US" sz="825" dirty="0"/>
          </a:p>
        </p:txBody>
      </p:sp>
      <p:sp>
        <p:nvSpPr>
          <p:cNvPr id="7" name="Text 5"/>
          <p:cNvSpPr/>
          <p:nvPr/>
        </p:nvSpPr>
        <p:spPr>
          <a:xfrm>
            <a:off x="495300" y="1601986"/>
            <a:ext cx="3954209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7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CSCL - curriculum learning ordered by CMI, easy to hard.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381000" y="1963936"/>
            <a:ext cx="4105275" cy="1354336"/>
          </a:xfrm>
          <a:prstGeom prst="roundRect">
            <a:avLst>
              <a:gd name="adj" fmla="val 4220"/>
            </a:avLst>
          </a:prstGeom>
          <a:solidFill>
            <a:srgbClr val="F8F8F8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9" name="Shape 7"/>
          <p:cNvSpPr/>
          <p:nvPr/>
        </p:nvSpPr>
        <p:spPr>
          <a:xfrm>
            <a:off x="381000" y="1978223"/>
            <a:ext cx="4105275" cy="0"/>
          </a:xfrm>
          <a:prstGeom prst="line">
            <a:avLst/>
          </a:prstGeom>
          <a:noFill/>
          <a:ln w="28575">
            <a:solidFill>
              <a:srgbClr val="99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95300" y="2106811"/>
            <a:ext cx="3954209" cy="1256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90"/>
              </a:lnSpc>
              <a:spcAft>
                <a:spcPts val="450"/>
              </a:spcAft>
              <a:buNone/>
            </a:pPr>
            <a:r>
              <a:rPr lang="en-US" sz="825" b="1" dirty="0">
                <a:solidFill>
                  <a:srgbClr val="9900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KEY RESULTS</a:t>
            </a:r>
            <a:endParaRPr lang="en-US" sz="825" dirty="0"/>
          </a:p>
        </p:txBody>
      </p:sp>
      <p:sp>
        <p:nvSpPr>
          <p:cNvPr id="11" name="Text 9"/>
          <p:cNvSpPr/>
          <p:nvPr/>
        </p:nvSpPr>
        <p:spPr>
          <a:xfrm>
            <a:off x="495300" y="2289572"/>
            <a:ext cx="3954209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50% better than GPT-4.1 in-domain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495300" y="2594372"/>
            <a:ext cx="3954209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16% better zero-shot on unseen Hindi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495300" y="2899172"/>
            <a:ext cx="3954209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0.353 in-domain = 0.355 zero-shot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381000" y="3394472"/>
            <a:ext cx="4105275" cy="688026"/>
          </a:xfrm>
          <a:prstGeom prst="roundRect">
            <a:avLst>
              <a:gd name="adj" fmla="val 3232"/>
            </a:avLst>
          </a:prstGeom>
          <a:solidFill>
            <a:srgbClr val="F8F8F8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495300" y="3508772"/>
            <a:ext cx="3954209" cy="1256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90"/>
              </a:lnSpc>
              <a:spcAft>
                <a:spcPts val="450"/>
              </a:spcAft>
              <a:buNone/>
            </a:pPr>
            <a:r>
              <a:rPr lang="en-US" sz="825" b="1" dirty="0">
                <a:solidFill>
                  <a:srgbClr val="011F5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CONTRIBUTION</a:t>
            </a:r>
            <a:endParaRPr lang="en-US" sz="825" dirty="0"/>
          </a:p>
        </p:txBody>
      </p:sp>
      <p:sp>
        <p:nvSpPr>
          <p:cNvPr id="16" name="Text 14"/>
          <p:cNvSpPr/>
          <p:nvPr/>
        </p:nvSpPr>
        <p:spPr>
          <a:xfrm>
            <a:off x="495300" y="3691533"/>
            <a:ext cx="3954209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7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Curriculum enables cross-lingual transfer without target data.</a:t>
            </a:r>
            <a:endParaRPr lang="en-US" sz="750" dirty="0"/>
          </a:p>
        </p:txBody>
      </p:sp>
      <p:sp>
        <p:nvSpPr>
          <p:cNvPr id="17" name="Text 15"/>
          <p:cNvSpPr/>
          <p:nvPr/>
        </p:nvSpPr>
        <p:spPr>
          <a:xfrm>
            <a:off x="4657725" y="1276350"/>
            <a:ext cx="4105275" cy="716161"/>
          </a:xfrm>
          <a:prstGeom prst="roundRect">
            <a:avLst>
              <a:gd name="adj" fmla="val 7980"/>
            </a:avLst>
          </a:prstGeom>
          <a:solidFill>
            <a:srgbClr val="F8F8F8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8" name="Shape 16"/>
          <p:cNvSpPr/>
          <p:nvPr/>
        </p:nvSpPr>
        <p:spPr>
          <a:xfrm>
            <a:off x="4676775" y="1276350"/>
            <a:ext cx="0" cy="716161"/>
          </a:xfrm>
          <a:prstGeom prst="line">
            <a:avLst/>
          </a:prstGeom>
          <a:noFill/>
          <a:ln w="38100">
            <a:solidFill>
              <a:srgbClr val="FFC10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4810125" y="1390650"/>
            <a:ext cx="3915347" cy="1256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90"/>
              </a:lnSpc>
              <a:spcAft>
                <a:spcPts val="450"/>
              </a:spcAft>
              <a:buNone/>
            </a:pPr>
            <a:r>
              <a:rPr lang="en-US" sz="825" b="1" dirty="0">
                <a:solidFill>
                  <a:srgbClr val="997A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LIMITATIONS</a:t>
            </a:r>
            <a:endParaRPr lang="en-US" sz="825" dirty="0"/>
          </a:p>
        </p:txBody>
      </p:sp>
      <p:sp>
        <p:nvSpPr>
          <p:cNvPr id="20" name="Text 18"/>
          <p:cNvSpPr/>
          <p:nvPr/>
        </p:nvSpPr>
        <p:spPr>
          <a:xfrm>
            <a:off x="4810125" y="1573411"/>
            <a:ext cx="3915347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Single run, automatic metrics, English output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4657725" y="2068711"/>
            <a:ext cx="4105275" cy="716161"/>
          </a:xfrm>
          <a:prstGeom prst="roundRect">
            <a:avLst>
              <a:gd name="adj" fmla="val 7980"/>
            </a:avLst>
          </a:prstGeom>
          <a:solidFill>
            <a:srgbClr val="F8F8F8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4772025" y="2183011"/>
            <a:ext cx="3954209" cy="1256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90"/>
              </a:lnSpc>
              <a:spcAft>
                <a:spcPts val="450"/>
              </a:spcAft>
              <a:buNone/>
            </a:pPr>
            <a:r>
              <a:rPr lang="en-US" sz="825" b="1" dirty="0">
                <a:solidFill>
                  <a:srgbClr val="011F5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FUTURE</a:t>
            </a:r>
            <a:endParaRPr lang="en-US" sz="825" dirty="0"/>
          </a:p>
        </p:txBody>
      </p:sp>
      <p:sp>
        <p:nvSpPr>
          <p:cNvPr id="23" name="Text 21"/>
          <p:cNvSpPr/>
          <p:nvPr/>
        </p:nvSpPr>
        <p:spPr>
          <a:xfrm>
            <a:off x="4772025" y="2365772"/>
            <a:ext cx="3954209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More languages, human eval, other tasks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4657725" y="2918222"/>
            <a:ext cx="4105275" cy="682377"/>
          </a:xfrm>
          <a:prstGeom prst="roundRect">
            <a:avLst>
              <a:gd name="adj" fmla="val 3177"/>
            </a:avLst>
          </a:prstGeom>
          <a:solidFill>
            <a:srgbClr val="99000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5" name="Text 23"/>
          <p:cNvSpPr/>
          <p:nvPr/>
        </p:nvSpPr>
        <p:spPr>
          <a:xfrm>
            <a:off x="4733258" y="3210818"/>
            <a:ext cx="3954209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155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82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NLP for 1.5B+ multilingual speakers</a:t>
            </a:r>
            <a:endParaRPr lang="en-US" sz="825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58</TotalTime>
  <Words>3900</Words>
  <Application>Microsoft Office PowerPoint</Application>
  <PresentationFormat>On-screen Show (16:9)</PresentationFormat>
  <Paragraphs>785</Paragraphs>
  <Slides>35</Slides>
  <Notes>35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35</vt:i4>
      </vt:variant>
    </vt:vector>
  </HeadingPairs>
  <TitlesOfParts>
    <vt:vector size="38" baseType="lpstr">
      <vt:lpstr>Arial</vt:lpstr>
      <vt:lpstr>Georgia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CSCL: Code-Switching Curriculum Learning</dc:title>
  <dc:subject>CIS 5300 Final Project - University of Pennsylvania</dc:subject>
  <dc:creator>Prednya Ramesh et al.</dc:creator>
  <cp:lastModifiedBy>Prednya Ramesh</cp:lastModifiedBy>
  <cp:revision>2</cp:revision>
  <dcterms:created xsi:type="dcterms:W3CDTF">2025-12-15T04:28:20Z</dcterms:created>
  <dcterms:modified xsi:type="dcterms:W3CDTF">2025-12-16T03:14:45Z</dcterms:modified>
</cp:coreProperties>
</file>