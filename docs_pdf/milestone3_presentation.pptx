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122" d="100"/>
          <a:sy n="122" d="100"/>
        </p:scale>
        <p:origin x="220"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3852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my presentation on Universal Code-Mixed Conversation Summarization. Today I'll present my term project exploring whether we can build a single model that summarizes conversations in ANY language pair, even ones it has never seen.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a real example. This is Hinglish - Hindi mixed with English, spoken by 350 million people. Notice languages switch WITHIN sentences. The model needs to understand BOTH languages to generate a clean English summary.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Formally: we have multi-turn conversations where utterances may mix languages. Our task is generating concise English summaries. The challenge is intra-sentential switching. With 2,450+ possible language pairs, this is a massive problem.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Real-world impact - 1 billion code-mix daily. Unsolved challenge - no system handles arbitrary pairs. Novel research question - no prior zero-shot work. Practical deployment - train once, deploy everywhere.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connects to CIS 5300: seq2seq models, transfer learning extended to code-mixed text, and LLM fine-tuning with LoRA. Our findings align with the CoT paper showing abilities transfer across languages.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ROUGE-L measures longest common subsequence overlap. BERTScore captures semantic similarity. Transfer Rate = Zero-Shot / In-Domain x 100. Over 100% means better performance on unseen languages - which we achieved!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Baselines: Lead-3 gets 0.15-0.20 ROUGE-L. mT5-base failed with 0.06. Our strong baseline mBART-50 achieved 0.321 in-domain with 102% transfer. The mT5 failure motivated exploring decoder-only LLMs.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Prior work gap: CS-SUM trains separate models per pair. DialogSum is English-only. XLSum handles only monolingual input. No one has explored zero-shot transfer for code-mixed summarization - that's our contribution.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extension: train on 3 language pairs, test on 3 UNSEEN pairs. Compare encoder-decoder vs decoder-only architectures. Hypothesis: if code-mixing is universal, models should learn language-agnostic summarization.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models: mT5-base (580M), mBART-50 (611M) with full fine-tuning; Llama-3.2-3B and Llama-3.1-8B with LoRA. LoRA trains only 0.1% of parameters - memory efficient for large models.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results: mT5 failed. mBART achieved 102% transfer. Llama-3.2-3B achieved 147% transfer - performing 47% BETTER on unseen languages! Llama-3.1-8B achieved 103% with highest consistency.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Transfer rates: 147% for Llama-3.2-3B is remarkable. The model performs BETTER on languages it never trained on, suggesting it learned language-agnostic summarization patterns.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it work? Models learned language-AGNOSTIC patterns, not language-specific rules. Three factors: multilingual pre-training, universal code-mixing patterns, and English as consistent anchor.</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only 3 zero-shot pairs tested, no human evaluation, single training runs. Future work: expand to 15+ pairs, human evaluation, ablation studies, error analysis.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Zero-shot transfer WORKS. 103-147% transfer rates. Decoder-only beats encoder-decoder. Train on 3 pairs, deploy on 2,450+ pairs. Code available as 2 Colab notebooks.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60679" y="1510687"/>
            <a:ext cx="7422642" cy="323850"/>
          </a:xfrm>
          <a:prstGeom prst="rect">
            <a:avLst/>
          </a:prstGeom>
          <a:noFill/>
          <a:ln/>
        </p:spPr>
        <p:txBody>
          <a:bodyPr wrap="square" lIns="0" tIns="0" rIns="0" bIns="0" rtlCol="0" anchor="t"/>
          <a:lstStyle/>
          <a:p>
            <a:pPr marL="0" indent="0" algn="ctr">
              <a:lnSpc>
                <a:spcPts val="2550"/>
              </a:lnSpc>
              <a:spcAft>
                <a:spcPts val="900"/>
              </a:spcAft>
              <a:buNone/>
            </a:pPr>
            <a:r>
              <a:rPr lang="en-US" sz="2550" b="1" dirty="0">
                <a:solidFill>
                  <a:srgbClr val="FFFFFF"/>
                </a:solidFill>
                <a:latin typeface="Georgia" pitchFamily="34" charset="0"/>
                <a:ea typeface="Georgia" pitchFamily="34" charset="-122"/>
                <a:cs typeface="Georgia" pitchFamily="34" charset="-120"/>
              </a:rPr>
              <a:t>Universal Code-Mixed Conversation Summarization</a:t>
            </a:r>
            <a:endParaRPr lang="en-US" sz="2550" dirty="0"/>
          </a:p>
        </p:txBody>
      </p:sp>
      <p:sp>
        <p:nvSpPr>
          <p:cNvPr id="3" name="Text 1"/>
          <p:cNvSpPr/>
          <p:nvPr/>
        </p:nvSpPr>
        <p:spPr>
          <a:xfrm>
            <a:off x="1531809" y="2322018"/>
            <a:ext cx="6080233" cy="232767"/>
          </a:xfrm>
          <a:prstGeom prst="rect">
            <a:avLst/>
          </a:prstGeom>
          <a:noFill/>
          <a:ln/>
        </p:spPr>
        <p:txBody>
          <a:bodyPr wrap="square" lIns="0" tIns="0" rIns="0" bIns="0" rtlCol="0" anchor="t"/>
          <a:lstStyle/>
          <a:p>
            <a:pPr marL="0" indent="0" algn="ctr">
              <a:lnSpc>
                <a:spcPts val="1833"/>
              </a:lnSpc>
              <a:spcAft>
                <a:spcPts val="1500"/>
              </a:spcAft>
              <a:buNone/>
            </a:pPr>
            <a:r>
              <a:rPr lang="en-US" sz="1650" b="1" dirty="0">
                <a:solidFill>
                  <a:srgbClr val="4ECDC4"/>
                </a:solidFill>
                <a:latin typeface="Arial" pitchFamily="34" charset="0"/>
                <a:ea typeface="Arial" pitchFamily="34" charset="-122"/>
                <a:cs typeface="Arial" pitchFamily="34" charset="-120"/>
              </a:rPr>
              <a:t>Zero-Shot Cross-Lingual Transfer for Multilingual Dialogues</a:t>
            </a:r>
            <a:endParaRPr lang="en-US" sz="1650" dirty="0"/>
          </a:p>
        </p:txBody>
      </p:sp>
      <p:sp>
        <p:nvSpPr>
          <p:cNvPr id="4" name="Text 2"/>
          <p:cNvSpPr/>
          <p:nvPr/>
        </p:nvSpPr>
        <p:spPr>
          <a:xfrm>
            <a:off x="3154753" y="2821484"/>
            <a:ext cx="2834345" cy="213271"/>
          </a:xfrm>
          <a:prstGeom prst="rect">
            <a:avLst/>
          </a:prstGeom>
          <a:noFill/>
          <a:ln/>
        </p:spPr>
        <p:txBody>
          <a:bodyPr wrap="square" lIns="0" tIns="0" rIns="0" bIns="0" rtlCol="0" anchor="t"/>
          <a:lstStyle/>
          <a:p>
            <a:pPr marL="0" indent="0" algn="ctr">
              <a:lnSpc>
                <a:spcPts val="1680"/>
              </a:lnSpc>
              <a:spcBef>
                <a:spcPts val="300"/>
              </a:spcBef>
              <a:spcAft>
                <a:spcPts val="300"/>
              </a:spcAft>
              <a:buNone/>
            </a:pPr>
            <a:r>
              <a:rPr lang="en-US" sz="1200" dirty="0">
                <a:solidFill>
                  <a:srgbClr val="FFFFFF"/>
                </a:solidFill>
                <a:latin typeface="Arial" pitchFamily="34" charset="0"/>
                <a:ea typeface="Arial" pitchFamily="34" charset="-122"/>
                <a:cs typeface="Arial" pitchFamily="34" charset="-120"/>
              </a:rPr>
              <a:t>CIS 5300 - Natural Language Processing</a:t>
            </a:r>
            <a:endParaRPr lang="en-US" sz="1200" dirty="0"/>
          </a:p>
        </p:txBody>
      </p:sp>
      <p:sp>
        <p:nvSpPr>
          <p:cNvPr id="5" name="Text 3"/>
          <p:cNvSpPr/>
          <p:nvPr/>
        </p:nvSpPr>
        <p:spPr>
          <a:xfrm>
            <a:off x="2820739" y="3301454"/>
            <a:ext cx="3502371" cy="282994"/>
          </a:xfrm>
          <a:prstGeom prst="rect">
            <a:avLst/>
          </a:prstGeom>
          <a:noFill/>
          <a:ln/>
        </p:spPr>
        <p:txBody>
          <a:bodyPr wrap="square" lIns="0" tIns="0" rIns="0" bIns="0" rtlCol="0" anchor="t"/>
          <a:lstStyle/>
          <a:p>
            <a:pPr marL="0" indent="0" algn="ctr">
              <a:lnSpc>
                <a:spcPts val="1470"/>
              </a:lnSpc>
              <a:spcBef>
                <a:spcPts val="600"/>
              </a:spcBef>
              <a:spcAft>
                <a:spcPts val="300"/>
              </a:spcAft>
              <a:buNone/>
            </a:pPr>
            <a:r>
              <a:rPr lang="en-US" sz="1050" dirty="0">
                <a:solidFill>
                  <a:srgbClr val="FFFFFF"/>
                </a:solidFill>
                <a:latin typeface="Arial" pitchFamily="34" charset="0"/>
                <a:ea typeface="Arial" pitchFamily="34" charset="-122"/>
                <a:cs typeface="Arial" pitchFamily="34" charset="-120"/>
              </a:rPr>
              <a:t>Akira Nair | Aneesh Edara | Prednya Ramesh | Ricky Raup December 2025</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5285232"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Illustrative Example: A Real Conversation</a:t>
            </a:r>
            <a:endParaRPr lang="en-US" sz="2250" dirty="0"/>
          </a:p>
        </p:txBody>
      </p:sp>
      <p:sp>
        <p:nvSpPr>
          <p:cNvPr id="3" name="Text 1"/>
          <p:cNvSpPr/>
          <p:nvPr/>
        </p:nvSpPr>
        <p:spPr>
          <a:xfrm>
            <a:off x="381000" y="1961257"/>
            <a:ext cx="4252913" cy="1887587"/>
          </a:xfrm>
          <a:prstGeom prst="roundRect">
            <a:avLst>
              <a:gd name="adj" fmla="val 4037"/>
            </a:avLst>
          </a:prstGeom>
          <a:solidFill>
            <a:srgbClr val="F8F9FA"/>
          </a:solidFill>
          <a:ln/>
        </p:spPr>
        <p:txBody>
          <a:bodyPr wrap="square" rtlCol="0" anchor="ctr"/>
          <a:lstStyle/>
          <a:p>
            <a:pPr marL="0" indent="0">
              <a:buNone/>
            </a:pPr>
            <a:endParaRPr lang="en-US" dirty="0"/>
          </a:p>
        </p:txBody>
      </p:sp>
      <p:sp>
        <p:nvSpPr>
          <p:cNvPr id="4" name="Shape 2"/>
          <p:cNvSpPr/>
          <p:nvPr/>
        </p:nvSpPr>
        <p:spPr>
          <a:xfrm>
            <a:off x="404813" y="1961257"/>
            <a:ext cx="0" cy="1887587"/>
          </a:xfrm>
          <a:prstGeom prst="line">
            <a:avLst/>
          </a:prstGeom>
          <a:noFill/>
          <a:ln w="47625">
            <a:solidFill>
              <a:srgbClr val="4ECDC4"/>
            </a:solidFill>
            <a:prstDash val="solid"/>
          </a:ln>
        </p:spPr>
        <p:txBody>
          <a:bodyPr/>
          <a:lstStyle/>
          <a:p>
            <a:endParaRPr lang="en-US"/>
          </a:p>
        </p:txBody>
      </p:sp>
      <p:sp>
        <p:nvSpPr>
          <p:cNvPr id="5" name="Text 3"/>
          <p:cNvSpPr/>
          <p:nvPr/>
        </p:nvSpPr>
        <p:spPr>
          <a:xfrm>
            <a:off x="581025" y="2151757"/>
            <a:ext cx="3978497" cy="146596"/>
          </a:xfrm>
          <a:prstGeom prst="rect">
            <a:avLst/>
          </a:prstGeom>
          <a:noFill/>
          <a:ln/>
        </p:spPr>
        <p:txBody>
          <a:bodyPr wrap="square" lIns="0" tIns="0" rIns="0" bIns="0" rtlCol="0" anchor="t"/>
          <a:lstStyle/>
          <a:p>
            <a:pPr marL="0" indent="0" algn="l">
              <a:lnSpc>
                <a:spcPts val="1155"/>
              </a:lnSpc>
              <a:spcBef>
                <a:spcPts val="300"/>
              </a:spcBef>
              <a:spcAft>
                <a:spcPts val="750"/>
              </a:spcAft>
              <a:buNone/>
            </a:pPr>
            <a:r>
              <a:rPr lang="en-US" sz="825" b="1" dirty="0">
                <a:solidFill>
                  <a:srgbClr val="6C757D"/>
                </a:solidFill>
                <a:latin typeface="Arial" pitchFamily="34" charset="0"/>
                <a:ea typeface="Arial" pitchFamily="34" charset="-122"/>
                <a:cs typeface="Arial" pitchFamily="34" charset="-120"/>
              </a:rPr>
              <a:t>HINGLISH CONVERSATION (Hindi + English)</a:t>
            </a:r>
            <a:endParaRPr lang="en-US" sz="825" dirty="0"/>
          </a:p>
        </p:txBody>
      </p:sp>
      <p:sp>
        <p:nvSpPr>
          <p:cNvPr id="6" name="Text 4"/>
          <p:cNvSpPr/>
          <p:nvPr/>
        </p:nvSpPr>
        <p:spPr>
          <a:xfrm>
            <a:off x="581025" y="2393603"/>
            <a:ext cx="3978497" cy="159990"/>
          </a:xfrm>
          <a:prstGeom prst="rect">
            <a:avLst/>
          </a:prstGeom>
          <a:noFill/>
          <a:ln/>
        </p:spPr>
        <p:txBody>
          <a:bodyPr wrap="square" lIns="0" tIns="0" rIns="0" bIns="0" rtlCol="0" anchor="t"/>
          <a:lstStyle/>
          <a:p>
            <a:pPr marL="0" indent="0" algn="l">
              <a:lnSpc>
                <a:spcPts val="1260"/>
              </a:lnSpc>
              <a:spcBef>
                <a:spcPts val="450"/>
              </a:spcBef>
              <a:spcAft>
                <a:spcPts val="450"/>
              </a:spcAft>
              <a:buNone/>
            </a:pPr>
            <a:r>
              <a:rPr lang="en-US" sz="900" b="1" dirty="0">
                <a:solidFill>
                  <a:srgbClr val="1D1D1D"/>
                </a:solidFill>
                <a:latin typeface="Courier New" pitchFamily="34" charset="0"/>
                <a:ea typeface="Courier New" pitchFamily="34" charset="-122"/>
                <a:cs typeface="Courier New" pitchFamily="34" charset="-120"/>
              </a:rPr>
              <a:t>Rahul:</a:t>
            </a:r>
            <a:r>
              <a:rPr lang="en-US" sz="900" dirty="0">
                <a:solidFill>
                  <a:srgbClr val="1D1D1D"/>
                </a:solidFill>
                <a:latin typeface="Courier New" pitchFamily="34" charset="0"/>
                <a:ea typeface="Courier New" pitchFamily="34" charset="-122"/>
                <a:cs typeface="Courier New" pitchFamily="34" charset="-120"/>
              </a:rPr>
              <a:t> Yaar, kal ka meeting kaisa tha?</a:t>
            </a:r>
            <a:endParaRPr lang="en-US" sz="900" dirty="0"/>
          </a:p>
        </p:txBody>
      </p:sp>
      <p:sp>
        <p:nvSpPr>
          <p:cNvPr id="7" name="Text 5"/>
          <p:cNvSpPr/>
          <p:nvPr/>
        </p:nvSpPr>
        <p:spPr>
          <a:xfrm>
            <a:off x="581025" y="2610743"/>
            <a:ext cx="3978497" cy="159990"/>
          </a:xfrm>
          <a:prstGeom prst="rect">
            <a:avLst/>
          </a:prstGeom>
          <a:noFill/>
          <a:ln/>
        </p:spPr>
        <p:txBody>
          <a:bodyPr wrap="square" lIns="0" tIns="0" rIns="0" bIns="0" rtlCol="0" anchor="t"/>
          <a:lstStyle/>
          <a:p>
            <a:pPr marL="0" indent="0" algn="l">
              <a:lnSpc>
                <a:spcPts val="1260"/>
              </a:lnSpc>
              <a:spcBef>
                <a:spcPts val="450"/>
              </a:spcBef>
              <a:spcAft>
                <a:spcPts val="450"/>
              </a:spcAft>
              <a:buNone/>
            </a:pPr>
            <a:r>
              <a:rPr lang="en-US" sz="900" b="1" dirty="0">
                <a:solidFill>
                  <a:srgbClr val="1D1D1D"/>
                </a:solidFill>
                <a:latin typeface="Courier New" pitchFamily="34" charset="0"/>
                <a:ea typeface="Courier New" pitchFamily="34" charset="-122"/>
                <a:cs typeface="Courier New" pitchFamily="34" charset="-120"/>
              </a:rPr>
              <a:t>Priya:</a:t>
            </a:r>
            <a:r>
              <a:rPr lang="en-US" sz="900" dirty="0">
                <a:solidFill>
                  <a:srgbClr val="1D1D1D"/>
                </a:solidFill>
                <a:latin typeface="Courier New" pitchFamily="34" charset="0"/>
                <a:ea typeface="Courier New" pitchFamily="34" charset="-122"/>
                <a:cs typeface="Courier New" pitchFamily="34" charset="-120"/>
              </a:rPr>
              <a:t> It was so boring! 2 hours of nothing useful.</a:t>
            </a:r>
            <a:endParaRPr lang="en-US" sz="900" dirty="0"/>
          </a:p>
        </p:txBody>
      </p:sp>
      <p:sp>
        <p:nvSpPr>
          <p:cNvPr id="8" name="Text 6"/>
          <p:cNvSpPr/>
          <p:nvPr/>
        </p:nvSpPr>
        <p:spPr>
          <a:xfrm>
            <a:off x="581025" y="2827883"/>
            <a:ext cx="3978497" cy="159990"/>
          </a:xfrm>
          <a:prstGeom prst="rect">
            <a:avLst/>
          </a:prstGeom>
          <a:noFill/>
          <a:ln/>
        </p:spPr>
        <p:txBody>
          <a:bodyPr wrap="square" lIns="0" tIns="0" rIns="0" bIns="0" rtlCol="0" anchor="t"/>
          <a:lstStyle/>
          <a:p>
            <a:pPr marL="0" indent="0" algn="l">
              <a:lnSpc>
                <a:spcPts val="1260"/>
              </a:lnSpc>
              <a:spcBef>
                <a:spcPts val="450"/>
              </a:spcBef>
              <a:spcAft>
                <a:spcPts val="450"/>
              </a:spcAft>
              <a:buNone/>
            </a:pPr>
            <a:r>
              <a:rPr lang="en-US" sz="900" b="1" dirty="0">
                <a:solidFill>
                  <a:srgbClr val="1D1D1D"/>
                </a:solidFill>
                <a:latin typeface="Courier New" pitchFamily="34" charset="0"/>
                <a:ea typeface="Courier New" pitchFamily="34" charset="-122"/>
                <a:cs typeface="Courier New" pitchFamily="34" charset="-120"/>
              </a:rPr>
              <a:t>Rahul:</a:t>
            </a:r>
            <a:r>
              <a:rPr lang="en-US" sz="900" dirty="0">
                <a:solidFill>
                  <a:srgbClr val="1D1D1D"/>
                </a:solidFill>
                <a:latin typeface="Courier New" pitchFamily="34" charset="0"/>
                <a:ea typeface="Courier New" pitchFamily="34" charset="-122"/>
                <a:cs typeface="Courier New" pitchFamily="34" charset="-120"/>
              </a:rPr>
              <a:t> Same here. Kuch productive nahi hua.</a:t>
            </a:r>
            <a:endParaRPr lang="en-US" sz="900" dirty="0"/>
          </a:p>
        </p:txBody>
      </p:sp>
      <p:sp>
        <p:nvSpPr>
          <p:cNvPr id="9" name="Text 7"/>
          <p:cNvSpPr/>
          <p:nvPr/>
        </p:nvSpPr>
        <p:spPr>
          <a:xfrm>
            <a:off x="581025" y="3045023"/>
            <a:ext cx="3978497" cy="159990"/>
          </a:xfrm>
          <a:prstGeom prst="rect">
            <a:avLst/>
          </a:prstGeom>
          <a:noFill/>
          <a:ln/>
        </p:spPr>
        <p:txBody>
          <a:bodyPr wrap="square" lIns="0" tIns="0" rIns="0" bIns="0" rtlCol="0" anchor="t"/>
          <a:lstStyle/>
          <a:p>
            <a:pPr marL="0" indent="0" algn="l">
              <a:lnSpc>
                <a:spcPts val="1260"/>
              </a:lnSpc>
              <a:spcBef>
                <a:spcPts val="450"/>
              </a:spcBef>
              <a:spcAft>
                <a:spcPts val="450"/>
              </a:spcAft>
              <a:buNone/>
            </a:pPr>
            <a:r>
              <a:rPr lang="en-US" sz="900" b="1" dirty="0">
                <a:solidFill>
                  <a:srgbClr val="1D1D1D"/>
                </a:solidFill>
                <a:latin typeface="Courier New" pitchFamily="34" charset="0"/>
                <a:ea typeface="Courier New" pitchFamily="34" charset="-122"/>
                <a:cs typeface="Courier New" pitchFamily="34" charset="-120"/>
              </a:rPr>
              <a:t>Priya:</a:t>
            </a:r>
            <a:r>
              <a:rPr lang="en-US" sz="900" dirty="0">
                <a:solidFill>
                  <a:srgbClr val="1D1D1D"/>
                </a:solidFill>
                <a:latin typeface="Courier New" pitchFamily="34" charset="0"/>
                <a:ea typeface="Courier New" pitchFamily="34" charset="-122"/>
                <a:cs typeface="Courier New" pitchFamily="34" charset="-120"/>
              </a:rPr>
              <a:t> Lets grab chai after work? Need a break.</a:t>
            </a:r>
            <a:endParaRPr lang="en-US" sz="900" dirty="0"/>
          </a:p>
        </p:txBody>
      </p:sp>
      <p:sp>
        <p:nvSpPr>
          <p:cNvPr id="10" name="Text 8"/>
          <p:cNvSpPr/>
          <p:nvPr/>
        </p:nvSpPr>
        <p:spPr>
          <a:xfrm>
            <a:off x="581025" y="3262164"/>
            <a:ext cx="3978497" cy="159990"/>
          </a:xfrm>
          <a:prstGeom prst="rect">
            <a:avLst/>
          </a:prstGeom>
          <a:noFill/>
          <a:ln/>
        </p:spPr>
        <p:txBody>
          <a:bodyPr wrap="square" lIns="0" tIns="0" rIns="0" bIns="0" rtlCol="0" anchor="t"/>
          <a:lstStyle/>
          <a:p>
            <a:pPr marL="0" indent="0" algn="l">
              <a:lnSpc>
                <a:spcPts val="1260"/>
              </a:lnSpc>
              <a:spcBef>
                <a:spcPts val="450"/>
              </a:spcBef>
              <a:spcAft>
                <a:spcPts val="450"/>
              </a:spcAft>
              <a:buNone/>
            </a:pPr>
            <a:r>
              <a:rPr lang="en-US" sz="900" b="1" dirty="0">
                <a:solidFill>
                  <a:srgbClr val="1D1D1D"/>
                </a:solidFill>
                <a:latin typeface="Courier New" pitchFamily="34" charset="0"/>
                <a:ea typeface="Courier New" pitchFamily="34" charset="-122"/>
                <a:cs typeface="Courier New" pitchFamily="34" charset="-120"/>
              </a:rPr>
              <a:t>Rahul:</a:t>
            </a:r>
            <a:r>
              <a:rPr lang="en-US" sz="900" dirty="0">
                <a:solidFill>
                  <a:srgbClr val="1D1D1D"/>
                </a:solidFill>
                <a:latin typeface="Courier New" pitchFamily="34" charset="0"/>
                <a:ea typeface="Courier New" pitchFamily="34" charset="-122"/>
                <a:cs typeface="Courier New" pitchFamily="34" charset="-120"/>
              </a:rPr>
              <a:t> Sure! Office ke paas wala cafe chalega?</a:t>
            </a:r>
            <a:endParaRPr lang="en-US" sz="900" dirty="0"/>
          </a:p>
        </p:txBody>
      </p:sp>
      <p:sp>
        <p:nvSpPr>
          <p:cNvPr id="11" name="Text 9"/>
          <p:cNvSpPr/>
          <p:nvPr/>
        </p:nvSpPr>
        <p:spPr>
          <a:xfrm>
            <a:off x="581025" y="3479304"/>
            <a:ext cx="3978497" cy="159990"/>
          </a:xfrm>
          <a:prstGeom prst="rect">
            <a:avLst/>
          </a:prstGeom>
          <a:noFill/>
          <a:ln/>
        </p:spPr>
        <p:txBody>
          <a:bodyPr wrap="square" lIns="0" tIns="0" rIns="0" bIns="0" rtlCol="0" anchor="t"/>
          <a:lstStyle/>
          <a:p>
            <a:pPr marL="0" indent="0" algn="l">
              <a:lnSpc>
                <a:spcPts val="1260"/>
              </a:lnSpc>
              <a:spcBef>
                <a:spcPts val="450"/>
              </a:spcBef>
              <a:spcAft>
                <a:spcPts val="450"/>
              </a:spcAft>
              <a:buNone/>
            </a:pPr>
            <a:r>
              <a:rPr lang="en-US" sz="900" b="1" dirty="0">
                <a:solidFill>
                  <a:srgbClr val="1D1D1D"/>
                </a:solidFill>
                <a:latin typeface="Courier New" pitchFamily="34" charset="0"/>
                <a:ea typeface="Courier New" pitchFamily="34" charset="-122"/>
                <a:cs typeface="Courier New" pitchFamily="34" charset="-120"/>
              </a:rPr>
              <a:t>Priya:</a:t>
            </a:r>
            <a:r>
              <a:rPr lang="en-US" sz="900" dirty="0">
                <a:solidFill>
                  <a:srgbClr val="1D1D1D"/>
                </a:solidFill>
                <a:latin typeface="Courier New" pitchFamily="34" charset="0"/>
                <a:ea typeface="Courier New" pitchFamily="34" charset="-122"/>
                <a:cs typeface="Courier New" pitchFamily="34" charset="-120"/>
              </a:rPr>
              <a:t> Perfect, see you at 5!</a:t>
            </a:r>
            <a:endParaRPr lang="en-US" sz="900" dirty="0"/>
          </a:p>
        </p:txBody>
      </p:sp>
      <p:sp>
        <p:nvSpPr>
          <p:cNvPr id="12" name="Text 10"/>
          <p:cNvSpPr/>
          <p:nvPr/>
        </p:nvSpPr>
        <p:spPr>
          <a:xfrm>
            <a:off x="4862513" y="1534716"/>
            <a:ext cx="3900488" cy="984796"/>
          </a:xfrm>
          <a:prstGeom prst="roundRect">
            <a:avLst>
              <a:gd name="adj" fmla="val 7738"/>
            </a:avLst>
          </a:prstGeom>
          <a:solidFill>
            <a:srgbClr val="1A5276"/>
          </a:solidFill>
          <a:ln/>
        </p:spPr>
        <p:txBody>
          <a:bodyPr wrap="square" rtlCol="0" anchor="ctr"/>
          <a:lstStyle/>
          <a:p>
            <a:pPr marL="0" indent="0">
              <a:buNone/>
            </a:pPr>
            <a:endParaRPr lang="en-US" dirty="0"/>
          </a:p>
        </p:txBody>
      </p:sp>
      <p:sp>
        <p:nvSpPr>
          <p:cNvPr id="13" name="Text 11"/>
          <p:cNvSpPr/>
          <p:nvPr/>
        </p:nvSpPr>
        <p:spPr>
          <a:xfrm>
            <a:off x="5014913" y="1725216"/>
            <a:ext cx="3667601" cy="146596"/>
          </a:xfrm>
          <a:prstGeom prst="rect">
            <a:avLst/>
          </a:prstGeom>
          <a:noFill/>
          <a:ln/>
        </p:spPr>
        <p:txBody>
          <a:bodyPr wrap="square" lIns="0" tIns="0" rIns="0" bIns="0" rtlCol="0" anchor="t"/>
          <a:lstStyle/>
          <a:p>
            <a:pPr marL="0" indent="0" algn="l">
              <a:lnSpc>
                <a:spcPts val="1155"/>
              </a:lnSpc>
              <a:spcBef>
                <a:spcPts val="300"/>
              </a:spcBef>
              <a:spcAft>
                <a:spcPts val="450"/>
              </a:spcAft>
              <a:buNone/>
            </a:pPr>
            <a:r>
              <a:rPr lang="en-US" sz="825" dirty="0">
                <a:solidFill>
                  <a:srgbClr val="FFFFFF"/>
                </a:solidFill>
                <a:latin typeface="Arial" pitchFamily="34" charset="0"/>
                <a:ea typeface="Arial" pitchFamily="34" charset="-122"/>
                <a:cs typeface="Arial" pitchFamily="34" charset="-120"/>
              </a:rPr>
              <a:t>TASK: Generate English Summary</a:t>
            </a:r>
            <a:endParaRPr lang="en-US" sz="825" dirty="0"/>
          </a:p>
        </p:txBody>
      </p:sp>
      <p:sp>
        <p:nvSpPr>
          <p:cNvPr id="14" name="Text 12"/>
          <p:cNvSpPr/>
          <p:nvPr/>
        </p:nvSpPr>
        <p:spPr>
          <a:xfrm>
            <a:off x="5014913" y="1928961"/>
            <a:ext cx="3667601" cy="400050"/>
          </a:xfrm>
          <a:prstGeom prst="rect">
            <a:avLst/>
          </a:prstGeom>
          <a:noFill/>
          <a:ln/>
        </p:spPr>
        <p:txBody>
          <a:bodyPr wrap="square" lIns="0" tIns="0" rIns="0" bIns="0" rtlCol="0" anchor="t"/>
          <a:lstStyle/>
          <a:p>
            <a:pPr marL="0" indent="0" algn="l">
              <a:lnSpc>
                <a:spcPts val="1575"/>
              </a:lnSpc>
              <a:spcBef>
                <a:spcPts val="300"/>
              </a:spcBef>
              <a:spcAft>
                <a:spcPts val="300"/>
              </a:spcAft>
              <a:buNone/>
            </a:pPr>
            <a:r>
              <a:rPr lang="en-US" sz="1050" dirty="0">
                <a:solidFill>
                  <a:srgbClr val="FFFFFF"/>
                </a:solidFill>
                <a:latin typeface="Arial" pitchFamily="34" charset="0"/>
                <a:ea typeface="Arial" pitchFamily="34" charset="-122"/>
                <a:cs typeface="Arial" pitchFamily="34" charset="-120"/>
              </a:rPr>
              <a:t>Rahul and Priya both found their meeting unproductive. They plan to meet for tea at the cafe near the office at 5pm.</a:t>
            </a:r>
            <a:endParaRPr lang="en-US" sz="1050" dirty="0"/>
          </a:p>
        </p:txBody>
      </p:sp>
      <p:sp>
        <p:nvSpPr>
          <p:cNvPr id="15" name="Text 13"/>
          <p:cNvSpPr/>
          <p:nvPr/>
        </p:nvSpPr>
        <p:spPr>
          <a:xfrm>
            <a:off x="4862513" y="2671911"/>
            <a:ext cx="3900488" cy="891332"/>
          </a:xfrm>
          <a:prstGeom prst="roundRect">
            <a:avLst>
              <a:gd name="adj" fmla="val 8549"/>
            </a:avLst>
          </a:prstGeom>
          <a:solidFill>
            <a:srgbClr val="FEF9E7"/>
          </a:solidFill>
          <a:ln w="19050">
            <a:solidFill>
              <a:srgbClr val="F39C12"/>
            </a:solidFill>
          </a:ln>
        </p:spPr>
        <p:txBody>
          <a:bodyPr wrap="square" rtlCol="0" anchor="ctr"/>
          <a:lstStyle/>
          <a:p>
            <a:pPr marL="0" indent="0">
              <a:buNone/>
            </a:pPr>
            <a:endParaRPr lang="en-US" dirty="0"/>
          </a:p>
        </p:txBody>
      </p:sp>
      <p:sp>
        <p:nvSpPr>
          <p:cNvPr id="16" name="Text 14"/>
          <p:cNvSpPr/>
          <p:nvPr/>
        </p:nvSpPr>
        <p:spPr>
          <a:xfrm>
            <a:off x="5014913" y="2862411"/>
            <a:ext cx="3667601"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D1D1D"/>
                </a:solidFill>
                <a:latin typeface="Arial" pitchFamily="34" charset="0"/>
                <a:ea typeface="Arial" pitchFamily="34" charset="-122"/>
                <a:cs typeface="Arial" pitchFamily="34" charset="-120"/>
              </a:rPr>
              <a:t>Why is this hard?</a:t>
            </a:r>
            <a:endParaRPr lang="en-US" sz="900" dirty="0"/>
          </a:p>
        </p:txBody>
      </p:sp>
      <p:sp>
        <p:nvSpPr>
          <p:cNvPr id="17" name="Text 15"/>
          <p:cNvSpPr/>
          <p:nvPr/>
        </p:nvSpPr>
        <p:spPr>
          <a:xfrm>
            <a:off x="5014913" y="3079552"/>
            <a:ext cx="3667601"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6C757D"/>
                </a:solidFill>
                <a:latin typeface="Arial" pitchFamily="34" charset="0"/>
                <a:ea typeface="Arial" pitchFamily="34" charset="-122"/>
                <a:cs typeface="Arial" pitchFamily="34" charset="-120"/>
              </a:rPr>
              <a:t>Languages switch MID-SENTENCE. The model must understand BOTH languages and their interaction to produce a coherent summary.</a:t>
            </a:r>
            <a:endParaRPr lang="en-US" sz="825" dirty="0"/>
          </a:p>
        </p:txBody>
      </p:sp>
      <p:sp>
        <p:nvSpPr>
          <p:cNvPr id="18" name="Text 16"/>
          <p:cNvSpPr/>
          <p:nvPr/>
        </p:nvSpPr>
        <p:spPr>
          <a:xfrm>
            <a:off x="4862513" y="3677543"/>
            <a:ext cx="3900488" cy="597991"/>
          </a:xfrm>
          <a:prstGeom prst="roundRect">
            <a:avLst>
              <a:gd name="adj" fmla="val 12743"/>
            </a:avLst>
          </a:prstGeom>
          <a:solidFill>
            <a:srgbClr val="E8F6F3"/>
          </a:solidFill>
          <a:ln/>
        </p:spPr>
        <p:txBody>
          <a:bodyPr wrap="square" rtlCol="0" anchor="ctr"/>
          <a:lstStyle/>
          <a:p>
            <a:pPr marL="0" indent="0">
              <a:buNone/>
            </a:pPr>
            <a:endParaRPr lang="en-US" dirty="0"/>
          </a:p>
        </p:txBody>
      </p:sp>
      <p:sp>
        <p:nvSpPr>
          <p:cNvPr id="19" name="Text 17"/>
          <p:cNvSpPr/>
          <p:nvPr/>
        </p:nvSpPr>
        <p:spPr>
          <a:xfrm>
            <a:off x="4976813" y="3829943"/>
            <a:ext cx="3745325"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b="1" dirty="0">
                <a:solidFill>
                  <a:srgbClr val="1A5276"/>
                </a:solidFill>
                <a:latin typeface="Arial" pitchFamily="34" charset="0"/>
                <a:ea typeface="Arial" pitchFamily="34" charset="-122"/>
                <a:cs typeface="Arial" pitchFamily="34" charset="-120"/>
              </a:rPr>
              <a:t>Code-mixing:</a:t>
            </a:r>
            <a:r>
              <a:rPr lang="en-US" sz="825" dirty="0">
                <a:solidFill>
                  <a:srgbClr val="1A5276"/>
                </a:solidFill>
                <a:latin typeface="Arial" pitchFamily="34" charset="0"/>
                <a:ea typeface="Arial" pitchFamily="34" charset="-122"/>
                <a:cs typeface="Arial" pitchFamily="34" charset="-120"/>
              </a:rPr>
              <a:t> yaar (friend), kal (yesterday), nahi hua (did not happen), ke paas wala (the one near), chalega (will work)</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4284536"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Formal Problem Definition</a:t>
            </a:r>
            <a:endParaRPr lang="en-US" sz="2250" dirty="0"/>
          </a:p>
        </p:txBody>
      </p:sp>
      <p:sp>
        <p:nvSpPr>
          <p:cNvPr id="3" name="Text 1"/>
          <p:cNvSpPr/>
          <p:nvPr/>
        </p:nvSpPr>
        <p:spPr>
          <a:xfrm>
            <a:off x="381000" y="819150"/>
            <a:ext cx="8382000" cy="1259086"/>
          </a:xfrm>
          <a:prstGeom prst="roundRect">
            <a:avLst>
              <a:gd name="adj" fmla="val 6052"/>
            </a:avLst>
          </a:prstGeom>
          <a:solidFill>
            <a:srgbClr val="F8F9FA"/>
          </a:solidFill>
          <a:ln/>
        </p:spPr>
        <p:txBody>
          <a:bodyPr wrap="square" rtlCol="0" anchor="ctr"/>
          <a:lstStyle/>
          <a:p>
            <a:pPr marL="0" indent="0">
              <a:buNone/>
            </a:pPr>
            <a:endParaRPr lang="en-US" dirty="0"/>
          </a:p>
        </p:txBody>
      </p:sp>
      <p:sp>
        <p:nvSpPr>
          <p:cNvPr id="4" name="Text 2"/>
          <p:cNvSpPr/>
          <p:nvPr/>
        </p:nvSpPr>
        <p:spPr>
          <a:xfrm>
            <a:off x="533400" y="1009650"/>
            <a:ext cx="8238744" cy="173236"/>
          </a:xfrm>
          <a:prstGeom prst="rect">
            <a:avLst/>
          </a:prstGeom>
          <a:noFill/>
          <a:ln/>
        </p:spPr>
        <p:txBody>
          <a:bodyPr wrap="square" lIns="0" tIns="0" rIns="0" bIns="0" rtlCol="0" anchor="t"/>
          <a:lstStyle/>
          <a:p>
            <a:pPr marL="0" indent="0" algn="l">
              <a:lnSpc>
                <a:spcPts val="1365"/>
              </a:lnSpc>
              <a:spcBef>
                <a:spcPts val="300"/>
              </a:spcBef>
              <a:spcAft>
                <a:spcPts val="600"/>
              </a:spcAft>
              <a:buNone/>
            </a:pPr>
            <a:r>
              <a:rPr lang="en-US" sz="975" b="1" dirty="0">
                <a:solidFill>
                  <a:srgbClr val="1A5276"/>
                </a:solidFill>
                <a:latin typeface="Arial" pitchFamily="34" charset="0"/>
                <a:ea typeface="Arial" pitchFamily="34" charset="-122"/>
                <a:cs typeface="Arial" pitchFamily="34" charset="-120"/>
              </a:rPr>
              <a:t>Code-Mixed Conversation Summarization</a:t>
            </a:r>
            <a:endParaRPr lang="en-US" sz="975" dirty="0"/>
          </a:p>
        </p:txBody>
      </p:sp>
      <p:sp>
        <p:nvSpPr>
          <p:cNvPr id="5" name="Text 3"/>
          <p:cNvSpPr/>
          <p:nvPr/>
        </p:nvSpPr>
        <p:spPr>
          <a:xfrm>
            <a:off x="533400" y="1259086"/>
            <a:ext cx="8238744" cy="171450"/>
          </a:xfrm>
          <a:prstGeom prst="rect">
            <a:avLst/>
          </a:prstGeom>
          <a:noFill/>
          <a:ln/>
        </p:spPr>
        <p:txBody>
          <a:bodyPr wrap="square" lIns="0" tIns="0" rIns="0" bIns="0" rtlCol="0" anchor="t"/>
          <a:lstStyle/>
          <a:p>
            <a:pPr marL="0" indent="0" algn="l">
              <a:lnSpc>
                <a:spcPts val="1350"/>
              </a:lnSpc>
              <a:spcBef>
                <a:spcPts val="300"/>
              </a:spcBef>
              <a:spcAft>
                <a:spcPts val="300"/>
              </a:spcAft>
              <a:buNone/>
            </a:pPr>
            <a:r>
              <a:rPr lang="en-US" sz="900" b="1" dirty="0">
                <a:solidFill>
                  <a:srgbClr val="2C3E50"/>
                </a:solidFill>
                <a:latin typeface="Arial" pitchFamily="34" charset="0"/>
                <a:ea typeface="Arial" pitchFamily="34" charset="-122"/>
                <a:cs typeface="Arial" pitchFamily="34" charset="-120"/>
              </a:rPr>
              <a:t>Input:</a:t>
            </a:r>
            <a:r>
              <a:rPr lang="en-US" sz="900" dirty="0">
                <a:solidFill>
                  <a:srgbClr val="2C3E50"/>
                </a:solidFill>
                <a:latin typeface="Arial" pitchFamily="34" charset="0"/>
                <a:ea typeface="Arial" pitchFamily="34" charset="-122"/>
                <a:cs typeface="Arial" pitchFamily="34" charset="-120"/>
              </a:rPr>
              <a:t> A multi-turn conversation C = [u1, u2, ..., un] where each utterance ui may contain text from language L1, L2, or a mixture of both (code-mixing)</a:t>
            </a:r>
            <a:endParaRPr lang="en-US" sz="900" dirty="0"/>
          </a:p>
        </p:txBody>
      </p:sp>
      <p:sp>
        <p:nvSpPr>
          <p:cNvPr id="6" name="Text 4"/>
          <p:cNvSpPr/>
          <p:nvPr/>
        </p:nvSpPr>
        <p:spPr>
          <a:xfrm>
            <a:off x="533400" y="1487686"/>
            <a:ext cx="8238744" cy="171450"/>
          </a:xfrm>
          <a:prstGeom prst="rect">
            <a:avLst/>
          </a:prstGeom>
          <a:noFill/>
          <a:ln/>
        </p:spPr>
        <p:txBody>
          <a:bodyPr wrap="square" lIns="0" tIns="0" rIns="0" bIns="0" rtlCol="0" anchor="t"/>
          <a:lstStyle/>
          <a:p>
            <a:pPr marL="0" indent="0" algn="l">
              <a:lnSpc>
                <a:spcPts val="1350"/>
              </a:lnSpc>
              <a:spcBef>
                <a:spcPts val="450"/>
              </a:spcBef>
              <a:spcAft>
                <a:spcPts val="300"/>
              </a:spcAft>
              <a:buNone/>
            </a:pPr>
            <a:r>
              <a:rPr lang="en-US" sz="900" b="1" dirty="0">
                <a:solidFill>
                  <a:srgbClr val="2C3E50"/>
                </a:solidFill>
                <a:latin typeface="Arial" pitchFamily="34" charset="0"/>
                <a:ea typeface="Arial" pitchFamily="34" charset="-122"/>
                <a:cs typeface="Arial" pitchFamily="34" charset="-120"/>
              </a:rPr>
              <a:t>Output:</a:t>
            </a:r>
            <a:r>
              <a:rPr lang="en-US" sz="900" dirty="0">
                <a:solidFill>
                  <a:srgbClr val="2C3E50"/>
                </a:solidFill>
                <a:latin typeface="Arial" pitchFamily="34" charset="0"/>
                <a:ea typeface="Arial" pitchFamily="34" charset="-122"/>
                <a:cs typeface="Arial" pitchFamily="34" charset="-120"/>
              </a:rPr>
              <a:t> A concise summary S in English that captures the key information, decisions, and outcomes from the conversation</a:t>
            </a:r>
            <a:endParaRPr lang="en-US" sz="900" dirty="0"/>
          </a:p>
        </p:txBody>
      </p:sp>
      <p:sp>
        <p:nvSpPr>
          <p:cNvPr id="7" name="Text 5"/>
          <p:cNvSpPr/>
          <p:nvPr/>
        </p:nvSpPr>
        <p:spPr>
          <a:xfrm>
            <a:off x="533400" y="1716286"/>
            <a:ext cx="8238744" cy="171450"/>
          </a:xfrm>
          <a:prstGeom prst="rect">
            <a:avLst/>
          </a:prstGeom>
          <a:noFill/>
          <a:ln/>
        </p:spPr>
        <p:txBody>
          <a:bodyPr wrap="square" lIns="0" tIns="0" rIns="0" bIns="0" rtlCol="0" anchor="t"/>
          <a:lstStyle/>
          <a:p>
            <a:pPr marL="0" indent="0" algn="l">
              <a:lnSpc>
                <a:spcPts val="1350"/>
              </a:lnSpc>
              <a:spcBef>
                <a:spcPts val="450"/>
              </a:spcBef>
              <a:spcAft>
                <a:spcPts val="300"/>
              </a:spcAft>
              <a:buNone/>
            </a:pPr>
            <a:r>
              <a:rPr lang="en-US" sz="900" b="1" dirty="0">
                <a:solidFill>
                  <a:srgbClr val="2C3E50"/>
                </a:solidFill>
                <a:latin typeface="Arial" pitchFamily="34" charset="0"/>
                <a:ea typeface="Arial" pitchFamily="34" charset="-122"/>
                <a:cs typeface="Arial" pitchFamily="34" charset="-120"/>
              </a:rPr>
              <a:t>Challenge:</a:t>
            </a:r>
            <a:r>
              <a:rPr lang="en-US" sz="900" dirty="0">
                <a:solidFill>
                  <a:srgbClr val="2C3E50"/>
                </a:solidFill>
                <a:latin typeface="Arial" pitchFamily="34" charset="0"/>
                <a:ea typeface="Arial" pitchFamily="34" charset="-122"/>
                <a:cs typeface="Arial" pitchFamily="34" charset="-120"/>
              </a:rPr>
              <a:t> The model must handle intra-sentential code-switching (switching within a sentence) and inter-sentential switching (switching between sentences)</a:t>
            </a:r>
            <a:endParaRPr lang="en-US" sz="900" dirty="0"/>
          </a:p>
        </p:txBody>
      </p:sp>
      <p:sp>
        <p:nvSpPr>
          <p:cNvPr id="8" name="Text 6"/>
          <p:cNvSpPr/>
          <p:nvPr/>
        </p:nvSpPr>
        <p:spPr>
          <a:xfrm>
            <a:off x="381000" y="2230636"/>
            <a:ext cx="4114800" cy="999827"/>
          </a:xfrm>
          <a:prstGeom prst="roundRect">
            <a:avLst>
              <a:gd name="adj" fmla="val 7621"/>
            </a:avLst>
          </a:prstGeom>
          <a:solidFill>
            <a:srgbClr val="E8F6F3"/>
          </a:solidFill>
          <a:ln/>
        </p:spPr>
        <p:txBody>
          <a:bodyPr wrap="square" rtlCol="0" anchor="ctr"/>
          <a:lstStyle/>
          <a:p>
            <a:pPr marL="0" indent="0">
              <a:buNone/>
            </a:pPr>
            <a:endParaRPr lang="en-US" dirty="0"/>
          </a:p>
        </p:txBody>
      </p:sp>
      <p:sp>
        <p:nvSpPr>
          <p:cNvPr id="9" name="Shape 7"/>
          <p:cNvSpPr/>
          <p:nvPr/>
        </p:nvSpPr>
        <p:spPr>
          <a:xfrm>
            <a:off x="400050" y="2230636"/>
            <a:ext cx="0" cy="999827"/>
          </a:xfrm>
          <a:prstGeom prst="line">
            <a:avLst/>
          </a:prstGeom>
          <a:noFill/>
          <a:ln w="38100">
            <a:solidFill>
              <a:srgbClr val="4ECDC4"/>
            </a:solidFill>
            <a:prstDash val="solid"/>
          </a:ln>
        </p:spPr>
        <p:txBody>
          <a:bodyPr/>
          <a:lstStyle/>
          <a:p>
            <a:endParaRPr lang="en-US"/>
          </a:p>
        </p:txBody>
      </p:sp>
      <p:sp>
        <p:nvSpPr>
          <p:cNvPr id="10" name="Text 8"/>
          <p:cNvSpPr/>
          <p:nvPr/>
        </p:nvSpPr>
        <p:spPr>
          <a:xfrm>
            <a:off x="552450" y="2402086"/>
            <a:ext cx="3886200"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Code-Mixing Definition</a:t>
            </a:r>
            <a:endParaRPr lang="en-US" sz="900" dirty="0"/>
          </a:p>
        </p:txBody>
      </p:sp>
      <p:sp>
        <p:nvSpPr>
          <p:cNvPr id="11" name="Text 9"/>
          <p:cNvSpPr/>
          <p:nvPr/>
        </p:nvSpPr>
        <p:spPr>
          <a:xfrm>
            <a:off x="552450" y="2619226"/>
            <a:ext cx="3886200" cy="439787"/>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6C757D"/>
                </a:solidFill>
                <a:latin typeface="Arial" pitchFamily="34" charset="0"/>
                <a:ea typeface="Arial" pitchFamily="34" charset="-122"/>
                <a:cs typeface="Arial" pitchFamily="34" charset="-120"/>
              </a:rPr>
              <a:t>The practice of alternating between two or more languages within a single conversation, sentence, or even word. Common in multilingual communities worldwide.</a:t>
            </a:r>
            <a:endParaRPr lang="en-US" sz="825" dirty="0"/>
          </a:p>
        </p:txBody>
      </p:sp>
      <p:sp>
        <p:nvSpPr>
          <p:cNvPr id="12" name="Text 10"/>
          <p:cNvSpPr/>
          <p:nvPr/>
        </p:nvSpPr>
        <p:spPr>
          <a:xfrm>
            <a:off x="4648200" y="2230636"/>
            <a:ext cx="4114800" cy="999827"/>
          </a:xfrm>
          <a:prstGeom prst="roundRect">
            <a:avLst>
              <a:gd name="adj" fmla="val 7621"/>
            </a:avLst>
          </a:prstGeom>
          <a:solidFill>
            <a:srgbClr val="FEF9E7"/>
          </a:solidFill>
          <a:ln/>
        </p:spPr>
        <p:txBody>
          <a:bodyPr wrap="square" rtlCol="0" anchor="ctr"/>
          <a:lstStyle/>
          <a:p>
            <a:pPr marL="0" indent="0">
              <a:buNone/>
            </a:pPr>
            <a:endParaRPr lang="en-US" dirty="0"/>
          </a:p>
        </p:txBody>
      </p:sp>
      <p:sp>
        <p:nvSpPr>
          <p:cNvPr id="13" name="Shape 11"/>
          <p:cNvSpPr/>
          <p:nvPr/>
        </p:nvSpPr>
        <p:spPr>
          <a:xfrm>
            <a:off x="4667250" y="2230636"/>
            <a:ext cx="0" cy="999827"/>
          </a:xfrm>
          <a:prstGeom prst="line">
            <a:avLst/>
          </a:prstGeom>
          <a:noFill/>
          <a:ln w="38100">
            <a:solidFill>
              <a:srgbClr val="F39C12"/>
            </a:solidFill>
            <a:prstDash val="solid"/>
          </a:ln>
        </p:spPr>
        <p:txBody>
          <a:bodyPr/>
          <a:lstStyle/>
          <a:p>
            <a:endParaRPr lang="en-US"/>
          </a:p>
        </p:txBody>
      </p:sp>
      <p:sp>
        <p:nvSpPr>
          <p:cNvPr id="14" name="Text 12"/>
          <p:cNvSpPr/>
          <p:nvPr/>
        </p:nvSpPr>
        <p:spPr>
          <a:xfrm>
            <a:off x="4819650" y="2402086"/>
            <a:ext cx="3886200"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Scale of the Problem</a:t>
            </a:r>
            <a:endParaRPr lang="en-US" sz="900" dirty="0"/>
          </a:p>
        </p:txBody>
      </p:sp>
      <p:sp>
        <p:nvSpPr>
          <p:cNvPr id="15" name="Text 13"/>
          <p:cNvSpPr/>
          <p:nvPr/>
        </p:nvSpPr>
        <p:spPr>
          <a:xfrm>
            <a:off x="4819650" y="2619226"/>
            <a:ext cx="3886200"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6C757D"/>
                </a:solidFill>
                <a:latin typeface="Arial" pitchFamily="34" charset="0"/>
                <a:ea typeface="Arial" pitchFamily="34" charset="-122"/>
                <a:cs typeface="Arial" pitchFamily="34" charset="-120"/>
              </a:rPr>
              <a:t>Over 1 billion people code-mix daily. With 50+ languages commonly mixed with English, there are 2,450+ possible language pairs to support.</a:t>
            </a:r>
            <a:endParaRPr lang="en-US" sz="825" dirty="0"/>
          </a:p>
        </p:txBody>
      </p:sp>
      <p:sp>
        <p:nvSpPr>
          <p:cNvPr id="16" name="Text 14"/>
          <p:cNvSpPr/>
          <p:nvPr/>
        </p:nvSpPr>
        <p:spPr>
          <a:xfrm>
            <a:off x="381000" y="3382863"/>
            <a:ext cx="8382000" cy="706636"/>
          </a:xfrm>
          <a:prstGeom prst="roundRect">
            <a:avLst>
              <a:gd name="adj" fmla="val 10783"/>
            </a:avLst>
          </a:prstGeom>
          <a:solidFill>
            <a:srgbClr val="1A5276"/>
          </a:solidFill>
          <a:ln/>
        </p:spPr>
        <p:txBody>
          <a:bodyPr wrap="square" rtlCol="0" anchor="ctr"/>
          <a:lstStyle/>
          <a:p>
            <a:pPr marL="0" indent="0">
              <a:buNone/>
            </a:pPr>
            <a:endParaRPr lang="en-US" dirty="0"/>
          </a:p>
        </p:txBody>
      </p:sp>
      <p:sp>
        <p:nvSpPr>
          <p:cNvPr id="17" name="Text 15"/>
          <p:cNvSpPr/>
          <p:nvPr/>
        </p:nvSpPr>
        <p:spPr>
          <a:xfrm>
            <a:off x="514350" y="3554313"/>
            <a:ext cx="8277606"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FFFFFF"/>
                </a:solidFill>
                <a:latin typeface="Arial" pitchFamily="34" charset="0"/>
                <a:ea typeface="Arial" pitchFamily="34" charset="-122"/>
                <a:cs typeface="Arial" pitchFamily="34" charset="-120"/>
              </a:rPr>
              <a:t>Our Extension: Zero-Shot Cross-Lingual Transfer</a:t>
            </a:r>
            <a:endParaRPr lang="en-US" sz="900" dirty="0"/>
          </a:p>
        </p:txBody>
      </p:sp>
      <p:sp>
        <p:nvSpPr>
          <p:cNvPr id="18" name="Text 16"/>
          <p:cNvSpPr/>
          <p:nvPr/>
        </p:nvSpPr>
        <p:spPr>
          <a:xfrm>
            <a:off x="514350" y="3771454"/>
            <a:ext cx="8277606" cy="146596"/>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Can we train on a FEW language pairs and generalize to UNSEEN language pairs without any additional training data?</a:t>
            </a:r>
            <a:endParaRPr lang="en-US" sz="8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0999" y="228600"/>
            <a:ext cx="6150429"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Why This Topic? What Makes It Exciting?</a:t>
            </a:r>
            <a:endParaRPr lang="en-US" sz="2250" dirty="0"/>
          </a:p>
        </p:txBody>
      </p:sp>
      <p:pic>
        <p:nvPicPr>
          <p:cNvPr id="3" name="Image 0" descr="/tmp/rasterized-gradient-bf5ad887.png"/>
          <p:cNvPicPr>
            <a:picLocks noChangeAspect="1"/>
          </p:cNvPicPr>
          <p:nvPr/>
        </p:nvPicPr>
        <p:blipFill>
          <a:blip r:embed="rId3"/>
          <a:stretch>
            <a:fillRect/>
          </a:stretch>
        </p:blipFill>
        <p:spPr>
          <a:xfrm>
            <a:off x="381000" y="819150"/>
            <a:ext cx="4124325" cy="904577"/>
          </a:xfrm>
          <a:prstGeom prst="rect">
            <a:avLst/>
          </a:prstGeom>
        </p:spPr>
      </p:pic>
      <p:sp>
        <p:nvSpPr>
          <p:cNvPr id="4" name="Text 1"/>
          <p:cNvSpPr/>
          <p:nvPr/>
        </p:nvSpPr>
        <p:spPr>
          <a:xfrm>
            <a:off x="533400" y="1009650"/>
            <a:ext cx="3895916" cy="173236"/>
          </a:xfrm>
          <a:prstGeom prst="rect">
            <a:avLst/>
          </a:prstGeom>
          <a:noFill/>
          <a:ln/>
        </p:spPr>
        <p:txBody>
          <a:bodyPr wrap="square" lIns="0" tIns="0" rIns="0" bIns="0" rtlCol="0" anchor="t"/>
          <a:lstStyle/>
          <a:p>
            <a:pPr marL="0" indent="0" algn="l">
              <a:lnSpc>
                <a:spcPts val="1365"/>
              </a:lnSpc>
              <a:spcBef>
                <a:spcPts val="300"/>
              </a:spcBef>
              <a:spcAft>
                <a:spcPts val="450"/>
              </a:spcAft>
              <a:buNone/>
            </a:pPr>
            <a:r>
              <a:rPr lang="en-US" sz="975" b="1" dirty="0">
                <a:solidFill>
                  <a:srgbClr val="FFFFFF"/>
                </a:solidFill>
                <a:latin typeface="Arial" pitchFamily="34" charset="0"/>
                <a:ea typeface="Arial" pitchFamily="34" charset="-122"/>
                <a:cs typeface="Arial" pitchFamily="34" charset="-120"/>
              </a:rPr>
              <a:t>1. Real-World Impact</a:t>
            </a:r>
            <a:endParaRPr lang="en-US" sz="975" dirty="0"/>
          </a:p>
        </p:txBody>
      </p:sp>
      <p:sp>
        <p:nvSpPr>
          <p:cNvPr id="5" name="Text 2"/>
          <p:cNvSpPr/>
          <p:nvPr/>
        </p:nvSpPr>
        <p:spPr>
          <a:xfrm>
            <a:off x="533400" y="1240036"/>
            <a:ext cx="3895916"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1B+ people code-mix daily in customer support, social media, and messaging. Current NLP tools fail on this data entirely.</a:t>
            </a:r>
            <a:endParaRPr lang="en-US" sz="825" dirty="0"/>
          </a:p>
        </p:txBody>
      </p:sp>
      <p:pic>
        <p:nvPicPr>
          <p:cNvPr id="6" name="Image 1" descr="/tmp/rasterized-gradient-7d0b153f.png"/>
          <p:cNvPicPr>
            <a:picLocks noChangeAspect="1"/>
          </p:cNvPicPr>
          <p:nvPr/>
        </p:nvPicPr>
        <p:blipFill>
          <a:blip r:embed="rId4"/>
          <a:stretch>
            <a:fillRect/>
          </a:stretch>
        </p:blipFill>
        <p:spPr>
          <a:xfrm>
            <a:off x="4638675" y="819150"/>
            <a:ext cx="4124325" cy="904577"/>
          </a:xfrm>
          <a:prstGeom prst="rect">
            <a:avLst/>
          </a:prstGeom>
        </p:spPr>
      </p:pic>
      <p:sp>
        <p:nvSpPr>
          <p:cNvPr id="7" name="Text 3"/>
          <p:cNvSpPr/>
          <p:nvPr/>
        </p:nvSpPr>
        <p:spPr>
          <a:xfrm>
            <a:off x="4791075" y="1009650"/>
            <a:ext cx="3895916" cy="173236"/>
          </a:xfrm>
          <a:prstGeom prst="rect">
            <a:avLst/>
          </a:prstGeom>
          <a:noFill/>
          <a:ln/>
        </p:spPr>
        <p:txBody>
          <a:bodyPr wrap="square" lIns="0" tIns="0" rIns="0" bIns="0" rtlCol="0" anchor="t"/>
          <a:lstStyle/>
          <a:p>
            <a:pPr marL="0" indent="0" algn="l">
              <a:lnSpc>
                <a:spcPts val="1365"/>
              </a:lnSpc>
              <a:spcBef>
                <a:spcPts val="300"/>
              </a:spcBef>
              <a:spcAft>
                <a:spcPts val="450"/>
              </a:spcAft>
              <a:buNone/>
            </a:pPr>
            <a:r>
              <a:rPr lang="en-US" sz="975" b="1" dirty="0">
                <a:solidFill>
                  <a:srgbClr val="FFFFFF"/>
                </a:solidFill>
                <a:latin typeface="Arial" pitchFamily="34" charset="0"/>
                <a:ea typeface="Arial" pitchFamily="34" charset="-122"/>
                <a:cs typeface="Arial" pitchFamily="34" charset="-120"/>
              </a:rPr>
              <a:t>2. Unsolved Challenge</a:t>
            </a:r>
            <a:endParaRPr lang="en-US" sz="975" dirty="0"/>
          </a:p>
        </p:txBody>
      </p:sp>
      <p:sp>
        <p:nvSpPr>
          <p:cNvPr id="8" name="Text 4"/>
          <p:cNvSpPr/>
          <p:nvPr/>
        </p:nvSpPr>
        <p:spPr>
          <a:xfrm>
            <a:off x="4791075" y="1240036"/>
            <a:ext cx="3895916"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No existing system handles arbitrary code-mixed language pairs. Each pair typically requires its own model and training data.</a:t>
            </a:r>
            <a:endParaRPr lang="en-US" sz="825" dirty="0"/>
          </a:p>
        </p:txBody>
      </p:sp>
      <p:pic>
        <p:nvPicPr>
          <p:cNvPr id="9" name="Image 2" descr="/tmp/rasterized-gradient-605644a8.png"/>
          <p:cNvPicPr>
            <a:picLocks noChangeAspect="1"/>
          </p:cNvPicPr>
          <p:nvPr/>
        </p:nvPicPr>
        <p:blipFill>
          <a:blip r:embed="rId5"/>
          <a:stretch>
            <a:fillRect/>
          </a:stretch>
        </p:blipFill>
        <p:spPr>
          <a:xfrm>
            <a:off x="381000" y="1857077"/>
            <a:ext cx="4124325" cy="904577"/>
          </a:xfrm>
          <a:prstGeom prst="rect">
            <a:avLst/>
          </a:prstGeom>
        </p:spPr>
      </p:pic>
      <p:sp>
        <p:nvSpPr>
          <p:cNvPr id="10" name="Text 5"/>
          <p:cNvSpPr/>
          <p:nvPr/>
        </p:nvSpPr>
        <p:spPr>
          <a:xfrm>
            <a:off x="533400" y="2047577"/>
            <a:ext cx="3895916" cy="173236"/>
          </a:xfrm>
          <a:prstGeom prst="rect">
            <a:avLst/>
          </a:prstGeom>
          <a:noFill/>
          <a:ln/>
        </p:spPr>
        <p:txBody>
          <a:bodyPr wrap="square" lIns="0" tIns="0" rIns="0" bIns="0" rtlCol="0" anchor="t"/>
          <a:lstStyle/>
          <a:p>
            <a:pPr marL="0" indent="0" algn="l">
              <a:lnSpc>
                <a:spcPts val="1365"/>
              </a:lnSpc>
              <a:spcBef>
                <a:spcPts val="300"/>
              </a:spcBef>
              <a:spcAft>
                <a:spcPts val="450"/>
              </a:spcAft>
              <a:buNone/>
            </a:pPr>
            <a:r>
              <a:rPr lang="en-US" sz="975" b="1" dirty="0">
                <a:solidFill>
                  <a:srgbClr val="FFFFFF"/>
                </a:solidFill>
                <a:latin typeface="Arial" pitchFamily="34" charset="0"/>
                <a:ea typeface="Arial" pitchFamily="34" charset="-122"/>
                <a:cs typeface="Arial" pitchFamily="34" charset="-120"/>
              </a:rPr>
              <a:t>3. Novel Research Question</a:t>
            </a:r>
            <a:endParaRPr lang="en-US" sz="975" dirty="0"/>
          </a:p>
        </p:txBody>
      </p:sp>
      <p:sp>
        <p:nvSpPr>
          <p:cNvPr id="11" name="Text 6"/>
          <p:cNvSpPr/>
          <p:nvPr/>
        </p:nvSpPr>
        <p:spPr>
          <a:xfrm>
            <a:off x="533400" y="2277963"/>
            <a:ext cx="3895916"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Can zero-shot transfer work for code-mixing? No prior work has explored this for conversation summarization.</a:t>
            </a:r>
            <a:endParaRPr lang="en-US" sz="825" dirty="0"/>
          </a:p>
        </p:txBody>
      </p:sp>
      <p:pic>
        <p:nvPicPr>
          <p:cNvPr id="12" name="Image 3" descr="/tmp/rasterized-gradient-cae02fcf.png"/>
          <p:cNvPicPr>
            <a:picLocks noChangeAspect="1"/>
          </p:cNvPicPr>
          <p:nvPr/>
        </p:nvPicPr>
        <p:blipFill>
          <a:blip r:embed="rId6"/>
          <a:stretch>
            <a:fillRect/>
          </a:stretch>
        </p:blipFill>
        <p:spPr>
          <a:xfrm>
            <a:off x="4638675" y="1857077"/>
            <a:ext cx="4124325" cy="904577"/>
          </a:xfrm>
          <a:prstGeom prst="rect">
            <a:avLst/>
          </a:prstGeom>
        </p:spPr>
      </p:pic>
      <p:sp>
        <p:nvSpPr>
          <p:cNvPr id="13" name="Text 7"/>
          <p:cNvSpPr/>
          <p:nvPr/>
        </p:nvSpPr>
        <p:spPr>
          <a:xfrm>
            <a:off x="4791075" y="2047577"/>
            <a:ext cx="3895916" cy="173236"/>
          </a:xfrm>
          <a:prstGeom prst="rect">
            <a:avLst/>
          </a:prstGeom>
          <a:noFill/>
          <a:ln/>
        </p:spPr>
        <p:txBody>
          <a:bodyPr wrap="square" lIns="0" tIns="0" rIns="0" bIns="0" rtlCol="0" anchor="t"/>
          <a:lstStyle/>
          <a:p>
            <a:pPr marL="0" indent="0" algn="l">
              <a:lnSpc>
                <a:spcPts val="1365"/>
              </a:lnSpc>
              <a:spcBef>
                <a:spcPts val="300"/>
              </a:spcBef>
              <a:spcAft>
                <a:spcPts val="450"/>
              </a:spcAft>
              <a:buNone/>
            </a:pPr>
            <a:r>
              <a:rPr lang="en-US" sz="975" b="1" dirty="0">
                <a:solidFill>
                  <a:srgbClr val="FFFFFF"/>
                </a:solidFill>
                <a:latin typeface="Arial" pitchFamily="34" charset="0"/>
                <a:ea typeface="Arial" pitchFamily="34" charset="-122"/>
                <a:cs typeface="Arial" pitchFamily="34" charset="-120"/>
              </a:rPr>
              <a:t>4. Practical Deployment</a:t>
            </a:r>
            <a:endParaRPr lang="en-US" sz="975" dirty="0"/>
          </a:p>
        </p:txBody>
      </p:sp>
      <p:sp>
        <p:nvSpPr>
          <p:cNvPr id="14" name="Text 8"/>
          <p:cNvSpPr/>
          <p:nvPr/>
        </p:nvSpPr>
        <p:spPr>
          <a:xfrm>
            <a:off x="4791075" y="2277963"/>
            <a:ext cx="3895916"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If successful: Train ONE model on 3 pairs, deploy on 2,450+ pairs. Massive cost and data savings.</a:t>
            </a:r>
            <a:endParaRPr lang="en-US" sz="825" dirty="0"/>
          </a:p>
        </p:txBody>
      </p:sp>
      <p:sp>
        <p:nvSpPr>
          <p:cNvPr id="15" name="Text 9"/>
          <p:cNvSpPr/>
          <p:nvPr/>
        </p:nvSpPr>
        <p:spPr>
          <a:xfrm>
            <a:off x="381000" y="2895005"/>
            <a:ext cx="8382000" cy="893415"/>
          </a:xfrm>
          <a:prstGeom prst="roundRect">
            <a:avLst>
              <a:gd name="adj" fmla="val 8529"/>
            </a:avLst>
          </a:prstGeom>
          <a:solidFill>
            <a:srgbClr val="F8F9FA"/>
          </a:solidFill>
          <a:ln/>
        </p:spPr>
        <p:txBody>
          <a:bodyPr wrap="square" rtlCol="0" anchor="ctr"/>
          <a:lstStyle/>
          <a:p>
            <a:pPr marL="0" indent="0">
              <a:buNone/>
            </a:pPr>
            <a:endParaRPr lang="en-US" dirty="0"/>
          </a:p>
        </p:txBody>
      </p:sp>
      <p:sp>
        <p:nvSpPr>
          <p:cNvPr id="16" name="Text 10"/>
          <p:cNvSpPr/>
          <p:nvPr/>
        </p:nvSpPr>
        <p:spPr>
          <a:xfrm>
            <a:off x="514350" y="3066455"/>
            <a:ext cx="8277606"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1A5276"/>
                </a:solidFill>
                <a:latin typeface="Arial" pitchFamily="34" charset="0"/>
                <a:ea typeface="Arial" pitchFamily="34" charset="-122"/>
                <a:cs typeface="Arial" pitchFamily="34" charset="-120"/>
              </a:rPr>
              <a:t>Personal Motivation</a:t>
            </a:r>
            <a:endParaRPr lang="en-US" sz="900" dirty="0"/>
          </a:p>
        </p:txBody>
      </p:sp>
      <p:sp>
        <p:nvSpPr>
          <p:cNvPr id="17" name="Text 11"/>
          <p:cNvSpPr/>
          <p:nvPr/>
        </p:nvSpPr>
        <p:spPr>
          <a:xfrm>
            <a:off x="514350" y="3302645"/>
            <a:ext cx="8277606" cy="314325"/>
          </a:xfrm>
          <a:prstGeom prst="rect">
            <a:avLst/>
          </a:prstGeom>
          <a:noFill/>
          <a:ln/>
        </p:spPr>
        <p:txBody>
          <a:bodyPr wrap="square" lIns="0" tIns="0" rIns="0" bIns="0" rtlCol="0" anchor="t"/>
          <a:lstStyle/>
          <a:p>
            <a:pPr marL="0" indent="0" algn="l">
              <a:lnSpc>
                <a:spcPts val="1238"/>
              </a:lnSpc>
              <a:spcBef>
                <a:spcPts val="300"/>
              </a:spcBef>
              <a:spcAft>
                <a:spcPts val="300"/>
              </a:spcAft>
              <a:buNone/>
            </a:pPr>
            <a:r>
              <a:rPr lang="en-US" sz="825" dirty="0">
                <a:solidFill>
                  <a:srgbClr val="6C757D"/>
                </a:solidFill>
                <a:latin typeface="Arial" pitchFamily="34" charset="0"/>
                <a:ea typeface="Arial" pitchFamily="34" charset="-122"/>
                <a:cs typeface="Arial" pitchFamily="34" charset="-120"/>
              </a:rPr>
              <a:t>Growing up in a multilingual environment, I experienced code-mixing daily. Seeing how existing NLP tools completely fail on this type of natural communication motivated me to work on making AI systems that can understand how real multilingual people actually communicate.</a:t>
            </a:r>
            <a:endParaRPr lang="en-US" sz="8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0999" y="228600"/>
            <a:ext cx="4687389"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Connection to CIS 5300 Topics</a:t>
            </a:r>
            <a:endParaRPr lang="en-US" sz="2250" dirty="0"/>
          </a:p>
        </p:txBody>
      </p:sp>
      <p:sp>
        <p:nvSpPr>
          <p:cNvPr id="3" name="Text 1"/>
          <p:cNvSpPr/>
          <p:nvPr/>
        </p:nvSpPr>
        <p:spPr>
          <a:xfrm>
            <a:off x="381000" y="819150"/>
            <a:ext cx="2692450" cy="960090"/>
          </a:xfrm>
          <a:prstGeom prst="roundRect">
            <a:avLst>
              <a:gd name="adj" fmla="val 7937"/>
            </a:avLst>
          </a:prstGeom>
          <a:solidFill>
            <a:srgbClr val="E8F6F3"/>
          </a:solidFill>
          <a:ln/>
        </p:spPr>
        <p:txBody>
          <a:bodyPr wrap="square" rtlCol="0" anchor="ctr"/>
          <a:lstStyle/>
          <a:p>
            <a:pPr marL="0" indent="0">
              <a:buNone/>
            </a:pPr>
            <a:endParaRPr lang="en-US" dirty="0"/>
          </a:p>
        </p:txBody>
      </p:sp>
      <p:sp>
        <p:nvSpPr>
          <p:cNvPr id="4" name="Shape 2"/>
          <p:cNvSpPr/>
          <p:nvPr/>
        </p:nvSpPr>
        <p:spPr>
          <a:xfrm>
            <a:off x="400050" y="819150"/>
            <a:ext cx="0" cy="960090"/>
          </a:xfrm>
          <a:prstGeom prst="line">
            <a:avLst/>
          </a:prstGeom>
          <a:noFill/>
          <a:ln w="38100">
            <a:solidFill>
              <a:srgbClr val="4ECDC4"/>
            </a:solidFill>
            <a:prstDash val="solid"/>
          </a:ln>
        </p:spPr>
        <p:txBody>
          <a:bodyPr/>
          <a:lstStyle/>
          <a:p>
            <a:endParaRPr lang="en-US"/>
          </a:p>
        </p:txBody>
      </p:sp>
      <p:sp>
        <p:nvSpPr>
          <p:cNvPr id="5" name="Text 3"/>
          <p:cNvSpPr/>
          <p:nvPr/>
        </p:nvSpPr>
        <p:spPr>
          <a:xfrm>
            <a:off x="552450" y="990600"/>
            <a:ext cx="2435403"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Sequence-to-Sequence Models</a:t>
            </a:r>
            <a:endParaRPr lang="en-US" sz="900" dirty="0"/>
          </a:p>
        </p:txBody>
      </p:sp>
      <p:sp>
        <p:nvSpPr>
          <p:cNvPr id="6" name="Text 4"/>
          <p:cNvSpPr/>
          <p:nvPr/>
        </p:nvSpPr>
        <p:spPr>
          <a:xfrm>
            <a:off x="552450" y="1207740"/>
            <a:ext cx="2435403" cy="4000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Applied encoder-decoder (mBART, mT5) and decoder-only (Llama) architectures from class. Compared their effectiveness for multilingual generation tasks.</a:t>
            </a:r>
            <a:endParaRPr lang="en-US" sz="750" dirty="0"/>
          </a:p>
        </p:txBody>
      </p:sp>
      <p:sp>
        <p:nvSpPr>
          <p:cNvPr id="7" name="Text 5"/>
          <p:cNvSpPr/>
          <p:nvPr/>
        </p:nvSpPr>
        <p:spPr>
          <a:xfrm>
            <a:off x="3225850" y="819150"/>
            <a:ext cx="2692450" cy="960090"/>
          </a:xfrm>
          <a:prstGeom prst="roundRect">
            <a:avLst>
              <a:gd name="adj" fmla="val 7937"/>
            </a:avLst>
          </a:prstGeom>
          <a:solidFill>
            <a:srgbClr val="FEF9E7"/>
          </a:solidFill>
          <a:ln/>
        </p:spPr>
        <p:txBody>
          <a:bodyPr wrap="square" rtlCol="0" anchor="ctr"/>
          <a:lstStyle/>
          <a:p>
            <a:pPr marL="0" indent="0">
              <a:buNone/>
            </a:pPr>
            <a:endParaRPr lang="en-US" dirty="0"/>
          </a:p>
        </p:txBody>
      </p:sp>
      <p:sp>
        <p:nvSpPr>
          <p:cNvPr id="8" name="Shape 6"/>
          <p:cNvSpPr/>
          <p:nvPr/>
        </p:nvSpPr>
        <p:spPr>
          <a:xfrm>
            <a:off x="3244900" y="819150"/>
            <a:ext cx="0" cy="960090"/>
          </a:xfrm>
          <a:prstGeom prst="line">
            <a:avLst/>
          </a:prstGeom>
          <a:noFill/>
          <a:ln w="38100">
            <a:solidFill>
              <a:srgbClr val="F39C12"/>
            </a:solidFill>
            <a:prstDash val="solid"/>
          </a:ln>
        </p:spPr>
        <p:txBody>
          <a:bodyPr/>
          <a:lstStyle/>
          <a:p>
            <a:endParaRPr lang="en-US"/>
          </a:p>
        </p:txBody>
      </p:sp>
      <p:sp>
        <p:nvSpPr>
          <p:cNvPr id="9" name="Text 7"/>
          <p:cNvSpPr/>
          <p:nvPr/>
        </p:nvSpPr>
        <p:spPr>
          <a:xfrm>
            <a:off x="3397300" y="990600"/>
            <a:ext cx="2435403"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Transfer Learning</a:t>
            </a:r>
            <a:endParaRPr lang="en-US" sz="900" dirty="0"/>
          </a:p>
        </p:txBody>
      </p:sp>
      <p:sp>
        <p:nvSpPr>
          <p:cNvPr id="10" name="Text 8"/>
          <p:cNvSpPr/>
          <p:nvPr/>
        </p:nvSpPr>
        <p:spPr>
          <a:xfrm>
            <a:off x="3397300" y="1207740"/>
            <a:ext cx="2435403" cy="4000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Extended cross-lingual transfer concepts to code-mixed text. Explored how models transfer summarization ability across language boundaries.</a:t>
            </a:r>
            <a:endParaRPr lang="en-US" sz="750" dirty="0"/>
          </a:p>
        </p:txBody>
      </p:sp>
      <p:sp>
        <p:nvSpPr>
          <p:cNvPr id="11" name="Text 9"/>
          <p:cNvSpPr/>
          <p:nvPr/>
        </p:nvSpPr>
        <p:spPr>
          <a:xfrm>
            <a:off x="6070699" y="819150"/>
            <a:ext cx="2692450" cy="960090"/>
          </a:xfrm>
          <a:prstGeom prst="roundRect">
            <a:avLst>
              <a:gd name="adj" fmla="val 7937"/>
            </a:avLst>
          </a:prstGeom>
          <a:solidFill>
            <a:srgbClr val="FADBD8"/>
          </a:solidFill>
          <a:ln/>
        </p:spPr>
        <p:txBody>
          <a:bodyPr wrap="square" rtlCol="0" anchor="ctr"/>
          <a:lstStyle/>
          <a:p>
            <a:pPr marL="0" indent="0">
              <a:buNone/>
            </a:pPr>
            <a:endParaRPr lang="en-US" dirty="0"/>
          </a:p>
        </p:txBody>
      </p:sp>
      <p:sp>
        <p:nvSpPr>
          <p:cNvPr id="12" name="Shape 10"/>
          <p:cNvSpPr/>
          <p:nvPr/>
        </p:nvSpPr>
        <p:spPr>
          <a:xfrm>
            <a:off x="6089749" y="819150"/>
            <a:ext cx="0" cy="960090"/>
          </a:xfrm>
          <a:prstGeom prst="line">
            <a:avLst/>
          </a:prstGeom>
          <a:noFill/>
          <a:ln w="38100">
            <a:solidFill>
              <a:srgbClr val="E74C3C"/>
            </a:solidFill>
            <a:prstDash val="solid"/>
          </a:ln>
        </p:spPr>
        <p:txBody>
          <a:bodyPr/>
          <a:lstStyle/>
          <a:p>
            <a:endParaRPr lang="en-US"/>
          </a:p>
        </p:txBody>
      </p:sp>
      <p:sp>
        <p:nvSpPr>
          <p:cNvPr id="13" name="Text 11"/>
          <p:cNvSpPr/>
          <p:nvPr/>
        </p:nvSpPr>
        <p:spPr>
          <a:xfrm>
            <a:off x="6242149" y="990600"/>
            <a:ext cx="2435403"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Large Language Models</a:t>
            </a:r>
            <a:endParaRPr lang="en-US" sz="900" dirty="0"/>
          </a:p>
        </p:txBody>
      </p:sp>
      <p:sp>
        <p:nvSpPr>
          <p:cNvPr id="14" name="Text 12"/>
          <p:cNvSpPr/>
          <p:nvPr/>
        </p:nvSpPr>
        <p:spPr>
          <a:xfrm>
            <a:off x="6242149" y="1207740"/>
            <a:ext cx="2435403" cy="26670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Fine-tuned Llama 3.1/3.2 with LoRA. Connected to CoT paper on reasoning across languages.</a:t>
            </a:r>
            <a:endParaRPr lang="en-US" sz="750" dirty="0"/>
          </a:p>
        </p:txBody>
      </p:sp>
      <p:sp>
        <p:nvSpPr>
          <p:cNvPr id="15" name="Text 13"/>
          <p:cNvSpPr/>
          <p:nvPr/>
        </p:nvSpPr>
        <p:spPr>
          <a:xfrm>
            <a:off x="381000" y="1912590"/>
            <a:ext cx="8382000" cy="893415"/>
          </a:xfrm>
          <a:prstGeom prst="roundRect">
            <a:avLst>
              <a:gd name="adj" fmla="val 8529"/>
            </a:avLst>
          </a:prstGeom>
          <a:solidFill>
            <a:srgbClr val="1A5276"/>
          </a:solidFill>
          <a:ln/>
        </p:spPr>
        <p:txBody>
          <a:bodyPr wrap="square" rtlCol="0" anchor="ctr"/>
          <a:lstStyle/>
          <a:p>
            <a:pPr marL="0" indent="0">
              <a:buNone/>
            </a:pPr>
            <a:endParaRPr lang="en-US" dirty="0"/>
          </a:p>
        </p:txBody>
      </p:sp>
      <p:sp>
        <p:nvSpPr>
          <p:cNvPr id="16" name="Text 14"/>
          <p:cNvSpPr/>
          <p:nvPr/>
        </p:nvSpPr>
        <p:spPr>
          <a:xfrm>
            <a:off x="514350" y="2084040"/>
            <a:ext cx="8277606"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FFFFFF"/>
                </a:solidFill>
                <a:latin typeface="Arial" pitchFamily="34" charset="0"/>
                <a:ea typeface="Arial" pitchFamily="34" charset="-122"/>
                <a:cs typeface="Arial" pitchFamily="34" charset="-120"/>
              </a:rPr>
              <a:t>What I Learned Beyond the Course</a:t>
            </a:r>
            <a:endParaRPr lang="en-US" sz="900" dirty="0"/>
          </a:p>
        </p:txBody>
      </p:sp>
      <p:sp>
        <p:nvSpPr>
          <p:cNvPr id="17" name="Text 15"/>
          <p:cNvSpPr/>
          <p:nvPr/>
        </p:nvSpPr>
        <p:spPr>
          <a:xfrm>
            <a:off x="514350" y="2320230"/>
            <a:ext cx="8277606" cy="314325"/>
          </a:xfrm>
          <a:prstGeom prst="rect">
            <a:avLst/>
          </a:prstGeom>
          <a:noFill/>
          <a:ln/>
        </p:spPr>
        <p:txBody>
          <a:bodyPr wrap="square" lIns="0" tIns="0" rIns="0" bIns="0" rtlCol="0" anchor="t"/>
          <a:lstStyle/>
          <a:p>
            <a:pPr marL="0" indent="0" algn="l">
              <a:lnSpc>
                <a:spcPts val="1238"/>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Parameter-efficient fine-tuning (LoRA/QLoRA), multilingual tokenization challenges, evaluation metrics for generation (ROUGE, BERTScore), and the surprising finding that decoder-only models can outperform encoder-decoder models on cross-lingual transfer.</a:t>
            </a:r>
            <a:endParaRPr lang="en-US" sz="825" dirty="0"/>
          </a:p>
        </p:txBody>
      </p:sp>
      <p:sp>
        <p:nvSpPr>
          <p:cNvPr id="18" name="Text 16"/>
          <p:cNvSpPr/>
          <p:nvPr/>
        </p:nvSpPr>
        <p:spPr>
          <a:xfrm>
            <a:off x="381000" y="2939355"/>
            <a:ext cx="8382000" cy="826740"/>
          </a:xfrm>
          <a:prstGeom prst="roundRect">
            <a:avLst>
              <a:gd name="adj" fmla="val 9217"/>
            </a:avLst>
          </a:prstGeom>
          <a:solidFill>
            <a:srgbClr val="F8F9FA"/>
          </a:solidFill>
          <a:ln/>
        </p:spPr>
        <p:txBody>
          <a:bodyPr wrap="square" rtlCol="0" anchor="ctr"/>
          <a:lstStyle/>
          <a:p>
            <a:pPr marL="0" indent="0">
              <a:buNone/>
            </a:pPr>
            <a:endParaRPr lang="en-US" dirty="0"/>
          </a:p>
        </p:txBody>
      </p:sp>
      <p:sp>
        <p:nvSpPr>
          <p:cNvPr id="19" name="Text 17"/>
          <p:cNvSpPr/>
          <p:nvPr/>
        </p:nvSpPr>
        <p:spPr>
          <a:xfrm>
            <a:off x="514350" y="3110805"/>
            <a:ext cx="8277606"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Reference: Long-Chain-of-Thought Reasoning Across Languages</a:t>
            </a:r>
            <a:endParaRPr lang="en-US" sz="900" dirty="0"/>
          </a:p>
        </p:txBody>
      </p:sp>
      <p:sp>
        <p:nvSpPr>
          <p:cNvPr id="20" name="Text 18"/>
          <p:cNvSpPr/>
          <p:nvPr/>
        </p:nvSpPr>
        <p:spPr>
          <a:xfrm>
            <a:off x="514350" y="3327946"/>
            <a:ext cx="8277606" cy="26670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Our findings align with this paper showing LLMs can transfer reasoning across languages. Our 103-147% transfer rates suggest models learn language-agnostic summarization patterns, similar to how CoT reasoning transfers cross-lingually.</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4483608"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Evaluation Metrics Explained</a:t>
            </a:r>
            <a:endParaRPr lang="en-US" sz="2250" dirty="0"/>
          </a:p>
        </p:txBody>
      </p:sp>
      <p:sp>
        <p:nvSpPr>
          <p:cNvPr id="3" name="Text 1"/>
          <p:cNvSpPr/>
          <p:nvPr/>
        </p:nvSpPr>
        <p:spPr>
          <a:xfrm>
            <a:off x="381000" y="819150"/>
            <a:ext cx="4114800" cy="1259086"/>
          </a:xfrm>
          <a:prstGeom prst="roundRect">
            <a:avLst>
              <a:gd name="adj" fmla="val 6052"/>
            </a:avLst>
          </a:prstGeom>
          <a:solidFill>
            <a:srgbClr val="F8F9FA"/>
          </a:solidFill>
          <a:ln/>
        </p:spPr>
        <p:txBody>
          <a:bodyPr wrap="square" rtlCol="0" anchor="ctr"/>
          <a:lstStyle/>
          <a:p>
            <a:pPr marL="0" indent="0">
              <a:buNone/>
            </a:pPr>
            <a:endParaRPr lang="en-US" dirty="0"/>
          </a:p>
        </p:txBody>
      </p:sp>
      <p:sp>
        <p:nvSpPr>
          <p:cNvPr id="4" name="Shape 2"/>
          <p:cNvSpPr/>
          <p:nvPr/>
        </p:nvSpPr>
        <p:spPr>
          <a:xfrm>
            <a:off x="400050" y="819150"/>
            <a:ext cx="0" cy="1259086"/>
          </a:xfrm>
          <a:prstGeom prst="line">
            <a:avLst/>
          </a:prstGeom>
          <a:noFill/>
          <a:ln w="38100">
            <a:solidFill>
              <a:srgbClr val="4ECDC4"/>
            </a:solidFill>
            <a:prstDash val="solid"/>
          </a:ln>
        </p:spPr>
        <p:txBody>
          <a:bodyPr/>
          <a:lstStyle/>
          <a:p>
            <a:endParaRPr lang="en-US"/>
          </a:p>
        </p:txBody>
      </p:sp>
      <p:sp>
        <p:nvSpPr>
          <p:cNvPr id="5" name="Text 3"/>
          <p:cNvSpPr/>
          <p:nvPr/>
        </p:nvSpPr>
        <p:spPr>
          <a:xfrm>
            <a:off x="552450" y="990600"/>
            <a:ext cx="3886200" cy="173236"/>
          </a:xfrm>
          <a:prstGeom prst="rect">
            <a:avLst/>
          </a:prstGeom>
          <a:noFill/>
          <a:ln/>
        </p:spPr>
        <p:txBody>
          <a:bodyPr wrap="square" lIns="0" tIns="0" rIns="0" bIns="0" rtlCol="0" anchor="t"/>
          <a:lstStyle/>
          <a:p>
            <a:pPr marL="0" indent="0" algn="l">
              <a:lnSpc>
                <a:spcPts val="1365"/>
              </a:lnSpc>
              <a:spcBef>
                <a:spcPts val="300"/>
              </a:spcBef>
              <a:spcAft>
                <a:spcPts val="600"/>
              </a:spcAft>
              <a:buNone/>
            </a:pPr>
            <a:r>
              <a:rPr lang="en-US" sz="975" b="1" dirty="0">
                <a:solidFill>
                  <a:srgbClr val="1A5276"/>
                </a:solidFill>
                <a:latin typeface="Arial" pitchFamily="34" charset="0"/>
                <a:ea typeface="Arial" pitchFamily="34" charset="-122"/>
                <a:cs typeface="Arial" pitchFamily="34" charset="-120"/>
              </a:rPr>
              <a:t>ROUGE-L (Primary Metric)</a:t>
            </a:r>
            <a:endParaRPr lang="en-US" sz="975" dirty="0"/>
          </a:p>
        </p:txBody>
      </p:sp>
      <p:sp>
        <p:nvSpPr>
          <p:cNvPr id="6" name="Text 4"/>
          <p:cNvSpPr/>
          <p:nvPr/>
        </p:nvSpPr>
        <p:spPr>
          <a:xfrm>
            <a:off x="552450" y="1240036"/>
            <a:ext cx="3886200" cy="133350"/>
          </a:xfrm>
          <a:prstGeom prst="rect">
            <a:avLst/>
          </a:prstGeom>
          <a:noFill/>
          <a:ln/>
        </p:spPr>
        <p:txBody>
          <a:bodyPr wrap="square" lIns="0" tIns="0" rIns="0" bIns="0" rtlCol="0" anchor="t"/>
          <a:lstStyle/>
          <a:p>
            <a:pPr marL="0" indent="0" algn="l">
              <a:lnSpc>
                <a:spcPts val="1050"/>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Measures longest common subsequence between generated and reference summary.</a:t>
            </a:r>
            <a:endParaRPr lang="en-US" sz="750" dirty="0"/>
          </a:p>
        </p:txBody>
      </p:sp>
      <p:sp>
        <p:nvSpPr>
          <p:cNvPr id="7" name="Text 5"/>
          <p:cNvSpPr/>
          <p:nvPr/>
        </p:nvSpPr>
        <p:spPr>
          <a:xfrm>
            <a:off x="552450" y="1430536"/>
            <a:ext cx="3886200"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2C3E50"/>
                </a:solidFill>
                <a:latin typeface="Arial" pitchFamily="34" charset="0"/>
                <a:ea typeface="Arial" pitchFamily="34" charset="-122"/>
                <a:cs typeface="Arial" pitchFamily="34" charset="-120"/>
              </a:rPr>
              <a:t>Example:</a:t>
            </a:r>
            <a:r>
              <a:rPr lang="en-US" sz="750" dirty="0">
                <a:solidFill>
                  <a:srgbClr val="2C3E50"/>
                </a:solidFill>
                <a:latin typeface="Arial" pitchFamily="34" charset="0"/>
                <a:ea typeface="Arial" pitchFamily="34" charset="-122"/>
                <a:cs typeface="Arial" pitchFamily="34" charset="-120"/>
              </a:rPr>
              <a:t> Generated: "They plan to meet at 5pm"</a:t>
            </a:r>
            <a:endParaRPr lang="en-US" sz="750" dirty="0"/>
          </a:p>
        </p:txBody>
      </p:sp>
      <p:sp>
        <p:nvSpPr>
          <p:cNvPr id="8" name="Text 6"/>
          <p:cNvSpPr/>
          <p:nvPr/>
        </p:nvSpPr>
        <p:spPr>
          <a:xfrm>
            <a:off x="552450" y="1601986"/>
            <a:ext cx="3886200"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2C3E50"/>
                </a:solidFill>
                <a:latin typeface="Arial" pitchFamily="34" charset="0"/>
                <a:ea typeface="Arial" pitchFamily="34" charset="-122"/>
                <a:cs typeface="Arial" pitchFamily="34" charset="-120"/>
              </a:rPr>
              <a:t>Reference: "They will meet at 5pm for tea"</a:t>
            </a:r>
            <a:endParaRPr lang="en-US" sz="750" dirty="0"/>
          </a:p>
        </p:txBody>
      </p:sp>
      <p:sp>
        <p:nvSpPr>
          <p:cNvPr id="9" name="Text 7"/>
          <p:cNvSpPr/>
          <p:nvPr/>
        </p:nvSpPr>
        <p:spPr>
          <a:xfrm>
            <a:off x="552450" y="1773436"/>
            <a:ext cx="3886200"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27AE60"/>
                </a:solidFill>
                <a:latin typeface="Arial" pitchFamily="34" charset="0"/>
                <a:ea typeface="Arial" pitchFamily="34" charset="-122"/>
                <a:cs typeface="Arial" pitchFamily="34" charset="-120"/>
              </a:rPr>
              <a:t>LCS:</a:t>
            </a:r>
            <a:r>
              <a:rPr lang="en-US" sz="750" dirty="0">
                <a:solidFill>
                  <a:srgbClr val="27AE60"/>
                </a:solidFill>
                <a:latin typeface="Arial" pitchFamily="34" charset="0"/>
                <a:ea typeface="Arial" pitchFamily="34" charset="-122"/>
                <a:cs typeface="Arial" pitchFamily="34" charset="-120"/>
              </a:rPr>
              <a:t> "They" + "meet at 5pm" = high overlap</a:t>
            </a:r>
            <a:endParaRPr lang="en-US" sz="750" dirty="0"/>
          </a:p>
        </p:txBody>
      </p:sp>
      <p:sp>
        <p:nvSpPr>
          <p:cNvPr id="10" name="Text 8"/>
          <p:cNvSpPr/>
          <p:nvPr/>
        </p:nvSpPr>
        <p:spPr>
          <a:xfrm>
            <a:off x="4648200" y="819150"/>
            <a:ext cx="4114800" cy="1259086"/>
          </a:xfrm>
          <a:prstGeom prst="roundRect">
            <a:avLst>
              <a:gd name="adj" fmla="val 6052"/>
            </a:avLst>
          </a:prstGeom>
          <a:solidFill>
            <a:srgbClr val="F8F9FA"/>
          </a:solidFill>
          <a:ln/>
        </p:spPr>
        <p:txBody>
          <a:bodyPr wrap="square" rtlCol="0" anchor="ctr"/>
          <a:lstStyle/>
          <a:p>
            <a:pPr marL="0" indent="0">
              <a:buNone/>
            </a:pPr>
            <a:endParaRPr lang="en-US" dirty="0"/>
          </a:p>
        </p:txBody>
      </p:sp>
      <p:sp>
        <p:nvSpPr>
          <p:cNvPr id="11" name="Shape 9"/>
          <p:cNvSpPr/>
          <p:nvPr/>
        </p:nvSpPr>
        <p:spPr>
          <a:xfrm>
            <a:off x="4667250" y="819150"/>
            <a:ext cx="0" cy="1259086"/>
          </a:xfrm>
          <a:prstGeom prst="line">
            <a:avLst/>
          </a:prstGeom>
          <a:noFill/>
          <a:ln w="38100">
            <a:solidFill>
              <a:srgbClr val="E74C3C"/>
            </a:solidFill>
            <a:prstDash val="solid"/>
          </a:ln>
        </p:spPr>
        <p:txBody>
          <a:bodyPr/>
          <a:lstStyle/>
          <a:p>
            <a:endParaRPr lang="en-US"/>
          </a:p>
        </p:txBody>
      </p:sp>
      <p:sp>
        <p:nvSpPr>
          <p:cNvPr id="12" name="Text 10"/>
          <p:cNvSpPr/>
          <p:nvPr/>
        </p:nvSpPr>
        <p:spPr>
          <a:xfrm>
            <a:off x="4819650" y="990600"/>
            <a:ext cx="3886200" cy="173236"/>
          </a:xfrm>
          <a:prstGeom prst="rect">
            <a:avLst/>
          </a:prstGeom>
          <a:noFill/>
          <a:ln/>
        </p:spPr>
        <p:txBody>
          <a:bodyPr wrap="square" lIns="0" tIns="0" rIns="0" bIns="0" rtlCol="0" anchor="t"/>
          <a:lstStyle/>
          <a:p>
            <a:pPr marL="0" indent="0" algn="l">
              <a:lnSpc>
                <a:spcPts val="1365"/>
              </a:lnSpc>
              <a:spcBef>
                <a:spcPts val="300"/>
              </a:spcBef>
              <a:spcAft>
                <a:spcPts val="600"/>
              </a:spcAft>
              <a:buNone/>
            </a:pPr>
            <a:r>
              <a:rPr lang="en-US" sz="975" b="1" dirty="0">
                <a:solidFill>
                  <a:srgbClr val="1A5276"/>
                </a:solidFill>
                <a:latin typeface="Arial" pitchFamily="34" charset="0"/>
                <a:ea typeface="Arial" pitchFamily="34" charset="-122"/>
                <a:cs typeface="Arial" pitchFamily="34" charset="-120"/>
              </a:rPr>
              <a:t>BERTScore (Semantic)</a:t>
            </a:r>
            <a:endParaRPr lang="en-US" sz="975" dirty="0"/>
          </a:p>
        </p:txBody>
      </p:sp>
      <p:sp>
        <p:nvSpPr>
          <p:cNvPr id="13" name="Text 11"/>
          <p:cNvSpPr/>
          <p:nvPr/>
        </p:nvSpPr>
        <p:spPr>
          <a:xfrm>
            <a:off x="4819650" y="1240036"/>
            <a:ext cx="3886200" cy="133350"/>
          </a:xfrm>
          <a:prstGeom prst="rect">
            <a:avLst/>
          </a:prstGeom>
          <a:noFill/>
          <a:ln/>
        </p:spPr>
        <p:txBody>
          <a:bodyPr wrap="square" lIns="0" tIns="0" rIns="0" bIns="0" rtlCol="0" anchor="t"/>
          <a:lstStyle/>
          <a:p>
            <a:pPr marL="0" indent="0" algn="l">
              <a:lnSpc>
                <a:spcPts val="1050"/>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Uses BERT embeddings to measure semantic similarity, not just word overlap.</a:t>
            </a:r>
            <a:endParaRPr lang="en-US" sz="750" dirty="0"/>
          </a:p>
        </p:txBody>
      </p:sp>
      <p:sp>
        <p:nvSpPr>
          <p:cNvPr id="14" name="Text 12"/>
          <p:cNvSpPr/>
          <p:nvPr/>
        </p:nvSpPr>
        <p:spPr>
          <a:xfrm>
            <a:off x="4819650" y="1430536"/>
            <a:ext cx="3886200"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2C3E50"/>
                </a:solidFill>
                <a:latin typeface="Arial" pitchFamily="34" charset="0"/>
                <a:ea typeface="Arial" pitchFamily="34" charset="-122"/>
                <a:cs typeface="Arial" pitchFamily="34" charset="-120"/>
              </a:rPr>
              <a:t>Example:</a:t>
            </a:r>
            <a:r>
              <a:rPr lang="en-US" sz="750" dirty="0">
                <a:solidFill>
                  <a:srgbClr val="2C3E50"/>
                </a:solidFill>
                <a:latin typeface="Arial" pitchFamily="34" charset="0"/>
                <a:ea typeface="Arial" pitchFamily="34" charset="-122"/>
                <a:cs typeface="Arial" pitchFamily="34" charset="-120"/>
              </a:rPr>
              <a:t> Generated: "meeting was boring"</a:t>
            </a:r>
            <a:endParaRPr lang="en-US" sz="750" dirty="0"/>
          </a:p>
        </p:txBody>
      </p:sp>
      <p:sp>
        <p:nvSpPr>
          <p:cNvPr id="15" name="Text 13"/>
          <p:cNvSpPr/>
          <p:nvPr/>
        </p:nvSpPr>
        <p:spPr>
          <a:xfrm>
            <a:off x="4819650" y="1601986"/>
            <a:ext cx="3886200"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2C3E50"/>
                </a:solidFill>
                <a:latin typeface="Arial" pitchFamily="34" charset="0"/>
                <a:ea typeface="Arial" pitchFamily="34" charset="-122"/>
                <a:cs typeface="Arial" pitchFamily="34" charset="-120"/>
              </a:rPr>
              <a:t>Reference: "conference was unproductive"</a:t>
            </a:r>
            <a:endParaRPr lang="en-US" sz="750" dirty="0"/>
          </a:p>
        </p:txBody>
      </p:sp>
      <p:sp>
        <p:nvSpPr>
          <p:cNvPr id="16" name="Text 14"/>
          <p:cNvSpPr/>
          <p:nvPr/>
        </p:nvSpPr>
        <p:spPr>
          <a:xfrm>
            <a:off x="4819650" y="1773436"/>
            <a:ext cx="3886200"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27AE60"/>
                </a:solidFill>
                <a:latin typeface="Arial" pitchFamily="34" charset="0"/>
                <a:ea typeface="Arial" pitchFamily="34" charset="-122"/>
                <a:cs typeface="Arial" pitchFamily="34" charset="-120"/>
              </a:rPr>
              <a:t>Result:</a:t>
            </a:r>
            <a:r>
              <a:rPr lang="en-US" sz="750" dirty="0">
                <a:solidFill>
                  <a:srgbClr val="27AE60"/>
                </a:solidFill>
                <a:latin typeface="Arial" pitchFamily="34" charset="0"/>
                <a:ea typeface="Arial" pitchFamily="34" charset="-122"/>
                <a:cs typeface="Arial" pitchFamily="34" charset="-120"/>
              </a:rPr>
              <a:t> High score (semantically similar)</a:t>
            </a:r>
            <a:endParaRPr lang="en-US" sz="750" dirty="0"/>
          </a:p>
        </p:txBody>
      </p:sp>
      <p:sp>
        <p:nvSpPr>
          <p:cNvPr id="17" name="Text 15"/>
          <p:cNvSpPr/>
          <p:nvPr/>
        </p:nvSpPr>
        <p:spPr>
          <a:xfrm>
            <a:off x="381000" y="2211586"/>
            <a:ext cx="8382000" cy="926753"/>
          </a:xfrm>
          <a:prstGeom prst="roundRect">
            <a:avLst>
              <a:gd name="adj" fmla="val 8222"/>
            </a:avLst>
          </a:prstGeom>
          <a:solidFill>
            <a:srgbClr val="1A5276"/>
          </a:solidFill>
          <a:ln/>
        </p:spPr>
        <p:txBody>
          <a:bodyPr wrap="square" rtlCol="0" anchor="ctr"/>
          <a:lstStyle/>
          <a:p>
            <a:pPr marL="0" indent="0">
              <a:buNone/>
            </a:pPr>
            <a:endParaRPr lang="en-US" dirty="0"/>
          </a:p>
        </p:txBody>
      </p:sp>
      <p:sp>
        <p:nvSpPr>
          <p:cNvPr id="18" name="Text 16"/>
          <p:cNvSpPr/>
          <p:nvPr/>
        </p:nvSpPr>
        <p:spPr>
          <a:xfrm>
            <a:off x="514350" y="2383036"/>
            <a:ext cx="8277606"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FFFFFF"/>
                </a:solidFill>
                <a:latin typeface="Arial" pitchFamily="34" charset="0"/>
                <a:ea typeface="Arial" pitchFamily="34" charset="-122"/>
                <a:cs typeface="Arial" pitchFamily="34" charset="-120"/>
              </a:rPr>
              <a:t>Transfer Rate (Our Key Metric)</a:t>
            </a:r>
            <a:endParaRPr lang="en-US" sz="900" dirty="0"/>
          </a:p>
        </p:txBody>
      </p:sp>
      <p:sp>
        <p:nvSpPr>
          <p:cNvPr id="19" name="Text 17"/>
          <p:cNvSpPr/>
          <p:nvPr/>
        </p:nvSpPr>
        <p:spPr>
          <a:xfrm>
            <a:off x="514350" y="2619226"/>
            <a:ext cx="8277606" cy="157163"/>
          </a:xfrm>
          <a:prstGeom prst="rect">
            <a:avLst/>
          </a:prstGeom>
          <a:noFill/>
          <a:ln/>
        </p:spPr>
        <p:txBody>
          <a:bodyPr wrap="square" lIns="0" tIns="0" rIns="0" bIns="0" rtlCol="0" anchor="t"/>
          <a:lstStyle/>
          <a:p>
            <a:pPr marL="0" indent="0" algn="l">
              <a:lnSpc>
                <a:spcPts val="1238"/>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Transfer Rate = (Zero-Shot Performance / In-Domain Performance) x 100%</a:t>
            </a:r>
            <a:endParaRPr lang="en-US" sz="825" dirty="0"/>
          </a:p>
        </p:txBody>
      </p:sp>
      <p:sp>
        <p:nvSpPr>
          <p:cNvPr id="20" name="Text 18"/>
          <p:cNvSpPr/>
          <p:nvPr/>
        </p:nvSpPr>
        <p:spPr>
          <a:xfrm>
            <a:off x="514350" y="2833539"/>
            <a:ext cx="8277606" cy="133350"/>
          </a:xfrm>
          <a:prstGeom prst="rect">
            <a:avLst/>
          </a:prstGeom>
          <a:noFill/>
          <a:ln/>
        </p:spPr>
        <p:txBody>
          <a:bodyPr wrap="square" lIns="0" tIns="0" rIns="0" bIns="0" rtlCol="0" anchor="t"/>
          <a:lstStyle/>
          <a:p>
            <a:pPr marL="0" indent="0" algn="l">
              <a:lnSpc>
                <a:spcPts val="1050"/>
              </a:lnSpc>
              <a:spcBef>
                <a:spcPts val="450"/>
              </a:spcBef>
              <a:spcAft>
                <a:spcPts val="300"/>
              </a:spcAft>
              <a:buNone/>
            </a:pPr>
            <a:r>
              <a:rPr lang="en-US" sz="750" dirty="0">
                <a:solidFill>
                  <a:srgbClr val="FFFFFF"/>
                </a:solidFill>
                <a:latin typeface="Arial" pitchFamily="34" charset="0"/>
                <a:ea typeface="Arial" pitchFamily="34" charset="-122"/>
                <a:cs typeface="Arial" pitchFamily="34" charset="-120"/>
              </a:rPr>
              <a:t>100% = model performs equally well on unseen languages. Over 100% = model performs BETTER on unseen languages (surprising!)</a:t>
            </a:r>
            <a:endParaRPr lang="en-US" sz="750" dirty="0"/>
          </a:p>
        </p:txBody>
      </p:sp>
      <p:sp>
        <p:nvSpPr>
          <p:cNvPr id="21" name="Text 19"/>
          <p:cNvSpPr/>
          <p:nvPr/>
        </p:nvSpPr>
        <p:spPr>
          <a:xfrm>
            <a:off x="381000" y="3271689"/>
            <a:ext cx="2692450" cy="704850"/>
          </a:xfrm>
          <a:prstGeom prst="roundRect">
            <a:avLst>
              <a:gd name="adj" fmla="val 10811"/>
            </a:avLst>
          </a:prstGeom>
          <a:solidFill>
            <a:srgbClr val="D5F5E3"/>
          </a:solidFill>
          <a:ln/>
        </p:spPr>
        <p:txBody>
          <a:bodyPr wrap="square" rtlCol="0" anchor="ctr"/>
          <a:lstStyle/>
          <a:p>
            <a:pPr marL="0" indent="0">
              <a:buNone/>
            </a:pPr>
            <a:endParaRPr lang="en-US" dirty="0"/>
          </a:p>
        </p:txBody>
      </p:sp>
      <p:sp>
        <p:nvSpPr>
          <p:cNvPr id="22" name="Text 20"/>
          <p:cNvSpPr/>
          <p:nvPr/>
        </p:nvSpPr>
        <p:spPr>
          <a:xfrm>
            <a:off x="470662" y="3385989"/>
            <a:ext cx="2513127" cy="266700"/>
          </a:xfrm>
          <a:prstGeom prst="rect">
            <a:avLst/>
          </a:prstGeom>
          <a:noFill/>
          <a:ln/>
        </p:spPr>
        <p:txBody>
          <a:bodyPr wrap="square" lIns="0" tIns="0" rIns="0" bIns="0" rtlCol="0" anchor="t"/>
          <a:lstStyle/>
          <a:p>
            <a:pPr marL="0" indent="0" algn="ctr">
              <a:lnSpc>
                <a:spcPts val="2100"/>
              </a:lnSpc>
              <a:buNone/>
            </a:pPr>
            <a:r>
              <a:rPr lang="en-US" sz="1500" b="1" dirty="0">
                <a:solidFill>
                  <a:srgbClr val="27AE60"/>
                </a:solidFill>
                <a:latin typeface="Arial" pitchFamily="34" charset="0"/>
                <a:ea typeface="Arial" pitchFamily="34" charset="-122"/>
                <a:cs typeface="Arial" pitchFamily="34" charset="-120"/>
              </a:rPr>
              <a:t>0.35+</a:t>
            </a:r>
            <a:endParaRPr lang="en-US" sz="1500" dirty="0"/>
          </a:p>
        </p:txBody>
      </p:sp>
      <p:sp>
        <p:nvSpPr>
          <p:cNvPr id="23" name="Text 21"/>
          <p:cNvSpPr/>
          <p:nvPr/>
        </p:nvSpPr>
        <p:spPr>
          <a:xfrm>
            <a:off x="470662" y="3690789"/>
            <a:ext cx="2513127" cy="133350"/>
          </a:xfrm>
          <a:prstGeom prst="rect">
            <a:avLst/>
          </a:prstGeom>
          <a:noFill/>
          <a:ln/>
        </p:spPr>
        <p:txBody>
          <a:bodyPr wrap="square" lIns="0" tIns="0" rIns="0" bIns="0" rtlCol="0" anchor="t"/>
          <a:lstStyle/>
          <a:p>
            <a:pPr marL="0" indent="0" algn="ctr">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Good ROUGE-L</a:t>
            </a:r>
            <a:endParaRPr lang="en-US" sz="750" dirty="0"/>
          </a:p>
        </p:txBody>
      </p:sp>
      <p:sp>
        <p:nvSpPr>
          <p:cNvPr id="24" name="Text 22"/>
          <p:cNvSpPr/>
          <p:nvPr/>
        </p:nvSpPr>
        <p:spPr>
          <a:xfrm>
            <a:off x="3225850" y="3271689"/>
            <a:ext cx="2692450" cy="704850"/>
          </a:xfrm>
          <a:prstGeom prst="roundRect">
            <a:avLst>
              <a:gd name="adj" fmla="val 10811"/>
            </a:avLst>
          </a:prstGeom>
          <a:solidFill>
            <a:srgbClr val="FEF9E7"/>
          </a:solidFill>
          <a:ln/>
        </p:spPr>
        <p:txBody>
          <a:bodyPr wrap="square" rtlCol="0" anchor="ctr"/>
          <a:lstStyle/>
          <a:p>
            <a:pPr marL="0" indent="0">
              <a:buNone/>
            </a:pPr>
            <a:endParaRPr lang="en-US" dirty="0"/>
          </a:p>
        </p:txBody>
      </p:sp>
      <p:sp>
        <p:nvSpPr>
          <p:cNvPr id="25" name="Text 23"/>
          <p:cNvSpPr/>
          <p:nvPr/>
        </p:nvSpPr>
        <p:spPr>
          <a:xfrm>
            <a:off x="3315511" y="3385989"/>
            <a:ext cx="2513127" cy="266700"/>
          </a:xfrm>
          <a:prstGeom prst="rect">
            <a:avLst/>
          </a:prstGeom>
          <a:noFill/>
          <a:ln/>
        </p:spPr>
        <p:txBody>
          <a:bodyPr wrap="square" lIns="0" tIns="0" rIns="0" bIns="0" rtlCol="0" anchor="t"/>
          <a:lstStyle/>
          <a:p>
            <a:pPr marL="0" indent="0" algn="ctr">
              <a:lnSpc>
                <a:spcPts val="2100"/>
              </a:lnSpc>
              <a:buNone/>
            </a:pPr>
            <a:r>
              <a:rPr lang="en-US" sz="1500" b="1" dirty="0">
                <a:solidFill>
                  <a:srgbClr val="F39C12"/>
                </a:solidFill>
                <a:latin typeface="Arial" pitchFamily="34" charset="0"/>
                <a:ea typeface="Arial" pitchFamily="34" charset="-122"/>
                <a:cs typeface="Arial" pitchFamily="34" charset="-120"/>
              </a:rPr>
              <a:t>0.65+</a:t>
            </a:r>
            <a:endParaRPr lang="en-US" sz="1500" dirty="0"/>
          </a:p>
        </p:txBody>
      </p:sp>
      <p:sp>
        <p:nvSpPr>
          <p:cNvPr id="26" name="Text 24"/>
          <p:cNvSpPr/>
          <p:nvPr/>
        </p:nvSpPr>
        <p:spPr>
          <a:xfrm>
            <a:off x="3315511" y="3690789"/>
            <a:ext cx="2513127" cy="133350"/>
          </a:xfrm>
          <a:prstGeom prst="rect">
            <a:avLst/>
          </a:prstGeom>
          <a:noFill/>
          <a:ln/>
        </p:spPr>
        <p:txBody>
          <a:bodyPr wrap="square" lIns="0" tIns="0" rIns="0" bIns="0" rtlCol="0" anchor="t"/>
          <a:lstStyle/>
          <a:p>
            <a:pPr marL="0" indent="0" algn="ctr">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Good BERTScore</a:t>
            </a:r>
            <a:endParaRPr lang="en-US" sz="750" dirty="0"/>
          </a:p>
        </p:txBody>
      </p:sp>
      <p:sp>
        <p:nvSpPr>
          <p:cNvPr id="27" name="Text 25"/>
          <p:cNvSpPr/>
          <p:nvPr/>
        </p:nvSpPr>
        <p:spPr>
          <a:xfrm>
            <a:off x="6070699" y="3271689"/>
            <a:ext cx="2692450" cy="704850"/>
          </a:xfrm>
          <a:prstGeom prst="roundRect">
            <a:avLst>
              <a:gd name="adj" fmla="val 10811"/>
            </a:avLst>
          </a:prstGeom>
          <a:solidFill>
            <a:srgbClr val="FADBD8"/>
          </a:solidFill>
          <a:ln/>
        </p:spPr>
        <p:txBody>
          <a:bodyPr wrap="square" rtlCol="0" anchor="ctr"/>
          <a:lstStyle/>
          <a:p>
            <a:pPr marL="0" indent="0">
              <a:buNone/>
            </a:pPr>
            <a:endParaRPr lang="en-US" dirty="0"/>
          </a:p>
        </p:txBody>
      </p:sp>
      <p:sp>
        <p:nvSpPr>
          <p:cNvPr id="28" name="Text 26"/>
          <p:cNvSpPr/>
          <p:nvPr/>
        </p:nvSpPr>
        <p:spPr>
          <a:xfrm>
            <a:off x="6160361" y="3385989"/>
            <a:ext cx="2513127" cy="266700"/>
          </a:xfrm>
          <a:prstGeom prst="rect">
            <a:avLst/>
          </a:prstGeom>
          <a:noFill/>
          <a:ln/>
        </p:spPr>
        <p:txBody>
          <a:bodyPr wrap="square" lIns="0" tIns="0" rIns="0" bIns="0" rtlCol="0" anchor="t"/>
          <a:lstStyle/>
          <a:p>
            <a:pPr marL="0" indent="0" algn="ctr">
              <a:lnSpc>
                <a:spcPts val="2100"/>
              </a:lnSpc>
              <a:buNone/>
            </a:pPr>
            <a:r>
              <a:rPr lang="en-US" sz="1500" b="1" dirty="0">
                <a:solidFill>
                  <a:srgbClr val="E74C3C"/>
                </a:solidFill>
                <a:latin typeface="Arial" pitchFamily="34" charset="0"/>
                <a:ea typeface="Arial" pitchFamily="34" charset="-122"/>
                <a:cs typeface="Arial" pitchFamily="34" charset="-120"/>
              </a:rPr>
              <a:t>100%+</a:t>
            </a:r>
            <a:endParaRPr lang="en-US" sz="1500" dirty="0"/>
          </a:p>
        </p:txBody>
      </p:sp>
      <p:sp>
        <p:nvSpPr>
          <p:cNvPr id="29" name="Text 27"/>
          <p:cNvSpPr/>
          <p:nvPr/>
        </p:nvSpPr>
        <p:spPr>
          <a:xfrm>
            <a:off x="6160361" y="3690789"/>
            <a:ext cx="2513127" cy="133350"/>
          </a:xfrm>
          <a:prstGeom prst="rect">
            <a:avLst/>
          </a:prstGeom>
          <a:noFill/>
          <a:ln/>
        </p:spPr>
        <p:txBody>
          <a:bodyPr wrap="square" lIns="0" tIns="0" rIns="0" bIns="0" rtlCol="0" anchor="t"/>
          <a:lstStyle/>
          <a:p>
            <a:pPr marL="0" indent="0" algn="ctr">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Target Transfer Rate</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4284536"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Baseline Performance</a:t>
            </a:r>
            <a:endParaRPr lang="en-US" sz="2250" dirty="0"/>
          </a:p>
        </p:txBody>
      </p:sp>
      <p:sp>
        <p:nvSpPr>
          <p:cNvPr id="3" name="Text 1"/>
          <p:cNvSpPr/>
          <p:nvPr/>
        </p:nvSpPr>
        <p:spPr>
          <a:xfrm>
            <a:off x="381000" y="819150"/>
            <a:ext cx="4114800" cy="1312218"/>
          </a:xfrm>
          <a:prstGeom prst="roundRect">
            <a:avLst>
              <a:gd name="adj" fmla="val 5807"/>
            </a:avLst>
          </a:prstGeom>
          <a:solidFill>
            <a:srgbClr val="FADBD8"/>
          </a:solidFill>
          <a:ln/>
        </p:spPr>
        <p:txBody>
          <a:bodyPr wrap="square" rtlCol="0" anchor="ctr"/>
          <a:lstStyle/>
          <a:p>
            <a:pPr marL="0" indent="0">
              <a:buNone/>
            </a:pPr>
            <a:endParaRPr lang="en-US" dirty="0"/>
          </a:p>
        </p:txBody>
      </p:sp>
      <p:sp>
        <p:nvSpPr>
          <p:cNvPr id="4" name="Shape 2"/>
          <p:cNvSpPr/>
          <p:nvPr/>
        </p:nvSpPr>
        <p:spPr>
          <a:xfrm>
            <a:off x="400050" y="819150"/>
            <a:ext cx="0" cy="1312218"/>
          </a:xfrm>
          <a:prstGeom prst="line">
            <a:avLst/>
          </a:prstGeom>
          <a:noFill/>
          <a:ln w="38100">
            <a:solidFill>
              <a:srgbClr val="E74C3C"/>
            </a:solidFill>
            <a:prstDash val="solid"/>
          </a:ln>
        </p:spPr>
        <p:txBody>
          <a:bodyPr/>
          <a:lstStyle/>
          <a:p>
            <a:endParaRPr lang="en-US"/>
          </a:p>
        </p:txBody>
      </p:sp>
      <p:sp>
        <p:nvSpPr>
          <p:cNvPr id="5" name="Text 3"/>
          <p:cNvSpPr/>
          <p:nvPr/>
        </p:nvSpPr>
        <p:spPr>
          <a:xfrm>
            <a:off x="552450" y="990600"/>
            <a:ext cx="3886200" cy="173236"/>
          </a:xfrm>
          <a:prstGeom prst="rect">
            <a:avLst/>
          </a:prstGeom>
          <a:noFill/>
          <a:ln/>
        </p:spPr>
        <p:txBody>
          <a:bodyPr wrap="square" lIns="0" tIns="0" rIns="0" bIns="0" rtlCol="0" anchor="t"/>
          <a:lstStyle/>
          <a:p>
            <a:pPr marL="0" indent="0" algn="l">
              <a:lnSpc>
                <a:spcPts val="1365"/>
              </a:lnSpc>
              <a:spcBef>
                <a:spcPts val="300"/>
              </a:spcBef>
              <a:spcAft>
                <a:spcPts val="600"/>
              </a:spcAft>
              <a:buNone/>
            </a:pPr>
            <a:r>
              <a:rPr lang="en-US" sz="975" b="1" dirty="0">
                <a:solidFill>
                  <a:srgbClr val="E74C3C"/>
                </a:solidFill>
                <a:latin typeface="Arial" pitchFamily="34" charset="0"/>
                <a:ea typeface="Arial" pitchFamily="34" charset="-122"/>
                <a:cs typeface="Arial" pitchFamily="34" charset="-120"/>
              </a:rPr>
              <a:t>Simple Baseline: Lead-3</a:t>
            </a:r>
            <a:endParaRPr lang="en-US" sz="975" dirty="0"/>
          </a:p>
        </p:txBody>
      </p:sp>
      <p:sp>
        <p:nvSpPr>
          <p:cNvPr id="6" name="Text 4"/>
          <p:cNvSpPr/>
          <p:nvPr/>
        </p:nvSpPr>
        <p:spPr>
          <a:xfrm>
            <a:off x="552450" y="1240036"/>
            <a:ext cx="3886200" cy="146596"/>
          </a:xfrm>
          <a:prstGeom prst="rect">
            <a:avLst/>
          </a:prstGeom>
          <a:noFill/>
          <a:ln/>
        </p:spPr>
        <p:txBody>
          <a:bodyPr wrap="square" lIns="0" tIns="0" rIns="0" bIns="0" rtlCol="0" anchor="t"/>
          <a:lstStyle/>
          <a:p>
            <a:pPr marL="0" indent="0" algn="l">
              <a:lnSpc>
                <a:spcPts val="1155"/>
              </a:lnSpc>
              <a:spcBef>
                <a:spcPts val="300"/>
              </a:spcBef>
              <a:spcAft>
                <a:spcPts val="600"/>
              </a:spcAft>
              <a:buNone/>
            </a:pPr>
            <a:r>
              <a:rPr lang="en-US" sz="825" dirty="0">
                <a:solidFill>
                  <a:srgbClr val="6C757D"/>
                </a:solidFill>
                <a:latin typeface="Arial" pitchFamily="34" charset="0"/>
                <a:ea typeface="Arial" pitchFamily="34" charset="-122"/>
                <a:cs typeface="Arial" pitchFamily="34" charset="-120"/>
              </a:rPr>
              <a:t>Takes the first 3 utterances of conversation as the summary. No learning involved.</a:t>
            </a:r>
            <a:endParaRPr lang="en-US" sz="825" dirty="0"/>
          </a:p>
        </p:txBody>
      </p:sp>
      <p:sp>
        <p:nvSpPr>
          <p:cNvPr id="7" name="Text 5"/>
          <p:cNvSpPr/>
          <p:nvPr/>
        </p:nvSpPr>
        <p:spPr>
          <a:xfrm>
            <a:off x="552450" y="1462832"/>
            <a:ext cx="3886200" cy="159990"/>
          </a:xfrm>
          <a:prstGeom prst="rect">
            <a:avLst/>
          </a:prstGeom>
          <a:noFill/>
          <a:ln/>
        </p:spPr>
        <p:txBody>
          <a:bodyPr wrap="square" lIns="0" tIns="0" rIns="0" bIns="0" rtlCol="0" anchor="t"/>
          <a:lstStyle/>
          <a:p>
            <a:pPr marL="0" indent="0" algn="l">
              <a:lnSpc>
                <a:spcPts val="1260"/>
              </a:lnSpc>
              <a:spcBef>
                <a:spcPts val="300"/>
              </a:spcBef>
              <a:spcAft>
                <a:spcPts val="300"/>
              </a:spcAft>
              <a:buNone/>
            </a:pPr>
            <a:r>
              <a:rPr lang="en-US" sz="900" b="1" dirty="0">
                <a:solidFill>
                  <a:srgbClr val="2C3E50"/>
                </a:solidFill>
                <a:latin typeface="Arial" pitchFamily="34" charset="0"/>
                <a:ea typeface="Arial" pitchFamily="34" charset="-122"/>
                <a:cs typeface="Arial" pitchFamily="34" charset="-120"/>
              </a:rPr>
              <a:t>ROUGE-L: ~0.15-0.20</a:t>
            </a:r>
            <a:endParaRPr lang="en-US" sz="900" dirty="0"/>
          </a:p>
        </p:txBody>
      </p:sp>
      <p:sp>
        <p:nvSpPr>
          <p:cNvPr id="8" name="Text 6"/>
          <p:cNvSpPr/>
          <p:nvPr/>
        </p:nvSpPr>
        <p:spPr>
          <a:xfrm>
            <a:off x="552450" y="1679972"/>
            <a:ext cx="3886200" cy="133350"/>
          </a:xfrm>
          <a:prstGeom prst="rect">
            <a:avLst/>
          </a:prstGeom>
          <a:noFill/>
          <a:ln/>
        </p:spPr>
        <p:txBody>
          <a:bodyPr wrap="square" lIns="0" tIns="0" rIns="0" bIns="0" rtlCol="0" anchor="t"/>
          <a:lstStyle/>
          <a:p>
            <a:pPr marL="0" indent="0" algn="l">
              <a:lnSpc>
                <a:spcPts val="1050"/>
              </a:lnSpc>
              <a:spcBef>
                <a:spcPts val="450"/>
              </a:spcBef>
              <a:spcAft>
                <a:spcPts val="300"/>
              </a:spcAft>
              <a:buNone/>
            </a:pPr>
            <a:r>
              <a:rPr lang="en-US" sz="750" dirty="0">
                <a:solidFill>
                  <a:srgbClr val="6C757D"/>
                </a:solidFill>
                <a:latin typeface="Arial" pitchFamily="34" charset="0"/>
                <a:ea typeface="Arial" pitchFamily="34" charset="-122"/>
                <a:cs typeface="Arial" pitchFamily="34" charset="-120"/>
              </a:rPr>
              <a:t>Very weak because conversations often start with greetings, not key information.</a:t>
            </a:r>
            <a:endParaRPr lang="en-US" sz="750" dirty="0"/>
          </a:p>
        </p:txBody>
      </p:sp>
      <p:sp>
        <p:nvSpPr>
          <p:cNvPr id="9" name="Text 7"/>
          <p:cNvSpPr/>
          <p:nvPr/>
        </p:nvSpPr>
        <p:spPr>
          <a:xfrm>
            <a:off x="4648200" y="819150"/>
            <a:ext cx="4114800" cy="1312218"/>
          </a:xfrm>
          <a:prstGeom prst="roundRect">
            <a:avLst>
              <a:gd name="adj" fmla="val 5807"/>
            </a:avLst>
          </a:prstGeom>
          <a:solidFill>
            <a:srgbClr val="FEF9E7"/>
          </a:solidFill>
          <a:ln/>
        </p:spPr>
        <p:txBody>
          <a:bodyPr wrap="square" rtlCol="0" anchor="ctr"/>
          <a:lstStyle/>
          <a:p>
            <a:pPr marL="0" indent="0">
              <a:buNone/>
            </a:pPr>
            <a:endParaRPr lang="en-US" dirty="0"/>
          </a:p>
        </p:txBody>
      </p:sp>
      <p:sp>
        <p:nvSpPr>
          <p:cNvPr id="10" name="Shape 8"/>
          <p:cNvSpPr/>
          <p:nvPr/>
        </p:nvSpPr>
        <p:spPr>
          <a:xfrm>
            <a:off x="4667250" y="819150"/>
            <a:ext cx="0" cy="1312218"/>
          </a:xfrm>
          <a:prstGeom prst="line">
            <a:avLst/>
          </a:prstGeom>
          <a:noFill/>
          <a:ln w="38100">
            <a:solidFill>
              <a:srgbClr val="F39C12"/>
            </a:solidFill>
            <a:prstDash val="solid"/>
          </a:ln>
        </p:spPr>
        <p:txBody>
          <a:bodyPr/>
          <a:lstStyle/>
          <a:p>
            <a:endParaRPr lang="en-US"/>
          </a:p>
        </p:txBody>
      </p:sp>
      <p:sp>
        <p:nvSpPr>
          <p:cNvPr id="11" name="Text 9"/>
          <p:cNvSpPr/>
          <p:nvPr/>
        </p:nvSpPr>
        <p:spPr>
          <a:xfrm>
            <a:off x="4819650" y="990600"/>
            <a:ext cx="3886200" cy="173236"/>
          </a:xfrm>
          <a:prstGeom prst="rect">
            <a:avLst/>
          </a:prstGeom>
          <a:noFill/>
          <a:ln/>
        </p:spPr>
        <p:txBody>
          <a:bodyPr wrap="square" lIns="0" tIns="0" rIns="0" bIns="0" rtlCol="0" anchor="t"/>
          <a:lstStyle/>
          <a:p>
            <a:pPr marL="0" indent="0" algn="l">
              <a:lnSpc>
                <a:spcPts val="1365"/>
              </a:lnSpc>
              <a:spcBef>
                <a:spcPts val="300"/>
              </a:spcBef>
              <a:spcAft>
                <a:spcPts val="600"/>
              </a:spcAft>
              <a:buNone/>
            </a:pPr>
            <a:r>
              <a:rPr lang="en-US" sz="975" b="1" dirty="0">
                <a:solidFill>
                  <a:srgbClr val="F39C12"/>
                </a:solidFill>
                <a:latin typeface="Arial" pitchFamily="34" charset="0"/>
                <a:ea typeface="Arial" pitchFamily="34" charset="-122"/>
                <a:cs typeface="Arial" pitchFamily="34" charset="-120"/>
              </a:rPr>
              <a:t>Published Baseline: mT5-base</a:t>
            </a:r>
            <a:endParaRPr lang="en-US" sz="975" dirty="0"/>
          </a:p>
        </p:txBody>
      </p:sp>
      <p:sp>
        <p:nvSpPr>
          <p:cNvPr id="12" name="Text 10"/>
          <p:cNvSpPr/>
          <p:nvPr/>
        </p:nvSpPr>
        <p:spPr>
          <a:xfrm>
            <a:off x="4819650" y="1240036"/>
            <a:ext cx="3886200" cy="293191"/>
          </a:xfrm>
          <a:prstGeom prst="rect">
            <a:avLst/>
          </a:prstGeom>
          <a:noFill/>
          <a:ln/>
        </p:spPr>
        <p:txBody>
          <a:bodyPr wrap="square" lIns="0" tIns="0" rIns="0" bIns="0" rtlCol="0" anchor="t"/>
          <a:lstStyle/>
          <a:p>
            <a:pPr marL="0" indent="0" algn="l">
              <a:lnSpc>
                <a:spcPts val="1155"/>
              </a:lnSpc>
              <a:spcBef>
                <a:spcPts val="300"/>
              </a:spcBef>
              <a:spcAft>
                <a:spcPts val="600"/>
              </a:spcAft>
              <a:buNone/>
            </a:pPr>
            <a:r>
              <a:rPr lang="en-US" sz="825" dirty="0">
                <a:solidFill>
                  <a:srgbClr val="6C757D"/>
                </a:solidFill>
                <a:latin typeface="Arial" pitchFamily="34" charset="0"/>
                <a:ea typeface="Arial" pitchFamily="34" charset="-122"/>
                <a:cs typeface="Arial" pitchFamily="34" charset="-120"/>
              </a:rPr>
              <a:t>Multilingual T5 model (580M params). Encoder-decoder architecture fine-tuned on our data.</a:t>
            </a:r>
            <a:endParaRPr lang="en-US" sz="825" dirty="0"/>
          </a:p>
        </p:txBody>
      </p:sp>
      <p:sp>
        <p:nvSpPr>
          <p:cNvPr id="13" name="Text 11"/>
          <p:cNvSpPr/>
          <p:nvPr/>
        </p:nvSpPr>
        <p:spPr>
          <a:xfrm>
            <a:off x="4819650" y="1609427"/>
            <a:ext cx="3886200" cy="159990"/>
          </a:xfrm>
          <a:prstGeom prst="rect">
            <a:avLst/>
          </a:prstGeom>
          <a:noFill/>
          <a:ln/>
        </p:spPr>
        <p:txBody>
          <a:bodyPr wrap="square" lIns="0" tIns="0" rIns="0" bIns="0" rtlCol="0" anchor="t"/>
          <a:lstStyle/>
          <a:p>
            <a:pPr marL="0" indent="0" algn="l">
              <a:lnSpc>
                <a:spcPts val="1260"/>
              </a:lnSpc>
              <a:spcBef>
                <a:spcPts val="300"/>
              </a:spcBef>
              <a:spcAft>
                <a:spcPts val="300"/>
              </a:spcAft>
              <a:buNone/>
            </a:pPr>
            <a:r>
              <a:rPr lang="en-US" sz="900" b="1" dirty="0">
                <a:solidFill>
                  <a:srgbClr val="2C3E50"/>
                </a:solidFill>
                <a:latin typeface="Arial" pitchFamily="34" charset="0"/>
                <a:ea typeface="Arial" pitchFamily="34" charset="-122"/>
                <a:cs typeface="Arial" pitchFamily="34" charset="-120"/>
              </a:rPr>
              <a:t>ROUGE-L: ~0.06 (Failed)</a:t>
            </a:r>
            <a:endParaRPr lang="en-US" sz="900" dirty="0"/>
          </a:p>
        </p:txBody>
      </p:sp>
      <p:sp>
        <p:nvSpPr>
          <p:cNvPr id="14" name="Text 12"/>
          <p:cNvSpPr/>
          <p:nvPr/>
        </p:nvSpPr>
        <p:spPr>
          <a:xfrm>
            <a:off x="4819650" y="1826568"/>
            <a:ext cx="3886200" cy="133350"/>
          </a:xfrm>
          <a:prstGeom prst="rect">
            <a:avLst/>
          </a:prstGeom>
          <a:noFill/>
          <a:ln/>
        </p:spPr>
        <p:txBody>
          <a:bodyPr wrap="square" lIns="0" tIns="0" rIns="0" bIns="0" rtlCol="0" anchor="t"/>
          <a:lstStyle/>
          <a:p>
            <a:pPr marL="0" indent="0" algn="l">
              <a:lnSpc>
                <a:spcPts val="1050"/>
              </a:lnSpc>
              <a:spcBef>
                <a:spcPts val="450"/>
              </a:spcBef>
              <a:spcAft>
                <a:spcPts val="300"/>
              </a:spcAft>
              <a:buNone/>
            </a:pPr>
            <a:r>
              <a:rPr lang="en-US" sz="750" dirty="0">
                <a:solidFill>
                  <a:srgbClr val="6C757D"/>
                </a:solidFill>
                <a:latin typeface="Arial" pitchFamily="34" charset="0"/>
                <a:ea typeface="Arial" pitchFamily="34" charset="-122"/>
                <a:cs typeface="Arial" pitchFamily="34" charset="-120"/>
              </a:rPr>
              <a:t>Surprisingly poor - model struggled with code-mixed input format.</a:t>
            </a:r>
            <a:endParaRPr lang="en-US" sz="750" dirty="0"/>
          </a:p>
        </p:txBody>
      </p:sp>
      <p:sp>
        <p:nvSpPr>
          <p:cNvPr id="15" name="Text 13"/>
          <p:cNvSpPr/>
          <p:nvPr/>
        </p:nvSpPr>
        <p:spPr>
          <a:xfrm>
            <a:off x="381000" y="2264718"/>
            <a:ext cx="8382000" cy="975122"/>
          </a:xfrm>
          <a:prstGeom prst="roundRect">
            <a:avLst>
              <a:gd name="adj" fmla="val 7814"/>
            </a:avLst>
          </a:prstGeom>
          <a:solidFill>
            <a:srgbClr val="D5F5E3"/>
          </a:solidFill>
          <a:ln/>
        </p:spPr>
        <p:txBody>
          <a:bodyPr wrap="square" rtlCol="0" anchor="ctr"/>
          <a:lstStyle/>
          <a:p>
            <a:pPr marL="0" indent="0">
              <a:buNone/>
            </a:pPr>
            <a:endParaRPr lang="en-US" dirty="0"/>
          </a:p>
        </p:txBody>
      </p:sp>
      <p:sp>
        <p:nvSpPr>
          <p:cNvPr id="16" name="Shape 14"/>
          <p:cNvSpPr/>
          <p:nvPr/>
        </p:nvSpPr>
        <p:spPr>
          <a:xfrm>
            <a:off x="400050" y="2264718"/>
            <a:ext cx="0" cy="975122"/>
          </a:xfrm>
          <a:prstGeom prst="line">
            <a:avLst/>
          </a:prstGeom>
          <a:noFill/>
          <a:ln w="38100">
            <a:solidFill>
              <a:srgbClr val="27AE60"/>
            </a:solidFill>
            <a:prstDash val="solid"/>
          </a:ln>
        </p:spPr>
        <p:txBody>
          <a:bodyPr/>
          <a:lstStyle/>
          <a:p>
            <a:endParaRPr lang="en-US"/>
          </a:p>
        </p:txBody>
      </p:sp>
      <p:sp>
        <p:nvSpPr>
          <p:cNvPr id="17" name="Text 15"/>
          <p:cNvSpPr/>
          <p:nvPr/>
        </p:nvSpPr>
        <p:spPr>
          <a:xfrm>
            <a:off x="552450" y="2436168"/>
            <a:ext cx="8238744" cy="173236"/>
          </a:xfrm>
          <a:prstGeom prst="rect">
            <a:avLst/>
          </a:prstGeom>
          <a:noFill/>
          <a:ln/>
        </p:spPr>
        <p:txBody>
          <a:bodyPr wrap="square" lIns="0" tIns="0" rIns="0" bIns="0" rtlCol="0" anchor="t"/>
          <a:lstStyle/>
          <a:p>
            <a:pPr marL="0" indent="0" algn="l">
              <a:lnSpc>
                <a:spcPts val="1365"/>
              </a:lnSpc>
              <a:spcBef>
                <a:spcPts val="300"/>
              </a:spcBef>
              <a:spcAft>
                <a:spcPts val="600"/>
              </a:spcAft>
              <a:buNone/>
            </a:pPr>
            <a:r>
              <a:rPr lang="en-US" sz="975" b="1" dirty="0">
                <a:solidFill>
                  <a:srgbClr val="27AE60"/>
                </a:solidFill>
                <a:latin typeface="Arial" pitchFamily="34" charset="0"/>
                <a:ea typeface="Arial" pitchFamily="34" charset="-122"/>
                <a:cs typeface="Arial" pitchFamily="34" charset="-120"/>
              </a:rPr>
              <a:t>Strong Baseline: mBART-50 (Milestone 2)</a:t>
            </a:r>
            <a:endParaRPr lang="en-US" sz="975" dirty="0"/>
          </a:p>
        </p:txBody>
      </p:sp>
      <p:sp>
        <p:nvSpPr>
          <p:cNvPr id="18" name="Text 16"/>
          <p:cNvSpPr/>
          <p:nvPr/>
        </p:nvSpPr>
        <p:spPr>
          <a:xfrm>
            <a:off x="552450" y="2685604"/>
            <a:ext cx="8238744" cy="146596"/>
          </a:xfrm>
          <a:prstGeom prst="rect">
            <a:avLst/>
          </a:prstGeom>
          <a:noFill/>
          <a:ln/>
        </p:spPr>
        <p:txBody>
          <a:bodyPr wrap="square" lIns="0" tIns="0" rIns="0" bIns="0" rtlCol="0" anchor="t"/>
          <a:lstStyle/>
          <a:p>
            <a:pPr marL="0" indent="0" algn="l">
              <a:lnSpc>
                <a:spcPts val="1155"/>
              </a:lnSpc>
              <a:spcBef>
                <a:spcPts val="300"/>
              </a:spcBef>
              <a:spcAft>
                <a:spcPts val="600"/>
              </a:spcAft>
              <a:buNone/>
            </a:pPr>
            <a:r>
              <a:rPr lang="en-US" sz="825" dirty="0">
                <a:solidFill>
                  <a:srgbClr val="6C757D"/>
                </a:solidFill>
                <a:latin typeface="Arial" pitchFamily="34" charset="0"/>
                <a:ea typeface="Arial" pitchFamily="34" charset="-122"/>
                <a:cs typeface="Arial" pitchFamily="34" charset="-120"/>
              </a:rPr>
              <a:t>Multilingual BART model (611M params). Pre-trained on 50 languages with denoising objective. Fine-tuned for summarization.</a:t>
            </a:r>
            <a:endParaRPr lang="en-US" sz="825" dirty="0"/>
          </a:p>
        </p:txBody>
      </p:sp>
      <p:sp>
        <p:nvSpPr>
          <p:cNvPr id="19" name="Text 17"/>
          <p:cNvSpPr/>
          <p:nvPr/>
        </p:nvSpPr>
        <p:spPr>
          <a:xfrm>
            <a:off x="552450" y="2908399"/>
            <a:ext cx="8238744" cy="159990"/>
          </a:xfrm>
          <a:prstGeom prst="rect">
            <a:avLst/>
          </a:prstGeom>
          <a:noFill/>
          <a:ln/>
        </p:spPr>
        <p:txBody>
          <a:bodyPr wrap="square" lIns="0" tIns="0" rIns="0" bIns="0" rtlCol="0" anchor="t"/>
          <a:lstStyle/>
          <a:p>
            <a:pPr marL="0" indent="0" algn="l">
              <a:lnSpc>
                <a:spcPts val="1260"/>
              </a:lnSpc>
              <a:spcBef>
                <a:spcPts val="300"/>
              </a:spcBef>
              <a:spcAft>
                <a:spcPts val="300"/>
              </a:spcAft>
              <a:buNone/>
            </a:pPr>
            <a:r>
              <a:rPr lang="en-US" sz="900" b="1" dirty="0">
                <a:solidFill>
                  <a:srgbClr val="2C3E50"/>
                </a:solidFill>
                <a:latin typeface="Arial" pitchFamily="34" charset="0"/>
                <a:ea typeface="Arial" pitchFamily="34" charset="-122"/>
                <a:cs typeface="Arial" pitchFamily="34" charset="-120"/>
              </a:rPr>
              <a:t>ROUGE-L: 0.321 (In-Domain) | 0.326 (Zero-Shot) | Transfer: 102%</a:t>
            </a:r>
            <a:endParaRPr lang="en-US" sz="900" dirty="0"/>
          </a:p>
        </p:txBody>
      </p:sp>
      <p:sp>
        <p:nvSpPr>
          <p:cNvPr id="20" name="Text 18"/>
          <p:cNvSpPr/>
          <p:nvPr/>
        </p:nvSpPr>
        <p:spPr>
          <a:xfrm>
            <a:off x="381000" y="3373189"/>
            <a:ext cx="8382000" cy="706636"/>
          </a:xfrm>
          <a:prstGeom prst="roundRect">
            <a:avLst>
              <a:gd name="adj" fmla="val 10783"/>
            </a:avLst>
          </a:prstGeom>
          <a:solidFill>
            <a:srgbClr val="1A5276"/>
          </a:solidFill>
          <a:ln/>
        </p:spPr>
        <p:txBody>
          <a:bodyPr wrap="square" rtlCol="0" anchor="ctr"/>
          <a:lstStyle/>
          <a:p>
            <a:pPr marL="0" indent="0">
              <a:buNone/>
            </a:pPr>
            <a:endParaRPr lang="en-US" dirty="0"/>
          </a:p>
        </p:txBody>
      </p:sp>
      <p:sp>
        <p:nvSpPr>
          <p:cNvPr id="21" name="Text 19"/>
          <p:cNvSpPr/>
          <p:nvPr/>
        </p:nvSpPr>
        <p:spPr>
          <a:xfrm>
            <a:off x="514350" y="3544639"/>
            <a:ext cx="8277606"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FFFFFF"/>
                </a:solidFill>
                <a:latin typeface="Arial" pitchFamily="34" charset="0"/>
                <a:ea typeface="Arial" pitchFamily="34" charset="-122"/>
                <a:cs typeface="Arial" pitchFamily="34" charset="-120"/>
              </a:rPr>
              <a:t>Key Insight from Baselines</a:t>
            </a:r>
            <a:endParaRPr lang="en-US" sz="900" dirty="0"/>
          </a:p>
        </p:txBody>
      </p:sp>
      <p:sp>
        <p:nvSpPr>
          <p:cNvPr id="22" name="Text 20"/>
          <p:cNvSpPr/>
          <p:nvPr/>
        </p:nvSpPr>
        <p:spPr>
          <a:xfrm>
            <a:off x="514350" y="3761780"/>
            <a:ext cx="8277606" cy="146596"/>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Not all multilingual models work for code-mixing. mT5 failed completely while mBART succeeded. This motivated exploring decoder-only LLMs for our extension.</a:t>
            </a:r>
            <a:endParaRPr lang="en-US" sz="8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4227576"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Prior Work and Approaches</a:t>
            </a:r>
            <a:endParaRPr lang="en-US" sz="2250" dirty="0"/>
          </a:p>
        </p:txBody>
      </p:sp>
      <p:sp>
        <p:nvSpPr>
          <p:cNvPr id="3" name="Text 1"/>
          <p:cNvSpPr/>
          <p:nvPr/>
        </p:nvSpPr>
        <p:spPr>
          <a:xfrm>
            <a:off x="361188" y="851481"/>
            <a:ext cx="8382000" cy="891332"/>
          </a:xfrm>
          <a:prstGeom prst="roundRect">
            <a:avLst>
              <a:gd name="adj" fmla="val 8549"/>
            </a:avLst>
          </a:prstGeom>
          <a:solidFill>
            <a:srgbClr val="FEF9E7"/>
          </a:solidFill>
          <a:ln w="19050">
            <a:solidFill>
              <a:srgbClr val="F39C12"/>
            </a:solidFill>
          </a:ln>
        </p:spPr>
        <p:txBody>
          <a:bodyPr wrap="square" rtlCol="0" anchor="ctr"/>
          <a:lstStyle/>
          <a:p>
            <a:pPr marL="0" indent="0">
              <a:buNone/>
            </a:pPr>
            <a:endParaRPr lang="en-US" dirty="0"/>
          </a:p>
        </p:txBody>
      </p:sp>
      <p:sp>
        <p:nvSpPr>
          <p:cNvPr id="4" name="Text 2"/>
          <p:cNvSpPr/>
          <p:nvPr/>
        </p:nvSpPr>
        <p:spPr>
          <a:xfrm>
            <a:off x="513588" y="1041981"/>
            <a:ext cx="8238744"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Gap in Literature</a:t>
            </a:r>
            <a:endParaRPr lang="en-US" sz="900" dirty="0"/>
          </a:p>
        </p:txBody>
      </p:sp>
      <p:sp>
        <p:nvSpPr>
          <p:cNvPr id="5" name="Text 3"/>
          <p:cNvSpPr/>
          <p:nvPr/>
        </p:nvSpPr>
        <p:spPr>
          <a:xfrm>
            <a:off x="513588" y="1259121"/>
            <a:ext cx="8238744"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6C757D"/>
                </a:solidFill>
                <a:latin typeface="Arial" pitchFamily="34" charset="0"/>
                <a:ea typeface="Arial" pitchFamily="34" charset="-122"/>
                <a:cs typeface="Arial" pitchFamily="34" charset="-120"/>
              </a:rPr>
              <a:t>No prior work has explored zero-shot cross-lingual transfer specifically for code-mixed conversation summarization. Existing approaches either require language-specific training or cannot handle code-mixing.</a:t>
            </a:r>
            <a:endParaRPr lang="en-US" sz="825" dirty="0"/>
          </a:p>
        </p:txBody>
      </p:sp>
      <p:sp>
        <p:nvSpPr>
          <p:cNvPr id="6" name="Text 4"/>
          <p:cNvSpPr/>
          <p:nvPr/>
        </p:nvSpPr>
        <p:spPr>
          <a:xfrm>
            <a:off x="361188" y="1876163"/>
            <a:ext cx="8382000" cy="853232"/>
          </a:xfrm>
          <a:prstGeom prst="roundRect">
            <a:avLst>
              <a:gd name="adj" fmla="val 8931"/>
            </a:avLst>
          </a:prstGeom>
          <a:solidFill>
            <a:srgbClr val="1A5276"/>
          </a:solidFill>
          <a:ln/>
        </p:spPr>
        <p:txBody>
          <a:bodyPr wrap="square" rtlCol="0" anchor="ctr"/>
          <a:lstStyle/>
          <a:p>
            <a:pPr marL="0" indent="0">
              <a:buNone/>
            </a:pPr>
            <a:endParaRPr lang="en-US" dirty="0"/>
          </a:p>
        </p:txBody>
      </p:sp>
      <p:sp>
        <p:nvSpPr>
          <p:cNvPr id="7" name="Text 5"/>
          <p:cNvSpPr/>
          <p:nvPr/>
        </p:nvSpPr>
        <p:spPr>
          <a:xfrm>
            <a:off x="494538" y="2047613"/>
            <a:ext cx="8277606"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FFFFFF"/>
                </a:solidFill>
                <a:latin typeface="Arial" pitchFamily="34" charset="0"/>
                <a:ea typeface="Arial" pitchFamily="34" charset="-122"/>
                <a:cs typeface="Arial" pitchFamily="34" charset="-120"/>
              </a:rPr>
              <a:t>Our Contribution</a:t>
            </a:r>
            <a:endParaRPr lang="en-US" sz="900" dirty="0"/>
          </a:p>
        </p:txBody>
      </p:sp>
      <p:sp>
        <p:nvSpPr>
          <p:cNvPr id="8" name="Text 6"/>
          <p:cNvSpPr/>
          <p:nvPr/>
        </p:nvSpPr>
        <p:spPr>
          <a:xfrm>
            <a:off x="494538" y="2264753"/>
            <a:ext cx="8277606" cy="293191"/>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First study to demonstrate that models can learn language-agnostic code-mixed summarization patterns and transfer to completely unseen language pairs with over 100% transfer rate.</a:t>
            </a:r>
            <a:endParaRPr lang="en-US" sz="8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6247067"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Our Extension: Zero-Shot Cross-Lingual Transfer</a:t>
            </a:r>
            <a:endParaRPr lang="en-US" sz="2250" dirty="0"/>
          </a:p>
        </p:txBody>
      </p:sp>
      <p:sp>
        <p:nvSpPr>
          <p:cNvPr id="3" name="Text 1"/>
          <p:cNvSpPr/>
          <p:nvPr/>
        </p:nvSpPr>
        <p:spPr>
          <a:xfrm>
            <a:off x="381000" y="819150"/>
            <a:ext cx="8382000" cy="893415"/>
          </a:xfrm>
          <a:prstGeom prst="roundRect">
            <a:avLst>
              <a:gd name="adj" fmla="val 8529"/>
            </a:avLst>
          </a:prstGeom>
          <a:solidFill>
            <a:srgbClr val="E8F6F3"/>
          </a:solidFill>
          <a:ln/>
        </p:spPr>
        <p:txBody>
          <a:bodyPr wrap="square" rtlCol="0" anchor="ctr"/>
          <a:lstStyle/>
          <a:p>
            <a:pPr marL="0" indent="0">
              <a:buNone/>
            </a:pPr>
            <a:endParaRPr lang="en-US" dirty="0"/>
          </a:p>
        </p:txBody>
      </p:sp>
      <p:sp>
        <p:nvSpPr>
          <p:cNvPr id="4" name="Text 2"/>
          <p:cNvSpPr/>
          <p:nvPr/>
        </p:nvSpPr>
        <p:spPr>
          <a:xfrm>
            <a:off x="514350" y="990600"/>
            <a:ext cx="8277606"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1A5276"/>
                </a:solidFill>
                <a:latin typeface="Arial" pitchFamily="34" charset="0"/>
                <a:ea typeface="Arial" pitchFamily="34" charset="-122"/>
                <a:cs typeface="Arial" pitchFamily="34" charset="-120"/>
              </a:rPr>
              <a:t>Research Question</a:t>
            </a:r>
            <a:endParaRPr lang="en-US" sz="900" dirty="0"/>
          </a:p>
        </p:txBody>
      </p:sp>
      <p:sp>
        <p:nvSpPr>
          <p:cNvPr id="5" name="Text 3"/>
          <p:cNvSpPr/>
          <p:nvPr/>
        </p:nvSpPr>
        <p:spPr>
          <a:xfrm>
            <a:off x="514350" y="1226790"/>
            <a:ext cx="8277606" cy="314325"/>
          </a:xfrm>
          <a:prstGeom prst="rect">
            <a:avLst/>
          </a:prstGeom>
          <a:noFill/>
          <a:ln/>
        </p:spPr>
        <p:txBody>
          <a:bodyPr wrap="square" lIns="0" tIns="0" rIns="0" bIns="0" rtlCol="0" anchor="t"/>
          <a:lstStyle/>
          <a:p>
            <a:pPr marL="0" indent="0" algn="l">
              <a:lnSpc>
                <a:spcPts val="1238"/>
              </a:lnSpc>
              <a:spcBef>
                <a:spcPts val="300"/>
              </a:spcBef>
              <a:spcAft>
                <a:spcPts val="300"/>
              </a:spcAft>
              <a:buNone/>
            </a:pPr>
            <a:r>
              <a:rPr lang="en-US" sz="825" dirty="0">
                <a:solidFill>
                  <a:srgbClr val="2C3E50"/>
                </a:solidFill>
                <a:latin typeface="Arial" pitchFamily="34" charset="0"/>
                <a:ea typeface="Arial" pitchFamily="34" charset="-122"/>
                <a:cs typeface="Arial" pitchFamily="34" charset="-120"/>
              </a:rPr>
              <a:t>Can a model trained on code-mixed conversations from a limited set of language pairs (Chinese-English, Tamil-English, Malay-English) generalize to completely unseen language pairs (Japanese-English, Korean-English, Hindi-English) without any additional training?</a:t>
            </a:r>
            <a:endParaRPr lang="en-US" sz="825" dirty="0"/>
          </a:p>
        </p:txBody>
      </p:sp>
      <p:sp>
        <p:nvSpPr>
          <p:cNvPr id="6" name="Text 4"/>
          <p:cNvSpPr/>
          <p:nvPr/>
        </p:nvSpPr>
        <p:spPr>
          <a:xfrm>
            <a:off x="381000" y="1845915"/>
            <a:ext cx="4114800" cy="1226790"/>
          </a:xfrm>
          <a:prstGeom prst="roundRect">
            <a:avLst>
              <a:gd name="adj" fmla="val 6211"/>
            </a:avLst>
          </a:prstGeom>
          <a:solidFill>
            <a:srgbClr val="F8F9FA"/>
          </a:solidFill>
          <a:ln/>
        </p:spPr>
        <p:txBody>
          <a:bodyPr wrap="square" rtlCol="0" anchor="ctr"/>
          <a:lstStyle/>
          <a:p>
            <a:pPr marL="0" indent="0">
              <a:buNone/>
            </a:pPr>
            <a:endParaRPr lang="en-US" dirty="0"/>
          </a:p>
        </p:txBody>
      </p:sp>
      <p:sp>
        <p:nvSpPr>
          <p:cNvPr id="7" name="Text 5"/>
          <p:cNvSpPr/>
          <p:nvPr/>
        </p:nvSpPr>
        <p:spPr>
          <a:xfrm>
            <a:off x="514350" y="2017365"/>
            <a:ext cx="3925062"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1A5276"/>
                </a:solidFill>
                <a:latin typeface="Arial" pitchFamily="34" charset="0"/>
                <a:ea typeface="Arial" pitchFamily="34" charset="-122"/>
                <a:cs typeface="Arial" pitchFamily="34" charset="-120"/>
              </a:rPr>
              <a:t>Approach</a:t>
            </a:r>
            <a:endParaRPr lang="en-US" sz="900" dirty="0"/>
          </a:p>
        </p:txBody>
      </p:sp>
      <p:sp>
        <p:nvSpPr>
          <p:cNvPr id="8" name="Text 6"/>
          <p:cNvSpPr/>
          <p:nvPr/>
        </p:nvSpPr>
        <p:spPr>
          <a:xfrm>
            <a:off x="514350" y="2253555"/>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1. Train models on 3 in-domain language pairs</a:t>
            </a:r>
            <a:endParaRPr lang="en-US" sz="750" dirty="0"/>
          </a:p>
        </p:txBody>
      </p:sp>
      <p:sp>
        <p:nvSpPr>
          <p:cNvPr id="9" name="Text 7"/>
          <p:cNvSpPr/>
          <p:nvPr/>
        </p:nvSpPr>
        <p:spPr>
          <a:xfrm>
            <a:off x="514350" y="2425005"/>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2. Evaluate on 3 zero-shot language pairs</a:t>
            </a:r>
            <a:endParaRPr lang="en-US" sz="750" dirty="0"/>
          </a:p>
        </p:txBody>
      </p:sp>
      <p:sp>
        <p:nvSpPr>
          <p:cNvPr id="10" name="Text 8"/>
          <p:cNvSpPr/>
          <p:nvPr/>
        </p:nvSpPr>
        <p:spPr>
          <a:xfrm>
            <a:off x="514350" y="2596455"/>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3. Compare encoder-decoder vs decoder-only</a:t>
            </a:r>
            <a:endParaRPr lang="en-US" sz="750" dirty="0"/>
          </a:p>
        </p:txBody>
      </p:sp>
      <p:sp>
        <p:nvSpPr>
          <p:cNvPr id="11" name="Text 9"/>
          <p:cNvSpPr/>
          <p:nvPr/>
        </p:nvSpPr>
        <p:spPr>
          <a:xfrm>
            <a:off x="514350" y="2767905"/>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4. Measure transfer rate as key metric</a:t>
            </a:r>
            <a:endParaRPr lang="en-US" sz="750" dirty="0"/>
          </a:p>
        </p:txBody>
      </p:sp>
      <p:sp>
        <p:nvSpPr>
          <p:cNvPr id="12" name="Text 10"/>
          <p:cNvSpPr/>
          <p:nvPr/>
        </p:nvSpPr>
        <p:spPr>
          <a:xfrm>
            <a:off x="4648200" y="1845915"/>
            <a:ext cx="4114800" cy="1226790"/>
          </a:xfrm>
          <a:prstGeom prst="roundRect">
            <a:avLst>
              <a:gd name="adj" fmla="val 6211"/>
            </a:avLst>
          </a:prstGeom>
          <a:solidFill>
            <a:srgbClr val="F8F9FA"/>
          </a:solidFill>
          <a:ln/>
        </p:spPr>
        <p:txBody>
          <a:bodyPr wrap="square" rtlCol="0" anchor="ctr"/>
          <a:lstStyle/>
          <a:p>
            <a:pPr marL="0" indent="0">
              <a:buNone/>
            </a:pPr>
            <a:endParaRPr lang="en-US" dirty="0"/>
          </a:p>
        </p:txBody>
      </p:sp>
      <p:sp>
        <p:nvSpPr>
          <p:cNvPr id="13" name="Text 11"/>
          <p:cNvSpPr/>
          <p:nvPr/>
        </p:nvSpPr>
        <p:spPr>
          <a:xfrm>
            <a:off x="4781550" y="2017365"/>
            <a:ext cx="3925062"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1A5276"/>
                </a:solidFill>
                <a:latin typeface="Arial" pitchFamily="34" charset="0"/>
                <a:ea typeface="Arial" pitchFamily="34" charset="-122"/>
                <a:cs typeface="Arial" pitchFamily="34" charset="-120"/>
              </a:rPr>
              <a:t>Models Compared</a:t>
            </a:r>
            <a:endParaRPr lang="en-US" sz="900" dirty="0"/>
          </a:p>
        </p:txBody>
      </p:sp>
      <p:sp>
        <p:nvSpPr>
          <p:cNvPr id="14" name="Text 12"/>
          <p:cNvSpPr/>
          <p:nvPr/>
        </p:nvSpPr>
        <p:spPr>
          <a:xfrm>
            <a:off x="4781550" y="2253555"/>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6C757D"/>
                </a:solidFill>
                <a:latin typeface="Arial" pitchFamily="34" charset="0"/>
                <a:ea typeface="Arial" pitchFamily="34" charset="-122"/>
                <a:cs typeface="Arial" pitchFamily="34" charset="-120"/>
              </a:rPr>
              <a:t>Encoder-Decoder:</a:t>
            </a:r>
            <a:r>
              <a:rPr lang="en-US" sz="750" dirty="0">
                <a:solidFill>
                  <a:srgbClr val="6C757D"/>
                </a:solidFill>
                <a:latin typeface="Arial" pitchFamily="34" charset="0"/>
                <a:ea typeface="Arial" pitchFamily="34" charset="-122"/>
                <a:cs typeface="Arial" pitchFamily="34" charset="-120"/>
              </a:rPr>
              <a:t> mT5-base (580M), mBART-50 (611M)</a:t>
            </a:r>
            <a:endParaRPr lang="en-US" sz="750" dirty="0"/>
          </a:p>
        </p:txBody>
      </p:sp>
      <p:sp>
        <p:nvSpPr>
          <p:cNvPr id="15" name="Text 13"/>
          <p:cNvSpPr/>
          <p:nvPr/>
        </p:nvSpPr>
        <p:spPr>
          <a:xfrm>
            <a:off x="4781550" y="2425005"/>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6C757D"/>
                </a:solidFill>
                <a:latin typeface="Arial" pitchFamily="34" charset="0"/>
                <a:ea typeface="Arial" pitchFamily="34" charset="-122"/>
                <a:cs typeface="Arial" pitchFamily="34" charset="-120"/>
              </a:rPr>
              <a:t>Decoder-Only:</a:t>
            </a:r>
            <a:r>
              <a:rPr lang="en-US" sz="750" dirty="0">
                <a:solidFill>
                  <a:srgbClr val="6C757D"/>
                </a:solidFill>
                <a:latin typeface="Arial" pitchFamily="34" charset="0"/>
                <a:ea typeface="Arial" pitchFamily="34" charset="-122"/>
                <a:cs typeface="Arial" pitchFamily="34" charset="-120"/>
              </a:rPr>
              <a:t> Llama-3.2-3B, Llama-3.1-8B</a:t>
            </a:r>
            <a:endParaRPr lang="en-US" sz="750" dirty="0"/>
          </a:p>
        </p:txBody>
      </p:sp>
      <p:sp>
        <p:nvSpPr>
          <p:cNvPr id="16" name="Text 14"/>
          <p:cNvSpPr/>
          <p:nvPr/>
        </p:nvSpPr>
        <p:spPr>
          <a:xfrm>
            <a:off x="4781550" y="2596455"/>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6C757D"/>
                </a:solidFill>
                <a:latin typeface="Arial" pitchFamily="34" charset="0"/>
                <a:ea typeface="Arial" pitchFamily="34" charset="-122"/>
                <a:cs typeface="Arial" pitchFamily="34" charset="-120"/>
              </a:rPr>
              <a:t>Training:</a:t>
            </a:r>
            <a:r>
              <a:rPr lang="en-US" sz="750" dirty="0">
                <a:solidFill>
                  <a:srgbClr val="6C757D"/>
                </a:solidFill>
                <a:latin typeface="Arial" pitchFamily="34" charset="0"/>
                <a:ea typeface="Arial" pitchFamily="34" charset="-122"/>
                <a:cs typeface="Arial" pitchFamily="34" charset="-120"/>
              </a:rPr>
              <a:t> Full fine-tune (enc-dec), LoRA (Llama)</a:t>
            </a:r>
            <a:endParaRPr lang="en-US" sz="750" dirty="0"/>
          </a:p>
        </p:txBody>
      </p:sp>
      <p:sp>
        <p:nvSpPr>
          <p:cNvPr id="17" name="Text 15"/>
          <p:cNvSpPr/>
          <p:nvPr/>
        </p:nvSpPr>
        <p:spPr>
          <a:xfrm>
            <a:off x="381000" y="3206055"/>
            <a:ext cx="8382000" cy="874365"/>
          </a:xfrm>
          <a:prstGeom prst="roundRect">
            <a:avLst>
              <a:gd name="adj" fmla="val 8715"/>
            </a:avLst>
          </a:prstGeom>
          <a:solidFill>
            <a:srgbClr val="1A5276"/>
          </a:solidFill>
          <a:ln/>
        </p:spPr>
        <p:txBody>
          <a:bodyPr wrap="square" rtlCol="0" anchor="ctr"/>
          <a:lstStyle/>
          <a:p>
            <a:pPr marL="0" indent="0">
              <a:buNone/>
            </a:pPr>
            <a:endParaRPr lang="en-US" dirty="0"/>
          </a:p>
        </p:txBody>
      </p:sp>
      <p:sp>
        <p:nvSpPr>
          <p:cNvPr id="18" name="Text 16"/>
          <p:cNvSpPr/>
          <p:nvPr/>
        </p:nvSpPr>
        <p:spPr>
          <a:xfrm>
            <a:off x="514350" y="3377505"/>
            <a:ext cx="8277606"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FFFFFF"/>
                </a:solidFill>
                <a:latin typeface="Arial" pitchFamily="34" charset="0"/>
                <a:ea typeface="Arial" pitchFamily="34" charset="-122"/>
                <a:cs typeface="Arial" pitchFamily="34" charset="-120"/>
              </a:rPr>
              <a:t>Hypothesis</a:t>
            </a:r>
            <a:endParaRPr lang="en-US" sz="900" dirty="0"/>
          </a:p>
        </p:txBody>
      </p:sp>
      <p:sp>
        <p:nvSpPr>
          <p:cNvPr id="19" name="Text 17"/>
          <p:cNvSpPr/>
          <p:nvPr/>
        </p:nvSpPr>
        <p:spPr>
          <a:xfrm>
            <a:off x="514350" y="3594646"/>
            <a:ext cx="8277606" cy="314325"/>
          </a:xfrm>
          <a:prstGeom prst="rect">
            <a:avLst/>
          </a:prstGeom>
          <a:noFill/>
          <a:ln/>
        </p:spPr>
        <p:txBody>
          <a:bodyPr wrap="square" lIns="0" tIns="0" rIns="0" bIns="0" rtlCol="0" anchor="t"/>
          <a:lstStyle/>
          <a:p>
            <a:pPr marL="0" indent="0" algn="l">
              <a:lnSpc>
                <a:spcPts val="1238"/>
              </a:lnSpc>
              <a:spcBef>
                <a:spcPts val="300"/>
              </a:spcBef>
              <a:spcAft>
                <a:spcPts val="300"/>
              </a:spcAft>
              <a:buNone/>
            </a:pPr>
            <a:r>
              <a:rPr lang="en-US" sz="825" dirty="0">
                <a:solidFill>
                  <a:srgbClr val="FFFFFF"/>
                </a:solidFill>
                <a:latin typeface="Arial" pitchFamily="34" charset="0"/>
                <a:ea typeface="Arial" pitchFamily="34" charset="-122"/>
                <a:cs typeface="Arial" pitchFamily="34" charset="-120"/>
              </a:rPr>
              <a:t>If code-mixing follows universal patterns (e.g., matrix language structure, similar switch points), then models should learn language-agnostic summarization abilities that transfer across language boundaries. LLMs with broader multilingual pre-training may transfer better than traditional multilingual models.</a:t>
            </a:r>
            <a:endParaRPr lang="en-US" sz="8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4284536"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Models and Architectures</a:t>
            </a:r>
            <a:endParaRPr lang="en-US" sz="2250" dirty="0"/>
          </a:p>
        </p:txBody>
      </p:sp>
      <p:sp>
        <p:nvSpPr>
          <p:cNvPr id="3" name="Text 1"/>
          <p:cNvSpPr/>
          <p:nvPr/>
        </p:nvSpPr>
        <p:spPr>
          <a:xfrm>
            <a:off x="381000" y="2762250"/>
            <a:ext cx="2692450" cy="756196"/>
          </a:xfrm>
          <a:prstGeom prst="roundRect">
            <a:avLst>
              <a:gd name="adj" fmla="val 10077"/>
            </a:avLst>
          </a:prstGeom>
          <a:solidFill>
            <a:srgbClr val="F8F9FA"/>
          </a:solidFill>
          <a:ln/>
        </p:spPr>
        <p:txBody>
          <a:bodyPr wrap="square" rtlCol="0" anchor="ctr"/>
          <a:lstStyle/>
          <a:p>
            <a:pPr marL="0" indent="0">
              <a:buNone/>
            </a:pPr>
            <a:endParaRPr lang="en-US" dirty="0"/>
          </a:p>
        </p:txBody>
      </p:sp>
      <p:sp>
        <p:nvSpPr>
          <p:cNvPr id="4" name="Shape 2"/>
          <p:cNvSpPr/>
          <p:nvPr/>
        </p:nvSpPr>
        <p:spPr>
          <a:xfrm>
            <a:off x="400050" y="2762250"/>
            <a:ext cx="0" cy="756196"/>
          </a:xfrm>
          <a:prstGeom prst="line">
            <a:avLst/>
          </a:prstGeom>
          <a:noFill/>
          <a:ln w="38100">
            <a:solidFill>
              <a:srgbClr val="4ECDC4"/>
            </a:solidFill>
            <a:prstDash val="solid"/>
          </a:ln>
        </p:spPr>
        <p:txBody>
          <a:bodyPr/>
          <a:lstStyle/>
          <a:p>
            <a:endParaRPr lang="en-US"/>
          </a:p>
        </p:txBody>
      </p:sp>
      <p:sp>
        <p:nvSpPr>
          <p:cNvPr id="5" name="Text 3"/>
          <p:cNvSpPr/>
          <p:nvPr/>
        </p:nvSpPr>
        <p:spPr>
          <a:xfrm>
            <a:off x="533400" y="2914650"/>
            <a:ext cx="2474265" cy="146596"/>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b="1" dirty="0">
                <a:solidFill>
                  <a:srgbClr val="1A5276"/>
                </a:solidFill>
                <a:latin typeface="Arial" pitchFamily="34" charset="0"/>
                <a:ea typeface="Arial" pitchFamily="34" charset="-122"/>
                <a:cs typeface="Arial" pitchFamily="34" charset="-120"/>
              </a:rPr>
              <a:t>Encoder-Decoder</a:t>
            </a:r>
            <a:endParaRPr lang="en-US" sz="825" dirty="0"/>
          </a:p>
        </p:txBody>
      </p:sp>
      <p:sp>
        <p:nvSpPr>
          <p:cNvPr id="6" name="Text 4"/>
          <p:cNvSpPr/>
          <p:nvPr/>
        </p:nvSpPr>
        <p:spPr>
          <a:xfrm>
            <a:off x="533400" y="3099346"/>
            <a:ext cx="2474265" cy="26670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Bidirectional encoding, autoregressive decoding. Traditional approach for seq2seq tasks.</a:t>
            </a:r>
            <a:endParaRPr lang="en-US" sz="750" dirty="0"/>
          </a:p>
        </p:txBody>
      </p:sp>
      <p:sp>
        <p:nvSpPr>
          <p:cNvPr id="7" name="Text 5"/>
          <p:cNvSpPr/>
          <p:nvPr/>
        </p:nvSpPr>
        <p:spPr>
          <a:xfrm>
            <a:off x="3225850" y="2762250"/>
            <a:ext cx="2692450" cy="756196"/>
          </a:xfrm>
          <a:prstGeom prst="roundRect">
            <a:avLst>
              <a:gd name="adj" fmla="val 10077"/>
            </a:avLst>
          </a:prstGeom>
          <a:solidFill>
            <a:srgbClr val="F8F9FA"/>
          </a:solidFill>
          <a:ln/>
        </p:spPr>
        <p:txBody>
          <a:bodyPr wrap="square" rtlCol="0" anchor="ctr"/>
          <a:lstStyle/>
          <a:p>
            <a:pPr marL="0" indent="0">
              <a:buNone/>
            </a:pPr>
            <a:endParaRPr lang="en-US" dirty="0"/>
          </a:p>
        </p:txBody>
      </p:sp>
      <p:sp>
        <p:nvSpPr>
          <p:cNvPr id="8" name="Shape 6"/>
          <p:cNvSpPr/>
          <p:nvPr/>
        </p:nvSpPr>
        <p:spPr>
          <a:xfrm>
            <a:off x="3244900" y="2762250"/>
            <a:ext cx="0" cy="756196"/>
          </a:xfrm>
          <a:prstGeom prst="line">
            <a:avLst/>
          </a:prstGeom>
          <a:noFill/>
          <a:ln w="38100">
            <a:solidFill>
              <a:srgbClr val="E74C3C"/>
            </a:solidFill>
            <a:prstDash val="solid"/>
          </a:ln>
        </p:spPr>
        <p:txBody>
          <a:bodyPr/>
          <a:lstStyle/>
          <a:p>
            <a:endParaRPr lang="en-US"/>
          </a:p>
        </p:txBody>
      </p:sp>
      <p:sp>
        <p:nvSpPr>
          <p:cNvPr id="9" name="Text 7"/>
          <p:cNvSpPr/>
          <p:nvPr/>
        </p:nvSpPr>
        <p:spPr>
          <a:xfrm>
            <a:off x="3378250" y="2914650"/>
            <a:ext cx="2474265" cy="146596"/>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b="1" dirty="0">
                <a:solidFill>
                  <a:srgbClr val="1A5276"/>
                </a:solidFill>
                <a:latin typeface="Arial" pitchFamily="34" charset="0"/>
                <a:ea typeface="Arial" pitchFamily="34" charset="-122"/>
                <a:cs typeface="Arial" pitchFamily="34" charset="-120"/>
              </a:rPr>
              <a:t>Decoder-Only (LLM)</a:t>
            </a:r>
            <a:endParaRPr lang="en-US" sz="825" dirty="0"/>
          </a:p>
        </p:txBody>
      </p:sp>
      <p:sp>
        <p:nvSpPr>
          <p:cNvPr id="10" name="Text 8"/>
          <p:cNvSpPr/>
          <p:nvPr/>
        </p:nvSpPr>
        <p:spPr>
          <a:xfrm>
            <a:off x="3378250" y="3099346"/>
            <a:ext cx="2474265" cy="26670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Autoregressive only. Uses instruction format. Broader pre-training on diverse data.</a:t>
            </a:r>
            <a:endParaRPr lang="en-US" sz="750" dirty="0"/>
          </a:p>
        </p:txBody>
      </p:sp>
      <p:sp>
        <p:nvSpPr>
          <p:cNvPr id="11" name="Text 9"/>
          <p:cNvSpPr/>
          <p:nvPr/>
        </p:nvSpPr>
        <p:spPr>
          <a:xfrm>
            <a:off x="6070699" y="2762250"/>
            <a:ext cx="2692450" cy="756196"/>
          </a:xfrm>
          <a:prstGeom prst="roundRect">
            <a:avLst>
              <a:gd name="adj" fmla="val 10077"/>
            </a:avLst>
          </a:prstGeom>
          <a:solidFill>
            <a:srgbClr val="F8F9FA"/>
          </a:solidFill>
          <a:ln/>
        </p:spPr>
        <p:txBody>
          <a:bodyPr wrap="square" rtlCol="0" anchor="ctr"/>
          <a:lstStyle/>
          <a:p>
            <a:pPr marL="0" indent="0">
              <a:buNone/>
            </a:pPr>
            <a:endParaRPr lang="en-US" dirty="0"/>
          </a:p>
        </p:txBody>
      </p:sp>
      <p:sp>
        <p:nvSpPr>
          <p:cNvPr id="12" name="Shape 10"/>
          <p:cNvSpPr/>
          <p:nvPr/>
        </p:nvSpPr>
        <p:spPr>
          <a:xfrm>
            <a:off x="6089749" y="2762250"/>
            <a:ext cx="0" cy="756196"/>
          </a:xfrm>
          <a:prstGeom prst="line">
            <a:avLst/>
          </a:prstGeom>
          <a:noFill/>
          <a:ln w="38100">
            <a:solidFill>
              <a:srgbClr val="F39C12"/>
            </a:solidFill>
            <a:prstDash val="solid"/>
          </a:ln>
        </p:spPr>
        <p:txBody>
          <a:bodyPr/>
          <a:lstStyle/>
          <a:p>
            <a:endParaRPr lang="en-US"/>
          </a:p>
        </p:txBody>
      </p:sp>
      <p:sp>
        <p:nvSpPr>
          <p:cNvPr id="13" name="Text 11"/>
          <p:cNvSpPr/>
          <p:nvPr/>
        </p:nvSpPr>
        <p:spPr>
          <a:xfrm>
            <a:off x="6223099" y="2914650"/>
            <a:ext cx="2474265" cy="146596"/>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b="1" dirty="0">
                <a:solidFill>
                  <a:srgbClr val="1A5276"/>
                </a:solidFill>
                <a:latin typeface="Arial" pitchFamily="34" charset="0"/>
                <a:ea typeface="Arial" pitchFamily="34" charset="-122"/>
                <a:cs typeface="Arial" pitchFamily="34" charset="-120"/>
              </a:rPr>
              <a:t>LoRA</a:t>
            </a:r>
            <a:endParaRPr lang="en-US" sz="825" dirty="0"/>
          </a:p>
        </p:txBody>
      </p:sp>
      <p:sp>
        <p:nvSpPr>
          <p:cNvPr id="14" name="Text 12"/>
          <p:cNvSpPr/>
          <p:nvPr/>
        </p:nvSpPr>
        <p:spPr>
          <a:xfrm>
            <a:off x="6223099" y="3099346"/>
            <a:ext cx="2474265" cy="26670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Low-Rank Adaptation. Trains only ~0.1% of parameters. Memory efficient.</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04800" y="228600"/>
            <a:ext cx="5430965" cy="285750"/>
          </a:xfrm>
          <a:prstGeom prst="rect">
            <a:avLst/>
          </a:prstGeom>
          <a:noFill/>
          <a:ln/>
        </p:spPr>
        <p:txBody>
          <a:bodyPr wrap="square" lIns="0" tIns="0" rIns="0" bIns="0" rtlCol="0" anchor="t"/>
          <a:lstStyle/>
          <a:p>
            <a:pPr marL="0" indent="0" algn="l">
              <a:lnSpc>
                <a:spcPts val="2250"/>
              </a:lnSpc>
              <a:spcAft>
                <a:spcPts val="1050"/>
              </a:spcAft>
              <a:buNone/>
            </a:pPr>
            <a:r>
              <a:rPr lang="en-US" sz="2250" b="1" dirty="0">
                <a:solidFill>
                  <a:srgbClr val="1A5276"/>
                </a:solidFill>
                <a:latin typeface="Georgia" pitchFamily="34" charset="0"/>
                <a:ea typeface="Georgia" pitchFamily="34" charset="-122"/>
                <a:cs typeface="Georgia" pitchFamily="34" charset="-120"/>
              </a:rPr>
              <a:t>Empirical Results: ROUGE-L by Language</a:t>
            </a:r>
            <a:endParaRPr lang="en-US" sz="2250" dirty="0"/>
          </a:p>
        </p:txBody>
      </p:sp>
      <p:sp>
        <p:nvSpPr>
          <p:cNvPr id="3" name="Text 1"/>
          <p:cNvSpPr/>
          <p:nvPr/>
        </p:nvSpPr>
        <p:spPr>
          <a:xfrm>
            <a:off x="304800" y="2438400"/>
            <a:ext cx="133350" cy="133350"/>
          </a:xfrm>
          <a:prstGeom prst="roundRect">
            <a:avLst>
              <a:gd name="adj" fmla="val 14286"/>
            </a:avLst>
          </a:prstGeom>
          <a:solidFill>
            <a:srgbClr val="4ECDC4"/>
          </a:solidFill>
          <a:ln/>
        </p:spPr>
        <p:txBody>
          <a:bodyPr wrap="square" rtlCol="0" anchor="ctr"/>
          <a:lstStyle/>
          <a:p>
            <a:pPr marL="0" indent="0">
              <a:buNone/>
            </a:pPr>
            <a:endParaRPr lang="en-US" dirty="0"/>
          </a:p>
        </p:txBody>
      </p:sp>
      <p:sp>
        <p:nvSpPr>
          <p:cNvPr id="4" name="Text 2"/>
          <p:cNvSpPr/>
          <p:nvPr/>
        </p:nvSpPr>
        <p:spPr>
          <a:xfrm>
            <a:off x="495300" y="2438400"/>
            <a:ext cx="907033" cy="133350"/>
          </a:xfrm>
          <a:prstGeom prst="rect">
            <a:avLst/>
          </a:prstGeom>
          <a:noFill/>
          <a:ln/>
        </p:spPr>
        <p:txBody>
          <a:bodyPr wrap="square" lIns="0" tIns="0" rIns="0" bIns="0" rtlCol="0" anchor="t"/>
          <a:lstStyle/>
          <a:p>
            <a:pPr marL="0" indent="0" algn="l">
              <a:lnSpc>
                <a:spcPts val="1050"/>
              </a:lnSpc>
              <a:buNone/>
            </a:pPr>
            <a:r>
              <a:rPr lang="en-US" sz="750" dirty="0">
                <a:solidFill>
                  <a:srgbClr val="1D1D1D"/>
                </a:solidFill>
                <a:latin typeface="Arial" pitchFamily="34" charset="0"/>
                <a:ea typeface="Arial" pitchFamily="34" charset="-122"/>
                <a:cs typeface="Arial" pitchFamily="34" charset="-120"/>
              </a:rPr>
              <a:t>IN-DOMAIN (trained)</a:t>
            </a:r>
            <a:endParaRPr lang="en-US" sz="750" dirty="0"/>
          </a:p>
        </p:txBody>
      </p:sp>
      <p:sp>
        <p:nvSpPr>
          <p:cNvPr id="5" name="Text 3"/>
          <p:cNvSpPr/>
          <p:nvPr/>
        </p:nvSpPr>
        <p:spPr>
          <a:xfrm>
            <a:off x="1498848" y="2438400"/>
            <a:ext cx="133350" cy="133350"/>
          </a:xfrm>
          <a:prstGeom prst="roundRect">
            <a:avLst>
              <a:gd name="adj" fmla="val 14286"/>
            </a:avLst>
          </a:prstGeom>
          <a:solidFill>
            <a:srgbClr val="E74C3C"/>
          </a:solidFill>
          <a:ln/>
        </p:spPr>
        <p:txBody>
          <a:bodyPr wrap="square" rtlCol="0" anchor="ctr"/>
          <a:lstStyle/>
          <a:p>
            <a:pPr marL="0" indent="0">
              <a:buNone/>
            </a:pPr>
            <a:endParaRPr lang="en-US" dirty="0"/>
          </a:p>
        </p:txBody>
      </p:sp>
      <p:sp>
        <p:nvSpPr>
          <p:cNvPr id="6" name="Text 4"/>
          <p:cNvSpPr/>
          <p:nvPr/>
        </p:nvSpPr>
        <p:spPr>
          <a:xfrm>
            <a:off x="1689348" y="2438400"/>
            <a:ext cx="1142786" cy="133350"/>
          </a:xfrm>
          <a:prstGeom prst="rect">
            <a:avLst/>
          </a:prstGeom>
          <a:noFill/>
          <a:ln/>
        </p:spPr>
        <p:txBody>
          <a:bodyPr wrap="square" lIns="0" tIns="0" rIns="0" bIns="0" rtlCol="0" anchor="t"/>
          <a:lstStyle/>
          <a:p>
            <a:pPr marL="0" indent="0" algn="l">
              <a:lnSpc>
                <a:spcPts val="1050"/>
              </a:lnSpc>
              <a:buNone/>
            </a:pPr>
            <a:r>
              <a:rPr lang="en-US" sz="750" dirty="0">
                <a:solidFill>
                  <a:srgbClr val="1D1D1D"/>
                </a:solidFill>
                <a:latin typeface="Arial" pitchFamily="34" charset="0"/>
                <a:ea typeface="Arial" pitchFamily="34" charset="-122"/>
                <a:cs typeface="Arial" pitchFamily="34" charset="-120"/>
              </a:rPr>
              <a:t>ZERO-SHOT (never seen)</a:t>
            </a:r>
            <a:endParaRPr lang="en-US" sz="750" dirty="0"/>
          </a:p>
        </p:txBody>
      </p:sp>
      <p:sp>
        <p:nvSpPr>
          <p:cNvPr id="7" name="Text 5"/>
          <p:cNvSpPr/>
          <p:nvPr/>
        </p:nvSpPr>
        <p:spPr>
          <a:xfrm>
            <a:off x="304800" y="2667000"/>
            <a:ext cx="8534400" cy="337096"/>
          </a:xfrm>
          <a:prstGeom prst="roundRect">
            <a:avLst>
              <a:gd name="adj" fmla="val 22605"/>
            </a:avLst>
          </a:prstGeom>
          <a:solidFill>
            <a:srgbClr val="1A5276"/>
          </a:solidFill>
          <a:ln/>
        </p:spPr>
        <p:txBody>
          <a:bodyPr wrap="square" rtlCol="0" anchor="ctr"/>
          <a:lstStyle/>
          <a:p>
            <a:pPr marL="0" indent="0">
              <a:buNone/>
            </a:pPr>
            <a:endParaRPr lang="en-US" dirty="0"/>
          </a:p>
        </p:txBody>
      </p:sp>
      <p:sp>
        <p:nvSpPr>
          <p:cNvPr id="8" name="Text 6"/>
          <p:cNvSpPr/>
          <p:nvPr/>
        </p:nvSpPr>
        <p:spPr>
          <a:xfrm>
            <a:off x="438150" y="2762250"/>
            <a:ext cx="8433054"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Key Finding:</a:t>
            </a:r>
            <a:r>
              <a:rPr lang="en-US" sz="825" dirty="0">
                <a:solidFill>
                  <a:srgbClr val="FFFFFF"/>
                </a:solidFill>
                <a:latin typeface="Arial" pitchFamily="34" charset="0"/>
                <a:ea typeface="Arial" pitchFamily="34" charset="-122"/>
                <a:cs typeface="Arial" pitchFamily="34" charset="-120"/>
              </a:rPr>
              <a:t> All Llama models achieve over 100% transfer rate. Llama-3.2-3B achieves 147% - performing 47% BETTER on unseen languages!</a:t>
            </a:r>
            <a:endParaRPr lang="en-US" sz="8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6129528"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Key Finding: Transfer Rates Exceed 100%</a:t>
            </a:r>
            <a:endParaRPr lang="en-US" sz="2250" dirty="0"/>
          </a:p>
        </p:txBody>
      </p:sp>
      <p:pic>
        <p:nvPicPr>
          <p:cNvPr id="3" name="Image 0" descr="/tmp/rasterized-gradient-fee8a78f.png"/>
          <p:cNvPicPr>
            <a:picLocks noChangeAspect="1"/>
          </p:cNvPicPr>
          <p:nvPr/>
        </p:nvPicPr>
        <p:blipFill>
          <a:blip r:embed="rId3"/>
          <a:stretch>
            <a:fillRect/>
          </a:stretch>
        </p:blipFill>
        <p:spPr>
          <a:xfrm>
            <a:off x="4705350" y="1538340"/>
            <a:ext cx="4076700" cy="1209526"/>
          </a:xfrm>
          <a:prstGeom prst="rect">
            <a:avLst/>
          </a:prstGeom>
        </p:spPr>
      </p:pic>
      <p:sp>
        <p:nvSpPr>
          <p:cNvPr id="4" name="Text 1"/>
          <p:cNvSpPr/>
          <p:nvPr/>
        </p:nvSpPr>
        <p:spPr>
          <a:xfrm>
            <a:off x="4858893" y="1749374"/>
            <a:ext cx="3769614" cy="560040"/>
          </a:xfrm>
          <a:prstGeom prst="rect">
            <a:avLst/>
          </a:prstGeom>
          <a:noFill/>
          <a:ln/>
        </p:spPr>
        <p:txBody>
          <a:bodyPr wrap="square" lIns="0" tIns="0" rIns="0" bIns="0" rtlCol="0" anchor="t"/>
          <a:lstStyle/>
          <a:p>
            <a:pPr marL="0" indent="0" algn="ctr">
              <a:lnSpc>
                <a:spcPts val="4410"/>
              </a:lnSpc>
              <a:buNone/>
            </a:pPr>
            <a:r>
              <a:rPr lang="en-US" sz="3150" b="1" dirty="0">
                <a:solidFill>
                  <a:srgbClr val="FFFFFF"/>
                </a:solidFill>
                <a:latin typeface="Arial" pitchFamily="34" charset="0"/>
                <a:ea typeface="Arial" pitchFamily="34" charset="-122"/>
                <a:cs typeface="Arial" pitchFamily="34" charset="-120"/>
              </a:rPr>
              <a:t>147%</a:t>
            </a:r>
            <a:endParaRPr lang="en-US" sz="3150" dirty="0"/>
          </a:p>
        </p:txBody>
      </p:sp>
      <p:sp>
        <p:nvSpPr>
          <p:cNvPr id="5" name="Text 2"/>
          <p:cNvSpPr/>
          <p:nvPr/>
        </p:nvSpPr>
        <p:spPr>
          <a:xfrm>
            <a:off x="4839843" y="2368153"/>
            <a:ext cx="3769614" cy="173236"/>
          </a:xfrm>
          <a:prstGeom prst="rect">
            <a:avLst/>
          </a:prstGeom>
          <a:noFill/>
          <a:ln/>
        </p:spPr>
        <p:txBody>
          <a:bodyPr wrap="square" lIns="0" tIns="0" rIns="0" bIns="0" rtlCol="0" anchor="t"/>
          <a:lstStyle/>
          <a:p>
            <a:pPr marL="0" indent="0" algn="ctr">
              <a:lnSpc>
                <a:spcPts val="1365"/>
              </a:lnSpc>
              <a:spcBef>
                <a:spcPts val="450"/>
              </a:spcBef>
              <a:spcAft>
                <a:spcPts val="300"/>
              </a:spcAft>
              <a:buNone/>
            </a:pPr>
            <a:r>
              <a:rPr lang="en-US" sz="975" dirty="0">
                <a:solidFill>
                  <a:srgbClr val="FFFFFF"/>
                </a:solidFill>
                <a:latin typeface="Arial" pitchFamily="34" charset="0"/>
                <a:ea typeface="Arial" pitchFamily="34" charset="-122"/>
                <a:cs typeface="Arial" pitchFamily="34" charset="-120"/>
              </a:rPr>
              <a:t>Llama-3.2-3B Transfer Rate</a:t>
            </a:r>
            <a:endParaRPr lang="en-US" sz="975" dirty="0"/>
          </a:p>
        </p:txBody>
      </p:sp>
      <p:sp>
        <p:nvSpPr>
          <p:cNvPr id="6" name="Text 3"/>
          <p:cNvSpPr/>
          <p:nvPr/>
        </p:nvSpPr>
        <p:spPr>
          <a:xfrm>
            <a:off x="4705350" y="2928501"/>
            <a:ext cx="4076700" cy="843355"/>
          </a:xfrm>
          <a:prstGeom prst="roundRect">
            <a:avLst>
              <a:gd name="adj" fmla="val 7621"/>
            </a:avLst>
          </a:prstGeom>
          <a:solidFill>
            <a:srgbClr val="F8F9FA"/>
          </a:solidFill>
          <a:ln/>
        </p:spPr>
        <p:txBody>
          <a:bodyPr wrap="square" rtlCol="0" anchor="ctr"/>
          <a:lstStyle/>
          <a:p>
            <a:pPr marL="0" indent="0">
              <a:buNone/>
            </a:pPr>
            <a:endParaRPr lang="en-US" dirty="0"/>
          </a:p>
        </p:txBody>
      </p:sp>
      <p:sp>
        <p:nvSpPr>
          <p:cNvPr id="7" name="Shape 4"/>
          <p:cNvSpPr/>
          <p:nvPr/>
        </p:nvSpPr>
        <p:spPr>
          <a:xfrm>
            <a:off x="4724400" y="2928501"/>
            <a:ext cx="0" cy="828377"/>
          </a:xfrm>
          <a:prstGeom prst="line">
            <a:avLst/>
          </a:prstGeom>
          <a:noFill/>
          <a:ln w="38100">
            <a:solidFill>
              <a:srgbClr val="1A5276"/>
            </a:solidFill>
            <a:prstDash val="solid"/>
          </a:ln>
        </p:spPr>
        <p:txBody>
          <a:bodyPr/>
          <a:lstStyle/>
          <a:p>
            <a:endParaRPr lang="en-US"/>
          </a:p>
        </p:txBody>
      </p:sp>
      <p:sp>
        <p:nvSpPr>
          <p:cNvPr id="8" name="Text 5"/>
          <p:cNvSpPr/>
          <p:nvPr/>
        </p:nvSpPr>
        <p:spPr>
          <a:xfrm>
            <a:off x="4876800" y="3042801"/>
            <a:ext cx="3847338"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Interpretation</a:t>
            </a:r>
            <a:endParaRPr lang="en-US" sz="900" dirty="0"/>
          </a:p>
        </p:txBody>
      </p:sp>
      <p:sp>
        <p:nvSpPr>
          <p:cNvPr id="9" name="Text 6"/>
          <p:cNvSpPr/>
          <p:nvPr/>
        </p:nvSpPr>
        <p:spPr>
          <a:xfrm>
            <a:off x="4876800" y="3271781"/>
            <a:ext cx="3847338" cy="400054"/>
          </a:xfrm>
          <a:prstGeom prst="rect">
            <a:avLst/>
          </a:prstGeom>
          <a:noFill/>
          <a:ln/>
        </p:spPr>
        <p:txBody>
          <a:bodyPr wrap="square" lIns="0" tIns="0" rIns="0" bIns="0" rtlCol="0" anchor="t"/>
          <a:lstStyle/>
          <a:p>
            <a:pPr marL="0" indent="0" algn="l">
              <a:lnSpc>
                <a:spcPts val="1155"/>
              </a:lnSpc>
              <a:spcBef>
                <a:spcPts val="300"/>
              </a:spcBef>
              <a:spcAft>
                <a:spcPts val="300"/>
              </a:spcAft>
              <a:buNone/>
            </a:pPr>
            <a:r>
              <a:rPr lang="en-US" sz="825" dirty="0">
                <a:solidFill>
                  <a:srgbClr val="6C757D"/>
                </a:solidFill>
                <a:latin typeface="Arial" pitchFamily="34" charset="0"/>
                <a:ea typeface="Arial" pitchFamily="34" charset="-122"/>
                <a:cs typeface="Arial" pitchFamily="34" charset="-120"/>
              </a:rPr>
              <a:t>The model performs BETTER on languages it never trained on than on languages it did train on. This suggests it learned language-agnostic summarization patterns.</a:t>
            </a:r>
            <a:endParaRPr lang="en-US" sz="825" dirty="0"/>
          </a:p>
        </p:txBody>
      </p:sp>
      <p:pic>
        <p:nvPicPr>
          <p:cNvPr id="11" name="Picture 10">
            <a:extLst>
              <a:ext uri="{FF2B5EF4-FFF2-40B4-BE49-F238E27FC236}">
                <a16:creationId xmlns:a16="http://schemas.microsoft.com/office/drawing/2014/main" id="{E89024B0-8456-62B5-AF5B-5DF22E522770}"/>
              </a:ext>
            </a:extLst>
          </p:cNvPr>
          <p:cNvPicPr>
            <a:picLocks noChangeAspect="1"/>
          </p:cNvPicPr>
          <p:nvPr/>
        </p:nvPicPr>
        <p:blipFill>
          <a:blip r:embed="rId4"/>
          <a:stretch>
            <a:fillRect/>
          </a:stretch>
        </p:blipFill>
        <p:spPr>
          <a:xfrm>
            <a:off x="56386" y="1560820"/>
            <a:ext cx="4572000" cy="582283"/>
          </a:xfrm>
          <a:prstGeom prst="rect">
            <a:avLst/>
          </a:prstGeom>
        </p:spPr>
      </p:pic>
      <p:pic>
        <p:nvPicPr>
          <p:cNvPr id="13" name="Picture 12">
            <a:extLst>
              <a:ext uri="{FF2B5EF4-FFF2-40B4-BE49-F238E27FC236}">
                <a16:creationId xmlns:a16="http://schemas.microsoft.com/office/drawing/2014/main" id="{381B40F8-8F1C-F538-26B4-DC6A401C5837}"/>
              </a:ext>
            </a:extLst>
          </p:cNvPr>
          <p:cNvPicPr>
            <a:picLocks noChangeAspect="1"/>
          </p:cNvPicPr>
          <p:nvPr/>
        </p:nvPicPr>
        <p:blipFill>
          <a:blip r:embed="rId5"/>
          <a:stretch>
            <a:fillRect/>
          </a:stretch>
        </p:blipFill>
        <p:spPr>
          <a:xfrm>
            <a:off x="56386" y="2385809"/>
            <a:ext cx="4572000" cy="533582"/>
          </a:xfrm>
          <a:prstGeom prst="rect">
            <a:avLst/>
          </a:prstGeom>
        </p:spPr>
      </p:pic>
      <p:pic>
        <p:nvPicPr>
          <p:cNvPr id="15" name="Picture 14">
            <a:extLst>
              <a:ext uri="{FF2B5EF4-FFF2-40B4-BE49-F238E27FC236}">
                <a16:creationId xmlns:a16="http://schemas.microsoft.com/office/drawing/2014/main" id="{FB6D2EBB-8F21-F74E-4547-F3CA0449696A}"/>
              </a:ext>
            </a:extLst>
          </p:cNvPr>
          <p:cNvPicPr>
            <a:picLocks noChangeAspect="1"/>
          </p:cNvPicPr>
          <p:nvPr/>
        </p:nvPicPr>
        <p:blipFill>
          <a:blip r:embed="rId6"/>
          <a:stretch>
            <a:fillRect/>
          </a:stretch>
        </p:blipFill>
        <p:spPr>
          <a:xfrm>
            <a:off x="56386" y="3144196"/>
            <a:ext cx="4565684" cy="52763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5887593"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Analysis: Why Does Zero-Shot Transfer Work?</a:t>
            </a:r>
            <a:endParaRPr lang="en-US" sz="2250" dirty="0"/>
          </a:p>
        </p:txBody>
      </p:sp>
      <p:sp>
        <p:nvSpPr>
          <p:cNvPr id="3" name="Text 1"/>
          <p:cNvSpPr/>
          <p:nvPr/>
        </p:nvSpPr>
        <p:spPr>
          <a:xfrm>
            <a:off x="381000" y="819150"/>
            <a:ext cx="4114800" cy="1245840"/>
          </a:xfrm>
          <a:prstGeom prst="roundRect">
            <a:avLst>
              <a:gd name="adj" fmla="val 6116"/>
            </a:avLst>
          </a:prstGeom>
          <a:solidFill>
            <a:srgbClr val="FADBD8"/>
          </a:solidFill>
          <a:ln/>
        </p:spPr>
        <p:txBody>
          <a:bodyPr wrap="square" rtlCol="0" anchor="ctr"/>
          <a:lstStyle/>
          <a:p>
            <a:pPr marL="0" indent="0">
              <a:buNone/>
            </a:pPr>
            <a:endParaRPr lang="en-US" dirty="0"/>
          </a:p>
        </p:txBody>
      </p:sp>
      <p:sp>
        <p:nvSpPr>
          <p:cNvPr id="4" name="Text 2"/>
          <p:cNvSpPr/>
          <p:nvPr/>
        </p:nvSpPr>
        <p:spPr>
          <a:xfrm>
            <a:off x="514350" y="990600"/>
            <a:ext cx="3925062"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E74C3C"/>
                </a:solidFill>
                <a:latin typeface="Arial" pitchFamily="34" charset="0"/>
                <a:ea typeface="Arial" pitchFamily="34" charset="-122"/>
                <a:cs typeface="Arial" pitchFamily="34" charset="-120"/>
              </a:rPr>
              <a:t>What We Expected</a:t>
            </a:r>
            <a:endParaRPr lang="en-US" sz="900" dirty="0"/>
          </a:p>
        </p:txBody>
      </p:sp>
      <p:sp>
        <p:nvSpPr>
          <p:cNvPr id="5" name="Text 3"/>
          <p:cNvSpPr/>
          <p:nvPr/>
        </p:nvSpPr>
        <p:spPr>
          <a:xfrm>
            <a:off x="514350" y="1226790"/>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Model learns language-specific patterns:</a:t>
            </a:r>
            <a:endParaRPr lang="en-US" sz="750" dirty="0"/>
          </a:p>
        </p:txBody>
      </p:sp>
      <p:sp>
        <p:nvSpPr>
          <p:cNvPr id="6" name="Text 4"/>
          <p:cNvSpPr/>
          <p:nvPr/>
        </p:nvSpPr>
        <p:spPr>
          <a:xfrm>
            <a:off x="514350" y="1417290"/>
            <a:ext cx="3925062" cy="133350"/>
          </a:xfrm>
          <a:prstGeom prst="rect">
            <a:avLst/>
          </a:prstGeom>
          <a:noFill/>
          <a:ln/>
        </p:spPr>
        <p:txBody>
          <a:bodyPr wrap="square" lIns="0" tIns="0" rIns="0" bIns="0" rtlCol="0" anchor="t"/>
          <a:lstStyle/>
          <a:p>
            <a:pPr marL="0" indent="0" algn="l">
              <a:lnSpc>
                <a:spcPts val="1050"/>
              </a:lnSpc>
              <a:spcBef>
                <a:spcPts val="450"/>
              </a:spcBef>
              <a:spcAft>
                <a:spcPts val="300"/>
              </a:spcAft>
              <a:buNone/>
            </a:pPr>
            <a:r>
              <a:rPr lang="en-US" sz="750" dirty="0">
                <a:solidFill>
                  <a:srgbClr val="2C3E50"/>
                </a:solidFill>
                <a:latin typeface="Arial" pitchFamily="34" charset="0"/>
                <a:ea typeface="Arial" pitchFamily="34" charset="-122"/>
                <a:cs typeface="Arial" pitchFamily="34" charset="-120"/>
              </a:rPr>
              <a:t>Train Chinese-En: Learn Chinese grammar</a:t>
            </a:r>
            <a:endParaRPr lang="en-US" sz="750" dirty="0"/>
          </a:p>
        </p:txBody>
      </p:sp>
      <p:sp>
        <p:nvSpPr>
          <p:cNvPr id="7" name="Text 5"/>
          <p:cNvSpPr/>
          <p:nvPr/>
        </p:nvSpPr>
        <p:spPr>
          <a:xfrm>
            <a:off x="514350" y="1588740"/>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2C3E50"/>
                </a:solidFill>
                <a:latin typeface="Arial" pitchFamily="34" charset="0"/>
                <a:ea typeface="Arial" pitchFamily="34" charset="-122"/>
                <a:cs typeface="Arial" pitchFamily="34" charset="-120"/>
              </a:rPr>
              <a:t>Train Tamil-En: Learn Tamil patterns</a:t>
            </a:r>
            <a:endParaRPr lang="en-US" sz="750" dirty="0"/>
          </a:p>
        </p:txBody>
      </p:sp>
      <p:sp>
        <p:nvSpPr>
          <p:cNvPr id="8" name="Text 6"/>
          <p:cNvSpPr/>
          <p:nvPr/>
        </p:nvSpPr>
        <p:spPr>
          <a:xfrm>
            <a:off x="514350" y="1760190"/>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E74C3C"/>
                </a:solidFill>
                <a:latin typeface="Arial" pitchFamily="34" charset="0"/>
                <a:ea typeface="Arial" pitchFamily="34" charset="-122"/>
                <a:cs typeface="Arial" pitchFamily="34" charset="-120"/>
              </a:rPr>
              <a:t>Test Japanese-En: Fail (no Japanese rules)</a:t>
            </a:r>
            <a:endParaRPr lang="en-US" sz="750" dirty="0"/>
          </a:p>
        </p:txBody>
      </p:sp>
      <p:sp>
        <p:nvSpPr>
          <p:cNvPr id="9" name="Text 7"/>
          <p:cNvSpPr/>
          <p:nvPr/>
        </p:nvSpPr>
        <p:spPr>
          <a:xfrm>
            <a:off x="4648200" y="819150"/>
            <a:ext cx="4114800" cy="1245840"/>
          </a:xfrm>
          <a:prstGeom prst="roundRect">
            <a:avLst>
              <a:gd name="adj" fmla="val 6116"/>
            </a:avLst>
          </a:prstGeom>
          <a:solidFill>
            <a:srgbClr val="D5F5E3"/>
          </a:solidFill>
          <a:ln/>
        </p:spPr>
        <p:txBody>
          <a:bodyPr wrap="square" rtlCol="0" anchor="ctr"/>
          <a:lstStyle/>
          <a:p>
            <a:pPr marL="0" indent="0">
              <a:buNone/>
            </a:pPr>
            <a:endParaRPr lang="en-US" dirty="0"/>
          </a:p>
        </p:txBody>
      </p:sp>
      <p:sp>
        <p:nvSpPr>
          <p:cNvPr id="10" name="Text 8"/>
          <p:cNvSpPr/>
          <p:nvPr/>
        </p:nvSpPr>
        <p:spPr>
          <a:xfrm>
            <a:off x="4781550" y="990600"/>
            <a:ext cx="3925062"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27AE60"/>
                </a:solidFill>
                <a:latin typeface="Arial" pitchFamily="34" charset="0"/>
                <a:ea typeface="Arial" pitchFamily="34" charset="-122"/>
                <a:cs typeface="Arial" pitchFamily="34" charset="-120"/>
              </a:rPr>
              <a:t>What Actually Happened</a:t>
            </a:r>
            <a:endParaRPr lang="en-US" sz="900" dirty="0"/>
          </a:p>
        </p:txBody>
      </p:sp>
      <p:sp>
        <p:nvSpPr>
          <p:cNvPr id="11" name="Text 9"/>
          <p:cNvSpPr/>
          <p:nvPr/>
        </p:nvSpPr>
        <p:spPr>
          <a:xfrm>
            <a:off x="4781550" y="1226790"/>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Model learns language-AGNOSTIC patterns:</a:t>
            </a:r>
            <a:endParaRPr lang="en-US" sz="750" dirty="0"/>
          </a:p>
        </p:txBody>
      </p:sp>
      <p:sp>
        <p:nvSpPr>
          <p:cNvPr id="12" name="Text 10"/>
          <p:cNvSpPr/>
          <p:nvPr/>
        </p:nvSpPr>
        <p:spPr>
          <a:xfrm>
            <a:off x="4781550" y="1417290"/>
            <a:ext cx="3925062" cy="133350"/>
          </a:xfrm>
          <a:prstGeom prst="rect">
            <a:avLst/>
          </a:prstGeom>
          <a:noFill/>
          <a:ln/>
        </p:spPr>
        <p:txBody>
          <a:bodyPr wrap="square" lIns="0" tIns="0" rIns="0" bIns="0" rtlCol="0" anchor="t"/>
          <a:lstStyle/>
          <a:p>
            <a:pPr marL="0" indent="0" algn="l">
              <a:lnSpc>
                <a:spcPts val="1050"/>
              </a:lnSpc>
              <a:spcBef>
                <a:spcPts val="450"/>
              </a:spcBef>
              <a:spcAft>
                <a:spcPts val="300"/>
              </a:spcAft>
              <a:buNone/>
            </a:pPr>
            <a:r>
              <a:rPr lang="en-US" sz="750" dirty="0">
                <a:solidFill>
                  <a:srgbClr val="2C3E50"/>
                </a:solidFill>
                <a:latin typeface="Arial" pitchFamily="34" charset="0"/>
                <a:ea typeface="Arial" pitchFamily="34" charset="-122"/>
                <a:cs typeface="Arial" pitchFamily="34" charset="-120"/>
              </a:rPr>
              <a:t>Train mixed: Learn SUMMARIZATION</a:t>
            </a:r>
            <a:endParaRPr lang="en-US" sz="750" dirty="0"/>
          </a:p>
        </p:txBody>
      </p:sp>
      <p:sp>
        <p:nvSpPr>
          <p:cNvPr id="13" name="Text 11"/>
          <p:cNvSpPr/>
          <p:nvPr/>
        </p:nvSpPr>
        <p:spPr>
          <a:xfrm>
            <a:off x="4781550" y="1588740"/>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2C3E50"/>
                </a:solidFill>
                <a:latin typeface="Arial" pitchFamily="34" charset="0"/>
                <a:ea typeface="Arial" pitchFamily="34" charset="-122"/>
                <a:cs typeface="Arial" pitchFamily="34" charset="-120"/>
              </a:rPr>
              <a:t>Code-mixing patterns are universal!</a:t>
            </a:r>
            <a:endParaRPr lang="en-US" sz="750" dirty="0"/>
          </a:p>
        </p:txBody>
      </p:sp>
      <p:sp>
        <p:nvSpPr>
          <p:cNvPr id="14" name="Text 12"/>
          <p:cNvSpPr/>
          <p:nvPr/>
        </p:nvSpPr>
        <p:spPr>
          <a:xfrm>
            <a:off x="4781550" y="1760190"/>
            <a:ext cx="392506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dirty="0">
                <a:solidFill>
                  <a:srgbClr val="27AE60"/>
                </a:solidFill>
                <a:latin typeface="Arial" pitchFamily="34" charset="0"/>
                <a:ea typeface="Arial" pitchFamily="34" charset="-122"/>
                <a:cs typeface="Arial" pitchFamily="34" charset="-120"/>
              </a:rPr>
              <a:t>Test Japanese-En: Success!</a:t>
            </a:r>
            <a:endParaRPr lang="en-US" sz="750" dirty="0"/>
          </a:p>
        </p:txBody>
      </p:sp>
      <p:sp>
        <p:nvSpPr>
          <p:cNvPr id="15" name="Text 13"/>
          <p:cNvSpPr/>
          <p:nvPr/>
        </p:nvSpPr>
        <p:spPr>
          <a:xfrm>
            <a:off x="381000" y="2198340"/>
            <a:ext cx="8382000" cy="1099096"/>
          </a:xfrm>
          <a:prstGeom prst="roundRect">
            <a:avLst>
              <a:gd name="adj" fmla="val 6933"/>
            </a:avLst>
          </a:prstGeom>
          <a:solidFill>
            <a:srgbClr val="F8F9FA"/>
          </a:solidFill>
          <a:ln/>
        </p:spPr>
        <p:txBody>
          <a:bodyPr wrap="square" rtlCol="0" anchor="ctr"/>
          <a:lstStyle/>
          <a:p>
            <a:pPr marL="0" indent="0">
              <a:buNone/>
            </a:pPr>
            <a:endParaRPr lang="en-US" dirty="0"/>
          </a:p>
        </p:txBody>
      </p:sp>
      <p:sp>
        <p:nvSpPr>
          <p:cNvPr id="16" name="Text 14"/>
          <p:cNvSpPr/>
          <p:nvPr/>
        </p:nvSpPr>
        <p:spPr>
          <a:xfrm>
            <a:off x="514350" y="2369790"/>
            <a:ext cx="8277606"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1A5276"/>
                </a:solidFill>
                <a:latin typeface="Arial" pitchFamily="34" charset="0"/>
                <a:ea typeface="Arial" pitchFamily="34" charset="-122"/>
                <a:cs typeface="Arial" pitchFamily="34" charset="-120"/>
              </a:rPr>
              <a:t>Three Factors Enabling Transfer</a:t>
            </a:r>
            <a:endParaRPr lang="en-US" sz="900" dirty="0"/>
          </a:p>
        </p:txBody>
      </p:sp>
      <p:sp>
        <p:nvSpPr>
          <p:cNvPr id="17" name="Text 15"/>
          <p:cNvSpPr/>
          <p:nvPr/>
        </p:nvSpPr>
        <p:spPr>
          <a:xfrm>
            <a:off x="514350" y="2605980"/>
            <a:ext cx="2628900" cy="558105"/>
          </a:xfrm>
          <a:prstGeom prst="roundRect">
            <a:avLst>
              <a:gd name="adj" fmla="val 6827"/>
            </a:avLst>
          </a:prstGeom>
          <a:solidFill>
            <a:srgbClr val="FFFFFF"/>
          </a:solidFill>
          <a:ln/>
        </p:spPr>
        <p:txBody>
          <a:bodyPr wrap="square" rtlCol="0" anchor="ctr"/>
          <a:lstStyle/>
          <a:p>
            <a:pPr marL="0" indent="0">
              <a:buNone/>
            </a:pPr>
            <a:endParaRPr lang="en-US" dirty="0"/>
          </a:p>
        </p:txBody>
      </p:sp>
      <p:sp>
        <p:nvSpPr>
          <p:cNvPr id="18" name="Shape 16"/>
          <p:cNvSpPr/>
          <p:nvPr/>
        </p:nvSpPr>
        <p:spPr>
          <a:xfrm>
            <a:off x="528638" y="2605980"/>
            <a:ext cx="0" cy="558105"/>
          </a:xfrm>
          <a:prstGeom prst="line">
            <a:avLst/>
          </a:prstGeom>
          <a:noFill/>
          <a:ln w="28575">
            <a:solidFill>
              <a:srgbClr val="4ECDC4"/>
            </a:solidFill>
            <a:prstDash val="solid"/>
          </a:ln>
        </p:spPr>
        <p:txBody>
          <a:bodyPr/>
          <a:lstStyle/>
          <a:p>
            <a:endParaRPr lang="en-US"/>
          </a:p>
        </p:txBody>
      </p:sp>
      <p:sp>
        <p:nvSpPr>
          <p:cNvPr id="19" name="Text 17"/>
          <p:cNvSpPr/>
          <p:nvPr/>
        </p:nvSpPr>
        <p:spPr>
          <a:xfrm>
            <a:off x="638175" y="2739330"/>
            <a:ext cx="245802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1A5276"/>
                </a:solidFill>
                <a:latin typeface="Arial" pitchFamily="34" charset="0"/>
                <a:ea typeface="Arial" pitchFamily="34" charset="-122"/>
                <a:cs typeface="Arial" pitchFamily="34" charset="-120"/>
              </a:rPr>
              <a:t>1. Multilingual Pre-training</a:t>
            </a:r>
            <a:endParaRPr lang="en-US" sz="750" dirty="0"/>
          </a:p>
        </p:txBody>
      </p:sp>
      <p:sp>
        <p:nvSpPr>
          <p:cNvPr id="20" name="Text 18"/>
          <p:cNvSpPr/>
          <p:nvPr/>
        </p:nvSpPr>
        <p:spPr>
          <a:xfrm>
            <a:off x="638175" y="2910780"/>
            <a:ext cx="2458022" cy="119955"/>
          </a:xfrm>
          <a:prstGeom prst="rect">
            <a:avLst/>
          </a:prstGeom>
          <a:noFill/>
          <a:ln/>
        </p:spPr>
        <p:txBody>
          <a:bodyPr wrap="square" lIns="0" tIns="0" rIns="0" bIns="0" rtlCol="0" anchor="t"/>
          <a:lstStyle/>
          <a:p>
            <a:pPr marL="0" indent="0" algn="l">
              <a:lnSpc>
                <a:spcPts val="945"/>
              </a:lnSpc>
              <a:spcBef>
                <a:spcPts val="300"/>
              </a:spcBef>
              <a:spcAft>
                <a:spcPts val="300"/>
              </a:spcAft>
              <a:buNone/>
            </a:pPr>
            <a:r>
              <a:rPr lang="en-US" sz="675" dirty="0">
                <a:solidFill>
                  <a:srgbClr val="6C757D"/>
                </a:solidFill>
                <a:latin typeface="Arial" pitchFamily="34" charset="0"/>
                <a:ea typeface="Arial" pitchFamily="34" charset="-122"/>
                <a:cs typeface="Arial" pitchFamily="34" charset="-120"/>
              </a:rPr>
              <a:t>Llama knows 100+ languages from pre-training data</a:t>
            </a:r>
            <a:endParaRPr lang="en-US" sz="675" dirty="0"/>
          </a:p>
        </p:txBody>
      </p:sp>
      <p:sp>
        <p:nvSpPr>
          <p:cNvPr id="21" name="Text 19"/>
          <p:cNvSpPr/>
          <p:nvPr/>
        </p:nvSpPr>
        <p:spPr>
          <a:xfrm>
            <a:off x="3257550" y="2605980"/>
            <a:ext cx="2628900" cy="558105"/>
          </a:xfrm>
          <a:prstGeom prst="roundRect">
            <a:avLst>
              <a:gd name="adj" fmla="val 6827"/>
            </a:avLst>
          </a:prstGeom>
          <a:solidFill>
            <a:srgbClr val="FFFFFF"/>
          </a:solidFill>
          <a:ln/>
        </p:spPr>
        <p:txBody>
          <a:bodyPr wrap="square" rtlCol="0" anchor="ctr"/>
          <a:lstStyle/>
          <a:p>
            <a:pPr marL="0" indent="0">
              <a:buNone/>
            </a:pPr>
            <a:endParaRPr lang="en-US" dirty="0"/>
          </a:p>
        </p:txBody>
      </p:sp>
      <p:sp>
        <p:nvSpPr>
          <p:cNvPr id="22" name="Shape 20"/>
          <p:cNvSpPr/>
          <p:nvPr/>
        </p:nvSpPr>
        <p:spPr>
          <a:xfrm>
            <a:off x="3271838" y="2605980"/>
            <a:ext cx="0" cy="558105"/>
          </a:xfrm>
          <a:prstGeom prst="line">
            <a:avLst/>
          </a:prstGeom>
          <a:noFill/>
          <a:ln w="28575">
            <a:solidFill>
              <a:srgbClr val="E74C3C"/>
            </a:solidFill>
            <a:prstDash val="solid"/>
          </a:ln>
        </p:spPr>
        <p:txBody>
          <a:bodyPr/>
          <a:lstStyle/>
          <a:p>
            <a:endParaRPr lang="en-US"/>
          </a:p>
        </p:txBody>
      </p:sp>
      <p:sp>
        <p:nvSpPr>
          <p:cNvPr id="23" name="Text 21"/>
          <p:cNvSpPr/>
          <p:nvPr/>
        </p:nvSpPr>
        <p:spPr>
          <a:xfrm>
            <a:off x="3381375" y="2739330"/>
            <a:ext cx="245802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1A5276"/>
                </a:solidFill>
                <a:latin typeface="Arial" pitchFamily="34" charset="0"/>
                <a:ea typeface="Arial" pitchFamily="34" charset="-122"/>
                <a:cs typeface="Arial" pitchFamily="34" charset="-120"/>
              </a:rPr>
              <a:t>2. Universal Code-Mixing</a:t>
            </a:r>
            <a:endParaRPr lang="en-US" sz="750" dirty="0"/>
          </a:p>
        </p:txBody>
      </p:sp>
      <p:sp>
        <p:nvSpPr>
          <p:cNvPr id="24" name="Text 22"/>
          <p:cNvSpPr/>
          <p:nvPr/>
        </p:nvSpPr>
        <p:spPr>
          <a:xfrm>
            <a:off x="3381375" y="2910780"/>
            <a:ext cx="2458022" cy="119955"/>
          </a:xfrm>
          <a:prstGeom prst="rect">
            <a:avLst/>
          </a:prstGeom>
          <a:noFill/>
          <a:ln/>
        </p:spPr>
        <p:txBody>
          <a:bodyPr wrap="square" lIns="0" tIns="0" rIns="0" bIns="0" rtlCol="0" anchor="t"/>
          <a:lstStyle/>
          <a:p>
            <a:pPr marL="0" indent="0" algn="l">
              <a:lnSpc>
                <a:spcPts val="945"/>
              </a:lnSpc>
              <a:spcBef>
                <a:spcPts val="300"/>
              </a:spcBef>
              <a:spcAft>
                <a:spcPts val="300"/>
              </a:spcAft>
              <a:buNone/>
            </a:pPr>
            <a:r>
              <a:rPr lang="en-US" sz="675" dirty="0">
                <a:solidFill>
                  <a:srgbClr val="6C757D"/>
                </a:solidFill>
                <a:latin typeface="Arial" pitchFamily="34" charset="0"/>
                <a:ea typeface="Arial" pitchFamily="34" charset="-122"/>
                <a:cs typeface="Arial" pitchFamily="34" charset="-120"/>
              </a:rPr>
              <a:t>Matrix language structure is similar across pairs</a:t>
            </a:r>
            <a:endParaRPr lang="en-US" sz="675" dirty="0"/>
          </a:p>
        </p:txBody>
      </p:sp>
      <p:sp>
        <p:nvSpPr>
          <p:cNvPr id="25" name="Text 23"/>
          <p:cNvSpPr/>
          <p:nvPr/>
        </p:nvSpPr>
        <p:spPr>
          <a:xfrm>
            <a:off x="6000750" y="2605980"/>
            <a:ext cx="2628900" cy="558105"/>
          </a:xfrm>
          <a:prstGeom prst="roundRect">
            <a:avLst>
              <a:gd name="adj" fmla="val 6827"/>
            </a:avLst>
          </a:prstGeom>
          <a:solidFill>
            <a:srgbClr val="FFFFFF"/>
          </a:solidFill>
          <a:ln/>
        </p:spPr>
        <p:txBody>
          <a:bodyPr wrap="square" rtlCol="0" anchor="ctr"/>
          <a:lstStyle/>
          <a:p>
            <a:pPr marL="0" indent="0">
              <a:buNone/>
            </a:pPr>
            <a:endParaRPr lang="en-US" dirty="0"/>
          </a:p>
        </p:txBody>
      </p:sp>
      <p:sp>
        <p:nvSpPr>
          <p:cNvPr id="26" name="Shape 24"/>
          <p:cNvSpPr/>
          <p:nvPr/>
        </p:nvSpPr>
        <p:spPr>
          <a:xfrm>
            <a:off x="6015038" y="2605980"/>
            <a:ext cx="0" cy="558105"/>
          </a:xfrm>
          <a:prstGeom prst="line">
            <a:avLst/>
          </a:prstGeom>
          <a:noFill/>
          <a:ln w="28575">
            <a:solidFill>
              <a:srgbClr val="F39C12"/>
            </a:solidFill>
            <a:prstDash val="solid"/>
          </a:ln>
        </p:spPr>
        <p:txBody>
          <a:bodyPr/>
          <a:lstStyle/>
          <a:p>
            <a:endParaRPr lang="en-US"/>
          </a:p>
        </p:txBody>
      </p:sp>
      <p:sp>
        <p:nvSpPr>
          <p:cNvPr id="27" name="Text 25"/>
          <p:cNvSpPr/>
          <p:nvPr/>
        </p:nvSpPr>
        <p:spPr>
          <a:xfrm>
            <a:off x="6124575" y="2739330"/>
            <a:ext cx="2458022" cy="133350"/>
          </a:xfrm>
          <a:prstGeom prst="rect">
            <a:avLst/>
          </a:prstGeom>
          <a:noFill/>
          <a:ln/>
        </p:spPr>
        <p:txBody>
          <a:bodyPr wrap="square" lIns="0" tIns="0" rIns="0" bIns="0" rtlCol="0" anchor="t"/>
          <a:lstStyle/>
          <a:p>
            <a:pPr marL="0" indent="0" algn="l">
              <a:lnSpc>
                <a:spcPts val="1050"/>
              </a:lnSpc>
              <a:spcBef>
                <a:spcPts val="300"/>
              </a:spcBef>
              <a:spcAft>
                <a:spcPts val="300"/>
              </a:spcAft>
              <a:buNone/>
            </a:pPr>
            <a:r>
              <a:rPr lang="en-US" sz="750" b="1" dirty="0">
                <a:solidFill>
                  <a:srgbClr val="1A5276"/>
                </a:solidFill>
                <a:latin typeface="Arial" pitchFamily="34" charset="0"/>
                <a:ea typeface="Arial" pitchFamily="34" charset="-122"/>
                <a:cs typeface="Arial" pitchFamily="34" charset="-120"/>
              </a:rPr>
              <a:t>3. English Anchor</a:t>
            </a:r>
            <a:endParaRPr lang="en-US" sz="750" dirty="0"/>
          </a:p>
        </p:txBody>
      </p:sp>
      <p:sp>
        <p:nvSpPr>
          <p:cNvPr id="28" name="Text 26"/>
          <p:cNvSpPr/>
          <p:nvPr/>
        </p:nvSpPr>
        <p:spPr>
          <a:xfrm>
            <a:off x="6124575" y="2910780"/>
            <a:ext cx="2458022" cy="119955"/>
          </a:xfrm>
          <a:prstGeom prst="rect">
            <a:avLst/>
          </a:prstGeom>
          <a:noFill/>
          <a:ln/>
        </p:spPr>
        <p:txBody>
          <a:bodyPr wrap="square" lIns="0" tIns="0" rIns="0" bIns="0" rtlCol="0" anchor="t"/>
          <a:lstStyle/>
          <a:p>
            <a:pPr marL="0" indent="0" algn="l">
              <a:lnSpc>
                <a:spcPts val="945"/>
              </a:lnSpc>
              <a:spcBef>
                <a:spcPts val="300"/>
              </a:spcBef>
              <a:spcAft>
                <a:spcPts val="300"/>
              </a:spcAft>
              <a:buNone/>
            </a:pPr>
            <a:r>
              <a:rPr lang="en-US" sz="675" dirty="0">
                <a:solidFill>
                  <a:srgbClr val="6C757D"/>
                </a:solidFill>
                <a:latin typeface="Arial" pitchFamily="34" charset="0"/>
                <a:ea typeface="Arial" pitchFamily="34" charset="-122"/>
                <a:cs typeface="Arial" pitchFamily="34" charset="-120"/>
              </a:rPr>
              <a:t>English portions provide consistent structure</a:t>
            </a:r>
            <a:endParaRPr lang="en-US" sz="675" dirty="0"/>
          </a:p>
        </p:txBody>
      </p:sp>
      <p:sp>
        <p:nvSpPr>
          <p:cNvPr id="29" name="Text 27"/>
          <p:cNvSpPr/>
          <p:nvPr/>
        </p:nvSpPr>
        <p:spPr>
          <a:xfrm>
            <a:off x="381000" y="3430786"/>
            <a:ext cx="8382000" cy="521791"/>
          </a:xfrm>
          <a:prstGeom prst="roundRect">
            <a:avLst>
              <a:gd name="adj" fmla="val 14604"/>
            </a:avLst>
          </a:prstGeom>
          <a:solidFill>
            <a:srgbClr val="1A5276"/>
          </a:solidFill>
          <a:ln/>
        </p:spPr>
        <p:txBody>
          <a:bodyPr wrap="square" rtlCol="0" anchor="ctr"/>
          <a:lstStyle/>
          <a:p>
            <a:pPr marL="0" indent="0">
              <a:buNone/>
            </a:pPr>
            <a:endParaRPr lang="en-US" dirty="0"/>
          </a:p>
        </p:txBody>
      </p:sp>
      <p:sp>
        <p:nvSpPr>
          <p:cNvPr id="30" name="Text 28"/>
          <p:cNvSpPr/>
          <p:nvPr/>
        </p:nvSpPr>
        <p:spPr>
          <a:xfrm>
            <a:off x="495300" y="3545086"/>
            <a:ext cx="8316468" cy="293191"/>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Connection to CoT Paper:</a:t>
            </a:r>
            <a:r>
              <a:rPr lang="en-US" sz="825" dirty="0">
                <a:solidFill>
                  <a:srgbClr val="FFFFFF"/>
                </a:solidFill>
                <a:latin typeface="Arial" pitchFamily="34" charset="0"/>
                <a:ea typeface="Arial" pitchFamily="34" charset="-122"/>
                <a:cs typeface="Arial" pitchFamily="34" charset="-120"/>
              </a:rPr>
              <a:t> Similar to how chain-of-thought reasoning transfers across languages, our findings show summarization ability transfers across code-mixed language pairs.</a:t>
            </a:r>
            <a:endParaRPr lang="en-US" sz="82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4284536"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Limitations and Future Work</a:t>
            </a:r>
            <a:endParaRPr lang="en-US" sz="2250" dirty="0"/>
          </a:p>
        </p:txBody>
      </p:sp>
      <p:sp>
        <p:nvSpPr>
          <p:cNvPr id="3" name="Text 1"/>
          <p:cNvSpPr/>
          <p:nvPr/>
        </p:nvSpPr>
        <p:spPr>
          <a:xfrm>
            <a:off x="381000" y="819150"/>
            <a:ext cx="4114800" cy="1322040"/>
          </a:xfrm>
          <a:prstGeom prst="roundRect">
            <a:avLst>
              <a:gd name="adj" fmla="val 5764"/>
            </a:avLst>
          </a:prstGeom>
          <a:solidFill>
            <a:srgbClr val="FADBD8"/>
          </a:solidFill>
          <a:ln/>
        </p:spPr>
        <p:txBody>
          <a:bodyPr wrap="square" rtlCol="0" anchor="ctr"/>
          <a:lstStyle/>
          <a:p>
            <a:pPr marL="0" indent="0">
              <a:buNone/>
            </a:pPr>
            <a:endParaRPr lang="en-US" dirty="0"/>
          </a:p>
        </p:txBody>
      </p:sp>
      <p:sp>
        <p:nvSpPr>
          <p:cNvPr id="4" name="Text 2"/>
          <p:cNvSpPr/>
          <p:nvPr/>
        </p:nvSpPr>
        <p:spPr>
          <a:xfrm>
            <a:off x="514350" y="990600"/>
            <a:ext cx="3925062"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E74C3C"/>
                </a:solidFill>
                <a:latin typeface="Arial" pitchFamily="34" charset="0"/>
                <a:ea typeface="Arial" pitchFamily="34" charset="-122"/>
                <a:cs typeface="Arial" pitchFamily="34" charset="-120"/>
              </a:rPr>
              <a:t>Current Limitations</a:t>
            </a:r>
            <a:endParaRPr lang="en-US" sz="900" dirty="0"/>
          </a:p>
        </p:txBody>
      </p:sp>
      <p:sp>
        <p:nvSpPr>
          <p:cNvPr id="5" name="Text 3"/>
          <p:cNvSpPr/>
          <p:nvPr/>
        </p:nvSpPr>
        <p:spPr>
          <a:xfrm>
            <a:off x="514350" y="1226790"/>
            <a:ext cx="3925062" cy="142875"/>
          </a:xfrm>
          <a:prstGeom prst="rect">
            <a:avLst/>
          </a:prstGeom>
          <a:noFill/>
          <a:ln/>
        </p:spPr>
        <p:txBody>
          <a:bodyPr wrap="square" lIns="0" tIns="0" rIns="0" bIns="0" rtlCol="0" anchor="t"/>
          <a:lstStyle/>
          <a:p>
            <a:pPr marL="0" indent="0" algn="l">
              <a:lnSpc>
                <a:spcPts val="1125"/>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1. Limited test languages (only 3 zero-shot pairs)</a:t>
            </a:r>
            <a:endParaRPr lang="en-US" sz="750" dirty="0"/>
          </a:p>
        </p:txBody>
      </p:sp>
      <p:sp>
        <p:nvSpPr>
          <p:cNvPr id="6" name="Text 4"/>
          <p:cNvSpPr/>
          <p:nvPr/>
        </p:nvSpPr>
        <p:spPr>
          <a:xfrm>
            <a:off x="514350" y="1426815"/>
            <a:ext cx="3925062" cy="142875"/>
          </a:xfrm>
          <a:prstGeom prst="rect">
            <a:avLst/>
          </a:prstGeom>
          <a:noFill/>
          <a:ln/>
        </p:spPr>
        <p:txBody>
          <a:bodyPr wrap="square" lIns="0" tIns="0" rIns="0" bIns="0" rtlCol="0" anchor="t"/>
          <a:lstStyle/>
          <a:p>
            <a:pPr marL="0" indent="0" algn="l">
              <a:lnSpc>
                <a:spcPts val="1125"/>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2. No human evaluation of summary quality</a:t>
            </a:r>
            <a:endParaRPr lang="en-US" sz="750" dirty="0"/>
          </a:p>
        </p:txBody>
      </p:sp>
      <p:sp>
        <p:nvSpPr>
          <p:cNvPr id="7" name="Text 5"/>
          <p:cNvSpPr/>
          <p:nvPr/>
        </p:nvSpPr>
        <p:spPr>
          <a:xfrm>
            <a:off x="514350" y="1626840"/>
            <a:ext cx="3925062" cy="142875"/>
          </a:xfrm>
          <a:prstGeom prst="rect">
            <a:avLst/>
          </a:prstGeom>
          <a:noFill/>
          <a:ln/>
        </p:spPr>
        <p:txBody>
          <a:bodyPr wrap="square" lIns="0" tIns="0" rIns="0" bIns="0" rtlCol="0" anchor="t"/>
          <a:lstStyle/>
          <a:p>
            <a:pPr marL="0" indent="0" algn="l">
              <a:lnSpc>
                <a:spcPts val="1125"/>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3. Single training run (no statistical significance)</a:t>
            </a:r>
            <a:endParaRPr lang="en-US" sz="750" dirty="0"/>
          </a:p>
        </p:txBody>
      </p:sp>
      <p:sp>
        <p:nvSpPr>
          <p:cNvPr id="8" name="Text 6"/>
          <p:cNvSpPr/>
          <p:nvPr/>
        </p:nvSpPr>
        <p:spPr>
          <a:xfrm>
            <a:off x="514350" y="1826865"/>
            <a:ext cx="3925062" cy="142875"/>
          </a:xfrm>
          <a:prstGeom prst="rect">
            <a:avLst/>
          </a:prstGeom>
          <a:noFill/>
          <a:ln/>
        </p:spPr>
        <p:txBody>
          <a:bodyPr wrap="square" lIns="0" tIns="0" rIns="0" bIns="0" rtlCol="0" anchor="t"/>
          <a:lstStyle/>
          <a:p>
            <a:pPr marL="0" indent="0" algn="l">
              <a:lnSpc>
                <a:spcPts val="1125"/>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4. Limited to languages in Llama pre-training</a:t>
            </a:r>
            <a:endParaRPr lang="en-US" sz="750" dirty="0"/>
          </a:p>
        </p:txBody>
      </p:sp>
      <p:sp>
        <p:nvSpPr>
          <p:cNvPr id="9" name="Text 7"/>
          <p:cNvSpPr/>
          <p:nvPr/>
        </p:nvSpPr>
        <p:spPr>
          <a:xfrm>
            <a:off x="4648200" y="819150"/>
            <a:ext cx="4114800" cy="1322040"/>
          </a:xfrm>
          <a:prstGeom prst="roundRect">
            <a:avLst>
              <a:gd name="adj" fmla="val 5764"/>
            </a:avLst>
          </a:prstGeom>
          <a:solidFill>
            <a:srgbClr val="D5F5E3"/>
          </a:solidFill>
          <a:ln/>
        </p:spPr>
        <p:txBody>
          <a:bodyPr wrap="square" rtlCol="0" anchor="ctr"/>
          <a:lstStyle/>
          <a:p>
            <a:pPr marL="0" indent="0">
              <a:buNone/>
            </a:pPr>
            <a:endParaRPr lang="en-US" dirty="0"/>
          </a:p>
        </p:txBody>
      </p:sp>
      <p:sp>
        <p:nvSpPr>
          <p:cNvPr id="10" name="Text 8"/>
          <p:cNvSpPr/>
          <p:nvPr/>
        </p:nvSpPr>
        <p:spPr>
          <a:xfrm>
            <a:off x="4781550" y="990600"/>
            <a:ext cx="3925062"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27AE60"/>
                </a:solidFill>
                <a:latin typeface="Arial" pitchFamily="34" charset="0"/>
                <a:ea typeface="Arial" pitchFamily="34" charset="-122"/>
                <a:cs typeface="Arial" pitchFamily="34" charset="-120"/>
              </a:rPr>
              <a:t>Future Work (Milestone 4)</a:t>
            </a:r>
            <a:endParaRPr lang="en-US" sz="900" dirty="0"/>
          </a:p>
        </p:txBody>
      </p:sp>
      <p:sp>
        <p:nvSpPr>
          <p:cNvPr id="11" name="Text 9"/>
          <p:cNvSpPr/>
          <p:nvPr/>
        </p:nvSpPr>
        <p:spPr>
          <a:xfrm>
            <a:off x="4781550" y="1226790"/>
            <a:ext cx="3925062" cy="142875"/>
          </a:xfrm>
          <a:prstGeom prst="rect">
            <a:avLst/>
          </a:prstGeom>
          <a:noFill/>
          <a:ln/>
        </p:spPr>
        <p:txBody>
          <a:bodyPr wrap="square" lIns="0" tIns="0" rIns="0" bIns="0" rtlCol="0" anchor="t"/>
          <a:lstStyle/>
          <a:p>
            <a:pPr marL="0" indent="0" algn="l">
              <a:lnSpc>
                <a:spcPts val="1125"/>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1. Expand to 15+ zero-shot language pairs</a:t>
            </a:r>
            <a:endParaRPr lang="en-US" sz="750" dirty="0"/>
          </a:p>
        </p:txBody>
      </p:sp>
      <p:sp>
        <p:nvSpPr>
          <p:cNvPr id="12" name="Text 10"/>
          <p:cNvSpPr/>
          <p:nvPr/>
        </p:nvSpPr>
        <p:spPr>
          <a:xfrm>
            <a:off x="4781550" y="1426815"/>
            <a:ext cx="3925062" cy="142875"/>
          </a:xfrm>
          <a:prstGeom prst="rect">
            <a:avLst/>
          </a:prstGeom>
          <a:noFill/>
          <a:ln/>
        </p:spPr>
        <p:txBody>
          <a:bodyPr wrap="square" lIns="0" tIns="0" rIns="0" bIns="0" rtlCol="0" anchor="t"/>
          <a:lstStyle/>
          <a:p>
            <a:pPr marL="0" indent="0" algn="l">
              <a:lnSpc>
                <a:spcPts val="1125"/>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2. Human evaluation study (5-10 annotators)</a:t>
            </a:r>
            <a:endParaRPr lang="en-US" sz="750" dirty="0"/>
          </a:p>
        </p:txBody>
      </p:sp>
      <p:sp>
        <p:nvSpPr>
          <p:cNvPr id="13" name="Text 11"/>
          <p:cNvSpPr/>
          <p:nvPr/>
        </p:nvSpPr>
        <p:spPr>
          <a:xfrm>
            <a:off x="4781550" y="1626840"/>
            <a:ext cx="3925062" cy="142875"/>
          </a:xfrm>
          <a:prstGeom prst="rect">
            <a:avLst/>
          </a:prstGeom>
          <a:noFill/>
          <a:ln/>
        </p:spPr>
        <p:txBody>
          <a:bodyPr wrap="square" lIns="0" tIns="0" rIns="0" bIns="0" rtlCol="0" anchor="t"/>
          <a:lstStyle/>
          <a:p>
            <a:pPr marL="0" indent="0" algn="l">
              <a:lnSpc>
                <a:spcPts val="1125"/>
              </a:lnSpc>
              <a:spcBef>
                <a:spcPts val="300"/>
              </a:spcBef>
              <a:spcAft>
                <a:spcPts val="450"/>
              </a:spcAft>
              <a:buNone/>
            </a:pPr>
            <a:r>
              <a:rPr lang="en-US" sz="750" dirty="0">
                <a:solidFill>
                  <a:srgbClr val="6C757D"/>
                </a:solidFill>
                <a:latin typeface="Arial" pitchFamily="34" charset="0"/>
                <a:ea typeface="Arial" pitchFamily="34" charset="-122"/>
                <a:cs typeface="Arial" pitchFamily="34" charset="-120"/>
              </a:rPr>
              <a:t>3. Ablation: train on 1 vs 2 vs 3 pairs</a:t>
            </a:r>
            <a:endParaRPr lang="en-US" sz="750" dirty="0"/>
          </a:p>
        </p:txBody>
      </p:sp>
      <p:sp>
        <p:nvSpPr>
          <p:cNvPr id="14" name="Text 12"/>
          <p:cNvSpPr/>
          <p:nvPr/>
        </p:nvSpPr>
        <p:spPr>
          <a:xfrm>
            <a:off x="4781550" y="1826865"/>
            <a:ext cx="3925062" cy="142875"/>
          </a:xfrm>
          <a:prstGeom prst="rect">
            <a:avLst/>
          </a:prstGeom>
          <a:noFill/>
          <a:ln/>
        </p:spPr>
        <p:txBody>
          <a:bodyPr wrap="square" lIns="0" tIns="0" rIns="0" bIns="0" rtlCol="0" anchor="t"/>
          <a:lstStyle/>
          <a:p>
            <a:pPr marL="0" indent="0" algn="l">
              <a:lnSpc>
                <a:spcPts val="1125"/>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4. Error analysis on failure cases</a:t>
            </a:r>
            <a:endParaRPr lang="en-US" sz="750" dirty="0"/>
          </a:p>
        </p:txBody>
      </p:sp>
      <p:sp>
        <p:nvSpPr>
          <p:cNvPr id="15" name="Text 13"/>
          <p:cNvSpPr/>
          <p:nvPr/>
        </p:nvSpPr>
        <p:spPr>
          <a:xfrm>
            <a:off x="381000" y="2274540"/>
            <a:ext cx="8382000" cy="864840"/>
          </a:xfrm>
          <a:prstGeom prst="roundRect">
            <a:avLst>
              <a:gd name="adj" fmla="val 8811"/>
            </a:avLst>
          </a:prstGeom>
          <a:solidFill>
            <a:srgbClr val="F8F9FA"/>
          </a:solidFill>
          <a:ln/>
        </p:spPr>
        <p:txBody>
          <a:bodyPr wrap="square" rtlCol="0" anchor="ctr"/>
          <a:lstStyle/>
          <a:p>
            <a:pPr marL="0" indent="0">
              <a:buNone/>
            </a:pPr>
            <a:endParaRPr lang="en-US" dirty="0"/>
          </a:p>
        </p:txBody>
      </p:sp>
      <p:sp>
        <p:nvSpPr>
          <p:cNvPr id="16" name="Text 14"/>
          <p:cNvSpPr/>
          <p:nvPr/>
        </p:nvSpPr>
        <p:spPr>
          <a:xfrm>
            <a:off x="514350" y="2445990"/>
            <a:ext cx="8277606" cy="159990"/>
          </a:xfrm>
          <a:prstGeom prst="rect">
            <a:avLst/>
          </a:prstGeom>
          <a:noFill/>
          <a:ln/>
        </p:spPr>
        <p:txBody>
          <a:bodyPr wrap="square" lIns="0" tIns="0" rIns="0" bIns="0" rtlCol="0" anchor="t"/>
          <a:lstStyle/>
          <a:p>
            <a:pPr marL="0" indent="0" algn="l">
              <a:lnSpc>
                <a:spcPts val="1260"/>
              </a:lnSpc>
              <a:spcBef>
                <a:spcPts val="300"/>
              </a:spcBef>
              <a:spcAft>
                <a:spcPts val="600"/>
              </a:spcAft>
              <a:buNone/>
            </a:pPr>
            <a:r>
              <a:rPr lang="en-US" sz="900" b="1" dirty="0">
                <a:solidFill>
                  <a:srgbClr val="1A5276"/>
                </a:solidFill>
                <a:latin typeface="Arial" pitchFamily="34" charset="0"/>
                <a:ea typeface="Arial" pitchFamily="34" charset="-122"/>
                <a:cs typeface="Arial" pitchFamily="34" charset="-120"/>
              </a:rPr>
              <a:t>Open Questions</a:t>
            </a:r>
            <a:endParaRPr lang="en-US" sz="900" dirty="0"/>
          </a:p>
        </p:txBody>
      </p:sp>
      <p:sp>
        <p:nvSpPr>
          <p:cNvPr id="17" name="Text 15"/>
          <p:cNvSpPr/>
          <p:nvPr/>
        </p:nvSpPr>
        <p:spPr>
          <a:xfrm>
            <a:off x="514350" y="2682180"/>
            <a:ext cx="8277606" cy="285750"/>
          </a:xfrm>
          <a:prstGeom prst="rect">
            <a:avLst/>
          </a:prstGeom>
          <a:noFill/>
          <a:ln/>
        </p:spPr>
        <p:txBody>
          <a:bodyPr wrap="square" lIns="0" tIns="0" rIns="0" bIns="0" rtlCol="0" anchor="t"/>
          <a:lstStyle/>
          <a:p>
            <a:pPr marL="0" indent="0" algn="l">
              <a:lnSpc>
                <a:spcPts val="1125"/>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How many training language pairs are needed for optimal transfer? Does transfer work for non-English matrix languages (e.g., Hindi-Tamil)? Can we improve transfer for low-resource languages not well-represented in LLM pre-training?</a:t>
            </a:r>
            <a:endParaRPr lang="en-US" sz="750" dirty="0"/>
          </a:p>
        </p:txBody>
      </p:sp>
      <p:sp>
        <p:nvSpPr>
          <p:cNvPr id="18" name="Text 16"/>
          <p:cNvSpPr/>
          <p:nvPr/>
        </p:nvSpPr>
        <p:spPr>
          <a:xfrm>
            <a:off x="381000" y="3272730"/>
            <a:ext cx="8382000" cy="375196"/>
          </a:xfrm>
          <a:prstGeom prst="roundRect">
            <a:avLst>
              <a:gd name="adj" fmla="val 20309"/>
            </a:avLst>
          </a:prstGeom>
          <a:solidFill>
            <a:srgbClr val="1A5276"/>
          </a:solidFill>
          <a:ln/>
        </p:spPr>
        <p:txBody>
          <a:bodyPr wrap="square" rtlCol="0" anchor="ctr"/>
          <a:lstStyle/>
          <a:p>
            <a:pPr marL="0" indent="0">
              <a:buNone/>
            </a:pPr>
            <a:endParaRPr lang="en-US" dirty="0"/>
          </a:p>
        </p:txBody>
      </p:sp>
      <p:sp>
        <p:nvSpPr>
          <p:cNvPr id="19" name="Text 17"/>
          <p:cNvSpPr/>
          <p:nvPr/>
        </p:nvSpPr>
        <p:spPr>
          <a:xfrm>
            <a:off x="495300" y="3387030"/>
            <a:ext cx="8316468" cy="146596"/>
          </a:xfrm>
          <a:prstGeom prst="rect">
            <a:avLst/>
          </a:prstGeom>
          <a:noFill/>
          <a:ln/>
        </p:spPr>
        <p:txBody>
          <a:bodyPr wrap="square" lIns="0" tIns="0" rIns="0" bIns="0" rtlCol="0" anchor="t"/>
          <a:lstStyle/>
          <a:p>
            <a:pPr marL="0" indent="0" algn="l">
              <a:lnSpc>
                <a:spcPts val="1155"/>
              </a:lnSpc>
              <a:buNone/>
            </a:pPr>
            <a:r>
              <a:rPr lang="en-US" sz="825" b="1" dirty="0">
                <a:solidFill>
                  <a:srgbClr val="FFFFFF"/>
                </a:solidFill>
                <a:latin typeface="Arial" pitchFamily="34" charset="0"/>
                <a:ea typeface="Arial" pitchFamily="34" charset="-122"/>
                <a:cs typeface="Arial" pitchFamily="34" charset="-120"/>
              </a:rPr>
              <a:t>Broader Impact:</a:t>
            </a:r>
            <a:r>
              <a:rPr lang="en-US" sz="825" dirty="0">
                <a:solidFill>
                  <a:srgbClr val="FFFFFF"/>
                </a:solidFill>
                <a:latin typeface="Arial" pitchFamily="34" charset="0"/>
                <a:ea typeface="Arial" pitchFamily="34" charset="-122"/>
                <a:cs typeface="Arial" pitchFamily="34" charset="-120"/>
              </a:rPr>
              <a:t> If validated at scale, this approach could enable code-mixed NLP for thousands of language pairs without requiring data collection for each.</a:t>
            </a:r>
            <a:endParaRPr lang="en-US" sz="8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228600"/>
            <a:ext cx="4284536" cy="285750"/>
          </a:xfrm>
          <a:prstGeom prst="rect">
            <a:avLst/>
          </a:prstGeom>
          <a:noFill/>
          <a:ln/>
        </p:spPr>
        <p:txBody>
          <a:bodyPr wrap="square" lIns="0" tIns="0" rIns="0" bIns="0" rtlCol="0" anchor="t"/>
          <a:lstStyle/>
          <a:p>
            <a:pPr marL="0" indent="0" algn="l">
              <a:lnSpc>
                <a:spcPts val="2250"/>
              </a:lnSpc>
              <a:spcAft>
                <a:spcPts val="1200"/>
              </a:spcAft>
              <a:buNone/>
            </a:pPr>
            <a:r>
              <a:rPr lang="en-US" sz="2250" b="1" dirty="0">
                <a:solidFill>
                  <a:srgbClr val="1A5276"/>
                </a:solidFill>
                <a:latin typeface="Georgia" pitchFamily="34" charset="0"/>
                <a:ea typeface="Georgia" pitchFamily="34" charset="-122"/>
                <a:cs typeface="Georgia" pitchFamily="34" charset="-120"/>
              </a:rPr>
              <a:t>Conclusion</a:t>
            </a:r>
            <a:endParaRPr lang="en-US" sz="2250" dirty="0"/>
          </a:p>
        </p:txBody>
      </p:sp>
      <p:sp>
        <p:nvSpPr>
          <p:cNvPr id="3" name="Text 1"/>
          <p:cNvSpPr/>
          <p:nvPr/>
        </p:nvSpPr>
        <p:spPr>
          <a:xfrm>
            <a:off x="381000" y="819150"/>
            <a:ext cx="8382000" cy="973336"/>
          </a:xfrm>
          <a:prstGeom prst="roundRect">
            <a:avLst>
              <a:gd name="adj" fmla="val 7829"/>
            </a:avLst>
          </a:prstGeom>
          <a:solidFill>
            <a:srgbClr val="E8F6F3"/>
          </a:solidFill>
          <a:ln/>
        </p:spPr>
        <p:txBody>
          <a:bodyPr wrap="square" rtlCol="0" anchor="ctr"/>
          <a:lstStyle/>
          <a:p>
            <a:pPr marL="0" indent="0">
              <a:buNone/>
            </a:pPr>
            <a:endParaRPr lang="en-US" dirty="0"/>
          </a:p>
        </p:txBody>
      </p:sp>
      <p:sp>
        <p:nvSpPr>
          <p:cNvPr id="4" name="Text 2"/>
          <p:cNvSpPr/>
          <p:nvPr/>
        </p:nvSpPr>
        <p:spPr>
          <a:xfrm>
            <a:off x="533400" y="1009650"/>
            <a:ext cx="8238744" cy="173236"/>
          </a:xfrm>
          <a:prstGeom prst="rect">
            <a:avLst/>
          </a:prstGeom>
          <a:noFill/>
          <a:ln/>
        </p:spPr>
        <p:txBody>
          <a:bodyPr wrap="square" lIns="0" tIns="0" rIns="0" bIns="0" rtlCol="0" anchor="t"/>
          <a:lstStyle/>
          <a:p>
            <a:pPr marL="0" indent="0" algn="l">
              <a:lnSpc>
                <a:spcPts val="1365"/>
              </a:lnSpc>
              <a:spcBef>
                <a:spcPts val="300"/>
              </a:spcBef>
              <a:spcAft>
                <a:spcPts val="600"/>
              </a:spcAft>
              <a:buNone/>
            </a:pPr>
            <a:r>
              <a:rPr lang="en-US" sz="975" b="1" dirty="0">
                <a:solidFill>
                  <a:srgbClr val="1A5276"/>
                </a:solidFill>
                <a:latin typeface="Arial" pitchFamily="34" charset="0"/>
                <a:ea typeface="Arial" pitchFamily="34" charset="-122"/>
                <a:cs typeface="Arial" pitchFamily="34" charset="-120"/>
              </a:rPr>
              <a:t>Main Finding</a:t>
            </a:r>
            <a:endParaRPr lang="en-US" sz="975" dirty="0"/>
          </a:p>
        </p:txBody>
      </p:sp>
      <p:sp>
        <p:nvSpPr>
          <p:cNvPr id="5" name="Text 3"/>
          <p:cNvSpPr/>
          <p:nvPr/>
        </p:nvSpPr>
        <p:spPr>
          <a:xfrm>
            <a:off x="533400" y="1259086"/>
            <a:ext cx="8238744" cy="342900"/>
          </a:xfrm>
          <a:prstGeom prst="rect">
            <a:avLst/>
          </a:prstGeom>
          <a:noFill/>
          <a:ln/>
        </p:spPr>
        <p:txBody>
          <a:bodyPr wrap="square" lIns="0" tIns="0" rIns="0" bIns="0" rtlCol="0" anchor="t"/>
          <a:lstStyle/>
          <a:p>
            <a:pPr marL="0" indent="0" algn="l">
              <a:lnSpc>
                <a:spcPts val="1350"/>
              </a:lnSpc>
              <a:spcBef>
                <a:spcPts val="300"/>
              </a:spcBef>
              <a:spcAft>
                <a:spcPts val="300"/>
              </a:spcAft>
              <a:buNone/>
            </a:pPr>
            <a:r>
              <a:rPr lang="en-US" sz="900" dirty="0">
                <a:solidFill>
                  <a:srgbClr val="2C3E50"/>
                </a:solidFill>
                <a:latin typeface="Arial" pitchFamily="34" charset="0"/>
                <a:ea typeface="Arial" pitchFamily="34" charset="-122"/>
                <a:cs typeface="Arial" pitchFamily="34" charset="-120"/>
              </a:rPr>
              <a:t>Zero-shot cross-lingual transfer WORKS for code-mixed conversation summarization. Models trained on just 3 language pairs can generalize to unseen pairs with 100%+ transfer rates.</a:t>
            </a:r>
            <a:endParaRPr lang="en-US" sz="900" dirty="0"/>
          </a:p>
        </p:txBody>
      </p:sp>
      <p:sp>
        <p:nvSpPr>
          <p:cNvPr id="6" name="Text 4"/>
          <p:cNvSpPr/>
          <p:nvPr/>
        </p:nvSpPr>
        <p:spPr>
          <a:xfrm>
            <a:off x="381000" y="1925836"/>
            <a:ext cx="1995487" cy="796230"/>
          </a:xfrm>
          <a:prstGeom prst="roundRect">
            <a:avLst>
              <a:gd name="adj" fmla="val 9570"/>
            </a:avLst>
          </a:prstGeom>
          <a:solidFill>
            <a:srgbClr val="4ECDC4"/>
          </a:solidFill>
          <a:ln/>
        </p:spPr>
        <p:txBody>
          <a:bodyPr wrap="square" rtlCol="0" anchor="ctr"/>
          <a:lstStyle/>
          <a:p>
            <a:pPr marL="0" indent="0">
              <a:buNone/>
            </a:pPr>
            <a:endParaRPr lang="en-US" dirty="0"/>
          </a:p>
        </p:txBody>
      </p:sp>
      <p:sp>
        <p:nvSpPr>
          <p:cNvPr id="7" name="Text 5"/>
          <p:cNvSpPr/>
          <p:nvPr/>
        </p:nvSpPr>
        <p:spPr>
          <a:xfrm>
            <a:off x="497062" y="2059186"/>
            <a:ext cx="1763363" cy="319980"/>
          </a:xfrm>
          <a:prstGeom prst="rect">
            <a:avLst/>
          </a:prstGeom>
          <a:noFill/>
          <a:ln/>
        </p:spPr>
        <p:txBody>
          <a:bodyPr wrap="square" lIns="0" tIns="0" rIns="0" bIns="0" rtlCol="0" anchor="t"/>
          <a:lstStyle/>
          <a:p>
            <a:pPr marL="0" indent="0" algn="ctr">
              <a:lnSpc>
                <a:spcPts val="2520"/>
              </a:lnSpc>
              <a:buNone/>
            </a:pPr>
            <a:r>
              <a:rPr lang="en-US" sz="1800" b="1" dirty="0">
                <a:solidFill>
                  <a:srgbClr val="1D1D1D"/>
                </a:solidFill>
                <a:latin typeface="Arial" pitchFamily="34" charset="0"/>
                <a:ea typeface="Arial" pitchFamily="34" charset="-122"/>
                <a:cs typeface="Arial" pitchFamily="34" charset="-120"/>
              </a:rPr>
              <a:t>103-147%</a:t>
            </a:r>
            <a:endParaRPr lang="en-US" sz="1800" dirty="0"/>
          </a:p>
        </p:txBody>
      </p:sp>
      <p:sp>
        <p:nvSpPr>
          <p:cNvPr id="8" name="Text 6"/>
          <p:cNvSpPr/>
          <p:nvPr/>
        </p:nvSpPr>
        <p:spPr>
          <a:xfrm>
            <a:off x="497062" y="2417266"/>
            <a:ext cx="1763363" cy="133350"/>
          </a:xfrm>
          <a:prstGeom prst="rect">
            <a:avLst/>
          </a:prstGeom>
          <a:noFill/>
          <a:ln/>
        </p:spPr>
        <p:txBody>
          <a:bodyPr wrap="square" lIns="0" tIns="0" rIns="0" bIns="0" rtlCol="0" anchor="t"/>
          <a:lstStyle/>
          <a:p>
            <a:pPr marL="0" indent="0" algn="ctr">
              <a:lnSpc>
                <a:spcPts val="1050"/>
              </a:lnSpc>
              <a:spcBef>
                <a:spcPts val="300"/>
              </a:spcBef>
              <a:spcAft>
                <a:spcPts val="300"/>
              </a:spcAft>
              <a:buNone/>
            </a:pPr>
            <a:r>
              <a:rPr lang="en-US" sz="750" dirty="0">
                <a:solidFill>
                  <a:srgbClr val="1D1D1D"/>
                </a:solidFill>
                <a:latin typeface="Arial" pitchFamily="34" charset="0"/>
                <a:ea typeface="Arial" pitchFamily="34" charset="-122"/>
                <a:cs typeface="Arial" pitchFamily="34" charset="-120"/>
              </a:rPr>
              <a:t>Transfer Rates</a:t>
            </a:r>
            <a:endParaRPr lang="en-US" sz="750" dirty="0"/>
          </a:p>
        </p:txBody>
      </p:sp>
      <p:sp>
        <p:nvSpPr>
          <p:cNvPr id="9" name="Text 7"/>
          <p:cNvSpPr/>
          <p:nvPr/>
        </p:nvSpPr>
        <p:spPr>
          <a:xfrm>
            <a:off x="2509838" y="1925836"/>
            <a:ext cx="1995487" cy="796230"/>
          </a:xfrm>
          <a:prstGeom prst="roundRect">
            <a:avLst>
              <a:gd name="adj" fmla="val 9570"/>
            </a:avLst>
          </a:prstGeom>
          <a:solidFill>
            <a:srgbClr val="E74C3C"/>
          </a:solidFill>
          <a:ln/>
        </p:spPr>
        <p:txBody>
          <a:bodyPr wrap="square" rtlCol="0" anchor="ctr"/>
          <a:lstStyle/>
          <a:p>
            <a:pPr marL="0" indent="0">
              <a:buNone/>
            </a:pPr>
            <a:endParaRPr lang="en-US" dirty="0"/>
          </a:p>
        </p:txBody>
      </p:sp>
      <p:sp>
        <p:nvSpPr>
          <p:cNvPr id="10" name="Text 8"/>
          <p:cNvSpPr/>
          <p:nvPr/>
        </p:nvSpPr>
        <p:spPr>
          <a:xfrm>
            <a:off x="2625900" y="2059186"/>
            <a:ext cx="1763363" cy="319980"/>
          </a:xfrm>
          <a:prstGeom prst="rect">
            <a:avLst/>
          </a:prstGeom>
          <a:noFill/>
          <a:ln/>
        </p:spPr>
        <p:txBody>
          <a:bodyPr wrap="square" lIns="0" tIns="0" rIns="0" bIns="0" rtlCol="0" anchor="t"/>
          <a:lstStyle/>
          <a:p>
            <a:pPr marL="0" indent="0" algn="ctr">
              <a:lnSpc>
                <a:spcPts val="2520"/>
              </a:lnSpc>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11" name="Text 9"/>
          <p:cNvSpPr/>
          <p:nvPr/>
        </p:nvSpPr>
        <p:spPr>
          <a:xfrm>
            <a:off x="2625900" y="2417266"/>
            <a:ext cx="1763363" cy="133350"/>
          </a:xfrm>
          <a:prstGeom prst="rect">
            <a:avLst/>
          </a:prstGeom>
          <a:noFill/>
          <a:ln/>
        </p:spPr>
        <p:txBody>
          <a:bodyPr wrap="square" lIns="0" tIns="0" rIns="0" bIns="0" rtlCol="0" anchor="t"/>
          <a:lstStyle/>
          <a:p>
            <a:pPr marL="0" indent="0" algn="ctr">
              <a:lnSpc>
                <a:spcPts val="1050"/>
              </a:lnSpc>
              <a:spcBef>
                <a:spcPts val="300"/>
              </a:spcBef>
              <a:spcAft>
                <a:spcPts val="300"/>
              </a:spcAft>
              <a:buNone/>
            </a:pPr>
            <a:r>
              <a:rPr lang="en-US" sz="750" dirty="0">
                <a:solidFill>
                  <a:srgbClr val="FFFFFF"/>
                </a:solidFill>
                <a:latin typeface="Arial" pitchFamily="34" charset="0"/>
                <a:ea typeface="Arial" pitchFamily="34" charset="-122"/>
                <a:cs typeface="Arial" pitchFamily="34" charset="-120"/>
              </a:rPr>
              <a:t>Models Compared</a:t>
            </a:r>
            <a:endParaRPr lang="en-US" sz="750" dirty="0"/>
          </a:p>
        </p:txBody>
      </p:sp>
      <p:sp>
        <p:nvSpPr>
          <p:cNvPr id="12" name="Text 10"/>
          <p:cNvSpPr/>
          <p:nvPr/>
        </p:nvSpPr>
        <p:spPr>
          <a:xfrm>
            <a:off x="4638675" y="1925836"/>
            <a:ext cx="1995487" cy="796230"/>
          </a:xfrm>
          <a:prstGeom prst="roundRect">
            <a:avLst>
              <a:gd name="adj" fmla="val 9570"/>
            </a:avLst>
          </a:prstGeom>
          <a:solidFill>
            <a:srgbClr val="F39C12"/>
          </a:solidFill>
          <a:ln/>
        </p:spPr>
        <p:txBody>
          <a:bodyPr wrap="square" rtlCol="0" anchor="ctr"/>
          <a:lstStyle/>
          <a:p>
            <a:pPr marL="0" indent="0">
              <a:buNone/>
            </a:pPr>
            <a:endParaRPr lang="en-US" dirty="0"/>
          </a:p>
        </p:txBody>
      </p:sp>
      <p:sp>
        <p:nvSpPr>
          <p:cNvPr id="13" name="Text 11"/>
          <p:cNvSpPr/>
          <p:nvPr/>
        </p:nvSpPr>
        <p:spPr>
          <a:xfrm>
            <a:off x="4754737" y="2059186"/>
            <a:ext cx="1763363" cy="319980"/>
          </a:xfrm>
          <a:prstGeom prst="rect">
            <a:avLst/>
          </a:prstGeom>
          <a:noFill/>
          <a:ln/>
        </p:spPr>
        <p:txBody>
          <a:bodyPr wrap="square" lIns="0" tIns="0" rIns="0" bIns="0" rtlCol="0" anchor="t"/>
          <a:lstStyle/>
          <a:p>
            <a:pPr marL="0" indent="0" algn="ctr">
              <a:lnSpc>
                <a:spcPts val="2520"/>
              </a:lnSpc>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14" name="Text 12"/>
          <p:cNvSpPr/>
          <p:nvPr/>
        </p:nvSpPr>
        <p:spPr>
          <a:xfrm>
            <a:off x="4754737" y="2417266"/>
            <a:ext cx="1763363" cy="133350"/>
          </a:xfrm>
          <a:prstGeom prst="rect">
            <a:avLst/>
          </a:prstGeom>
          <a:noFill/>
          <a:ln/>
        </p:spPr>
        <p:txBody>
          <a:bodyPr wrap="square" lIns="0" tIns="0" rIns="0" bIns="0" rtlCol="0" anchor="t"/>
          <a:lstStyle/>
          <a:p>
            <a:pPr marL="0" indent="0" algn="ctr">
              <a:lnSpc>
                <a:spcPts val="1050"/>
              </a:lnSpc>
              <a:spcBef>
                <a:spcPts val="300"/>
              </a:spcBef>
              <a:spcAft>
                <a:spcPts val="300"/>
              </a:spcAft>
              <a:buNone/>
            </a:pPr>
            <a:r>
              <a:rPr lang="en-US" sz="750" dirty="0">
                <a:solidFill>
                  <a:srgbClr val="FFFFFF"/>
                </a:solidFill>
                <a:latin typeface="Arial" pitchFamily="34" charset="0"/>
                <a:ea typeface="Arial" pitchFamily="34" charset="-122"/>
                <a:cs typeface="Arial" pitchFamily="34" charset="-120"/>
              </a:rPr>
              <a:t>Language Pairs</a:t>
            </a:r>
            <a:endParaRPr lang="en-US" sz="750" dirty="0"/>
          </a:p>
        </p:txBody>
      </p:sp>
      <p:sp>
        <p:nvSpPr>
          <p:cNvPr id="15" name="Text 13"/>
          <p:cNvSpPr/>
          <p:nvPr/>
        </p:nvSpPr>
        <p:spPr>
          <a:xfrm>
            <a:off x="6767513" y="1925836"/>
            <a:ext cx="1995487" cy="796230"/>
          </a:xfrm>
          <a:prstGeom prst="roundRect">
            <a:avLst>
              <a:gd name="adj" fmla="val 9570"/>
            </a:avLst>
          </a:prstGeom>
          <a:solidFill>
            <a:srgbClr val="9B59B6"/>
          </a:solidFill>
          <a:ln/>
        </p:spPr>
        <p:txBody>
          <a:bodyPr wrap="square" rtlCol="0" anchor="ctr"/>
          <a:lstStyle/>
          <a:p>
            <a:pPr marL="0" indent="0">
              <a:buNone/>
            </a:pPr>
            <a:endParaRPr lang="en-US" dirty="0"/>
          </a:p>
        </p:txBody>
      </p:sp>
      <p:sp>
        <p:nvSpPr>
          <p:cNvPr id="16" name="Text 14"/>
          <p:cNvSpPr/>
          <p:nvPr/>
        </p:nvSpPr>
        <p:spPr>
          <a:xfrm>
            <a:off x="6883575" y="2059186"/>
            <a:ext cx="1763363" cy="319980"/>
          </a:xfrm>
          <a:prstGeom prst="rect">
            <a:avLst/>
          </a:prstGeom>
          <a:noFill/>
          <a:ln/>
        </p:spPr>
        <p:txBody>
          <a:bodyPr wrap="square" lIns="0" tIns="0" rIns="0" bIns="0" rtlCol="0" anchor="t"/>
          <a:lstStyle/>
          <a:p>
            <a:pPr marL="0" indent="0" algn="ctr">
              <a:lnSpc>
                <a:spcPts val="2520"/>
              </a:lnSpc>
              <a:buNone/>
            </a:pPr>
            <a:r>
              <a:rPr lang="en-US" sz="1800" b="1" dirty="0">
                <a:solidFill>
                  <a:srgbClr val="FFFFFF"/>
                </a:solidFill>
                <a:latin typeface="Arial" pitchFamily="34" charset="0"/>
                <a:ea typeface="Arial" pitchFamily="34" charset="-122"/>
                <a:cs typeface="Arial" pitchFamily="34" charset="-120"/>
              </a:rPr>
              <a:t>2,450+</a:t>
            </a:r>
            <a:endParaRPr lang="en-US" sz="1800" dirty="0"/>
          </a:p>
        </p:txBody>
      </p:sp>
      <p:sp>
        <p:nvSpPr>
          <p:cNvPr id="17" name="Text 15"/>
          <p:cNvSpPr/>
          <p:nvPr/>
        </p:nvSpPr>
        <p:spPr>
          <a:xfrm>
            <a:off x="6883575" y="2417266"/>
            <a:ext cx="1763363" cy="133350"/>
          </a:xfrm>
          <a:prstGeom prst="rect">
            <a:avLst/>
          </a:prstGeom>
          <a:noFill/>
          <a:ln/>
        </p:spPr>
        <p:txBody>
          <a:bodyPr wrap="square" lIns="0" tIns="0" rIns="0" bIns="0" rtlCol="0" anchor="t"/>
          <a:lstStyle/>
          <a:p>
            <a:pPr marL="0" indent="0" algn="ctr">
              <a:lnSpc>
                <a:spcPts val="1050"/>
              </a:lnSpc>
              <a:spcBef>
                <a:spcPts val="300"/>
              </a:spcBef>
              <a:spcAft>
                <a:spcPts val="300"/>
              </a:spcAft>
              <a:buNone/>
            </a:pPr>
            <a:r>
              <a:rPr lang="en-US" sz="750" dirty="0">
                <a:solidFill>
                  <a:srgbClr val="FFFFFF"/>
                </a:solidFill>
                <a:latin typeface="Arial" pitchFamily="34" charset="0"/>
                <a:ea typeface="Arial" pitchFamily="34" charset="-122"/>
                <a:cs typeface="Arial" pitchFamily="34" charset="-120"/>
              </a:rPr>
              <a:t>Potential Pairs</a:t>
            </a:r>
            <a:endParaRPr lang="en-US" sz="750" dirty="0"/>
          </a:p>
        </p:txBody>
      </p:sp>
      <p:sp>
        <p:nvSpPr>
          <p:cNvPr id="18" name="Text 16"/>
          <p:cNvSpPr/>
          <p:nvPr/>
        </p:nvSpPr>
        <p:spPr>
          <a:xfrm>
            <a:off x="381000" y="2855416"/>
            <a:ext cx="8382000" cy="1064865"/>
          </a:xfrm>
          <a:prstGeom prst="roundRect">
            <a:avLst>
              <a:gd name="adj" fmla="val 7156"/>
            </a:avLst>
          </a:prstGeom>
          <a:solidFill>
            <a:srgbClr val="F8F9FA"/>
          </a:solidFill>
          <a:ln/>
        </p:spPr>
        <p:txBody>
          <a:bodyPr wrap="square" rtlCol="0" anchor="ctr"/>
          <a:lstStyle/>
          <a:p>
            <a:pPr marL="0" indent="0">
              <a:buNone/>
            </a:pPr>
            <a:endParaRPr lang="en-US" dirty="0"/>
          </a:p>
        </p:txBody>
      </p:sp>
      <p:sp>
        <p:nvSpPr>
          <p:cNvPr id="19" name="Text 17"/>
          <p:cNvSpPr/>
          <p:nvPr/>
        </p:nvSpPr>
        <p:spPr>
          <a:xfrm>
            <a:off x="514350" y="3026866"/>
            <a:ext cx="8277606" cy="159990"/>
          </a:xfrm>
          <a:prstGeom prst="rect">
            <a:avLst/>
          </a:prstGeom>
          <a:noFill/>
          <a:ln/>
        </p:spPr>
        <p:txBody>
          <a:bodyPr wrap="square" lIns="0" tIns="0" rIns="0" bIns="0" rtlCol="0" anchor="t"/>
          <a:lstStyle/>
          <a:p>
            <a:pPr marL="0" indent="0" algn="l">
              <a:lnSpc>
                <a:spcPts val="1260"/>
              </a:lnSpc>
              <a:spcBef>
                <a:spcPts val="300"/>
              </a:spcBef>
              <a:spcAft>
                <a:spcPts val="450"/>
              </a:spcAft>
              <a:buNone/>
            </a:pPr>
            <a:r>
              <a:rPr lang="en-US" sz="900" b="1" dirty="0">
                <a:solidFill>
                  <a:srgbClr val="1A5276"/>
                </a:solidFill>
                <a:latin typeface="Arial" pitchFamily="34" charset="0"/>
                <a:ea typeface="Arial" pitchFamily="34" charset="-122"/>
                <a:cs typeface="Arial" pitchFamily="34" charset="-120"/>
              </a:rPr>
              <a:t>Key Takeaways</a:t>
            </a:r>
            <a:endParaRPr lang="en-US" sz="900" dirty="0"/>
          </a:p>
        </p:txBody>
      </p:sp>
      <p:sp>
        <p:nvSpPr>
          <p:cNvPr id="20" name="Text 18"/>
          <p:cNvSpPr/>
          <p:nvPr/>
        </p:nvSpPr>
        <p:spPr>
          <a:xfrm>
            <a:off x="514350" y="3244007"/>
            <a:ext cx="8277606" cy="142875"/>
          </a:xfrm>
          <a:prstGeom prst="rect">
            <a:avLst/>
          </a:prstGeom>
          <a:noFill/>
          <a:ln/>
        </p:spPr>
        <p:txBody>
          <a:bodyPr wrap="square" lIns="0" tIns="0" rIns="0" bIns="0" rtlCol="0" anchor="t"/>
          <a:lstStyle/>
          <a:p>
            <a:pPr marL="0" indent="0" algn="l">
              <a:lnSpc>
                <a:spcPts val="1125"/>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1. Decoder-only LLMs outperform encoder-decoder models for zero-shot transfer</a:t>
            </a:r>
            <a:endParaRPr lang="en-US" sz="750" dirty="0"/>
          </a:p>
        </p:txBody>
      </p:sp>
      <p:sp>
        <p:nvSpPr>
          <p:cNvPr id="21" name="Text 19"/>
          <p:cNvSpPr/>
          <p:nvPr/>
        </p:nvSpPr>
        <p:spPr>
          <a:xfrm>
            <a:off x="514350" y="3424982"/>
            <a:ext cx="8277606" cy="142875"/>
          </a:xfrm>
          <a:prstGeom prst="rect">
            <a:avLst/>
          </a:prstGeom>
          <a:noFill/>
          <a:ln/>
        </p:spPr>
        <p:txBody>
          <a:bodyPr wrap="square" lIns="0" tIns="0" rIns="0" bIns="0" rtlCol="0" anchor="t"/>
          <a:lstStyle/>
          <a:p>
            <a:pPr marL="0" indent="0" algn="l">
              <a:lnSpc>
                <a:spcPts val="1125"/>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2. Models learn language-agnostic summarization, not language-specific rules</a:t>
            </a:r>
            <a:endParaRPr lang="en-US" sz="750" dirty="0"/>
          </a:p>
        </p:txBody>
      </p:sp>
      <p:sp>
        <p:nvSpPr>
          <p:cNvPr id="22" name="Text 20"/>
          <p:cNvSpPr/>
          <p:nvPr/>
        </p:nvSpPr>
        <p:spPr>
          <a:xfrm>
            <a:off x="514350" y="3605957"/>
            <a:ext cx="8277606" cy="142875"/>
          </a:xfrm>
          <a:prstGeom prst="rect">
            <a:avLst/>
          </a:prstGeom>
          <a:noFill/>
          <a:ln/>
        </p:spPr>
        <p:txBody>
          <a:bodyPr wrap="square" lIns="0" tIns="0" rIns="0" bIns="0" rtlCol="0" anchor="t"/>
          <a:lstStyle/>
          <a:p>
            <a:pPr marL="0" indent="0" algn="l">
              <a:lnSpc>
                <a:spcPts val="1125"/>
              </a:lnSpc>
              <a:spcBef>
                <a:spcPts val="300"/>
              </a:spcBef>
              <a:spcAft>
                <a:spcPts val="300"/>
              </a:spcAft>
              <a:buNone/>
            </a:pPr>
            <a:r>
              <a:rPr lang="en-US" sz="750" dirty="0">
                <a:solidFill>
                  <a:srgbClr val="6C757D"/>
                </a:solidFill>
                <a:latin typeface="Arial" pitchFamily="34" charset="0"/>
                <a:ea typeface="Arial" pitchFamily="34" charset="-122"/>
                <a:cs typeface="Arial" pitchFamily="34" charset="-120"/>
              </a:rPr>
              <a:t>3. This enables practical deployment: train once, deploy on thousands of language pairs</a:t>
            </a:r>
            <a:endParaRPr lang="en-US" sz="750" dirty="0"/>
          </a:p>
        </p:txBody>
      </p:sp>
      <p:sp>
        <p:nvSpPr>
          <p:cNvPr id="23" name="Text 21"/>
          <p:cNvSpPr/>
          <p:nvPr/>
        </p:nvSpPr>
        <p:spPr>
          <a:xfrm>
            <a:off x="381000" y="4053632"/>
            <a:ext cx="8382000" cy="388590"/>
          </a:xfrm>
          <a:prstGeom prst="roundRect">
            <a:avLst>
              <a:gd name="adj" fmla="val 19609"/>
            </a:avLst>
          </a:prstGeom>
          <a:solidFill>
            <a:srgbClr val="1A5276"/>
          </a:solidFill>
          <a:ln/>
        </p:spPr>
        <p:txBody>
          <a:bodyPr wrap="square" rtlCol="0" anchor="ctr"/>
          <a:lstStyle/>
          <a:p>
            <a:pPr marL="0" indent="0">
              <a:buNone/>
            </a:pPr>
            <a:endParaRPr lang="en-US" dirty="0"/>
          </a:p>
        </p:txBody>
      </p:sp>
      <p:sp>
        <p:nvSpPr>
          <p:cNvPr id="24" name="Text 22"/>
          <p:cNvSpPr/>
          <p:nvPr/>
        </p:nvSpPr>
        <p:spPr>
          <a:xfrm>
            <a:off x="413766" y="4167932"/>
            <a:ext cx="8316468" cy="159990"/>
          </a:xfrm>
          <a:prstGeom prst="rect">
            <a:avLst/>
          </a:prstGeom>
          <a:noFill/>
          <a:ln/>
        </p:spPr>
        <p:txBody>
          <a:bodyPr wrap="square" lIns="0" tIns="0" rIns="0" bIns="0" rtlCol="0" anchor="t"/>
          <a:lstStyle/>
          <a:p>
            <a:pPr marL="0" indent="0" algn="ctr">
              <a:lnSpc>
                <a:spcPts val="1260"/>
              </a:lnSpc>
              <a:buNone/>
            </a:pPr>
            <a:r>
              <a:rPr lang="en-US" sz="900" b="1" dirty="0">
                <a:solidFill>
                  <a:srgbClr val="FFFFFF"/>
                </a:solidFill>
                <a:latin typeface="Arial" pitchFamily="34" charset="0"/>
                <a:ea typeface="Arial" pitchFamily="34" charset="-122"/>
                <a:cs typeface="Arial" pitchFamily="34" charset="-120"/>
              </a:rPr>
              <a:t>Code:</a:t>
            </a:r>
            <a:r>
              <a:rPr lang="en-US" sz="900" dirty="0">
                <a:solidFill>
                  <a:srgbClr val="FFFFFF"/>
                </a:solidFill>
                <a:latin typeface="Arial" pitchFamily="34" charset="0"/>
                <a:ea typeface="Arial" pitchFamily="34" charset="-122"/>
                <a:cs typeface="Arial" pitchFamily="34" charset="-120"/>
              </a:rPr>
              <a:t> 2 Colab notebooks (Llama + Baselines) | </a:t>
            </a:r>
            <a:r>
              <a:rPr lang="en-US" sz="900" b="1" dirty="0">
                <a:solidFill>
                  <a:srgbClr val="FFFFFF"/>
                </a:solidFill>
                <a:latin typeface="Arial" pitchFamily="34" charset="0"/>
                <a:ea typeface="Arial" pitchFamily="34" charset="-122"/>
                <a:cs typeface="Arial" pitchFamily="34" charset="-120"/>
              </a:rPr>
              <a:t>Data:</a:t>
            </a:r>
            <a:r>
              <a:rPr lang="en-US" sz="900" dirty="0">
                <a:solidFill>
                  <a:srgbClr val="FFFFFF"/>
                </a:solidFill>
                <a:latin typeface="Arial" pitchFamily="34" charset="0"/>
                <a:ea typeface="Arial" pitchFamily="34" charset="-122"/>
                <a:cs typeface="Arial" pitchFamily="34" charset="-120"/>
              </a:rPr>
              <a:t> CS-SUM benchmark</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2211</Words>
  <Application>Microsoft Office PowerPoint</Application>
  <PresentationFormat>On-screen Show (16:9)</PresentationFormat>
  <Paragraphs>198</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Courier New</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Universal Code-Mixed Conversation Summarization</dc:title>
  <dc:subject>PptxGenJS Presentation</dc:subject>
  <dc:creator>PptxGenJS</dc:creator>
  <cp:lastModifiedBy>Prednya Ramesh</cp:lastModifiedBy>
  <cp:revision>2</cp:revision>
  <dcterms:created xsi:type="dcterms:W3CDTF">2025-12-07T03:55:05Z</dcterms:created>
  <dcterms:modified xsi:type="dcterms:W3CDTF">2025-12-07T04:19:20Z</dcterms:modified>
</cp:coreProperties>
</file>