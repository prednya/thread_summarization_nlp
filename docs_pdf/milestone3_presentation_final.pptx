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72" r:id="rId12"/>
    <p:sldId id="273" r:id="rId13"/>
    <p:sldId id="274" r:id="rId14"/>
    <p:sldId id="266" r:id="rId15"/>
    <p:sldId id="267" r:id="rId16"/>
    <p:sldId id="268" r:id="rId17"/>
    <p:sldId id="269" r:id="rId18"/>
    <p:sldId id="270"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p:scale>
          <a:sx n="122" d="100"/>
          <a:sy n="122" d="100"/>
        </p:scale>
        <p:origin x="22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3852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my presentation on Universal Code-Mixed Conversation Summarization. Today I'll present my term project exploring whether we can build a single model that summarizes conversations in ANY language pair, even ones it has never seen.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a real example. This is Hinglish - Hindi mixed with English, spoken by 350 million people. Notice languages switch WITHIN sentences. The model needs to understand BOTH languages to generate a clean English summary.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we have multi-turn conversations where utterances may mix languages. Our task is generating concise English summaries. The challenge is intra-sentential switching. With 2,450+ possible language pairs, this is a massive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Real-world impact - 1 billion code-mix daily. Unsolved challenge - no system handles arbitrary pairs. Novel research question - no prior zero-shot work. Practical deployment - train once, deploy everywhere.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connects to CIS 5300: seq2seq models comparing encoder-decoder vs decoder-only, transfer learning extended to code-mixed text, and LLM fine-tuning with LoRA. Our findings align with the CoT paper showing reasoning transfers across languages.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ROUGE-L measures lexical overlap via longest common subsequence. BERTScore captures semantic similarity using embeddings. Transfer Rate is our key metric - over 100% means better on unseen languages!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Lead-3 gets 0.15-0.20 ROUGE-L. mT5 failed at 0.06. mBART-50 achieved 0.321 with 102% transfer - our Milestone 2 baseline. This motivated exploring LLMs.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Gap: no prior work on zero-shot transfer for code-mixed summarization. Our contribution: first to demonstrate language-agnostic transfer with over 100% rates.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extension: train on 3 pairs, test on 3 unseen. Compare encoder-decoder vs decoder-only. Hypothesis: LLMs learn language-agnostic patterns.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models: mT5-base, mBART-50 (encoder-decoder), Llama-3.2-3B, Llama-3.1-8B (decoder-only with LoRA). LoRA trains only 0.1% of parameters.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Main results: mT5 failed. mBART: 102% transfer. Llama-3.2-3B: 147% - performing 47% BETTER on unseen languages! Llama-3.1-8B: 103% with best consistency.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147% transfer rate means Llama-3.2-3B performs better on Japanese, Korean, Hindi than on languages it trained on. Truly language-agnostic patterns.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factors: multilingual pretraining (100+ languages), universal code-mixing patterns, English as anchor. Similar to how CoT reasoning transfers.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Limitations: 3 zero-shot pairs, no human eval, single runs. Future: 15+ pairs, human evaluation, ablation studies, error analysis.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Zero-shot transfer WORKS. 103-147% transfer rates. Decoder-only beats encoder-decoder. Train on 3 pairs, deploy on 2,450+ pairs.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60679" y="1510687"/>
            <a:ext cx="7422642" cy="323850"/>
          </a:xfrm>
          <a:prstGeom prst="rect">
            <a:avLst/>
          </a:prstGeom>
          <a:noFill/>
          <a:ln/>
        </p:spPr>
        <p:txBody>
          <a:bodyPr wrap="square" lIns="0" tIns="0" rIns="0" bIns="0" rtlCol="0" anchor="t"/>
          <a:lstStyle/>
          <a:p>
            <a:pPr marL="0" indent="0" algn="ctr">
              <a:lnSpc>
                <a:spcPts val="2550"/>
              </a:lnSpc>
              <a:spcAft>
                <a:spcPts val="900"/>
              </a:spcAft>
              <a:buNone/>
            </a:pPr>
            <a:r>
              <a:rPr lang="en-US" sz="2550" b="1" dirty="0">
                <a:solidFill>
                  <a:srgbClr val="FFFFFF"/>
                </a:solidFill>
                <a:latin typeface="Georgia" pitchFamily="34" charset="0"/>
                <a:ea typeface="Georgia" pitchFamily="34" charset="-122"/>
                <a:cs typeface="Georgia" pitchFamily="34" charset="-120"/>
              </a:rPr>
              <a:t>Universal Code-Mixed Conversation Summarization</a:t>
            </a:r>
            <a:endParaRPr lang="en-US" sz="2550" dirty="0"/>
          </a:p>
        </p:txBody>
      </p:sp>
      <p:sp>
        <p:nvSpPr>
          <p:cNvPr id="3" name="Text 1"/>
          <p:cNvSpPr/>
          <p:nvPr/>
        </p:nvSpPr>
        <p:spPr>
          <a:xfrm>
            <a:off x="1531809" y="2322018"/>
            <a:ext cx="6080233" cy="232767"/>
          </a:xfrm>
          <a:prstGeom prst="rect">
            <a:avLst/>
          </a:prstGeom>
          <a:noFill/>
          <a:ln/>
        </p:spPr>
        <p:txBody>
          <a:bodyPr wrap="square" lIns="0" tIns="0" rIns="0" bIns="0" rtlCol="0" anchor="t"/>
          <a:lstStyle/>
          <a:p>
            <a:pPr marL="0" indent="0" algn="ctr">
              <a:lnSpc>
                <a:spcPts val="1833"/>
              </a:lnSpc>
              <a:spcAft>
                <a:spcPts val="1500"/>
              </a:spcAft>
              <a:buNone/>
            </a:pPr>
            <a:r>
              <a:rPr lang="en-US" sz="1650" b="1" dirty="0">
                <a:solidFill>
                  <a:srgbClr val="4ECDC4"/>
                </a:solidFill>
                <a:latin typeface="Arial" pitchFamily="34" charset="0"/>
                <a:ea typeface="Arial" pitchFamily="34" charset="-122"/>
                <a:cs typeface="Arial" pitchFamily="34" charset="-120"/>
              </a:rPr>
              <a:t>Zero-Shot Cross-Lingual Transfer for Multilingual Dialogues</a:t>
            </a:r>
            <a:endParaRPr lang="en-US" sz="1650" dirty="0"/>
          </a:p>
        </p:txBody>
      </p:sp>
      <p:sp>
        <p:nvSpPr>
          <p:cNvPr id="4" name="Text 2"/>
          <p:cNvSpPr/>
          <p:nvPr/>
        </p:nvSpPr>
        <p:spPr>
          <a:xfrm>
            <a:off x="3154753" y="2821484"/>
            <a:ext cx="2834345" cy="213271"/>
          </a:xfrm>
          <a:prstGeom prst="rect">
            <a:avLst/>
          </a:prstGeom>
          <a:noFill/>
          <a:ln/>
        </p:spPr>
        <p:txBody>
          <a:bodyPr wrap="square" lIns="0" tIns="0" rIns="0" bIns="0" rtlCol="0" anchor="t"/>
          <a:lstStyle/>
          <a:p>
            <a:pPr marL="0" indent="0" algn="ctr">
              <a:lnSpc>
                <a:spcPts val="1680"/>
              </a:lnSpc>
              <a:spcBef>
                <a:spcPts val="300"/>
              </a:spcBef>
              <a:spcAft>
                <a:spcPts val="300"/>
              </a:spcAft>
              <a:buNone/>
            </a:pPr>
            <a:r>
              <a:rPr lang="en-US" sz="1200" dirty="0">
                <a:solidFill>
                  <a:srgbClr val="FFFFFF"/>
                </a:solidFill>
                <a:latin typeface="Arial" pitchFamily="34" charset="0"/>
                <a:ea typeface="Arial" pitchFamily="34" charset="-122"/>
                <a:cs typeface="Arial" pitchFamily="34" charset="-120"/>
              </a:rPr>
              <a:t>CIS 5300 - Natural Language Processing</a:t>
            </a:r>
            <a:endParaRPr lang="en-US" sz="1200" dirty="0"/>
          </a:p>
        </p:txBody>
      </p:sp>
      <p:sp>
        <p:nvSpPr>
          <p:cNvPr id="5" name="Text 3"/>
          <p:cNvSpPr/>
          <p:nvPr/>
        </p:nvSpPr>
        <p:spPr>
          <a:xfrm>
            <a:off x="2820739" y="3301454"/>
            <a:ext cx="3502371" cy="282994"/>
          </a:xfrm>
          <a:prstGeom prst="rect">
            <a:avLst/>
          </a:prstGeom>
          <a:noFill/>
          <a:ln/>
        </p:spPr>
        <p:txBody>
          <a:bodyPr wrap="square" lIns="0" tIns="0" rIns="0" bIns="0" rtlCol="0" anchor="t"/>
          <a:lstStyle/>
          <a:p>
            <a:pPr marL="0" indent="0" algn="ctr">
              <a:lnSpc>
                <a:spcPts val="1470"/>
              </a:lnSpc>
              <a:spcBef>
                <a:spcPts val="600"/>
              </a:spcBef>
              <a:spcAft>
                <a:spcPts val="300"/>
              </a:spcAft>
              <a:buNone/>
            </a:pPr>
            <a:r>
              <a:rPr lang="en-US" sz="1050" dirty="0">
                <a:solidFill>
                  <a:srgbClr val="FFFFFF"/>
                </a:solidFill>
                <a:latin typeface="Arial" pitchFamily="34" charset="0"/>
                <a:ea typeface="Arial" pitchFamily="34" charset="-122"/>
                <a:cs typeface="Arial" pitchFamily="34" charset="-120"/>
              </a:rPr>
              <a:t>Akira Nair | Aneesh Edara | Prednya Ramesh | Ricky Raup December 2025</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5285232"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Illustrative Example: A Real Conversation</a:t>
            </a:r>
            <a:endParaRPr lang="en-US" sz="2250" dirty="0"/>
          </a:p>
        </p:txBody>
      </p:sp>
      <p:sp>
        <p:nvSpPr>
          <p:cNvPr id="3" name="Text 1"/>
          <p:cNvSpPr/>
          <p:nvPr/>
        </p:nvSpPr>
        <p:spPr>
          <a:xfrm>
            <a:off x="381000" y="1961257"/>
            <a:ext cx="4252913" cy="1887587"/>
          </a:xfrm>
          <a:prstGeom prst="roundRect">
            <a:avLst>
              <a:gd name="adj" fmla="val 4037"/>
            </a:avLst>
          </a:prstGeom>
          <a:solidFill>
            <a:srgbClr val="F8F9FA"/>
          </a:solidFill>
          <a:ln/>
        </p:spPr>
        <p:txBody>
          <a:bodyPr wrap="square" rtlCol="0" anchor="ctr"/>
          <a:lstStyle/>
          <a:p>
            <a:pPr marL="0" indent="0">
              <a:buNone/>
            </a:pPr>
            <a:endParaRPr lang="en-US" dirty="0"/>
          </a:p>
        </p:txBody>
      </p:sp>
      <p:sp>
        <p:nvSpPr>
          <p:cNvPr id="4" name="Shape 2"/>
          <p:cNvSpPr/>
          <p:nvPr/>
        </p:nvSpPr>
        <p:spPr>
          <a:xfrm>
            <a:off x="404813" y="1961257"/>
            <a:ext cx="0" cy="1887587"/>
          </a:xfrm>
          <a:prstGeom prst="line">
            <a:avLst/>
          </a:prstGeom>
          <a:noFill/>
          <a:ln w="47625">
            <a:solidFill>
              <a:srgbClr val="4ECDC4"/>
            </a:solidFill>
            <a:prstDash val="solid"/>
          </a:ln>
        </p:spPr>
        <p:txBody>
          <a:bodyPr/>
          <a:lstStyle/>
          <a:p>
            <a:endParaRPr lang="en-US"/>
          </a:p>
        </p:txBody>
      </p:sp>
      <p:sp>
        <p:nvSpPr>
          <p:cNvPr id="5" name="Text 3"/>
          <p:cNvSpPr/>
          <p:nvPr/>
        </p:nvSpPr>
        <p:spPr>
          <a:xfrm>
            <a:off x="581025" y="2151757"/>
            <a:ext cx="3978497" cy="146596"/>
          </a:xfrm>
          <a:prstGeom prst="rect">
            <a:avLst/>
          </a:prstGeom>
          <a:noFill/>
          <a:ln/>
        </p:spPr>
        <p:txBody>
          <a:bodyPr wrap="square" lIns="0" tIns="0" rIns="0" bIns="0" rtlCol="0" anchor="t"/>
          <a:lstStyle/>
          <a:p>
            <a:pPr marL="0" indent="0" algn="l">
              <a:lnSpc>
                <a:spcPts val="1155"/>
              </a:lnSpc>
              <a:spcBef>
                <a:spcPts val="300"/>
              </a:spcBef>
              <a:spcAft>
                <a:spcPts val="750"/>
              </a:spcAft>
              <a:buNone/>
            </a:pPr>
            <a:r>
              <a:rPr lang="en-US" sz="825" b="1" dirty="0">
                <a:solidFill>
                  <a:srgbClr val="6C757D"/>
                </a:solidFill>
                <a:latin typeface="Arial" pitchFamily="34" charset="0"/>
                <a:ea typeface="Arial" pitchFamily="34" charset="-122"/>
                <a:cs typeface="Arial" pitchFamily="34" charset="-120"/>
              </a:rPr>
              <a:t>HINGLISH CONVERSATION (Hindi + English)</a:t>
            </a:r>
            <a:endParaRPr lang="en-US" sz="825" dirty="0"/>
          </a:p>
        </p:txBody>
      </p:sp>
      <p:sp>
        <p:nvSpPr>
          <p:cNvPr id="6" name="Text 4"/>
          <p:cNvSpPr/>
          <p:nvPr/>
        </p:nvSpPr>
        <p:spPr>
          <a:xfrm>
            <a:off x="581025" y="2393603"/>
            <a:ext cx="3978497" cy="159990"/>
          </a:xfrm>
          <a:prstGeom prst="rect">
            <a:avLst/>
          </a:prstGeom>
          <a:noFill/>
          <a:ln/>
        </p:spPr>
        <p:txBody>
          <a:bodyPr wrap="square" lIns="0" tIns="0" rIns="0" bIns="0" rtlCol="0" anchor="t"/>
          <a:lstStyle/>
          <a:p>
            <a:pPr marL="0" indent="0" algn="l">
              <a:lnSpc>
                <a:spcPts val="1260"/>
              </a:lnSpc>
              <a:spcBef>
                <a:spcPts val="450"/>
              </a:spcBef>
              <a:spcAft>
                <a:spcPts val="450"/>
              </a:spcAft>
              <a:buNone/>
            </a:pPr>
            <a:r>
              <a:rPr lang="en-US" sz="900" b="1" dirty="0">
                <a:solidFill>
                  <a:srgbClr val="1D1D1D"/>
                </a:solidFill>
                <a:latin typeface="Courier New" pitchFamily="34" charset="0"/>
                <a:ea typeface="Courier New" pitchFamily="34" charset="-122"/>
                <a:cs typeface="Courier New" pitchFamily="34" charset="-120"/>
              </a:rPr>
              <a:t>Ayan:</a:t>
            </a:r>
            <a:r>
              <a:rPr lang="en-US" sz="900" dirty="0">
                <a:solidFill>
                  <a:srgbClr val="1D1D1D"/>
                </a:solidFill>
                <a:latin typeface="Courier New" pitchFamily="34" charset="0"/>
                <a:ea typeface="Courier New" pitchFamily="34" charset="-122"/>
                <a:cs typeface="Courier New" pitchFamily="34" charset="-120"/>
              </a:rPr>
              <a:t> Yaar, kal ka meeting kaisa tha?</a:t>
            </a:r>
            <a:endParaRPr lang="en-US" sz="900" dirty="0"/>
          </a:p>
        </p:txBody>
      </p:sp>
      <p:sp>
        <p:nvSpPr>
          <p:cNvPr id="7" name="Text 5"/>
          <p:cNvSpPr/>
          <p:nvPr/>
        </p:nvSpPr>
        <p:spPr>
          <a:xfrm>
            <a:off x="581025" y="2610743"/>
            <a:ext cx="3978497" cy="159990"/>
          </a:xfrm>
          <a:prstGeom prst="rect">
            <a:avLst/>
          </a:prstGeom>
          <a:noFill/>
          <a:ln/>
        </p:spPr>
        <p:txBody>
          <a:bodyPr wrap="square" lIns="0" tIns="0" rIns="0" bIns="0" rtlCol="0" anchor="t"/>
          <a:lstStyle/>
          <a:p>
            <a:pPr marL="0" indent="0" algn="l">
              <a:lnSpc>
                <a:spcPts val="1260"/>
              </a:lnSpc>
              <a:spcBef>
                <a:spcPts val="450"/>
              </a:spcBef>
              <a:spcAft>
                <a:spcPts val="450"/>
              </a:spcAft>
              <a:buNone/>
            </a:pPr>
            <a:r>
              <a:rPr lang="en-US" sz="900" b="1" dirty="0">
                <a:solidFill>
                  <a:srgbClr val="1D1D1D"/>
                </a:solidFill>
                <a:latin typeface="Courier New" pitchFamily="34" charset="0"/>
                <a:ea typeface="Courier New" pitchFamily="34" charset="-122"/>
                <a:cs typeface="Courier New" pitchFamily="34" charset="-120"/>
              </a:rPr>
              <a:t>Priya:</a:t>
            </a:r>
            <a:r>
              <a:rPr lang="en-US" sz="900" dirty="0">
                <a:solidFill>
                  <a:srgbClr val="1D1D1D"/>
                </a:solidFill>
                <a:latin typeface="Courier New" pitchFamily="34" charset="0"/>
                <a:ea typeface="Courier New" pitchFamily="34" charset="-122"/>
                <a:cs typeface="Courier New" pitchFamily="34" charset="-120"/>
              </a:rPr>
              <a:t> It was so boring! 2 hours of nothing useful.</a:t>
            </a:r>
            <a:endParaRPr lang="en-US" sz="900" dirty="0"/>
          </a:p>
        </p:txBody>
      </p:sp>
      <p:sp>
        <p:nvSpPr>
          <p:cNvPr id="8" name="Text 6"/>
          <p:cNvSpPr/>
          <p:nvPr/>
        </p:nvSpPr>
        <p:spPr>
          <a:xfrm>
            <a:off x="581025" y="2827883"/>
            <a:ext cx="3978497" cy="159990"/>
          </a:xfrm>
          <a:prstGeom prst="rect">
            <a:avLst/>
          </a:prstGeom>
          <a:noFill/>
          <a:ln/>
        </p:spPr>
        <p:txBody>
          <a:bodyPr wrap="square" lIns="0" tIns="0" rIns="0" bIns="0" rtlCol="0" anchor="t"/>
          <a:lstStyle/>
          <a:p>
            <a:pPr marL="0" indent="0" algn="l">
              <a:lnSpc>
                <a:spcPts val="1260"/>
              </a:lnSpc>
              <a:spcBef>
                <a:spcPts val="450"/>
              </a:spcBef>
              <a:spcAft>
                <a:spcPts val="450"/>
              </a:spcAft>
              <a:buNone/>
            </a:pPr>
            <a:r>
              <a:rPr lang="en-US" sz="900" b="1" dirty="0">
                <a:solidFill>
                  <a:srgbClr val="1D1D1D"/>
                </a:solidFill>
                <a:latin typeface="Courier New" pitchFamily="34" charset="0"/>
                <a:ea typeface="Courier New" pitchFamily="34" charset="-122"/>
                <a:cs typeface="Courier New" pitchFamily="34" charset="-120"/>
              </a:rPr>
              <a:t>Ayan:</a:t>
            </a:r>
            <a:r>
              <a:rPr lang="en-US" sz="900" dirty="0">
                <a:solidFill>
                  <a:srgbClr val="1D1D1D"/>
                </a:solidFill>
                <a:latin typeface="Courier New" pitchFamily="34" charset="0"/>
                <a:ea typeface="Courier New" pitchFamily="34" charset="-122"/>
                <a:cs typeface="Courier New" pitchFamily="34" charset="-120"/>
              </a:rPr>
              <a:t> Same here. Kuch productive nahi hua.</a:t>
            </a:r>
            <a:endParaRPr lang="en-US" sz="900" dirty="0"/>
          </a:p>
        </p:txBody>
      </p:sp>
      <p:sp>
        <p:nvSpPr>
          <p:cNvPr id="9" name="Text 7"/>
          <p:cNvSpPr/>
          <p:nvPr/>
        </p:nvSpPr>
        <p:spPr>
          <a:xfrm>
            <a:off x="581025" y="3045023"/>
            <a:ext cx="3978497" cy="159990"/>
          </a:xfrm>
          <a:prstGeom prst="rect">
            <a:avLst/>
          </a:prstGeom>
          <a:noFill/>
          <a:ln/>
        </p:spPr>
        <p:txBody>
          <a:bodyPr wrap="square" lIns="0" tIns="0" rIns="0" bIns="0" rtlCol="0" anchor="t"/>
          <a:lstStyle/>
          <a:p>
            <a:pPr marL="0" indent="0" algn="l">
              <a:lnSpc>
                <a:spcPts val="1260"/>
              </a:lnSpc>
              <a:spcBef>
                <a:spcPts val="450"/>
              </a:spcBef>
              <a:spcAft>
                <a:spcPts val="450"/>
              </a:spcAft>
              <a:buNone/>
            </a:pPr>
            <a:r>
              <a:rPr lang="en-US" sz="900" b="1" dirty="0">
                <a:solidFill>
                  <a:srgbClr val="1D1D1D"/>
                </a:solidFill>
                <a:latin typeface="Courier New" pitchFamily="34" charset="0"/>
                <a:ea typeface="Courier New" pitchFamily="34" charset="-122"/>
                <a:cs typeface="Courier New" pitchFamily="34" charset="-120"/>
              </a:rPr>
              <a:t>Priya:</a:t>
            </a:r>
            <a:r>
              <a:rPr lang="en-US" sz="900" dirty="0">
                <a:solidFill>
                  <a:srgbClr val="1D1D1D"/>
                </a:solidFill>
                <a:latin typeface="Courier New" pitchFamily="34" charset="0"/>
                <a:ea typeface="Courier New" pitchFamily="34" charset="-122"/>
                <a:cs typeface="Courier New" pitchFamily="34" charset="-120"/>
              </a:rPr>
              <a:t> Lets grab chai after work? Need a break.</a:t>
            </a:r>
            <a:endParaRPr lang="en-US" sz="900" dirty="0"/>
          </a:p>
        </p:txBody>
      </p:sp>
      <p:sp>
        <p:nvSpPr>
          <p:cNvPr id="10" name="Text 8"/>
          <p:cNvSpPr/>
          <p:nvPr/>
        </p:nvSpPr>
        <p:spPr>
          <a:xfrm>
            <a:off x="581025" y="3262164"/>
            <a:ext cx="3978497" cy="159990"/>
          </a:xfrm>
          <a:prstGeom prst="rect">
            <a:avLst/>
          </a:prstGeom>
          <a:noFill/>
          <a:ln/>
        </p:spPr>
        <p:txBody>
          <a:bodyPr wrap="square" lIns="0" tIns="0" rIns="0" bIns="0" rtlCol="0" anchor="t"/>
          <a:lstStyle/>
          <a:p>
            <a:pPr marL="0" indent="0" algn="l">
              <a:lnSpc>
                <a:spcPts val="1260"/>
              </a:lnSpc>
              <a:spcBef>
                <a:spcPts val="450"/>
              </a:spcBef>
              <a:spcAft>
                <a:spcPts val="450"/>
              </a:spcAft>
              <a:buNone/>
            </a:pPr>
            <a:r>
              <a:rPr lang="en-US" sz="900" b="1" dirty="0">
                <a:solidFill>
                  <a:srgbClr val="1D1D1D"/>
                </a:solidFill>
                <a:latin typeface="Courier New" pitchFamily="34" charset="0"/>
                <a:ea typeface="Courier New" pitchFamily="34" charset="-122"/>
                <a:cs typeface="Courier New" pitchFamily="34" charset="-120"/>
              </a:rPr>
              <a:t>Ayan:</a:t>
            </a:r>
            <a:r>
              <a:rPr lang="en-US" sz="900" dirty="0">
                <a:solidFill>
                  <a:srgbClr val="1D1D1D"/>
                </a:solidFill>
                <a:latin typeface="Courier New" pitchFamily="34" charset="0"/>
                <a:ea typeface="Courier New" pitchFamily="34" charset="-122"/>
                <a:cs typeface="Courier New" pitchFamily="34" charset="-120"/>
              </a:rPr>
              <a:t> Sure! Office ke paas wala cafe chalega?</a:t>
            </a:r>
            <a:endParaRPr lang="en-US" sz="900" dirty="0"/>
          </a:p>
        </p:txBody>
      </p:sp>
      <p:sp>
        <p:nvSpPr>
          <p:cNvPr id="11" name="Text 9"/>
          <p:cNvSpPr/>
          <p:nvPr/>
        </p:nvSpPr>
        <p:spPr>
          <a:xfrm>
            <a:off x="581025" y="3479304"/>
            <a:ext cx="3978497" cy="159990"/>
          </a:xfrm>
          <a:prstGeom prst="rect">
            <a:avLst/>
          </a:prstGeom>
          <a:noFill/>
          <a:ln/>
        </p:spPr>
        <p:txBody>
          <a:bodyPr wrap="square" lIns="0" tIns="0" rIns="0" bIns="0" rtlCol="0" anchor="t"/>
          <a:lstStyle/>
          <a:p>
            <a:pPr marL="0" indent="0" algn="l">
              <a:lnSpc>
                <a:spcPts val="1260"/>
              </a:lnSpc>
              <a:spcBef>
                <a:spcPts val="450"/>
              </a:spcBef>
              <a:spcAft>
                <a:spcPts val="450"/>
              </a:spcAft>
              <a:buNone/>
            </a:pPr>
            <a:r>
              <a:rPr lang="en-US" sz="900" b="1" dirty="0">
                <a:solidFill>
                  <a:srgbClr val="1D1D1D"/>
                </a:solidFill>
                <a:latin typeface="Courier New" pitchFamily="34" charset="0"/>
                <a:ea typeface="Courier New" pitchFamily="34" charset="-122"/>
                <a:cs typeface="Courier New" pitchFamily="34" charset="-120"/>
              </a:rPr>
              <a:t>Priya:</a:t>
            </a:r>
            <a:r>
              <a:rPr lang="en-US" sz="900" dirty="0">
                <a:solidFill>
                  <a:srgbClr val="1D1D1D"/>
                </a:solidFill>
                <a:latin typeface="Courier New" pitchFamily="34" charset="0"/>
                <a:ea typeface="Courier New" pitchFamily="34" charset="-122"/>
                <a:cs typeface="Courier New" pitchFamily="34" charset="-120"/>
              </a:rPr>
              <a:t> Perfect, see you at 5!</a:t>
            </a:r>
            <a:endParaRPr lang="en-US" sz="900" dirty="0"/>
          </a:p>
        </p:txBody>
      </p:sp>
      <p:sp>
        <p:nvSpPr>
          <p:cNvPr id="12" name="Text 10"/>
          <p:cNvSpPr/>
          <p:nvPr/>
        </p:nvSpPr>
        <p:spPr>
          <a:xfrm>
            <a:off x="4862513" y="1534716"/>
            <a:ext cx="3900488" cy="984796"/>
          </a:xfrm>
          <a:prstGeom prst="roundRect">
            <a:avLst>
              <a:gd name="adj" fmla="val 7738"/>
            </a:avLst>
          </a:prstGeom>
          <a:solidFill>
            <a:srgbClr val="1A5276"/>
          </a:solidFill>
          <a:ln/>
        </p:spPr>
        <p:txBody>
          <a:bodyPr wrap="square" rtlCol="0" anchor="ctr"/>
          <a:lstStyle/>
          <a:p>
            <a:pPr marL="0" indent="0">
              <a:buNone/>
            </a:pPr>
            <a:endParaRPr lang="en-US" dirty="0"/>
          </a:p>
        </p:txBody>
      </p:sp>
      <p:sp>
        <p:nvSpPr>
          <p:cNvPr id="13" name="Text 11"/>
          <p:cNvSpPr/>
          <p:nvPr/>
        </p:nvSpPr>
        <p:spPr>
          <a:xfrm>
            <a:off x="5014913" y="1725216"/>
            <a:ext cx="3667601" cy="146596"/>
          </a:xfrm>
          <a:prstGeom prst="rect">
            <a:avLst/>
          </a:prstGeom>
          <a:noFill/>
          <a:ln/>
        </p:spPr>
        <p:txBody>
          <a:bodyPr wrap="square" lIns="0" tIns="0" rIns="0" bIns="0" rtlCol="0" anchor="t"/>
          <a:lstStyle/>
          <a:p>
            <a:pPr marL="0" indent="0" algn="l">
              <a:lnSpc>
                <a:spcPts val="1155"/>
              </a:lnSpc>
              <a:spcBef>
                <a:spcPts val="300"/>
              </a:spcBef>
              <a:spcAft>
                <a:spcPts val="450"/>
              </a:spcAft>
              <a:buNone/>
            </a:pPr>
            <a:r>
              <a:rPr lang="en-US" sz="825" dirty="0">
                <a:solidFill>
                  <a:srgbClr val="FFFFFF"/>
                </a:solidFill>
                <a:latin typeface="Arial" pitchFamily="34" charset="0"/>
                <a:ea typeface="Arial" pitchFamily="34" charset="-122"/>
                <a:cs typeface="Arial" pitchFamily="34" charset="-120"/>
              </a:rPr>
              <a:t>TASK: Generate English Summary</a:t>
            </a:r>
            <a:endParaRPr lang="en-US" sz="825" dirty="0"/>
          </a:p>
        </p:txBody>
      </p:sp>
      <p:sp>
        <p:nvSpPr>
          <p:cNvPr id="14" name="Text 12"/>
          <p:cNvSpPr/>
          <p:nvPr/>
        </p:nvSpPr>
        <p:spPr>
          <a:xfrm>
            <a:off x="5014913" y="1928961"/>
            <a:ext cx="3667601" cy="400050"/>
          </a:xfrm>
          <a:prstGeom prst="rect">
            <a:avLst/>
          </a:prstGeom>
          <a:noFill/>
          <a:ln/>
        </p:spPr>
        <p:txBody>
          <a:bodyPr wrap="square" lIns="0" tIns="0" rIns="0" bIns="0" rtlCol="0" anchor="t"/>
          <a:lstStyle/>
          <a:p>
            <a:pPr marL="0" indent="0" algn="l">
              <a:lnSpc>
                <a:spcPts val="1575"/>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Ayan and Priya both found their meeting unproductive. They plan to meet for tea at the cafe near the office at 5pm.</a:t>
            </a:r>
            <a:endParaRPr lang="en-US" sz="1050" dirty="0"/>
          </a:p>
        </p:txBody>
      </p:sp>
      <p:sp>
        <p:nvSpPr>
          <p:cNvPr id="15" name="Text 13"/>
          <p:cNvSpPr/>
          <p:nvPr/>
        </p:nvSpPr>
        <p:spPr>
          <a:xfrm>
            <a:off x="4862513" y="2671911"/>
            <a:ext cx="3900488" cy="891332"/>
          </a:xfrm>
          <a:prstGeom prst="roundRect">
            <a:avLst>
              <a:gd name="adj" fmla="val 8549"/>
            </a:avLst>
          </a:prstGeom>
          <a:solidFill>
            <a:srgbClr val="FEF9E7"/>
          </a:solidFill>
          <a:ln w="19050">
            <a:solidFill>
              <a:srgbClr val="F39C12"/>
            </a:solidFill>
          </a:ln>
        </p:spPr>
        <p:txBody>
          <a:bodyPr wrap="square" rtlCol="0" anchor="ctr"/>
          <a:lstStyle/>
          <a:p>
            <a:pPr marL="0" indent="0">
              <a:buNone/>
            </a:pPr>
            <a:endParaRPr lang="en-US" dirty="0"/>
          </a:p>
        </p:txBody>
      </p:sp>
      <p:sp>
        <p:nvSpPr>
          <p:cNvPr id="16" name="Text 14"/>
          <p:cNvSpPr/>
          <p:nvPr/>
        </p:nvSpPr>
        <p:spPr>
          <a:xfrm>
            <a:off x="5014913" y="2862411"/>
            <a:ext cx="3667601"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D1D1D"/>
                </a:solidFill>
                <a:latin typeface="Arial" pitchFamily="34" charset="0"/>
                <a:ea typeface="Arial" pitchFamily="34" charset="-122"/>
                <a:cs typeface="Arial" pitchFamily="34" charset="-120"/>
              </a:rPr>
              <a:t>Why is this hard?</a:t>
            </a:r>
            <a:endParaRPr lang="en-US" sz="900" dirty="0"/>
          </a:p>
        </p:txBody>
      </p:sp>
      <p:sp>
        <p:nvSpPr>
          <p:cNvPr id="17" name="Text 15"/>
          <p:cNvSpPr/>
          <p:nvPr/>
        </p:nvSpPr>
        <p:spPr>
          <a:xfrm>
            <a:off x="5014913" y="3079552"/>
            <a:ext cx="3667601"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6C757D"/>
                </a:solidFill>
                <a:latin typeface="Arial" pitchFamily="34" charset="0"/>
                <a:ea typeface="Arial" pitchFamily="34" charset="-122"/>
                <a:cs typeface="Arial" pitchFamily="34" charset="-120"/>
              </a:rPr>
              <a:t>Languages switch MID-SENTENCE. The model must understand BOTH languages and their interaction to produce a coherent summary.</a:t>
            </a:r>
            <a:endParaRPr lang="en-US" sz="825" dirty="0"/>
          </a:p>
        </p:txBody>
      </p:sp>
      <p:sp>
        <p:nvSpPr>
          <p:cNvPr id="18" name="Text 16"/>
          <p:cNvSpPr/>
          <p:nvPr/>
        </p:nvSpPr>
        <p:spPr>
          <a:xfrm>
            <a:off x="4862513" y="3677543"/>
            <a:ext cx="3900488" cy="597991"/>
          </a:xfrm>
          <a:prstGeom prst="roundRect">
            <a:avLst>
              <a:gd name="adj" fmla="val 12743"/>
            </a:avLst>
          </a:prstGeom>
          <a:solidFill>
            <a:srgbClr val="E8F6F3"/>
          </a:solidFill>
          <a:ln/>
        </p:spPr>
        <p:txBody>
          <a:bodyPr wrap="square" rtlCol="0" anchor="ctr"/>
          <a:lstStyle/>
          <a:p>
            <a:pPr marL="0" indent="0">
              <a:buNone/>
            </a:pPr>
            <a:endParaRPr lang="en-US" dirty="0"/>
          </a:p>
        </p:txBody>
      </p:sp>
      <p:sp>
        <p:nvSpPr>
          <p:cNvPr id="19" name="Text 17"/>
          <p:cNvSpPr/>
          <p:nvPr/>
        </p:nvSpPr>
        <p:spPr>
          <a:xfrm>
            <a:off x="4976813" y="3829943"/>
            <a:ext cx="3745325"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b="1" dirty="0">
                <a:solidFill>
                  <a:srgbClr val="1A5276"/>
                </a:solidFill>
                <a:latin typeface="Arial" pitchFamily="34" charset="0"/>
                <a:ea typeface="Arial" pitchFamily="34" charset="-122"/>
                <a:cs typeface="Arial" pitchFamily="34" charset="-120"/>
              </a:rPr>
              <a:t>Code-mixing:</a:t>
            </a:r>
            <a:r>
              <a:rPr lang="en-US" sz="825" dirty="0">
                <a:solidFill>
                  <a:srgbClr val="1A5276"/>
                </a:solidFill>
                <a:latin typeface="Arial" pitchFamily="34" charset="0"/>
                <a:ea typeface="Arial" pitchFamily="34" charset="-122"/>
                <a:cs typeface="Arial" pitchFamily="34" charset="-120"/>
              </a:rPr>
              <a:t> yaar (friend), kal (yesterday), nahi hua (did not happen), ke paas wala (the one near), chalega (will work)</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284536"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Formal Problem Definition</a:t>
            </a:r>
            <a:endParaRPr lang="en-US" sz="2250" dirty="0"/>
          </a:p>
        </p:txBody>
      </p:sp>
      <p:sp>
        <p:nvSpPr>
          <p:cNvPr id="3" name="Text 1"/>
          <p:cNvSpPr/>
          <p:nvPr/>
        </p:nvSpPr>
        <p:spPr>
          <a:xfrm>
            <a:off x="381000" y="819150"/>
            <a:ext cx="8382000" cy="1259086"/>
          </a:xfrm>
          <a:prstGeom prst="roundRect">
            <a:avLst>
              <a:gd name="adj" fmla="val 6052"/>
            </a:avLst>
          </a:prstGeom>
          <a:solidFill>
            <a:srgbClr val="F8F9FA"/>
          </a:solidFill>
          <a:ln/>
        </p:spPr>
        <p:txBody>
          <a:bodyPr wrap="square" rtlCol="0" anchor="ctr"/>
          <a:lstStyle/>
          <a:p>
            <a:pPr marL="0" indent="0">
              <a:buNone/>
            </a:pPr>
            <a:endParaRPr lang="en-US" dirty="0"/>
          </a:p>
        </p:txBody>
      </p:sp>
      <p:sp>
        <p:nvSpPr>
          <p:cNvPr id="4" name="Text 2"/>
          <p:cNvSpPr/>
          <p:nvPr/>
        </p:nvSpPr>
        <p:spPr>
          <a:xfrm>
            <a:off x="533400" y="1009650"/>
            <a:ext cx="8238744"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1A5276"/>
                </a:solidFill>
                <a:latin typeface="Arial" pitchFamily="34" charset="0"/>
                <a:ea typeface="Arial" pitchFamily="34" charset="-122"/>
                <a:cs typeface="Arial" pitchFamily="34" charset="-120"/>
              </a:rPr>
              <a:t>Code-Mixed Conversation Summarization</a:t>
            </a:r>
            <a:endParaRPr lang="en-US" sz="975" dirty="0"/>
          </a:p>
        </p:txBody>
      </p:sp>
      <p:sp>
        <p:nvSpPr>
          <p:cNvPr id="5" name="Text 3"/>
          <p:cNvSpPr/>
          <p:nvPr/>
        </p:nvSpPr>
        <p:spPr>
          <a:xfrm>
            <a:off x="533400" y="1259086"/>
            <a:ext cx="8238744" cy="171450"/>
          </a:xfrm>
          <a:prstGeom prst="rect">
            <a:avLst/>
          </a:prstGeom>
          <a:noFill/>
          <a:ln/>
        </p:spPr>
        <p:txBody>
          <a:bodyPr wrap="square" lIns="0" tIns="0" rIns="0" bIns="0" rtlCol="0" anchor="t"/>
          <a:lstStyle/>
          <a:p>
            <a:pPr marL="0" indent="0" algn="l">
              <a:lnSpc>
                <a:spcPts val="1350"/>
              </a:lnSpc>
              <a:spcBef>
                <a:spcPts val="300"/>
              </a:spcBef>
              <a:spcAft>
                <a:spcPts val="300"/>
              </a:spcAft>
              <a:buNone/>
            </a:pPr>
            <a:r>
              <a:rPr lang="en-US" sz="900" b="1" dirty="0">
                <a:solidFill>
                  <a:srgbClr val="2C3E50"/>
                </a:solidFill>
                <a:latin typeface="Arial" pitchFamily="34" charset="0"/>
                <a:ea typeface="Arial" pitchFamily="34" charset="-122"/>
                <a:cs typeface="Arial" pitchFamily="34" charset="-120"/>
              </a:rPr>
              <a:t>Input:</a:t>
            </a:r>
            <a:r>
              <a:rPr lang="en-US" sz="900" dirty="0">
                <a:solidFill>
                  <a:srgbClr val="2C3E50"/>
                </a:solidFill>
                <a:latin typeface="Arial" pitchFamily="34" charset="0"/>
                <a:ea typeface="Arial" pitchFamily="34" charset="-122"/>
                <a:cs typeface="Arial" pitchFamily="34" charset="-120"/>
              </a:rPr>
              <a:t> A multi-turn conversation C = [u1, u2, ..., un] where each utterance ui may contain text from language L1, L2, or a mixture of both (code-mixing)</a:t>
            </a:r>
            <a:endParaRPr lang="en-US" sz="900" dirty="0"/>
          </a:p>
        </p:txBody>
      </p:sp>
      <p:sp>
        <p:nvSpPr>
          <p:cNvPr id="6" name="Text 4"/>
          <p:cNvSpPr/>
          <p:nvPr/>
        </p:nvSpPr>
        <p:spPr>
          <a:xfrm>
            <a:off x="533400" y="1487686"/>
            <a:ext cx="8238744" cy="171450"/>
          </a:xfrm>
          <a:prstGeom prst="rect">
            <a:avLst/>
          </a:prstGeom>
          <a:noFill/>
          <a:ln/>
        </p:spPr>
        <p:txBody>
          <a:bodyPr wrap="square" lIns="0" tIns="0" rIns="0" bIns="0" rtlCol="0" anchor="t"/>
          <a:lstStyle/>
          <a:p>
            <a:pPr marL="0" indent="0" algn="l">
              <a:lnSpc>
                <a:spcPts val="1350"/>
              </a:lnSpc>
              <a:spcBef>
                <a:spcPts val="450"/>
              </a:spcBef>
              <a:spcAft>
                <a:spcPts val="300"/>
              </a:spcAft>
              <a:buNone/>
            </a:pPr>
            <a:r>
              <a:rPr lang="en-US" sz="900" b="1" dirty="0">
                <a:solidFill>
                  <a:srgbClr val="2C3E50"/>
                </a:solidFill>
                <a:latin typeface="Arial" pitchFamily="34" charset="0"/>
                <a:ea typeface="Arial" pitchFamily="34" charset="-122"/>
                <a:cs typeface="Arial" pitchFamily="34" charset="-120"/>
              </a:rPr>
              <a:t>Output:</a:t>
            </a:r>
            <a:r>
              <a:rPr lang="en-US" sz="900" dirty="0">
                <a:solidFill>
                  <a:srgbClr val="2C3E50"/>
                </a:solidFill>
                <a:latin typeface="Arial" pitchFamily="34" charset="0"/>
                <a:ea typeface="Arial" pitchFamily="34" charset="-122"/>
                <a:cs typeface="Arial" pitchFamily="34" charset="-120"/>
              </a:rPr>
              <a:t> A concise summary S in English that captures the key information, decisions, and outcomes from the conversation</a:t>
            </a:r>
            <a:endParaRPr lang="en-US" sz="900" dirty="0"/>
          </a:p>
        </p:txBody>
      </p:sp>
      <p:sp>
        <p:nvSpPr>
          <p:cNvPr id="7" name="Text 5"/>
          <p:cNvSpPr/>
          <p:nvPr/>
        </p:nvSpPr>
        <p:spPr>
          <a:xfrm>
            <a:off x="533400" y="1716286"/>
            <a:ext cx="8238744" cy="171450"/>
          </a:xfrm>
          <a:prstGeom prst="rect">
            <a:avLst/>
          </a:prstGeom>
          <a:noFill/>
          <a:ln/>
        </p:spPr>
        <p:txBody>
          <a:bodyPr wrap="square" lIns="0" tIns="0" rIns="0" bIns="0" rtlCol="0" anchor="t"/>
          <a:lstStyle/>
          <a:p>
            <a:pPr marL="0" indent="0" algn="l">
              <a:lnSpc>
                <a:spcPts val="1350"/>
              </a:lnSpc>
              <a:spcBef>
                <a:spcPts val="450"/>
              </a:spcBef>
              <a:spcAft>
                <a:spcPts val="300"/>
              </a:spcAft>
              <a:buNone/>
            </a:pPr>
            <a:r>
              <a:rPr lang="en-US" sz="900" b="1" dirty="0">
                <a:solidFill>
                  <a:srgbClr val="2C3E50"/>
                </a:solidFill>
                <a:latin typeface="Arial" pitchFamily="34" charset="0"/>
                <a:ea typeface="Arial" pitchFamily="34" charset="-122"/>
                <a:cs typeface="Arial" pitchFamily="34" charset="-120"/>
              </a:rPr>
              <a:t>Challenge:</a:t>
            </a:r>
            <a:r>
              <a:rPr lang="en-US" sz="900" dirty="0">
                <a:solidFill>
                  <a:srgbClr val="2C3E50"/>
                </a:solidFill>
                <a:latin typeface="Arial" pitchFamily="34" charset="0"/>
                <a:ea typeface="Arial" pitchFamily="34" charset="-122"/>
                <a:cs typeface="Arial" pitchFamily="34" charset="-120"/>
              </a:rPr>
              <a:t> The model must handle intra-sentential code-switching (switching within a sentence) and inter-sentential switching (switching between sentences)</a:t>
            </a:r>
            <a:endParaRPr lang="en-US" sz="900" dirty="0"/>
          </a:p>
        </p:txBody>
      </p:sp>
      <p:sp>
        <p:nvSpPr>
          <p:cNvPr id="8" name="Text 6"/>
          <p:cNvSpPr/>
          <p:nvPr/>
        </p:nvSpPr>
        <p:spPr>
          <a:xfrm>
            <a:off x="381000" y="2230636"/>
            <a:ext cx="4114800" cy="999827"/>
          </a:xfrm>
          <a:prstGeom prst="roundRect">
            <a:avLst>
              <a:gd name="adj" fmla="val 7621"/>
            </a:avLst>
          </a:prstGeom>
          <a:solidFill>
            <a:srgbClr val="E8F6F3"/>
          </a:solidFill>
          <a:ln/>
        </p:spPr>
        <p:txBody>
          <a:bodyPr wrap="square" rtlCol="0" anchor="ctr"/>
          <a:lstStyle/>
          <a:p>
            <a:pPr marL="0" indent="0">
              <a:buNone/>
            </a:pPr>
            <a:endParaRPr lang="en-US" dirty="0"/>
          </a:p>
        </p:txBody>
      </p:sp>
      <p:sp>
        <p:nvSpPr>
          <p:cNvPr id="9" name="Shape 7"/>
          <p:cNvSpPr/>
          <p:nvPr/>
        </p:nvSpPr>
        <p:spPr>
          <a:xfrm>
            <a:off x="400050" y="2230636"/>
            <a:ext cx="0" cy="999827"/>
          </a:xfrm>
          <a:prstGeom prst="line">
            <a:avLst/>
          </a:prstGeom>
          <a:noFill/>
          <a:ln w="38100">
            <a:solidFill>
              <a:srgbClr val="4ECDC4"/>
            </a:solidFill>
            <a:prstDash val="solid"/>
          </a:ln>
        </p:spPr>
        <p:txBody>
          <a:bodyPr/>
          <a:lstStyle/>
          <a:p>
            <a:endParaRPr lang="en-US"/>
          </a:p>
        </p:txBody>
      </p:sp>
      <p:sp>
        <p:nvSpPr>
          <p:cNvPr id="10" name="Text 8"/>
          <p:cNvSpPr/>
          <p:nvPr/>
        </p:nvSpPr>
        <p:spPr>
          <a:xfrm>
            <a:off x="552450" y="2402086"/>
            <a:ext cx="3886200"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Code-Mixing Definition</a:t>
            </a:r>
            <a:endParaRPr lang="en-US" sz="900" dirty="0"/>
          </a:p>
        </p:txBody>
      </p:sp>
      <p:sp>
        <p:nvSpPr>
          <p:cNvPr id="11" name="Text 9"/>
          <p:cNvSpPr/>
          <p:nvPr/>
        </p:nvSpPr>
        <p:spPr>
          <a:xfrm>
            <a:off x="552450" y="2619226"/>
            <a:ext cx="3886200" cy="439787"/>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6C757D"/>
                </a:solidFill>
                <a:latin typeface="Arial" pitchFamily="34" charset="0"/>
                <a:ea typeface="Arial" pitchFamily="34" charset="-122"/>
                <a:cs typeface="Arial" pitchFamily="34" charset="-120"/>
              </a:rPr>
              <a:t>The practice of alternating between two or more languages within a single conversation, sentence, or even word. Common in multilingual communities worldwide.</a:t>
            </a:r>
            <a:endParaRPr lang="en-US" sz="825" dirty="0"/>
          </a:p>
        </p:txBody>
      </p:sp>
      <p:sp>
        <p:nvSpPr>
          <p:cNvPr id="12" name="Text 10"/>
          <p:cNvSpPr/>
          <p:nvPr/>
        </p:nvSpPr>
        <p:spPr>
          <a:xfrm>
            <a:off x="4648200" y="2230636"/>
            <a:ext cx="4114800" cy="999827"/>
          </a:xfrm>
          <a:prstGeom prst="roundRect">
            <a:avLst>
              <a:gd name="adj" fmla="val 7621"/>
            </a:avLst>
          </a:prstGeom>
          <a:solidFill>
            <a:srgbClr val="FEF9E7"/>
          </a:solidFill>
          <a:ln/>
        </p:spPr>
        <p:txBody>
          <a:bodyPr wrap="square" rtlCol="0" anchor="ctr"/>
          <a:lstStyle/>
          <a:p>
            <a:pPr marL="0" indent="0">
              <a:buNone/>
            </a:pPr>
            <a:endParaRPr lang="en-US" dirty="0"/>
          </a:p>
        </p:txBody>
      </p:sp>
      <p:sp>
        <p:nvSpPr>
          <p:cNvPr id="13" name="Shape 11"/>
          <p:cNvSpPr/>
          <p:nvPr/>
        </p:nvSpPr>
        <p:spPr>
          <a:xfrm>
            <a:off x="4667250" y="2230636"/>
            <a:ext cx="0" cy="999827"/>
          </a:xfrm>
          <a:prstGeom prst="line">
            <a:avLst/>
          </a:prstGeom>
          <a:noFill/>
          <a:ln w="38100">
            <a:solidFill>
              <a:srgbClr val="F39C12"/>
            </a:solidFill>
            <a:prstDash val="solid"/>
          </a:ln>
        </p:spPr>
        <p:txBody>
          <a:bodyPr/>
          <a:lstStyle/>
          <a:p>
            <a:endParaRPr lang="en-US"/>
          </a:p>
        </p:txBody>
      </p:sp>
      <p:sp>
        <p:nvSpPr>
          <p:cNvPr id="14" name="Text 12"/>
          <p:cNvSpPr/>
          <p:nvPr/>
        </p:nvSpPr>
        <p:spPr>
          <a:xfrm>
            <a:off x="4819650" y="2402086"/>
            <a:ext cx="3886200"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Scale of the Problem</a:t>
            </a:r>
            <a:endParaRPr lang="en-US" sz="900" dirty="0"/>
          </a:p>
        </p:txBody>
      </p:sp>
      <p:sp>
        <p:nvSpPr>
          <p:cNvPr id="15" name="Text 13"/>
          <p:cNvSpPr/>
          <p:nvPr/>
        </p:nvSpPr>
        <p:spPr>
          <a:xfrm>
            <a:off x="4819650" y="2619226"/>
            <a:ext cx="3886200"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6C757D"/>
                </a:solidFill>
                <a:latin typeface="Arial" pitchFamily="34" charset="0"/>
                <a:ea typeface="Arial" pitchFamily="34" charset="-122"/>
                <a:cs typeface="Arial" pitchFamily="34" charset="-120"/>
              </a:rPr>
              <a:t>Over 1 billion people code-mix daily. With 50+ languages commonly mixed with English, there are 2,450+ possible language pairs to support.</a:t>
            </a:r>
            <a:endParaRPr lang="en-US" sz="825" dirty="0"/>
          </a:p>
        </p:txBody>
      </p:sp>
      <p:sp>
        <p:nvSpPr>
          <p:cNvPr id="16" name="Text 14"/>
          <p:cNvSpPr/>
          <p:nvPr/>
        </p:nvSpPr>
        <p:spPr>
          <a:xfrm>
            <a:off x="381000" y="3382863"/>
            <a:ext cx="8382000" cy="706636"/>
          </a:xfrm>
          <a:prstGeom prst="roundRect">
            <a:avLst>
              <a:gd name="adj" fmla="val 10783"/>
            </a:avLst>
          </a:prstGeom>
          <a:solidFill>
            <a:srgbClr val="1A5276"/>
          </a:solidFill>
          <a:ln/>
        </p:spPr>
        <p:txBody>
          <a:bodyPr wrap="square" rtlCol="0" anchor="ctr"/>
          <a:lstStyle/>
          <a:p>
            <a:pPr marL="0" indent="0">
              <a:buNone/>
            </a:pPr>
            <a:endParaRPr lang="en-US" dirty="0"/>
          </a:p>
        </p:txBody>
      </p:sp>
      <p:sp>
        <p:nvSpPr>
          <p:cNvPr id="17" name="Text 15"/>
          <p:cNvSpPr/>
          <p:nvPr/>
        </p:nvSpPr>
        <p:spPr>
          <a:xfrm>
            <a:off x="514350" y="3554313"/>
            <a:ext cx="8277606"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FFFFFF"/>
                </a:solidFill>
                <a:latin typeface="Arial" pitchFamily="34" charset="0"/>
                <a:ea typeface="Arial" pitchFamily="34" charset="-122"/>
                <a:cs typeface="Arial" pitchFamily="34" charset="-120"/>
              </a:rPr>
              <a:t>Our Extension: Zero-Shot Cross-Lingual Transfer</a:t>
            </a:r>
            <a:endParaRPr lang="en-US" sz="900" dirty="0"/>
          </a:p>
        </p:txBody>
      </p:sp>
      <p:sp>
        <p:nvSpPr>
          <p:cNvPr id="18" name="Text 16"/>
          <p:cNvSpPr/>
          <p:nvPr/>
        </p:nvSpPr>
        <p:spPr>
          <a:xfrm>
            <a:off x="514350" y="3771454"/>
            <a:ext cx="8277606" cy="146596"/>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Can we train on a FEW language pairs and generalize to UNSEEN language pairs without any additional training data?</a:t>
            </a:r>
            <a:endParaRPr lang="en-US" sz="8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0999" y="228600"/>
            <a:ext cx="6150429"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Why This Topic? What Makes It Exciting?</a:t>
            </a:r>
            <a:endParaRPr lang="en-US" sz="2250" dirty="0"/>
          </a:p>
        </p:txBody>
      </p:sp>
      <p:pic>
        <p:nvPicPr>
          <p:cNvPr id="3" name="Image 0" descr="/tmp/rasterized-gradient-bf5ad887.png"/>
          <p:cNvPicPr>
            <a:picLocks noChangeAspect="1"/>
          </p:cNvPicPr>
          <p:nvPr/>
        </p:nvPicPr>
        <p:blipFill>
          <a:blip r:embed="rId3"/>
          <a:stretch>
            <a:fillRect/>
          </a:stretch>
        </p:blipFill>
        <p:spPr>
          <a:xfrm>
            <a:off x="381000" y="819150"/>
            <a:ext cx="4124325" cy="904577"/>
          </a:xfrm>
          <a:prstGeom prst="rect">
            <a:avLst/>
          </a:prstGeom>
        </p:spPr>
      </p:pic>
      <p:sp>
        <p:nvSpPr>
          <p:cNvPr id="4" name="Text 1"/>
          <p:cNvSpPr/>
          <p:nvPr/>
        </p:nvSpPr>
        <p:spPr>
          <a:xfrm>
            <a:off x="533400" y="1009650"/>
            <a:ext cx="3895916" cy="173236"/>
          </a:xfrm>
          <a:prstGeom prst="rect">
            <a:avLst/>
          </a:prstGeom>
          <a:noFill/>
          <a:ln/>
        </p:spPr>
        <p:txBody>
          <a:bodyPr wrap="square" lIns="0" tIns="0" rIns="0" bIns="0" rtlCol="0" anchor="t"/>
          <a:lstStyle/>
          <a:p>
            <a:pPr marL="0" indent="0" algn="l">
              <a:lnSpc>
                <a:spcPts val="1365"/>
              </a:lnSpc>
              <a:spcBef>
                <a:spcPts val="300"/>
              </a:spcBef>
              <a:spcAft>
                <a:spcPts val="450"/>
              </a:spcAft>
              <a:buNone/>
            </a:pPr>
            <a:r>
              <a:rPr lang="en-US" sz="975" b="1" dirty="0">
                <a:solidFill>
                  <a:srgbClr val="FFFFFF"/>
                </a:solidFill>
                <a:latin typeface="Arial" pitchFamily="34" charset="0"/>
                <a:ea typeface="Arial" pitchFamily="34" charset="-122"/>
                <a:cs typeface="Arial" pitchFamily="34" charset="-120"/>
              </a:rPr>
              <a:t>1. Real-World Impact</a:t>
            </a:r>
            <a:endParaRPr lang="en-US" sz="975" dirty="0"/>
          </a:p>
        </p:txBody>
      </p:sp>
      <p:sp>
        <p:nvSpPr>
          <p:cNvPr id="5" name="Text 2"/>
          <p:cNvSpPr/>
          <p:nvPr/>
        </p:nvSpPr>
        <p:spPr>
          <a:xfrm>
            <a:off x="533400" y="1240036"/>
            <a:ext cx="3895916"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1B+ people code-mix daily in customer support, social media, and messaging. Current NLP tools fail on this data entirely.</a:t>
            </a:r>
            <a:endParaRPr lang="en-US" sz="825" dirty="0"/>
          </a:p>
        </p:txBody>
      </p:sp>
      <p:pic>
        <p:nvPicPr>
          <p:cNvPr id="6" name="Image 1" descr="/tmp/rasterized-gradient-7d0b153f.png"/>
          <p:cNvPicPr>
            <a:picLocks noChangeAspect="1"/>
          </p:cNvPicPr>
          <p:nvPr/>
        </p:nvPicPr>
        <p:blipFill>
          <a:blip r:embed="rId4"/>
          <a:stretch>
            <a:fillRect/>
          </a:stretch>
        </p:blipFill>
        <p:spPr>
          <a:xfrm>
            <a:off x="4638675" y="819150"/>
            <a:ext cx="4124325" cy="904577"/>
          </a:xfrm>
          <a:prstGeom prst="rect">
            <a:avLst/>
          </a:prstGeom>
        </p:spPr>
      </p:pic>
      <p:sp>
        <p:nvSpPr>
          <p:cNvPr id="7" name="Text 3"/>
          <p:cNvSpPr/>
          <p:nvPr/>
        </p:nvSpPr>
        <p:spPr>
          <a:xfrm>
            <a:off x="4791075" y="1009650"/>
            <a:ext cx="3895916" cy="173236"/>
          </a:xfrm>
          <a:prstGeom prst="rect">
            <a:avLst/>
          </a:prstGeom>
          <a:noFill/>
          <a:ln/>
        </p:spPr>
        <p:txBody>
          <a:bodyPr wrap="square" lIns="0" tIns="0" rIns="0" bIns="0" rtlCol="0" anchor="t"/>
          <a:lstStyle/>
          <a:p>
            <a:pPr marL="0" indent="0" algn="l">
              <a:lnSpc>
                <a:spcPts val="1365"/>
              </a:lnSpc>
              <a:spcBef>
                <a:spcPts val="300"/>
              </a:spcBef>
              <a:spcAft>
                <a:spcPts val="450"/>
              </a:spcAft>
              <a:buNone/>
            </a:pPr>
            <a:r>
              <a:rPr lang="en-US" sz="975" b="1" dirty="0">
                <a:solidFill>
                  <a:srgbClr val="FFFFFF"/>
                </a:solidFill>
                <a:latin typeface="Arial" pitchFamily="34" charset="0"/>
                <a:ea typeface="Arial" pitchFamily="34" charset="-122"/>
                <a:cs typeface="Arial" pitchFamily="34" charset="-120"/>
              </a:rPr>
              <a:t>2. Unsolved Challenge</a:t>
            </a:r>
            <a:endParaRPr lang="en-US" sz="975" dirty="0"/>
          </a:p>
        </p:txBody>
      </p:sp>
      <p:sp>
        <p:nvSpPr>
          <p:cNvPr id="8" name="Text 4"/>
          <p:cNvSpPr/>
          <p:nvPr/>
        </p:nvSpPr>
        <p:spPr>
          <a:xfrm>
            <a:off x="4791075" y="1240036"/>
            <a:ext cx="3895916"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No existing system handles arbitrary code-mixed language pairs. Each pair typically requires its own model and training data.</a:t>
            </a:r>
            <a:endParaRPr lang="en-US" sz="825" dirty="0"/>
          </a:p>
        </p:txBody>
      </p:sp>
      <p:pic>
        <p:nvPicPr>
          <p:cNvPr id="9" name="Image 2" descr="/tmp/rasterized-gradient-605644a8.png"/>
          <p:cNvPicPr>
            <a:picLocks noChangeAspect="1"/>
          </p:cNvPicPr>
          <p:nvPr/>
        </p:nvPicPr>
        <p:blipFill>
          <a:blip r:embed="rId5"/>
          <a:stretch>
            <a:fillRect/>
          </a:stretch>
        </p:blipFill>
        <p:spPr>
          <a:xfrm>
            <a:off x="381000" y="1857077"/>
            <a:ext cx="4124325" cy="904577"/>
          </a:xfrm>
          <a:prstGeom prst="rect">
            <a:avLst/>
          </a:prstGeom>
        </p:spPr>
      </p:pic>
      <p:sp>
        <p:nvSpPr>
          <p:cNvPr id="10" name="Text 5"/>
          <p:cNvSpPr/>
          <p:nvPr/>
        </p:nvSpPr>
        <p:spPr>
          <a:xfrm>
            <a:off x="533400" y="2047577"/>
            <a:ext cx="3895916" cy="173236"/>
          </a:xfrm>
          <a:prstGeom prst="rect">
            <a:avLst/>
          </a:prstGeom>
          <a:noFill/>
          <a:ln/>
        </p:spPr>
        <p:txBody>
          <a:bodyPr wrap="square" lIns="0" tIns="0" rIns="0" bIns="0" rtlCol="0" anchor="t"/>
          <a:lstStyle/>
          <a:p>
            <a:pPr marL="0" indent="0" algn="l">
              <a:lnSpc>
                <a:spcPts val="1365"/>
              </a:lnSpc>
              <a:spcBef>
                <a:spcPts val="300"/>
              </a:spcBef>
              <a:spcAft>
                <a:spcPts val="450"/>
              </a:spcAft>
              <a:buNone/>
            </a:pPr>
            <a:r>
              <a:rPr lang="en-US" sz="975" b="1" dirty="0">
                <a:solidFill>
                  <a:srgbClr val="FFFFFF"/>
                </a:solidFill>
                <a:latin typeface="Arial" pitchFamily="34" charset="0"/>
                <a:ea typeface="Arial" pitchFamily="34" charset="-122"/>
                <a:cs typeface="Arial" pitchFamily="34" charset="-120"/>
              </a:rPr>
              <a:t>3. Novel Research Question</a:t>
            </a:r>
            <a:endParaRPr lang="en-US" sz="975" dirty="0"/>
          </a:p>
        </p:txBody>
      </p:sp>
      <p:sp>
        <p:nvSpPr>
          <p:cNvPr id="11" name="Text 6"/>
          <p:cNvSpPr/>
          <p:nvPr/>
        </p:nvSpPr>
        <p:spPr>
          <a:xfrm>
            <a:off x="533400" y="2277963"/>
            <a:ext cx="3895916"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Can zero-shot transfer work for code-mixing? No prior work has explored this for conversation summarization.</a:t>
            </a:r>
            <a:endParaRPr lang="en-US" sz="825" dirty="0"/>
          </a:p>
        </p:txBody>
      </p:sp>
      <p:pic>
        <p:nvPicPr>
          <p:cNvPr id="12" name="Image 3" descr="/tmp/rasterized-gradient-cae02fcf.png"/>
          <p:cNvPicPr>
            <a:picLocks noChangeAspect="1"/>
          </p:cNvPicPr>
          <p:nvPr/>
        </p:nvPicPr>
        <p:blipFill>
          <a:blip r:embed="rId6"/>
          <a:stretch>
            <a:fillRect/>
          </a:stretch>
        </p:blipFill>
        <p:spPr>
          <a:xfrm>
            <a:off x="4638675" y="1857077"/>
            <a:ext cx="4124325" cy="904577"/>
          </a:xfrm>
          <a:prstGeom prst="rect">
            <a:avLst/>
          </a:prstGeom>
        </p:spPr>
      </p:pic>
      <p:sp>
        <p:nvSpPr>
          <p:cNvPr id="13" name="Text 7"/>
          <p:cNvSpPr/>
          <p:nvPr/>
        </p:nvSpPr>
        <p:spPr>
          <a:xfrm>
            <a:off x="4791075" y="2047577"/>
            <a:ext cx="3895916" cy="173236"/>
          </a:xfrm>
          <a:prstGeom prst="rect">
            <a:avLst/>
          </a:prstGeom>
          <a:noFill/>
          <a:ln/>
        </p:spPr>
        <p:txBody>
          <a:bodyPr wrap="square" lIns="0" tIns="0" rIns="0" bIns="0" rtlCol="0" anchor="t"/>
          <a:lstStyle/>
          <a:p>
            <a:pPr marL="0" indent="0" algn="l">
              <a:lnSpc>
                <a:spcPts val="1365"/>
              </a:lnSpc>
              <a:spcBef>
                <a:spcPts val="300"/>
              </a:spcBef>
              <a:spcAft>
                <a:spcPts val="450"/>
              </a:spcAft>
              <a:buNone/>
            </a:pPr>
            <a:r>
              <a:rPr lang="en-US" sz="975" b="1" dirty="0">
                <a:solidFill>
                  <a:srgbClr val="FFFFFF"/>
                </a:solidFill>
                <a:latin typeface="Arial" pitchFamily="34" charset="0"/>
                <a:ea typeface="Arial" pitchFamily="34" charset="-122"/>
                <a:cs typeface="Arial" pitchFamily="34" charset="-120"/>
              </a:rPr>
              <a:t>4. Practical Deployment</a:t>
            </a:r>
            <a:endParaRPr lang="en-US" sz="975" dirty="0"/>
          </a:p>
        </p:txBody>
      </p:sp>
      <p:sp>
        <p:nvSpPr>
          <p:cNvPr id="14" name="Text 8"/>
          <p:cNvSpPr/>
          <p:nvPr/>
        </p:nvSpPr>
        <p:spPr>
          <a:xfrm>
            <a:off x="4791075" y="2277963"/>
            <a:ext cx="3895916"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If successful: Train ONE model on 3 pairs, deploy on 2,450+ pairs. Massive cost and data savings.</a:t>
            </a:r>
            <a:endParaRPr lang="en-US" sz="825" dirty="0"/>
          </a:p>
        </p:txBody>
      </p:sp>
      <p:sp>
        <p:nvSpPr>
          <p:cNvPr id="15" name="Text 9"/>
          <p:cNvSpPr/>
          <p:nvPr/>
        </p:nvSpPr>
        <p:spPr>
          <a:xfrm>
            <a:off x="381000" y="2895005"/>
            <a:ext cx="8382000" cy="893415"/>
          </a:xfrm>
          <a:prstGeom prst="roundRect">
            <a:avLst>
              <a:gd name="adj" fmla="val 8529"/>
            </a:avLst>
          </a:prstGeom>
          <a:solidFill>
            <a:srgbClr val="F8F9FA"/>
          </a:solidFill>
          <a:ln/>
        </p:spPr>
        <p:txBody>
          <a:bodyPr wrap="square" rtlCol="0" anchor="ctr"/>
          <a:lstStyle/>
          <a:p>
            <a:pPr marL="0" indent="0">
              <a:buNone/>
            </a:pPr>
            <a:endParaRPr lang="en-US" dirty="0"/>
          </a:p>
        </p:txBody>
      </p:sp>
      <p:sp>
        <p:nvSpPr>
          <p:cNvPr id="16" name="Text 10"/>
          <p:cNvSpPr/>
          <p:nvPr/>
        </p:nvSpPr>
        <p:spPr>
          <a:xfrm>
            <a:off x="514350" y="3066455"/>
            <a:ext cx="8277606"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1A5276"/>
                </a:solidFill>
                <a:latin typeface="Arial" pitchFamily="34" charset="0"/>
                <a:ea typeface="Arial" pitchFamily="34" charset="-122"/>
                <a:cs typeface="Arial" pitchFamily="34" charset="-120"/>
              </a:rPr>
              <a:t>Personal Motivation</a:t>
            </a:r>
            <a:endParaRPr lang="en-US" sz="900" dirty="0"/>
          </a:p>
        </p:txBody>
      </p:sp>
      <p:sp>
        <p:nvSpPr>
          <p:cNvPr id="17" name="Text 11"/>
          <p:cNvSpPr/>
          <p:nvPr/>
        </p:nvSpPr>
        <p:spPr>
          <a:xfrm>
            <a:off x="514350" y="3302645"/>
            <a:ext cx="8277606" cy="314325"/>
          </a:xfrm>
          <a:prstGeom prst="rect">
            <a:avLst/>
          </a:prstGeom>
          <a:noFill/>
          <a:ln/>
        </p:spPr>
        <p:txBody>
          <a:bodyPr wrap="square" lIns="0" tIns="0" rIns="0" bIns="0" rtlCol="0" anchor="t"/>
          <a:lstStyle/>
          <a:p>
            <a:pPr marL="0" indent="0" algn="l">
              <a:lnSpc>
                <a:spcPts val="1238"/>
              </a:lnSpc>
              <a:spcBef>
                <a:spcPts val="300"/>
              </a:spcBef>
              <a:spcAft>
                <a:spcPts val="300"/>
              </a:spcAft>
              <a:buNone/>
            </a:pPr>
            <a:r>
              <a:rPr lang="en-US" sz="825" dirty="0">
                <a:solidFill>
                  <a:srgbClr val="6C757D"/>
                </a:solidFill>
                <a:latin typeface="Arial" pitchFamily="34" charset="0"/>
                <a:ea typeface="Arial" pitchFamily="34" charset="-122"/>
                <a:cs typeface="Arial" pitchFamily="34" charset="-120"/>
              </a:rPr>
              <a:t>Growing up in a multilingual environment, I experienced code-mixing daily. Seeing how existing NLP tools completely fail on this type of natural communication motivated me to work on making AI systems that can understand how real multilingual people actually communicate.</a:t>
            </a:r>
            <a:endParaRPr lang="en-US" sz="8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0999" y="228600"/>
            <a:ext cx="4687389"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Connection to CIS 5300 Topics</a:t>
            </a:r>
            <a:endParaRPr lang="en-US" sz="2250" dirty="0"/>
          </a:p>
        </p:txBody>
      </p:sp>
      <p:sp>
        <p:nvSpPr>
          <p:cNvPr id="3" name="Text 1"/>
          <p:cNvSpPr/>
          <p:nvPr/>
        </p:nvSpPr>
        <p:spPr>
          <a:xfrm>
            <a:off x="381000" y="819150"/>
            <a:ext cx="2692450" cy="960090"/>
          </a:xfrm>
          <a:prstGeom prst="roundRect">
            <a:avLst>
              <a:gd name="adj" fmla="val 7937"/>
            </a:avLst>
          </a:prstGeom>
          <a:solidFill>
            <a:srgbClr val="E8F6F3"/>
          </a:solidFill>
          <a:ln/>
        </p:spPr>
        <p:txBody>
          <a:bodyPr wrap="square" rtlCol="0" anchor="ctr"/>
          <a:lstStyle/>
          <a:p>
            <a:pPr marL="0" indent="0">
              <a:buNone/>
            </a:pPr>
            <a:endParaRPr lang="en-US" dirty="0"/>
          </a:p>
        </p:txBody>
      </p:sp>
      <p:sp>
        <p:nvSpPr>
          <p:cNvPr id="4" name="Shape 2"/>
          <p:cNvSpPr/>
          <p:nvPr/>
        </p:nvSpPr>
        <p:spPr>
          <a:xfrm>
            <a:off x="400050" y="819150"/>
            <a:ext cx="0" cy="960090"/>
          </a:xfrm>
          <a:prstGeom prst="line">
            <a:avLst/>
          </a:prstGeom>
          <a:noFill/>
          <a:ln w="38100">
            <a:solidFill>
              <a:srgbClr val="4ECDC4"/>
            </a:solidFill>
            <a:prstDash val="solid"/>
          </a:ln>
        </p:spPr>
        <p:txBody>
          <a:bodyPr/>
          <a:lstStyle/>
          <a:p>
            <a:endParaRPr lang="en-US"/>
          </a:p>
        </p:txBody>
      </p:sp>
      <p:sp>
        <p:nvSpPr>
          <p:cNvPr id="5" name="Text 3"/>
          <p:cNvSpPr/>
          <p:nvPr/>
        </p:nvSpPr>
        <p:spPr>
          <a:xfrm>
            <a:off x="552450" y="990600"/>
            <a:ext cx="2435403"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Sequence-to-Sequence Models</a:t>
            </a:r>
            <a:endParaRPr lang="en-US" sz="900" dirty="0"/>
          </a:p>
        </p:txBody>
      </p:sp>
      <p:sp>
        <p:nvSpPr>
          <p:cNvPr id="6" name="Text 4"/>
          <p:cNvSpPr/>
          <p:nvPr/>
        </p:nvSpPr>
        <p:spPr>
          <a:xfrm>
            <a:off x="552450" y="1207740"/>
            <a:ext cx="2435403" cy="4000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Applied encoder-decoder (mBART, mT5) and decoder-only (Llama) architectures from class. Compared their effectiveness for multilingual generation tasks.</a:t>
            </a:r>
            <a:endParaRPr lang="en-US" sz="750" dirty="0"/>
          </a:p>
        </p:txBody>
      </p:sp>
      <p:sp>
        <p:nvSpPr>
          <p:cNvPr id="7" name="Text 5"/>
          <p:cNvSpPr/>
          <p:nvPr/>
        </p:nvSpPr>
        <p:spPr>
          <a:xfrm>
            <a:off x="3225850" y="819150"/>
            <a:ext cx="2692450" cy="960090"/>
          </a:xfrm>
          <a:prstGeom prst="roundRect">
            <a:avLst>
              <a:gd name="adj" fmla="val 7937"/>
            </a:avLst>
          </a:prstGeom>
          <a:solidFill>
            <a:srgbClr val="FEF9E7"/>
          </a:solidFill>
          <a:ln/>
        </p:spPr>
        <p:txBody>
          <a:bodyPr wrap="square" rtlCol="0" anchor="ctr"/>
          <a:lstStyle/>
          <a:p>
            <a:pPr marL="0" indent="0">
              <a:buNone/>
            </a:pPr>
            <a:endParaRPr lang="en-US" dirty="0"/>
          </a:p>
        </p:txBody>
      </p:sp>
      <p:sp>
        <p:nvSpPr>
          <p:cNvPr id="8" name="Shape 6"/>
          <p:cNvSpPr/>
          <p:nvPr/>
        </p:nvSpPr>
        <p:spPr>
          <a:xfrm>
            <a:off x="3244900" y="819150"/>
            <a:ext cx="0" cy="960090"/>
          </a:xfrm>
          <a:prstGeom prst="line">
            <a:avLst/>
          </a:prstGeom>
          <a:noFill/>
          <a:ln w="38100">
            <a:solidFill>
              <a:srgbClr val="F39C12"/>
            </a:solidFill>
            <a:prstDash val="solid"/>
          </a:ln>
        </p:spPr>
        <p:txBody>
          <a:bodyPr/>
          <a:lstStyle/>
          <a:p>
            <a:endParaRPr lang="en-US"/>
          </a:p>
        </p:txBody>
      </p:sp>
      <p:sp>
        <p:nvSpPr>
          <p:cNvPr id="9" name="Text 7"/>
          <p:cNvSpPr/>
          <p:nvPr/>
        </p:nvSpPr>
        <p:spPr>
          <a:xfrm>
            <a:off x="3397300" y="990600"/>
            <a:ext cx="2435403"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Transfer Learning</a:t>
            </a:r>
            <a:endParaRPr lang="en-US" sz="900" dirty="0"/>
          </a:p>
        </p:txBody>
      </p:sp>
      <p:sp>
        <p:nvSpPr>
          <p:cNvPr id="10" name="Text 8"/>
          <p:cNvSpPr/>
          <p:nvPr/>
        </p:nvSpPr>
        <p:spPr>
          <a:xfrm>
            <a:off x="3397300" y="1207740"/>
            <a:ext cx="2435403" cy="4000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Extended cross-lingual transfer concepts to code-mixed text. Explored how models transfer summarization ability across language boundaries.</a:t>
            </a:r>
            <a:endParaRPr lang="en-US" sz="750" dirty="0"/>
          </a:p>
        </p:txBody>
      </p:sp>
      <p:sp>
        <p:nvSpPr>
          <p:cNvPr id="11" name="Text 9"/>
          <p:cNvSpPr/>
          <p:nvPr/>
        </p:nvSpPr>
        <p:spPr>
          <a:xfrm>
            <a:off x="6070699" y="819150"/>
            <a:ext cx="2692450" cy="960090"/>
          </a:xfrm>
          <a:prstGeom prst="roundRect">
            <a:avLst>
              <a:gd name="adj" fmla="val 7937"/>
            </a:avLst>
          </a:prstGeom>
          <a:solidFill>
            <a:srgbClr val="FADBD8"/>
          </a:solidFill>
          <a:ln/>
        </p:spPr>
        <p:txBody>
          <a:bodyPr wrap="square" rtlCol="0" anchor="ctr"/>
          <a:lstStyle/>
          <a:p>
            <a:pPr marL="0" indent="0">
              <a:buNone/>
            </a:pPr>
            <a:endParaRPr lang="en-US" dirty="0"/>
          </a:p>
        </p:txBody>
      </p:sp>
      <p:sp>
        <p:nvSpPr>
          <p:cNvPr id="12" name="Shape 10"/>
          <p:cNvSpPr/>
          <p:nvPr/>
        </p:nvSpPr>
        <p:spPr>
          <a:xfrm>
            <a:off x="6089749" y="819150"/>
            <a:ext cx="0" cy="960090"/>
          </a:xfrm>
          <a:prstGeom prst="line">
            <a:avLst/>
          </a:prstGeom>
          <a:noFill/>
          <a:ln w="38100">
            <a:solidFill>
              <a:srgbClr val="E74C3C"/>
            </a:solidFill>
            <a:prstDash val="solid"/>
          </a:ln>
        </p:spPr>
        <p:txBody>
          <a:bodyPr/>
          <a:lstStyle/>
          <a:p>
            <a:endParaRPr lang="en-US"/>
          </a:p>
        </p:txBody>
      </p:sp>
      <p:sp>
        <p:nvSpPr>
          <p:cNvPr id="13" name="Text 11"/>
          <p:cNvSpPr/>
          <p:nvPr/>
        </p:nvSpPr>
        <p:spPr>
          <a:xfrm>
            <a:off x="6242149" y="990600"/>
            <a:ext cx="2435403"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Large Language Models</a:t>
            </a:r>
            <a:endParaRPr lang="en-US" sz="900" dirty="0"/>
          </a:p>
        </p:txBody>
      </p:sp>
      <p:sp>
        <p:nvSpPr>
          <p:cNvPr id="14" name="Text 12"/>
          <p:cNvSpPr/>
          <p:nvPr/>
        </p:nvSpPr>
        <p:spPr>
          <a:xfrm>
            <a:off x="6242149" y="1207740"/>
            <a:ext cx="2435403" cy="26670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Fine-tuned Llama 3.1/3.2 with LoRA. Connected to CoT paper on reasoning across languages.</a:t>
            </a:r>
            <a:endParaRPr lang="en-US" sz="750" dirty="0"/>
          </a:p>
        </p:txBody>
      </p:sp>
      <p:sp>
        <p:nvSpPr>
          <p:cNvPr id="15" name="Text 13"/>
          <p:cNvSpPr/>
          <p:nvPr/>
        </p:nvSpPr>
        <p:spPr>
          <a:xfrm>
            <a:off x="381000" y="1912590"/>
            <a:ext cx="8382000" cy="893415"/>
          </a:xfrm>
          <a:prstGeom prst="roundRect">
            <a:avLst>
              <a:gd name="adj" fmla="val 8529"/>
            </a:avLst>
          </a:prstGeom>
          <a:solidFill>
            <a:srgbClr val="1A5276"/>
          </a:solidFill>
          <a:ln/>
        </p:spPr>
        <p:txBody>
          <a:bodyPr wrap="square" rtlCol="0" anchor="ctr"/>
          <a:lstStyle/>
          <a:p>
            <a:pPr marL="0" indent="0">
              <a:buNone/>
            </a:pPr>
            <a:endParaRPr lang="en-US" dirty="0"/>
          </a:p>
        </p:txBody>
      </p:sp>
      <p:sp>
        <p:nvSpPr>
          <p:cNvPr id="16" name="Text 14"/>
          <p:cNvSpPr/>
          <p:nvPr/>
        </p:nvSpPr>
        <p:spPr>
          <a:xfrm>
            <a:off x="514350" y="2084040"/>
            <a:ext cx="8277606"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FFFFFF"/>
                </a:solidFill>
                <a:latin typeface="Arial" pitchFamily="34" charset="0"/>
                <a:ea typeface="Arial" pitchFamily="34" charset="-122"/>
                <a:cs typeface="Arial" pitchFamily="34" charset="-120"/>
              </a:rPr>
              <a:t>What I Learned Beyond the Course</a:t>
            </a:r>
            <a:endParaRPr lang="en-US" sz="900" dirty="0"/>
          </a:p>
        </p:txBody>
      </p:sp>
      <p:sp>
        <p:nvSpPr>
          <p:cNvPr id="17" name="Text 15"/>
          <p:cNvSpPr/>
          <p:nvPr/>
        </p:nvSpPr>
        <p:spPr>
          <a:xfrm>
            <a:off x="514350" y="2320230"/>
            <a:ext cx="8277606" cy="314325"/>
          </a:xfrm>
          <a:prstGeom prst="rect">
            <a:avLst/>
          </a:prstGeom>
          <a:noFill/>
          <a:ln/>
        </p:spPr>
        <p:txBody>
          <a:bodyPr wrap="square" lIns="0" tIns="0" rIns="0" bIns="0" rtlCol="0" anchor="t"/>
          <a:lstStyle/>
          <a:p>
            <a:pPr marL="0" indent="0" algn="l">
              <a:lnSpc>
                <a:spcPts val="1238"/>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Parameter-efficient fine-tuning (LoRA/QLoRA), multilingual tokenization challenges, evaluation metrics for generation (ROUGE, BERTScore), and the surprising finding that decoder-only models can outperform encoder-decoder models on cross-lingual transfer.</a:t>
            </a:r>
            <a:endParaRPr lang="en-US" sz="825" dirty="0"/>
          </a:p>
        </p:txBody>
      </p:sp>
      <p:sp>
        <p:nvSpPr>
          <p:cNvPr id="18" name="Text 16"/>
          <p:cNvSpPr/>
          <p:nvPr/>
        </p:nvSpPr>
        <p:spPr>
          <a:xfrm>
            <a:off x="381000" y="2954345"/>
            <a:ext cx="8382000" cy="826740"/>
          </a:xfrm>
          <a:prstGeom prst="roundRect">
            <a:avLst>
              <a:gd name="adj" fmla="val 9217"/>
            </a:avLst>
          </a:prstGeom>
          <a:solidFill>
            <a:srgbClr val="F8F9FA"/>
          </a:solidFill>
          <a:ln/>
        </p:spPr>
        <p:txBody>
          <a:bodyPr wrap="square" rtlCol="0" anchor="ctr"/>
          <a:lstStyle/>
          <a:p>
            <a:pPr marL="0" indent="0">
              <a:buNone/>
            </a:pPr>
            <a:endParaRPr lang="en-US" dirty="0"/>
          </a:p>
        </p:txBody>
      </p:sp>
      <p:sp>
        <p:nvSpPr>
          <p:cNvPr id="19" name="Text 17"/>
          <p:cNvSpPr/>
          <p:nvPr/>
        </p:nvSpPr>
        <p:spPr>
          <a:xfrm>
            <a:off x="514350" y="3110805"/>
            <a:ext cx="8277606"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Reference: Long-Chain-of-Thought Reasoning Across Languages</a:t>
            </a:r>
            <a:endParaRPr lang="en-US" sz="900" dirty="0"/>
          </a:p>
        </p:txBody>
      </p:sp>
      <p:sp>
        <p:nvSpPr>
          <p:cNvPr id="20" name="Text 18"/>
          <p:cNvSpPr/>
          <p:nvPr/>
        </p:nvSpPr>
        <p:spPr>
          <a:xfrm>
            <a:off x="514350" y="3327946"/>
            <a:ext cx="8277606" cy="26670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Our findings align with this paper showing LLMs can transfer reasoning across languages. Our 103-147% transfer rates suggest models learn language-agnostic summarization patterns, similar to how CoT reasoning transfers cross-lingually.</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483608"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Evaluation Metrics Explained</a:t>
            </a:r>
            <a:endParaRPr lang="en-US" sz="2250" dirty="0"/>
          </a:p>
        </p:txBody>
      </p:sp>
      <p:sp>
        <p:nvSpPr>
          <p:cNvPr id="3" name="Text 1"/>
          <p:cNvSpPr/>
          <p:nvPr/>
        </p:nvSpPr>
        <p:spPr>
          <a:xfrm>
            <a:off x="381000" y="819150"/>
            <a:ext cx="4114800" cy="1259086"/>
          </a:xfrm>
          <a:prstGeom prst="roundRect">
            <a:avLst>
              <a:gd name="adj" fmla="val 6052"/>
            </a:avLst>
          </a:prstGeom>
          <a:solidFill>
            <a:srgbClr val="F8F9FA"/>
          </a:solidFill>
          <a:ln/>
        </p:spPr>
        <p:txBody>
          <a:bodyPr wrap="square" rtlCol="0" anchor="ctr"/>
          <a:lstStyle/>
          <a:p>
            <a:pPr marL="0" indent="0">
              <a:buNone/>
            </a:pPr>
            <a:endParaRPr lang="en-US" dirty="0"/>
          </a:p>
        </p:txBody>
      </p:sp>
      <p:sp>
        <p:nvSpPr>
          <p:cNvPr id="4" name="Shape 2"/>
          <p:cNvSpPr/>
          <p:nvPr/>
        </p:nvSpPr>
        <p:spPr>
          <a:xfrm>
            <a:off x="400050" y="819150"/>
            <a:ext cx="0" cy="1259086"/>
          </a:xfrm>
          <a:prstGeom prst="line">
            <a:avLst/>
          </a:prstGeom>
          <a:noFill/>
          <a:ln w="38100">
            <a:solidFill>
              <a:srgbClr val="4ECDC4"/>
            </a:solidFill>
            <a:prstDash val="solid"/>
          </a:ln>
        </p:spPr>
        <p:txBody>
          <a:bodyPr/>
          <a:lstStyle/>
          <a:p>
            <a:endParaRPr lang="en-US"/>
          </a:p>
        </p:txBody>
      </p:sp>
      <p:sp>
        <p:nvSpPr>
          <p:cNvPr id="5" name="Text 3"/>
          <p:cNvSpPr/>
          <p:nvPr/>
        </p:nvSpPr>
        <p:spPr>
          <a:xfrm>
            <a:off x="552450" y="990600"/>
            <a:ext cx="3886200"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1A5276"/>
                </a:solidFill>
                <a:latin typeface="Arial" pitchFamily="34" charset="0"/>
                <a:ea typeface="Arial" pitchFamily="34" charset="-122"/>
                <a:cs typeface="Arial" pitchFamily="34" charset="-120"/>
              </a:rPr>
              <a:t>ROUGE-L (Primary Metric)</a:t>
            </a:r>
            <a:endParaRPr lang="en-US" sz="975" dirty="0"/>
          </a:p>
        </p:txBody>
      </p:sp>
      <p:sp>
        <p:nvSpPr>
          <p:cNvPr id="6" name="Text 4"/>
          <p:cNvSpPr/>
          <p:nvPr/>
        </p:nvSpPr>
        <p:spPr>
          <a:xfrm>
            <a:off x="552450" y="1240036"/>
            <a:ext cx="3886200" cy="133350"/>
          </a:xfrm>
          <a:prstGeom prst="rect">
            <a:avLst/>
          </a:prstGeom>
          <a:noFill/>
          <a:ln/>
        </p:spPr>
        <p:txBody>
          <a:bodyPr wrap="square" lIns="0" tIns="0" rIns="0" bIns="0" rtlCol="0" anchor="t"/>
          <a:lstStyle/>
          <a:p>
            <a:pPr marL="0" indent="0" algn="l">
              <a:lnSpc>
                <a:spcPts val="1050"/>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Measures longest common subsequence between generated and reference summary.</a:t>
            </a:r>
            <a:endParaRPr lang="en-US" sz="750" dirty="0"/>
          </a:p>
        </p:txBody>
      </p:sp>
      <p:sp>
        <p:nvSpPr>
          <p:cNvPr id="7" name="Text 5"/>
          <p:cNvSpPr/>
          <p:nvPr/>
        </p:nvSpPr>
        <p:spPr>
          <a:xfrm>
            <a:off x="552450" y="1430536"/>
            <a:ext cx="3886200"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2C3E50"/>
                </a:solidFill>
                <a:latin typeface="Arial" pitchFamily="34" charset="0"/>
                <a:ea typeface="Arial" pitchFamily="34" charset="-122"/>
                <a:cs typeface="Arial" pitchFamily="34" charset="-120"/>
              </a:rPr>
              <a:t>Example:</a:t>
            </a:r>
            <a:r>
              <a:rPr lang="en-US" sz="750" dirty="0">
                <a:solidFill>
                  <a:srgbClr val="2C3E50"/>
                </a:solidFill>
                <a:latin typeface="Arial" pitchFamily="34" charset="0"/>
                <a:ea typeface="Arial" pitchFamily="34" charset="-122"/>
                <a:cs typeface="Arial" pitchFamily="34" charset="-120"/>
              </a:rPr>
              <a:t> Generated: "They plan to meet at 5pm"</a:t>
            </a:r>
            <a:endParaRPr lang="en-US" sz="750" dirty="0"/>
          </a:p>
        </p:txBody>
      </p:sp>
      <p:sp>
        <p:nvSpPr>
          <p:cNvPr id="8" name="Text 6"/>
          <p:cNvSpPr/>
          <p:nvPr/>
        </p:nvSpPr>
        <p:spPr>
          <a:xfrm>
            <a:off x="552450" y="1601986"/>
            <a:ext cx="3886200"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2C3E50"/>
                </a:solidFill>
                <a:latin typeface="Arial" pitchFamily="34" charset="0"/>
                <a:ea typeface="Arial" pitchFamily="34" charset="-122"/>
                <a:cs typeface="Arial" pitchFamily="34" charset="-120"/>
              </a:rPr>
              <a:t>Reference: "They will meet at 5pm for tea"</a:t>
            </a:r>
            <a:endParaRPr lang="en-US" sz="750" dirty="0"/>
          </a:p>
        </p:txBody>
      </p:sp>
      <p:sp>
        <p:nvSpPr>
          <p:cNvPr id="9" name="Text 7"/>
          <p:cNvSpPr/>
          <p:nvPr/>
        </p:nvSpPr>
        <p:spPr>
          <a:xfrm>
            <a:off x="552450" y="1773436"/>
            <a:ext cx="3886200"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27AE60"/>
                </a:solidFill>
                <a:latin typeface="Arial" pitchFamily="34" charset="0"/>
                <a:ea typeface="Arial" pitchFamily="34" charset="-122"/>
                <a:cs typeface="Arial" pitchFamily="34" charset="-120"/>
              </a:rPr>
              <a:t>LCS:</a:t>
            </a:r>
            <a:r>
              <a:rPr lang="en-US" sz="750" dirty="0">
                <a:solidFill>
                  <a:srgbClr val="27AE60"/>
                </a:solidFill>
                <a:latin typeface="Arial" pitchFamily="34" charset="0"/>
                <a:ea typeface="Arial" pitchFamily="34" charset="-122"/>
                <a:cs typeface="Arial" pitchFamily="34" charset="-120"/>
              </a:rPr>
              <a:t> "They" + "meet at 5pm" = high overlap</a:t>
            </a:r>
            <a:endParaRPr lang="en-US" sz="750" dirty="0"/>
          </a:p>
        </p:txBody>
      </p:sp>
      <p:sp>
        <p:nvSpPr>
          <p:cNvPr id="10" name="Text 8"/>
          <p:cNvSpPr/>
          <p:nvPr/>
        </p:nvSpPr>
        <p:spPr>
          <a:xfrm>
            <a:off x="4648200" y="819150"/>
            <a:ext cx="4114800" cy="1259086"/>
          </a:xfrm>
          <a:prstGeom prst="roundRect">
            <a:avLst>
              <a:gd name="adj" fmla="val 6052"/>
            </a:avLst>
          </a:prstGeom>
          <a:solidFill>
            <a:srgbClr val="F8F9FA"/>
          </a:solidFill>
          <a:ln/>
        </p:spPr>
        <p:txBody>
          <a:bodyPr wrap="square" rtlCol="0" anchor="ctr"/>
          <a:lstStyle/>
          <a:p>
            <a:pPr marL="0" indent="0">
              <a:buNone/>
            </a:pPr>
            <a:endParaRPr lang="en-US" dirty="0"/>
          </a:p>
        </p:txBody>
      </p:sp>
      <p:sp>
        <p:nvSpPr>
          <p:cNvPr id="11" name="Shape 9"/>
          <p:cNvSpPr/>
          <p:nvPr/>
        </p:nvSpPr>
        <p:spPr>
          <a:xfrm>
            <a:off x="4667250" y="819150"/>
            <a:ext cx="0" cy="1259086"/>
          </a:xfrm>
          <a:prstGeom prst="line">
            <a:avLst/>
          </a:prstGeom>
          <a:noFill/>
          <a:ln w="38100">
            <a:solidFill>
              <a:srgbClr val="E74C3C"/>
            </a:solidFill>
            <a:prstDash val="solid"/>
          </a:ln>
        </p:spPr>
        <p:txBody>
          <a:bodyPr/>
          <a:lstStyle/>
          <a:p>
            <a:endParaRPr lang="en-US"/>
          </a:p>
        </p:txBody>
      </p:sp>
      <p:sp>
        <p:nvSpPr>
          <p:cNvPr id="12" name="Text 10"/>
          <p:cNvSpPr/>
          <p:nvPr/>
        </p:nvSpPr>
        <p:spPr>
          <a:xfrm>
            <a:off x="4819650" y="990600"/>
            <a:ext cx="3886200"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1A5276"/>
                </a:solidFill>
                <a:latin typeface="Arial" pitchFamily="34" charset="0"/>
                <a:ea typeface="Arial" pitchFamily="34" charset="-122"/>
                <a:cs typeface="Arial" pitchFamily="34" charset="-120"/>
              </a:rPr>
              <a:t>BERTScore (Semantic)</a:t>
            </a:r>
            <a:endParaRPr lang="en-US" sz="975" dirty="0"/>
          </a:p>
        </p:txBody>
      </p:sp>
      <p:sp>
        <p:nvSpPr>
          <p:cNvPr id="13" name="Text 11"/>
          <p:cNvSpPr/>
          <p:nvPr/>
        </p:nvSpPr>
        <p:spPr>
          <a:xfrm>
            <a:off x="4819650" y="1240036"/>
            <a:ext cx="3886200" cy="133350"/>
          </a:xfrm>
          <a:prstGeom prst="rect">
            <a:avLst/>
          </a:prstGeom>
          <a:noFill/>
          <a:ln/>
        </p:spPr>
        <p:txBody>
          <a:bodyPr wrap="square" lIns="0" tIns="0" rIns="0" bIns="0" rtlCol="0" anchor="t"/>
          <a:lstStyle/>
          <a:p>
            <a:pPr marL="0" indent="0" algn="l">
              <a:lnSpc>
                <a:spcPts val="1050"/>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Uses BERT embeddings to measure semantic similarity, not just word overlap.</a:t>
            </a:r>
            <a:endParaRPr lang="en-US" sz="750" dirty="0"/>
          </a:p>
        </p:txBody>
      </p:sp>
      <p:sp>
        <p:nvSpPr>
          <p:cNvPr id="14" name="Text 12"/>
          <p:cNvSpPr/>
          <p:nvPr/>
        </p:nvSpPr>
        <p:spPr>
          <a:xfrm>
            <a:off x="4819650" y="1430536"/>
            <a:ext cx="3886200"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2C3E50"/>
                </a:solidFill>
                <a:latin typeface="Arial" pitchFamily="34" charset="0"/>
                <a:ea typeface="Arial" pitchFamily="34" charset="-122"/>
                <a:cs typeface="Arial" pitchFamily="34" charset="-120"/>
              </a:rPr>
              <a:t>Example:</a:t>
            </a:r>
            <a:r>
              <a:rPr lang="en-US" sz="750" dirty="0">
                <a:solidFill>
                  <a:srgbClr val="2C3E50"/>
                </a:solidFill>
                <a:latin typeface="Arial" pitchFamily="34" charset="0"/>
                <a:ea typeface="Arial" pitchFamily="34" charset="-122"/>
                <a:cs typeface="Arial" pitchFamily="34" charset="-120"/>
              </a:rPr>
              <a:t> Generated: "meeting was boring"</a:t>
            </a:r>
            <a:endParaRPr lang="en-US" sz="750" dirty="0"/>
          </a:p>
        </p:txBody>
      </p:sp>
      <p:sp>
        <p:nvSpPr>
          <p:cNvPr id="15" name="Text 13"/>
          <p:cNvSpPr/>
          <p:nvPr/>
        </p:nvSpPr>
        <p:spPr>
          <a:xfrm>
            <a:off x="4819650" y="1601986"/>
            <a:ext cx="3886200"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2C3E50"/>
                </a:solidFill>
                <a:latin typeface="Arial" pitchFamily="34" charset="0"/>
                <a:ea typeface="Arial" pitchFamily="34" charset="-122"/>
                <a:cs typeface="Arial" pitchFamily="34" charset="-120"/>
              </a:rPr>
              <a:t>Reference: "conference was unproductive"</a:t>
            </a:r>
            <a:endParaRPr lang="en-US" sz="750" dirty="0"/>
          </a:p>
        </p:txBody>
      </p:sp>
      <p:sp>
        <p:nvSpPr>
          <p:cNvPr id="16" name="Text 14"/>
          <p:cNvSpPr/>
          <p:nvPr/>
        </p:nvSpPr>
        <p:spPr>
          <a:xfrm>
            <a:off x="4819650" y="1773436"/>
            <a:ext cx="3886200"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27AE60"/>
                </a:solidFill>
                <a:latin typeface="Arial" pitchFamily="34" charset="0"/>
                <a:ea typeface="Arial" pitchFamily="34" charset="-122"/>
                <a:cs typeface="Arial" pitchFamily="34" charset="-120"/>
              </a:rPr>
              <a:t>Result:</a:t>
            </a:r>
            <a:r>
              <a:rPr lang="en-US" sz="750" dirty="0">
                <a:solidFill>
                  <a:srgbClr val="27AE60"/>
                </a:solidFill>
                <a:latin typeface="Arial" pitchFamily="34" charset="0"/>
                <a:ea typeface="Arial" pitchFamily="34" charset="-122"/>
                <a:cs typeface="Arial" pitchFamily="34" charset="-120"/>
              </a:rPr>
              <a:t> High score (semantically similar)</a:t>
            </a:r>
            <a:endParaRPr lang="en-US" sz="750" dirty="0"/>
          </a:p>
        </p:txBody>
      </p:sp>
      <p:sp>
        <p:nvSpPr>
          <p:cNvPr id="17" name="Text 15"/>
          <p:cNvSpPr/>
          <p:nvPr/>
        </p:nvSpPr>
        <p:spPr>
          <a:xfrm>
            <a:off x="381000" y="2211586"/>
            <a:ext cx="8382000" cy="926753"/>
          </a:xfrm>
          <a:prstGeom prst="roundRect">
            <a:avLst>
              <a:gd name="adj" fmla="val 8222"/>
            </a:avLst>
          </a:prstGeom>
          <a:solidFill>
            <a:srgbClr val="1A5276"/>
          </a:solidFill>
          <a:ln/>
        </p:spPr>
        <p:txBody>
          <a:bodyPr wrap="square" rtlCol="0" anchor="ctr"/>
          <a:lstStyle/>
          <a:p>
            <a:pPr marL="0" indent="0">
              <a:buNone/>
            </a:pPr>
            <a:endParaRPr lang="en-US" dirty="0"/>
          </a:p>
        </p:txBody>
      </p:sp>
      <p:sp>
        <p:nvSpPr>
          <p:cNvPr id="18" name="Text 16"/>
          <p:cNvSpPr/>
          <p:nvPr/>
        </p:nvSpPr>
        <p:spPr>
          <a:xfrm>
            <a:off x="514350" y="2383036"/>
            <a:ext cx="8277606"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FFFFFF"/>
                </a:solidFill>
                <a:latin typeface="Arial" pitchFamily="34" charset="0"/>
                <a:ea typeface="Arial" pitchFamily="34" charset="-122"/>
                <a:cs typeface="Arial" pitchFamily="34" charset="-120"/>
              </a:rPr>
              <a:t>Transfer Rate (Our Key Metric)</a:t>
            </a:r>
            <a:endParaRPr lang="en-US" sz="900" dirty="0"/>
          </a:p>
        </p:txBody>
      </p:sp>
      <p:sp>
        <p:nvSpPr>
          <p:cNvPr id="19" name="Text 17"/>
          <p:cNvSpPr/>
          <p:nvPr/>
        </p:nvSpPr>
        <p:spPr>
          <a:xfrm>
            <a:off x="514350" y="2619226"/>
            <a:ext cx="8277606" cy="157163"/>
          </a:xfrm>
          <a:prstGeom prst="rect">
            <a:avLst/>
          </a:prstGeom>
          <a:noFill/>
          <a:ln/>
        </p:spPr>
        <p:txBody>
          <a:bodyPr wrap="square" lIns="0" tIns="0" rIns="0" bIns="0" rtlCol="0" anchor="t"/>
          <a:lstStyle/>
          <a:p>
            <a:pPr marL="0" indent="0" algn="l">
              <a:lnSpc>
                <a:spcPts val="1238"/>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Transfer Rate = (Zero-Shot Performance / In-Domain Performance) x 100%</a:t>
            </a:r>
            <a:endParaRPr lang="en-US" sz="825" dirty="0"/>
          </a:p>
        </p:txBody>
      </p:sp>
      <p:sp>
        <p:nvSpPr>
          <p:cNvPr id="20" name="Text 18"/>
          <p:cNvSpPr/>
          <p:nvPr/>
        </p:nvSpPr>
        <p:spPr>
          <a:xfrm>
            <a:off x="514350" y="2833539"/>
            <a:ext cx="8277606" cy="133350"/>
          </a:xfrm>
          <a:prstGeom prst="rect">
            <a:avLst/>
          </a:prstGeom>
          <a:noFill/>
          <a:ln/>
        </p:spPr>
        <p:txBody>
          <a:bodyPr wrap="square" lIns="0" tIns="0" rIns="0" bIns="0" rtlCol="0" anchor="t"/>
          <a:lstStyle/>
          <a:p>
            <a:pPr marL="0" indent="0" algn="l">
              <a:lnSpc>
                <a:spcPts val="1050"/>
              </a:lnSpc>
              <a:spcBef>
                <a:spcPts val="450"/>
              </a:spcBef>
              <a:spcAft>
                <a:spcPts val="300"/>
              </a:spcAft>
              <a:buNone/>
            </a:pPr>
            <a:r>
              <a:rPr lang="en-US" sz="750" dirty="0">
                <a:solidFill>
                  <a:srgbClr val="FFFFFF"/>
                </a:solidFill>
                <a:latin typeface="Arial" pitchFamily="34" charset="0"/>
                <a:ea typeface="Arial" pitchFamily="34" charset="-122"/>
                <a:cs typeface="Arial" pitchFamily="34" charset="-120"/>
              </a:rPr>
              <a:t>100% = model performs equally well on unseen languages. Over 100% = model performs BETTER on unseen languages (surprising!)</a:t>
            </a:r>
            <a:endParaRPr lang="en-US" sz="750" dirty="0"/>
          </a:p>
        </p:txBody>
      </p:sp>
      <p:sp>
        <p:nvSpPr>
          <p:cNvPr id="21" name="Text 19"/>
          <p:cNvSpPr/>
          <p:nvPr/>
        </p:nvSpPr>
        <p:spPr>
          <a:xfrm>
            <a:off x="381000" y="3271689"/>
            <a:ext cx="2692450" cy="704850"/>
          </a:xfrm>
          <a:prstGeom prst="roundRect">
            <a:avLst>
              <a:gd name="adj" fmla="val 10811"/>
            </a:avLst>
          </a:prstGeom>
          <a:solidFill>
            <a:srgbClr val="D5F5E3"/>
          </a:solidFill>
          <a:ln/>
        </p:spPr>
        <p:txBody>
          <a:bodyPr wrap="square" rtlCol="0" anchor="ctr"/>
          <a:lstStyle/>
          <a:p>
            <a:pPr marL="0" indent="0">
              <a:buNone/>
            </a:pPr>
            <a:endParaRPr lang="en-US" dirty="0"/>
          </a:p>
        </p:txBody>
      </p:sp>
      <p:sp>
        <p:nvSpPr>
          <p:cNvPr id="22" name="Text 20"/>
          <p:cNvSpPr/>
          <p:nvPr/>
        </p:nvSpPr>
        <p:spPr>
          <a:xfrm>
            <a:off x="470662" y="3385989"/>
            <a:ext cx="2513127" cy="266700"/>
          </a:xfrm>
          <a:prstGeom prst="rect">
            <a:avLst/>
          </a:prstGeom>
          <a:noFill/>
          <a:ln/>
        </p:spPr>
        <p:txBody>
          <a:bodyPr wrap="square" lIns="0" tIns="0" rIns="0" bIns="0" rtlCol="0" anchor="t"/>
          <a:lstStyle/>
          <a:p>
            <a:pPr marL="0" indent="0" algn="ctr">
              <a:lnSpc>
                <a:spcPts val="2100"/>
              </a:lnSpc>
              <a:buNone/>
            </a:pPr>
            <a:r>
              <a:rPr lang="en-US" sz="1500" b="1" dirty="0">
                <a:solidFill>
                  <a:srgbClr val="27AE60"/>
                </a:solidFill>
                <a:latin typeface="Arial" pitchFamily="34" charset="0"/>
                <a:ea typeface="Arial" pitchFamily="34" charset="-122"/>
                <a:cs typeface="Arial" pitchFamily="34" charset="-120"/>
              </a:rPr>
              <a:t>0.35+</a:t>
            </a:r>
            <a:endParaRPr lang="en-US" sz="1500" dirty="0"/>
          </a:p>
        </p:txBody>
      </p:sp>
      <p:sp>
        <p:nvSpPr>
          <p:cNvPr id="23" name="Text 21"/>
          <p:cNvSpPr/>
          <p:nvPr/>
        </p:nvSpPr>
        <p:spPr>
          <a:xfrm>
            <a:off x="470662" y="3690789"/>
            <a:ext cx="2513127"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Good ROUGE-L</a:t>
            </a:r>
            <a:endParaRPr lang="en-US" sz="750" dirty="0"/>
          </a:p>
        </p:txBody>
      </p:sp>
      <p:sp>
        <p:nvSpPr>
          <p:cNvPr id="24" name="Text 22"/>
          <p:cNvSpPr/>
          <p:nvPr/>
        </p:nvSpPr>
        <p:spPr>
          <a:xfrm>
            <a:off x="3225850" y="3271689"/>
            <a:ext cx="2692450" cy="704850"/>
          </a:xfrm>
          <a:prstGeom prst="roundRect">
            <a:avLst>
              <a:gd name="adj" fmla="val 10811"/>
            </a:avLst>
          </a:prstGeom>
          <a:solidFill>
            <a:srgbClr val="FEF9E7"/>
          </a:solidFill>
          <a:ln/>
        </p:spPr>
        <p:txBody>
          <a:bodyPr wrap="square" rtlCol="0" anchor="ctr"/>
          <a:lstStyle/>
          <a:p>
            <a:pPr marL="0" indent="0">
              <a:buNone/>
            </a:pPr>
            <a:endParaRPr lang="en-US" dirty="0"/>
          </a:p>
        </p:txBody>
      </p:sp>
      <p:sp>
        <p:nvSpPr>
          <p:cNvPr id="25" name="Text 23"/>
          <p:cNvSpPr/>
          <p:nvPr/>
        </p:nvSpPr>
        <p:spPr>
          <a:xfrm>
            <a:off x="3315511" y="3385989"/>
            <a:ext cx="2513127" cy="266700"/>
          </a:xfrm>
          <a:prstGeom prst="rect">
            <a:avLst/>
          </a:prstGeom>
          <a:noFill/>
          <a:ln/>
        </p:spPr>
        <p:txBody>
          <a:bodyPr wrap="square" lIns="0" tIns="0" rIns="0" bIns="0" rtlCol="0" anchor="t"/>
          <a:lstStyle/>
          <a:p>
            <a:pPr marL="0" indent="0" algn="ctr">
              <a:lnSpc>
                <a:spcPts val="2100"/>
              </a:lnSpc>
              <a:buNone/>
            </a:pPr>
            <a:r>
              <a:rPr lang="en-US" sz="1500" b="1" dirty="0">
                <a:solidFill>
                  <a:srgbClr val="F39C12"/>
                </a:solidFill>
                <a:latin typeface="Arial" pitchFamily="34" charset="0"/>
                <a:ea typeface="Arial" pitchFamily="34" charset="-122"/>
                <a:cs typeface="Arial" pitchFamily="34" charset="-120"/>
              </a:rPr>
              <a:t>0.65+</a:t>
            </a:r>
            <a:endParaRPr lang="en-US" sz="1500" dirty="0"/>
          </a:p>
        </p:txBody>
      </p:sp>
      <p:sp>
        <p:nvSpPr>
          <p:cNvPr id="26" name="Text 24"/>
          <p:cNvSpPr/>
          <p:nvPr/>
        </p:nvSpPr>
        <p:spPr>
          <a:xfrm>
            <a:off x="3315511" y="3690789"/>
            <a:ext cx="2513127"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Good BERTScore</a:t>
            </a:r>
            <a:endParaRPr lang="en-US" sz="750" dirty="0"/>
          </a:p>
        </p:txBody>
      </p:sp>
      <p:sp>
        <p:nvSpPr>
          <p:cNvPr id="27" name="Text 25"/>
          <p:cNvSpPr/>
          <p:nvPr/>
        </p:nvSpPr>
        <p:spPr>
          <a:xfrm>
            <a:off x="6070699" y="3271689"/>
            <a:ext cx="2692450" cy="704850"/>
          </a:xfrm>
          <a:prstGeom prst="roundRect">
            <a:avLst>
              <a:gd name="adj" fmla="val 10811"/>
            </a:avLst>
          </a:prstGeom>
          <a:solidFill>
            <a:srgbClr val="FADBD8"/>
          </a:solidFill>
          <a:ln/>
        </p:spPr>
        <p:txBody>
          <a:bodyPr wrap="square" rtlCol="0" anchor="ctr"/>
          <a:lstStyle/>
          <a:p>
            <a:pPr marL="0" indent="0">
              <a:buNone/>
            </a:pPr>
            <a:endParaRPr lang="en-US" dirty="0"/>
          </a:p>
        </p:txBody>
      </p:sp>
      <p:sp>
        <p:nvSpPr>
          <p:cNvPr id="28" name="Text 26"/>
          <p:cNvSpPr/>
          <p:nvPr/>
        </p:nvSpPr>
        <p:spPr>
          <a:xfrm>
            <a:off x="6160361" y="3385989"/>
            <a:ext cx="2513127" cy="266700"/>
          </a:xfrm>
          <a:prstGeom prst="rect">
            <a:avLst/>
          </a:prstGeom>
          <a:noFill/>
          <a:ln/>
        </p:spPr>
        <p:txBody>
          <a:bodyPr wrap="square" lIns="0" tIns="0" rIns="0" bIns="0" rtlCol="0" anchor="t"/>
          <a:lstStyle/>
          <a:p>
            <a:pPr marL="0" indent="0" algn="ctr">
              <a:lnSpc>
                <a:spcPts val="2100"/>
              </a:lnSpc>
              <a:buNone/>
            </a:pPr>
            <a:r>
              <a:rPr lang="en-US" sz="1500" b="1" dirty="0">
                <a:solidFill>
                  <a:srgbClr val="E74C3C"/>
                </a:solidFill>
                <a:latin typeface="Arial" pitchFamily="34" charset="0"/>
                <a:ea typeface="Arial" pitchFamily="34" charset="-122"/>
                <a:cs typeface="Arial" pitchFamily="34" charset="-120"/>
              </a:rPr>
              <a:t>100%+</a:t>
            </a:r>
            <a:endParaRPr lang="en-US" sz="1500" dirty="0"/>
          </a:p>
        </p:txBody>
      </p:sp>
      <p:sp>
        <p:nvSpPr>
          <p:cNvPr id="29" name="Text 27"/>
          <p:cNvSpPr/>
          <p:nvPr/>
        </p:nvSpPr>
        <p:spPr>
          <a:xfrm>
            <a:off x="6160361" y="3690789"/>
            <a:ext cx="2513127"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Target Transfer Rate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284536"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Baseline Performance</a:t>
            </a:r>
            <a:endParaRPr lang="en-US" sz="2250" dirty="0"/>
          </a:p>
        </p:txBody>
      </p:sp>
      <p:sp>
        <p:nvSpPr>
          <p:cNvPr id="3" name="Text 1"/>
          <p:cNvSpPr/>
          <p:nvPr/>
        </p:nvSpPr>
        <p:spPr>
          <a:xfrm>
            <a:off x="381000" y="819150"/>
            <a:ext cx="4114800" cy="1312218"/>
          </a:xfrm>
          <a:prstGeom prst="roundRect">
            <a:avLst>
              <a:gd name="adj" fmla="val 5807"/>
            </a:avLst>
          </a:prstGeom>
          <a:solidFill>
            <a:srgbClr val="FADBD8"/>
          </a:solidFill>
          <a:ln/>
        </p:spPr>
        <p:txBody>
          <a:bodyPr wrap="square" rtlCol="0" anchor="ctr"/>
          <a:lstStyle/>
          <a:p>
            <a:pPr marL="0" indent="0">
              <a:buNone/>
            </a:pPr>
            <a:endParaRPr lang="en-US" dirty="0"/>
          </a:p>
        </p:txBody>
      </p:sp>
      <p:sp>
        <p:nvSpPr>
          <p:cNvPr id="4" name="Shape 2"/>
          <p:cNvSpPr/>
          <p:nvPr/>
        </p:nvSpPr>
        <p:spPr>
          <a:xfrm>
            <a:off x="400050" y="819150"/>
            <a:ext cx="0" cy="1312218"/>
          </a:xfrm>
          <a:prstGeom prst="line">
            <a:avLst/>
          </a:prstGeom>
          <a:noFill/>
          <a:ln w="38100">
            <a:solidFill>
              <a:srgbClr val="E74C3C"/>
            </a:solidFill>
            <a:prstDash val="solid"/>
          </a:ln>
        </p:spPr>
        <p:txBody>
          <a:bodyPr/>
          <a:lstStyle/>
          <a:p>
            <a:endParaRPr lang="en-US"/>
          </a:p>
        </p:txBody>
      </p:sp>
      <p:sp>
        <p:nvSpPr>
          <p:cNvPr id="5" name="Text 3"/>
          <p:cNvSpPr/>
          <p:nvPr/>
        </p:nvSpPr>
        <p:spPr>
          <a:xfrm>
            <a:off x="552450" y="990600"/>
            <a:ext cx="3886200"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E74C3C"/>
                </a:solidFill>
                <a:latin typeface="Arial" pitchFamily="34" charset="0"/>
                <a:ea typeface="Arial" pitchFamily="34" charset="-122"/>
                <a:cs typeface="Arial" pitchFamily="34" charset="-120"/>
              </a:rPr>
              <a:t>Simple Baseline: Lead-3</a:t>
            </a:r>
            <a:endParaRPr lang="en-US" sz="975" dirty="0"/>
          </a:p>
        </p:txBody>
      </p:sp>
      <p:sp>
        <p:nvSpPr>
          <p:cNvPr id="6" name="Text 4"/>
          <p:cNvSpPr/>
          <p:nvPr/>
        </p:nvSpPr>
        <p:spPr>
          <a:xfrm>
            <a:off x="552450" y="1240036"/>
            <a:ext cx="3886200" cy="146596"/>
          </a:xfrm>
          <a:prstGeom prst="rect">
            <a:avLst/>
          </a:prstGeom>
          <a:noFill/>
          <a:ln/>
        </p:spPr>
        <p:txBody>
          <a:bodyPr wrap="square" lIns="0" tIns="0" rIns="0" bIns="0" rtlCol="0" anchor="t"/>
          <a:lstStyle/>
          <a:p>
            <a:pPr marL="0" indent="0" algn="l">
              <a:lnSpc>
                <a:spcPts val="1155"/>
              </a:lnSpc>
              <a:spcBef>
                <a:spcPts val="300"/>
              </a:spcBef>
              <a:spcAft>
                <a:spcPts val="600"/>
              </a:spcAft>
              <a:buNone/>
            </a:pPr>
            <a:r>
              <a:rPr lang="en-US" sz="825" dirty="0">
                <a:solidFill>
                  <a:srgbClr val="6C757D"/>
                </a:solidFill>
                <a:latin typeface="Arial" pitchFamily="34" charset="0"/>
                <a:ea typeface="Arial" pitchFamily="34" charset="-122"/>
                <a:cs typeface="Arial" pitchFamily="34" charset="-120"/>
              </a:rPr>
              <a:t>Takes the first 3 utterances of conversation as the summary. No learning involved.</a:t>
            </a:r>
            <a:endParaRPr lang="en-US" sz="825" dirty="0"/>
          </a:p>
        </p:txBody>
      </p:sp>
      <p:sp>
        <p:nvSpPr>
          <p:cNvPr id="7" name="Text 5"/>
          <p:cNvSpPr/>
          <p:nvPr/>
        </p:nvSpPr>
        <p:spPr>
          <a:xfrm>
            <a:off x="552450" y="1462832"/>
            <a:ext cx="3886200" cy="159990"/>
          </a:xfrm>
          <a:prstGeom prst="rect">
            <a:avLst/>
          </a:prstGeom>
          <a:noFill/>
          <a:ln/>
        </p:spPr>
        <p:txBody>
          <a:bodyPr wrap="square" lIns="0" tIns="0" rIns="0" bIns="0" rtlCol="0" anchor="t"/>
          <a:lstStyle/>
          <a:p>
            <a:pPr marL="0" indent="0" algn="l">
              <a:lnSpc>
                <a:spcPts val="1260"/>
              </a:lnSpc>
              <a:spcBef>
                <a:spcPts val="300"/>
              </a:spcBef>
              <a:spcAft>
                <a:spcPts val="300"/>
              </a:spcAft>
              <a:buNone/>
            </a:pPr>
            <a:r>
              <a:rPr lang="en-US" sz="900" b="1" dirty="0">
                <a:solidFill>
                  <a:srgbClr val="2C3E50"/>
                </a:solidFill>
                <a:latin typeface="Arial" pitchFamily="34" charset="0"/>
                <a:ea typeface="Arial" pitchFamily="34" charset="-122"/>
                <a:cs typeface="Arial" pitchFamily="34" charset="-120"/>
              </a:rPr>
              <a:t>ROUGE-L: ~0.15-0.20</a:t>
            </a:r>
            <a:endParaRPr lang="en-US" sz="900" dirty="0"/>
          </a:p>
        </p:txBody>
      </p:sp>
      <p:sp>
        <p:nvSpPr>
          <p:cNvPr id="8" name="Text 6"/>
          <p:cNvSpPr/>
          <p:nvPr/>
        </p:nvSpPr>
        <p:spPr>
          <a:xfrm>
            <a:off x="552450" y="1679972"/>
            <a:ext cx="3886200" cy="133350"/>
          </a:xfrm>
          <a:prstGeom prst="rect">
            <a:avLst/>
          </a:prstGeom>
          <a:noFill/>
          <a:ln/>
        </p:spPr>
        <p:txBody>
          <a:bodyPr wrap="square" lIns="0" tIns="0" rIns="0" bIns="0" rtlCol="0" anchor="t"/>
          <a:lstStyle/>
          <a:p>
            <a:pPr marL="0" indent="0" algn="l">
              <a:lnSpc>
                <a:spcPts val="1050"/>
              </a:lnSpc>
              <a:spcBef>
                <a:spcPts val="450"/>
              </a:spcBef>
              <a:spcAft>
                <a:spcPts val="300"/>
              </a:spcAft>
              <a:buNone/>
            </a:pPr>
            <a:r>
              <a:rPr lang="en-US" sz="750" dirty="0">
                <a:solidFill>
                  <a:srgbClr val="6C757D"/>
                </a:solidFill>
                <a:latin typeface="Arial" pitchFamily="34" charset="0"/>
                <a:ea typeface="Arial" pitchFamily="34" charset="-122"/>
                <a:cs typeface="Arial" pitchFamily="34" charset="-120"/>
              </a:rPr>
              <a:t>Very weak because conversations often start with greetings, not key information.</a:t>
            </a:r>
            <a:endParaRPr lang="en-US" sz="750" dirty="0"/>
          </a:p>
        </p:txBody>
      </p:sp>
      <p:sp>
        <p:nvSpPr>
          <p:cNvPr id="9" name="Text 7"/>
          <p:cNvSpPr/>
          <p:nvPr/>
        </p:nvSpPr>
        <p:spPr>
          <a:xfrm>
            <a:off x="4648200" y="819150"/>
            <a:ext cx="4114800" cy="1312218"/>
          </a:xfrm>
          <a:prstGeom prst="roundRect">
            <a:avLst>
              <a:gd name="adj" fmla="val 5807"/>
            </a:avLst>
          </a:prstGeom>
          <a:solidFill>
            <a:srgbClr val="FEF9E7"/>
          </a:solidFill>
          <a:ln/>
        </p:spPr>
        <p:txBody>
          <a:bodyPr wrap="square" rtlCol="0" anchor="ctr"/>
          <a:lstStyle/>
          <a:p>
            <a:pPr marL="0" indent="0">
              <a:buNone/>
            </a:pPr>
            <a:endParaRPr lang="en-US" dirty="0"/>
          </a:p>
        </p:txBody>
      </p:sp>
      <p:sp>
        <p:nvSpPr>
          <p:cNvPr id="10" name="Shape 8"/>
          <p:cNvSpPr/>
          <p:nvPr/>
        </p:nvSpPr>
        <p:spPr>
          <a:xfrm>
            <a:off x="4667250" y="819150"/>
            <a:ext cx="0" cy="1312218"/>
          </a:xfrm>
          <a:prstGeom prst="line">
            <a:avLst/>
          </a:prstGeom>
          <a:noFill/>
          <a:ln w="38100">
            <a:solidFill>
              <a:srgbClr val="F39C12"/>
            </a:solidFill>
            <a:prstDash val="solid"/>
          </a:ln>
        </p:spPr>
        <p:txBody>
          <a:bodyPr/>
          <a:lstStyle/>
          <a:p>
            <a:endParaRPr lang="en-US"/>
          </a:p>
        </p:txBody>
      </p:sp>
      <p:sp>
        <p:nvSpPr>
          <p:cNvPr id="11" name="Text 9"/>
          <p:cNvSpPr/>
          <p:nvPr/>
        </p:nvSpPr>
        <p:spPr>
          <a:xfrm>
            <a:off x="4819650" y="990600"/>
            <a:ext cx="3886200"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F39C12"/>
                </a:solidFill>
                <a:latin typeface="Arial" pitchFamily="34" charset="0"/>
                <a:ea typeface="Arial" pitchFamily="34" charset="-122"/>
                <a:cs typeface="Arial" pitchFamily="34" charset="-120"/>
              </a:rPr>
              <a:t>Published Baseline: mT5-base</a:t>
            </a:r>
            <a:endParaRPr lang="en-US" sz="975" dirty="0"/>
          </a:p>
        </p:txBody>
      </p:sp>
      <p:sp>
        <p:nvSpPr>
          <p:cNvPr id="12" name="Text 10"/>
          <p:cNvSpPr/>
          <p:nvPr/>
        </p:nvSpPr>
        <p:spPr>
          <a:xfrm>
            <a:off x="4819650" y="1240036"/>
            <a:ext cx="3886200" cy="293191"/>
          </a:xfrm>
          <a:prstGeom prst="rect">
            <a:avLst/>
          </a:prstGeom>
          <a:noFill/>
          <a:ln/>
        </p:spPr>
        <p:txBody>
          <a:bodyPr wrap="square" lIns="0" tIns="0" rIns="0" bIns="0" rtlCol="0" anchor="t"/>
          <a:lstStyle/>
          <a:p>
            <a:pPr marL="0" indent="0" algn="l">
              <a:lnSpc>
                <a:spcPts val="1155"/>
              </a:lnSpc>
              <a:spcBef>
                <a:spcPts val="300"/>
              </a:spcBef>
              <a:spcAft>
                <a:spcPts val="600"/>
              </a:spcAft>
              <a:buNone/>
            </a:pPr>
            <a:r>
              <a:rPr lang="en-US" sz="825" dirty="0">
                <a:solidFill>
                  <a:srgbClr val="6C757D"/>
                </a:solidFill>
                <a:latin typeface="Arial" pitchFamily="34" charset="0"/>
                <a:ea typeface="Arial" pitchFamily="34" charset="-122"/>
                <a:cs typeface="Arial" pitchFamily="34" charset="-120"/>
              </a:rPr>
              <a:t>Multilingual T5 model (580M params). Encoder-decoder architecture fine-tuned on our data.</a:t>
            </a:r>
            <a:endParaRPr lang="en-US" sz="825" dirty="0"/>
          </a:p>
        </p:txBody>
      </p:sp>
      <p:sp>
        <p:nvSpPr>
          <p:cNvPr id="13" name="Text 11"/>
          <p:cNvSpPr/>
          <p:nvPr/>
        </p:nvSpPr>
        <p:spPr>
          <a:xfrm>
            <a:off x="4819650" y="1609427"/>
            <a:ext cx="3886200" cy="159990"/>
          </a:xfrm>
          <a:prstGeom prst="rect">
            <a:avLst/>
          </a:prstGeom>
          <a:noFill/>
          <a:ln/>
        </p:spPr>
        <p:txBody>
          <a:bodyPr wrap="square" lIns="0" tIns="0" rIns="0" bIns="0" rtlCol="0" anchor="t"/>
          <a:lstStyle/>
          <a:p>
            <a:pPr marL="0" indent="0" algn="l">
              <a:lnSpc>
                <a:spcPts val="1260"/>
              </a:lnSpc>
              <a:spcBef>
                <a:spcPts val="300"/>
              </a:spcBef>
              <a:spcAft>
                <a:spcPts val="300"/>
              </a:spcAft>
              <a:buNone/>
            </a:pPr>
            <a:r>
              <a:rPr lang="en-US" sz="900" b="1" dirty="0">
                <a:solidFill>
                  <a:srgbClr val="2C3E50"/>
                </a:solidFill>
                <a:latin typeface="Arial" pitchFamily="34" charset="0"/>
                <a:ea typeface="Arial" pitchFamily="34" charset="-122"/>
                <a:cs typeface="Arial" pitchFamily="34" charset="-120"/>
              </a:rPr>
              <a:t>ROUGE-L: ~0.06 (Failed)</a:t>
            </a:r>
            <a:endParaRPr lang="en-US" sz="900" dirty="0"/>
          </a:p>
        </p:txBody>
      </p:sp>
      <p:sp>
        <p:nvSpPr>
          <p:cNvPr id="14" name="Text 12"/>
          <p:cNvSpPr/>
          <p:nvPr/>
        </p:nvSpPr>
        <p:spPr>
          <a:xfrm>
            <a:off x="4819650" y="1826568"/>
            <a:ext cx="3886200" cy="133350"/>
          </a:xfrm>
          <a:prstGeom prst="rect">
            <a:avLst/>
          </a:prstGeom>
          <a:noFill/>
          <a:ln/>
        </p:spPr>
        <p:txBody>
          <a:bodyPr wrap="square" lIns="0" tIns="0" rIns="0" bIns="0" rtlCol="0" anchor="t"/>
          <a:lstStyle/>
          <a:p>
            <a:pPr marL="0" indent="0" algn="l">
              <a:lnSpc>
                <a:spcPts val="1050"/>
              </a:lnSpc>
              <a:spcBef>
                <a:spcPts val="450"/>
              </a:spcBef>
              <a:spcAft>
                <a:spcPts val="300"/>
              </a:spcAft>
              <a:buNone/>
            </a:pPr>
            <a:r>
              <a:rPr lang="en-US" sz="750" dirty="0">
                <a:solidFill>
                  <a:srgbClr val="6C757D"/>
                </a:solidFill>
                <a:latin typeface="Arial" pitchFamily="34" charset="0"/>
                <a:ea typeface="Arial" pitchFamily="34" charset="-122"/>
                <a:cs typeface="Arial" pitchFamily="34" charset="-120"/>
              </a:rPr>
              <a:t>Surprisingly poor - model struggled with code-mixed input format.</a:t>
            </a:r>
            <a:endParaRPr lang="en-US" sz="750" dirty="0"/>
          </a:p>
        </p:txBody>
      </p:sp>
      <p:sp>
        <p:nvSpPr>
          <p:cNvPr id="15" name="Text 13"/>
          <p:cNvSpPr/>
          <p:nvPr/>
        </p:nvSpPr>
        <p:spPr>
          <a:xfrm>
            <a:off x="381000" y="2264718"/>
            <a:ext cx="8382000" cy="975122"/>
          </a:xfrm>
          <a:prstGeom prst="roundRect">
            <a:avLst>
              <a:gd name="adj" fmla="val 7814"/>
            </a:avLst>
          </a:prstGeom>
          <a:solidFill>
            <a:srgbClr val="D5F5E3"/>
          </a:solidFill>
          <a:ln/>
        </p:spPr>
        <p:txBody>
          <a:bodyPr wrap="square" rtlCol="0" anchor="ctr"/>
          <a:lstStyle/>
          <a:p>
            <a:pPr marL="0" indent="0">
              <a:buNone/>
            </a:pPr>
            <a:endParaRPr lang="en-US" dirty="0"/>
          </a:p>
        </p:txBody>
      </p:sp>
      <p:sp>
        <p:nvSpPr>
          <p:cNvPr id="16" name="Shape 14"/>
          <p:cNvSpPr/>
          <p:nvPr/>
        </p:nvSpPr>
        <p:spPr>
          <a:xfrm>
            <a:off x="400050" y="2264718"/>
            <a:ext cx="0" cy="975122"/>
          </a:xfrm>
          <a:prstGeom prst="line">
            <a:avLst/>
          </a:prstGeom>
          <a:noFill/>
          <a:ln w="38100">
            <a:solidFill>
              <a:srgbClr val="27AE60"/>
            </a:solidFill>
            <a:prstDash val="solid"/>
          </a:ln>
        </p:spPr>
        <p:txBody>
          <a:bodyPr/>
          <a:lstStyle/>
          <a:p>
            <a:endParaRPr lang="en-US"/>
          </a:p>
        </p:txBody>
      </p:sp>
      <p:sp>
        <p:nvSpPr>
          <p:cNvPr id="17" name="Text 15"/>
          <p:cNvSpPr/>
          <p:nvPr/>
        </p:nvSpPr>
        <p:spPr>
          <a:xfrm>
            <a:off x="552450" y="2436168"/>
            <a:ext cx="8238744"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27AE60"/>
                </a:solidFill>
                <a:latin typeface="Arial" pitchFamily="34" charset="0"/>
                <a:ea typeface="Arial" pitchFamily="34" charset="-122"/>
                <a:cs typeface="Arial" pitchFamily="34" charset="-120"/>
              </a:rPr>
              <a:t>Strong Baseline: mBART-50 (Milestone 2)</a:t>
            </a:r>
            <a:endParaRPr lang="en-US" sz="975" dirty="0"/>
          </a:p>
        </p:txBody>
      </p:sp>
      <p:sp>
        <p:nvSpPr>
          <p:cNvPr id="18" name="Text 16"/>
          <p:cNvSpPr/>
          <p:nvPr/>
        </p:nvSpPr>
        <p:spPr>
          <a:xfrm>
            <a:off x="552450" y="2685604"/>
            <a:ext cx="8238744" cy="146596"/>
          </a:xfrm>
          <a:prstGeom prst="rect">
            <a:avLst/>
          </a:prstGeom>
          <a:noFill/>
          <a:ln/>
        </p:spPr>
        <p:txBody>
          <a:bodyPr wrap="square" lIns="0" tIns="0" rIns="0" bIns="0" rtlCol="0" anchor="t"/>
          <a:lstStyle/>
          <a:p>
            <a:pPr marL="0" indent="0" algn="l">
              <a:lnSpc>
                <a:spcPts val="1155"/>
              </a:lnSpc>
              <a:spcBef>
                <a:spcPts val="300"/>
              </a:spcBef>
              <a:spcAft>
                <a:spcPts val="600"/>
              </a:spcAft>
              <a:buNone/>
            </a:pPr>
            <a:r>
              <a:rPr lang="en-US" sz="825" dirty="0">
                <a:solidFill>
                  <a:srgbClr val="6C757D"/>
                </a:solidFill>
                <a:latin typeface="Arial" pitchFamily="34" charset="0"/>
                <a:ea typeface="Arial" pitchFamily="34" charset="-122"/>
                <a:cs typeface="Arial" pitchFamily="34" charset="-120"/>
              </a:rPr>
              <a:t>Multilingual BART model (611M params). Pre-trained on 50 languages with denoising objective. Fine-tuned for summarization.</a:t>
            </a:r>
            <a:endParaRPr lang="en-US" sz="825" dirty="0"/>
          </a:p>
        </p:txBody>
      </p:sp>
      <p:sp>
        <p:nvSpPr>
          <p:cNvPr id="19" name="Text 17"/>
          <p:cNvSpPr/>
          <p:nvPr/>
        </p:nvSpPr>
        <p:spPr>
          <a:xfrm>
            <a:off x="552450" y="2908399"/>
            <a:ext cx="8238744" cy="159990"/>
          </a:xfrm>
          <a:prstGeom prst="rect">
            <a:avLst/>
          </a:prstGeom>
          <a:noFill/>
          <a:ln/>
        </p:spPr>
        <p:txBody>
          <a:bodyPr wrap="square" lIns="0" tIns="0" rIns="0" bIns="0" rtlCol="0" anchor="t"/>
          <a:lstStyle/>
          <a:p>
            <a:pPr marL="0" indent="0" algn="l">
              <a:lnSpc>
                <a:spcPts val="1260"/>
              </a:lnSpc>
              <a:spcBef>
                <a:spcPts val="300"/>
              </a:spcBef>
              <a:spcAft>
                <a:spcPts val="300"/>
              </a:spcAft>
              <a:buNone/>
            </a:pPr>
            <a:r>
              <a:rPr lang="en-US" sz="900" b="1" dirty="0">
                <a:solidFill>
                  <a:srgbClr val="2C3E50"/>
                </a:solidFill>
                <a:latin typeface="Arial" pitchFamily="34" charset="0"/>
                <a:ea typeface="Arial" pitchFamily="34" charset="-122"/>
                <a:cs typeface="Arial" pitchFamily="34" charset="-120"/>
              </a:rPr>
              <a:t>ROUGE-L: 0.321 (In-Domain) | 0.326 (Zero-Shot) | Transfer: 102%</a:t>
            </a:r>
            <a:endParaRPr lang="en-US" sz="900" dirty="0"/>
          </a:p>
        </p:txBody>
      </p:sp>
      <p:sp>
        <p:nvSpPr>
          <p:cNvPr id="20" name="Text 18"/>
          <p:cNvSpPr/>
          <p:nvPr/>
        </p:nvSpPr>
        <p:spPr>
          <a:xfrm>
            <a:off x="381000" y="3373189"/>
            <a:ext cx="8382000" cy="706636"/>
          </a:xfrm>
          <a:prstGeom prst="roundRect">
            <a:avLst>
              <a:gd name="adj" fmla="val 10783"/>
            </a:avLst>
          </a:prstGeom>
          <a:solidFill>
            <a:srgbClr val="1A5276"/>
          </a:solidFill>
          <a:ln/>
        </p:spPr>
        <p:txBody>
          <a:bodyPr wrap="square" rtlCol="0" anchor="ctr"/>
          <a:lstStyle/>
          <a:p>
            <a:pPr marL="0" indent="0">
              <a:buNone/>
            </a:pPr>
            <a:endParaRPr lang="en-US" dirty="0"/>
          </a:p>
        </p:txBody>
      </p:sp>
      <p:sp>
        <p:nvSpPr>
          <p:cNvPr id="21" name="Text 19"/>
          <p:cNvSpPr/>
          <p:nvPr/>
        </p:nvSpPr>
        <p:spPr>
          <a:xfrm>
            <a:off x="514350" y="3544639"/>
            <a:ext cx="8277606"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FFFFFF"/>
                </a:solidFill>
                <a:latin typeface="Arial" pitchFamily="34" charset="0"/>
                <a:ea typeface="Arial" pitchFamily="34" charset="-122"/>
                <a:cs typeface="Arial" pitchFamily="34" charset="-120"/>
              </a:rPr>
              <a:t>Key Insight from Baselines</a:t>
            </a:r>
            <a:endParaRPr lang="en-US" sz="900" dirty="0"/>
          </a:p>
        </p:txBody>
      </p:sp>
      <p:sp>
        <p:nvSpPr>
          <p:cNvPr id="22" name="Text 20"/>
          <p:cNvSpPr/>
          <p:nvPr/>
        </p:nvSpPr>
        <p:spPr>
          <a:xfrm>
            <a:off x="514350" y="3761780"/>
            <a:ext cx="8277606" cy="146596"/>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Not all multilingual models work for code-mixing. mT5 failed completely while mBART succeeded. This motivated exploring decoder-only LLMs for our extension.</a:t>
            </a:r>
            <a:endParaRPr lang="en-US" sz="8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227576"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Prior Work and Approaches</a:t>
            </a:r>
            <a:endParaRPr lang="en-US" sz="2250" dirty="0"/>
          </a:p>
        </p:txBody>
      </p:sp>
      <p:sp>
        <p:nvSpPr>
          <p:cNvPr id="5" name="Text 3"/>
          <p:cNvSpPr/>
          <p:nvPr/>
        </p:nvSpPr>
        <p:spPr>
          <a:xfrm>
            <a:off x="533400" y="3775021"/>
            <a:ext cx="8238744"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endParaRPr lang="en-US" sz="825" dirty="0"/>
          </a:p>
        </p:txBody>
      </p:sp>
      <p:sp>
        <p:nvSpPr>
          <p:cNvPr id="7" name="Text 5"/>
          <p:cNvSpPr/>
          <p:nvPr/>
        </p:nvSpPr>
        <p:spPr>
          <a:xfrm>
            <a:off x="514350" y="4365144"/>
            <a:ext cx="8277606"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FFFFFF"/>
                </a:solidFill>
                <a:latin typeface="Arial" pitchFamily="34" charset="0"/>
                <a:ea typeface="Arial" pitchFamily="34" charset="-122"/>
                <a:cs typeface="Arial" pitchFamily="34" charset="-120"/>
              </a:rPr>
              <a:t>Our Contribution</a:t>
            </a:r>
            <a:endParaRPr lang="en-US" sz="900" dirty="0"/>
          </a:p>
        </p:txBody>
      </p:sp>
      <p:sp>
        <p:nvSpPr>
          <p:cNvPr id="8" name="Text 6"/>
          <p:cNvSpPr/>
          <p:nvPr/>
        </p:nvSpPr>
        <p:spPr>
          <a:xfrm>
            <a:off x="514350" y="4582284"/>
            <a:ext cx="8277606"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First study to demonstrate that models can learn language-agnostic code-mixed summarization patterns and transfer to completely unseen language pairs with over 100% transfer rate.</a:t>
            </a:r>
            <a:endParaRPr lang="en-US" sz="825" dirty="0"/>
          </a:p>
        </p:txBody>
      </p:sp>
      <p:sp>
        <p:nvSpPr>
          <p:cNvPr id="15" name="TextBox 14">
            <a:extLst>
              <a:ext uri="{FF2B5EF4-FFF2-40B4-BE49-F238E27FC236}">
                <a16:creationId xmlns:a16="http://schemas.microsoft.com/office/drawing/2014/main" id="{78A4D9BA-D360-8884-8E95-CA77657E67E0}"/>
              </a:ext>
            </a:extLst>
          </p:cNvPr>
          <p:cNvSpPr txBox="1"/>
          <p:nvPr/>
        </p:nvSpPr>
        <p:spPr>
          <a:xfrm>
            <a:off x="274320" y="594360"/>
            <a:ext cx="3157308" cy="320040"/>
          </a:xfrm>
          <a:prstGeom prst="rect">
            <a:avLst/>
          </a:prstGeom>
          <a:noFill/>
        </p:spPr>
        <p:txBody>
          <a:bodyPr wrap="square">
            <a:spAutoFit/>
          </a:bodyPr>
          <a:lstStyle/>
          <a:p>
            <a:pPr>
              <a:defRPr sz="1400" b="1">
                <a:solidFill>
                  <a:srgbClr val="4ECDC4"/>
                </a:solidFill>
              </a:defRPr>
            </a:pPr>
            <a:r>
              <a:rPr dirty="0"/>
              <a:t>Code-Mixing &amp; Dialogue Summarization</a:t>
            </a:r>
          </a:p>
        </p:txBody>
      </p:sp>
      <p:sp>
        <p:nvSpPr>
          <p:cNvPr id="16" name="TextBox 15">
            <a:extLst>
              <a:ext uri="{FF2B5EF4-FFF2-40B4-BE49-F238E27FC236}">
                <a16:creationId xmlns:a16="http://schemas.microsoft.com/office/drawing/2014/main" id="{C09AA87C-69E2-A4B9-DB9B-60A0445D782E}"/>
              </a:ext>
            </a:extLst>
          </p:cNvPr>
          <p:cNvSpPr txBox="1"/>
          <p:nvPr/>
        </p:nvSpPr>
        <p:spPr>
          <a:xfrm>
            <a:off x="274320" y="914400"/>
            <a:ext cx="5895252" cy="923330"/>
          </a:xfrm>
          <a:prstGeom prst="rect">
            <a:avLst/>
          </a:prstGeom>
          <a:noFill/>
        </p:spPr>
        <p:txBody>
          <a:bodyPr wrap="square">
            <a:spAutoFit/>
          </a:bodyPr>
          <a:lstStyle/>
          <a:p>
            <a:pPr>
              <a:spcBef>
                <a:spcPts val="400"/>
              </a:spcBef>
              <a:defRPr sz="1100">
                <a:solidFill>
                  <a:srgbClr val="2C3E50"/>
                </a:solidFill>
              </a:defRPr>
            </a:pPr>
            <a:r>
              <a:rPr dirty="0"/>
              <a:t>[1] CS-Sum: A Benchmark for Code-Switching Dialogue Summarization. </a:t>
            </a:r>
            <a:r>
              <a:rPr dirty="0" err="1"/>
              <a:t>arXiv</a:t>
            </a:r>
            <a:r>
              <a:rPr dirty="0"/>
              <a:t> 2025.</a:t>
            </a:r>
          </a:p>
          <a:p>
            <a:pPr>
              <a:spcBef>
                <a:spcPts val="400"/>
              </a:spcBef>
              <a:defRPr sz="1100">
                <a:solidFill>
                  <a:srgbClr val="2C3E50"/>
                </a:solidFill>
              </a:defRPr>
            </a:pPr>
            <a:r>
              <a:rPr dirty="0"/>
              <a:t>[2] Winata et al. The Decades Progress on Code-Switching Research in NLP. ACL Findings 2023.</a:t>
            </a:r>
          </a:p>
          <a:p>
            <a:pPr>
              <a:spcBef>
                <a:spcPts val="400"/>
              </a:spcBef>
              <a:defRPr sz="1100">
                <a:solidFill>
                  <a:srgbClr val="2C3E50"/>
                </a:solidFill>
              </a:defRPr>
            </a:pPr>
            <a:r>
              <a:rPr dirty="0"/>
              <a:t>[3] Zhang &amp; Eickhoff. </a:t>
            </a:r>
            <a:r>
              <a:rPr dirty="0" err="1"/>
              <a:t>CroCoSum</a:t>
            </a:r>
            <a:r>
              <a:rPr dirty="0"/>
              <a:t>: Cross-Lingual Code-Switched Summarization. LREC-COLING 2024.</a:t>
            </a:r>
          </a:p>
          <a:p>
            <a:pPr>
              <a:spcBef>
                <a:spcPts val="400"/>
              </a:spcBef>
              <a:defRPr sz="1100">
                <a:solidFill>
                  <a:srgbClr val="2C3E50"/>
                </a:solidFill>
              </a:defRPr>
            </a:pPr>
            <a:r>
              <a:rPr dirty="0"/>
              <a:t>[4] Mehnaz et al. </a:t>
            </a:r>
            <a:r>
              <a:rPr dirty="0" err="1"/>
              <a:t>GupShup</a:t>
            </a:r>
            <a:r>
              <a:rPr dirty="0"/>
              <a:t>: Summarizing Open-Domain Code-Switching Conversations. EMNLP 2021.</a:t>
            </a:r>
          </a:p>
        </p:txBody>
      </p:sp>
      <p:sp>
        <p:nvSpPr>
          <p:cNvPr id="17" name="TextBox 16">
            <a:extLst>
              <a:ext uri="{FF2B5EF4-FFF2-40B4-BE49-F238E27FC236}">
                <a16:creationId xmlns:a16="http://schemas.microsoft.com/office/drawing/2014/main" id="{B2102535-D149-CD97-D436-1EBF477B2870}"/>
              </a:ext>
            </a:extLst>
          </p:cNvPr>
          <p:cNvSpPr txBox="1"/>
          <p:nvPr/>
        </p:nvSpPr>
        <p:spPr>
          <a:xfrm>
            <a:off x="274320" y="1837730"/>
            <a:ext cx="3157308" cy="320040"/>
          </a:xfrm>
          <a:prstGeom prst="rect">
            <a:avLst/>
          </a:prstGeom>
          <a:noFill/>
        </p:spPr>
        <p:txBody>
          <a:bodyPr wrap="square">
            <a:spAutoFit/>
          </a:bodyPr>
          <a:lstStyle/>
          <a:p>
            <a:pPr>
              <a:defRPr sz="1400" b="1">
                <a:solidFill>
                  <a:srgbClr val="E74C3C"/>
                </a:solidFill>
              </a:defRPr>
            </a:pPr>
            <a:r>
              <a:t>Cross-Lingual Transfer &amp; Summarization</a:t>
            </a:r>
          </a:p>
        </p:txBody>
      </p:sp>
      <p:sp>
        <p:nvSpPr>
          <p:cNvPr id="18" name="TextBox 17">
            <a:extLst>
              <a:ext uri="{FF2B5EF4-FFF2-40B4-BE49-F238E27FC236}">
                <a16:creationId xmlns:a16="http://schemas.microsoft.com/office/drawing/2014/main" id="{B3CA0188-6126-9A0C-C298-F5F97481E672}"/>
              </a:ext>
            </a:extLst>
          </p:cNvPr>
          <p:cNvSpPr txBox="1"/>
          <p:nvPr/>
        </p:nvSpPr>
        <p:spPr>
          <a:xfrm>
            <a:off x="274320" y="2157770"/>
            <a:ext cx="6021377" cy="923330"/>
          </a:xfrm>
          <a:prstGeom prst="rect">
            <a:avLst/>
          </a:prstGeom>
          <a:noFill/>
        </p:spPr>
        <p:txBody>
          <a:bodyPr wrap="square">
            <a:spAutoFit/>
          </a:bodyPr>
          <a:lstStyle/>
          <a:p>
            <a:pPr>
              <a:spcBef>
                <a:spcPts val="400"/>
              </a:spcBef>
              <a:defRPr sz="1100">
                <a:solidFill>
                  <a:srgbClr val="2C3E50"/>
                </a:solidFill>
              </a:defRPr>
            </a:pPr>
            <a:r>
              <a:rPr dirty="0"/>
              <a:t>[5] Wang et al. Zero-Shot Cross-Lingual Summarization via Large Language Models. </a:t>
            </a:r>
            <a:r>
              <a:rPr dirty="0" err="1"/>
              <a:t>NewSum</a:t>
            </a:r>
            <a:r>
              <a:rPr dirty="0"/>
              <a:t> 2023.</a:t>
            </a:r>
          </a:p>
          <a:p>
            <a:pPr>
              <a:spcBef>
                <a:spcPts val="400"/>
              </a:spcBef>
              <a:defRPr sz="1100">
                <a:solidFill>
                  <a:srgbClr val="2C3E50"/>
                </a:solidFill>
              </a:defRPr>
            </a:pPr>
            <a:r>
              <a:rPr dirty="0"/>
              <a:t>[6] Bhattacharjee et al. </a:t>
            </a:r>
            <a:r>
              <a:rPr dirty="0" err="1"/>
              <a:t>CrossSum</a:t>
            </a:r>
            <a:r>
              <a:rPr dirty="0"/>
              <a:t>: Beyond English-Centric Cross-Lingual Summarization. ACL 2023.</a:t>
            </a:r>
          </a:p>
          <a:p>
            <a:pPr>
              <a:spcBef>
                <a:spcPts val="400"/>
              </a:spcBef>
              <a:defRPr sz="1100">
                <a:solidFill>
                  <a:srgbClr val="2C3E50"/>
                </a:solidFill>
              </a:defRPr>
            </a:pPr>
            <a:r>
              <a:rPr dirty="0"/>
              <a:t>[7] Wang et al. A Survey on Cross-Lingual Summarization. TACL 2022.</a:t>
            </a:r>
          </a:p>
          <a:p>
            <a:pPr>
              <a:spcBef>
                <a:spcPts val="400"/>
              </a:spcBef>
              <a:defRPr sz="1100">
                <a:solidFill>
                  <a:srgbClr val="2C3E50"/>
                </a:solidFill>
              </a:defRPr>
            </a:pPr>
            <a:r>
              <a:rPr dirty="0"/>
              <a:t>[8] Chen et al. Zero-Shot Cross-Lingual Transfer of Neural MT with Multilingual Encoders. EMNLP 2021.</a:t>
            </a:r>
          </a:p>
        </p:txBody>
      </p:sp>
      <p:sp>
        <p:nvSpPr>
          <p:cNvPr id="19" name="TextBox 18">
            <a:extLst>
              <a:ext uri="{FF2B5EF4-FFF2-40B4-BE49-F238E27FC236}">
                <a16:creationId xmlns:a16="http://schemas.microsoft.com/office/drawing/2014/main" id="{88B1EFEE-B1FC-3CD0-DBE3-DDCF3E41475D}"/>
              </a:ext>
            </a:extLst>
          </p:cNvPr>
          <p:cNvSpPr txBox="1"/>
          <p:nvPr/>
        </p:nvSpPr>
        <p:spPr>
          <a:xfrm>
            <a:off x="274320" y="3081100"/>
            <a:ext cx="3462108" cy="320040"/>
          </a:xfrm>
          <a:prstGeom prst="rect">
            <a:avLst/>
          </a:prstGeom>
          <a:noFill/>
        </p:spPr>
        <p:txBody>
          <a:bodyPr wrap="square">
            <a:spAutoFit/>
          </a:bodyPr>
          <a:lstStyle/>
          <a:p>
            <a:pPr>
              <a:defRPr sz="1400" b="1">
                <a:solidFill>
                  <a:srgbClr val="27AE60"/>
                </a:solidFill>
              </a:defRPr>
            </a:pPr>
            <a:r>
              <a:t>Dialogue Summarization &amp; Multilingual NLP</a:t>
            </a:r>
          </a:p>
        </p:txBody>
      </p:sp>
      <p:sp>
        <p:nvSpPr>
          <p:cNvPr id="20" name="TextBox 19">
            <a:extLst>
              <a:ext uri="{FF2B5EF4-FFF2-40B4-BE49-F238E27FC236}">
                <a16:creationId xmlns:a16="http://schemas.microsoft.com/office/drawing/2014/main" id="{05A81119-E635-3148-AF98-FCB9C40536DF}"/>
              </a:ext>
            </a:extLst>
          </p:cNvPr>
          <p:cNvSpPr txBox="1"/>
          <p:nvPr/>
        </p:nvSpPr>
        <p:spPr>
          <a:xfrm>
            <a:off x="274320" y="3401139"/>
            <a:ext cx="6021377" cy="482183"/>
          </a:xfrm>
          <a:prstGeom prst="rect">
            <a:avLst/>
          </a:prstGeom>
          <a:noFill/>
        </p:spPr>
        <p:txBody>
          <a:bodyPr wrap="square">
            <a:spAutoFit/>
          </a:bodyPr>
          <a:lstStyle/>
          <a:p>
            <a:pPr>
              <a:spcBef>
                <a:spcPts val="400"/>
              </a:spcBef>
              <a:defRPr sz="1100">
                <a:solidFill>
                  <a:srgbClr val="2C3E50"/>
                </a:solidFill>
              </a:defRPr>
            </a:pPr>
            <a:r>
              <a:rPr dirty="0"/>
              <a:t>[9] Feng et al. A Survey on Dialogue Summarization: Recent Advances and New Frontiers. IJCAI 2022.</a:t>
            </a:r>
          </a:p>
          <a:p>
            <a:pPr>
              <a:spcBef>
                <a:spcPts val="400"/>
              </a:spcBef>
              <a:defRPr sz="1100">
                <a:solidFill>
                  <a:srgbClr val="2C3E50"/>
                </a:solidFill>
              </a:defRPr>
            </a:pPr>
            <a:r>
              <a:rPr dirty="0"/>
              <a:t>[</a:t>
            </a:r>
            <a:r>
              <a:rPr lang="it-IT" dirty="0"/>
              <a:t>10] Li et al. DIONYSUS</a:t>
            </a:r>
            <a:r>
              <a:rPr dirty="0"/>
              <a:t>: A Pre-trained Model for Low-Resource Dialogue Summarization. ACL 2023.</a:t>
            </a:r>
          </a:p>
        </p:txBody>
      </p:sp>
      <p:sp>
        <p:nvSpPr>
          <p:cNvPr id="21" name="Text 1">
            <a:extLst>
              <a:ext uri="{FF2B5EF4-FFF2-40B4-BE49-F238E27FC236}">
                <a16:creationId xmlns:a16="http://schemas.microsoft.com/office/drawing/2014/main" id="{F2458A40-6F03-15FB-5140-B96EB0F59826}"/>
              </a:ext>
            </a:extLst>
          </p:cNvPr>
          <p:cNvSpPr/>
          <p:nvPr/>
        </p:nvSpPr>
        <p:spPr>
          <a:xfrm>
            <a:off x="385572" y="3984143"/>
            <a:ext cx="8382000" cy="891332"/>
          </a:xfrm>
          <a:prstGeom prst="roundRect">
            <a:avLst>
              <a:gd name="adj" fmla="val 8549"/>
            </a:avLst>
          </a:prstGeom>
          <a:solidFill>
            <a:srgbClr val="FEF9E7"/>
          </a:solidFill>
          <a:ln w="19050">
            <a:solidFill>
              <a:srgbClr val="F39C12"/>
            </a:solid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dirty="0"/>
          </a:p>
        </p:txBody>
      </p:sp>
      <p:sp>
        <p:nvSpPr>
          <p:cNvPr id="22" name="Text 2">
            <a:extLst>
              <a:ext uri="{FF2B5EF4-FFF2-40B4-BE49-F238E27FC236}">
                <a16:creationId xmlns:a16="http://schemas.microsoft.com/office/drawing/2014/main" id="{996FCAB0-EC3E-8C4D-23A3-B6DE800F96A7}"/>
              </a:ext>
            </a:extLst>
          </p:cNvPr>
          <p:cNvSpPr/>
          <p:nvPr/>
        </p:nvSpPr>
        <p:spPr>
          <a:xfrm>
            <a:off x="537972" y="4174643"/>
            <a:ext cx="8238744" cy="15999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Gap in Literature</a:t>
            </a:r>
            <a:endParaRPr lang="en-US" sz="900" dirty="0"/>
          </a:p>
        </p:txBody>
      </p:sp>
      <p:sp>
        <p:nvSpPr>
          <p:cNvPr id="23" name="Text 3">
            <a:extLst>
              <a:ext uri="{FF2B5EF4-FFF2-40B4-BE49-F238E27FC236}">
                <a16:creationId xmlns:a16="http://schemas.microsoft.com/office/drawing/2014/main" id="{F8104282-92B4-9A14-487D-37DB49CE320F}"/>
              </a:ext>
            </a:extLst>
          </p:cNvPr>
          <p:cNvSpPr/>
          <p:nvPr/>
        </p:nvSpPr>
        <p:spPr>
          <a:xfrm>
            <a:off x="537972" y="4391783"/>
            <a:ext cx="8238744" cy="293191"/>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155"/>
              </a:lnSpc>
              <a:spcBef>
                <a:spcPts val="300"/>
              </a:spcBef>
              <a:spcAft>
                <a:spcPts val="300"/>
              </a:spcAft>
              <a:buNone/>
            </a:pPr>
            <a:r>
              <a:rPr lang="en-US" sz="825" dirty="0">
                <a:solidFill>
                  <a:srgbClr val="6C757D"/>
                </a:solidFill>
                <a:latin typeface="Arial" pitchFamily="34" charset="0"/>
                <a:ea typeface="Arial" pitchFamily="34" charset="-122"/>
                <a:cs typeface="Arial" pitchFamily="34" charset="-120"/>
              </a:rPr>
              <a:t>No prior work has explored zero-shot cross-lingual transfer specifically for code-mixed conversation summarization. Existing approaches either require language-specific training or cannot handle code-mixing.</a:t>
            </a:r>
            <a:endParaRPr lang="en-US" sz="8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33825"/>
            <a:ext cx="7399238"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Our Extension: Zero-Shot Cross-Lingual Transfer</a:t>
            </a:r>
            <a:endParaRPr lang="en-US" sz="2250" dirty="0"/>
          </a:p>
        </p:txBody>
      </p:sp>
      <p:sp>
        <p:nvSpPr>
          <p:cNvPr id="3" name="Text 1"/>
          <p:cNvSpPr/>
          <p:nvPr/>
        </p:nvSpPr>
        <p:spPr>
          <a:xfrm>
            <a:off x="381000" y="819150"/>
            <a:ext cx="8382000" cy="893415"/>
          </a:xfrm>
          <a:prstGeom prst="roundRect">
            <a:avLst>
              <a:gd name="adj" fmla="val 8529"/>
            </a:avLst>
          </a:prstGeom>
          <a:solidFill>
            <a:srgbClr val="E8F6F3"/>
          </a:solidFill>
          <a:ln/>
        </p:spPr>
        <p:txBody>
          <a:bodyPr wrap="square" rtlCol="0" anchor="ctr"/>
          <a:lstStyle/>
          <a:p>
            <a:pPr marL="0" indent="0">
              <a:buNone/>
            </a:pPr>
            <a:endParaRPr lang="en-US" dirty="0"/>
          </a:p>
        </p:txBody>
      </p:sp>
      <p:sp>
        <p:nvSpPr>
          <p:cNvPr id="4" name="Text 2"/>
          <p:cNvSpPr/>
          <p:nvPr/>
        </p:nvSpPr>
        <p:spPr>
          <a:xfrm>
            <a:off x="514350" y="990600"/>
            <a:ext cx="8277606"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1A5276"/>
                </a:solidFill>
                <a:latin typeface="Arial" pitchFamily="34" charset="0"/>
                <a:ea typeface="Arial" pitchFamily="34" charset="-122"/>
                <a:cs typeface="Arial" pitchFamily="34" charset="-120"/>
              </a:rPr>
              <a:t>Research Question</a:t>
            </a:r>
            <a:endParaRPr lang="en-US" sz="900" dirty="0"/>
          </a:p>
        </p:txBody>
      </p:sp>
      <p:sp>
        <p:nvSpPr>
          <p:cNvPr id="5" name="Text 3"/>
          <p:cNvSpPr/>
          <p:nvPr/>
        </p:nvSpPr>
        <p:spPr>
          <a:xfrm>
            <a:off x="514350" y="1226790"/>
            <a:ext cx="8277606" cy="314325"/>
          </a:xfrm>
          <a:prstGeom prst="rect">
            <a:avLst/>
          </a:prstGeom>
          <a:noFill/>
          <a:ln/>
        </p:spPr>
        <p:txBody>
          <a:bodyPr wrap="square" lIns="0" tIns="0" rIns="0" bIns="0" rtlCol="0" anchor="t"/>
          <a:lstStyle/>
          <a:p>
            <a:pPr marL="0" indent="0" algn="l">
              <a:lnSpc>
                <a:spcPts val="1238"/>
              </a:lnSpc>
              <a:spcBef>
                <a:spcPts val="300"/>
              </a:spcBef>
              <a:spcAft>
                <a:spcPts val="300"/>
              </a:spcAft>
              <a:buNone/>
            </a:pPr>
            <a:r>
              <a:rPr lang="en-US" sz="825" dirty="0">
                <a:solidFill>
                  <a:srgbClr val="2C3E50"/>
                </a:solidFill>
                <a:latin typeface="Arial" pitchFamily="34" charset="0"/>
                <a:ea typeface="Arial" pitchFamily="34" charset="-122"/>
                <a:cs typeface="Arial" pitchFamily="34" charset="-120"/>
              </a:rPr>
              <a:t>Can a model trained on code-mixed conversations from a limited set of language pairs (Chinese-English, Tamil-English, Malay-English) generalize to completely unseen language pairs (Japanese-English, Korean-English, Hindi-English) without any additional training?</a:t>
            </a:r>
            <a:endParaRPr lang="en-US" sz="825" dirty="0"/>
          </a:p>
        </p:txBody>
      </p:sp>
      <p:sp>
        <p:nvSpPr>
          <p:cNvPr id="6" name="Text 4"/>
          <p:cNvSpPr/>
          <p:nvPr/>
        </p:nvSpPr>
        <p:spPr>
          <a:xfrm>
            <a:off x="381000" y="1845915"/>
            <a:ext cx="4114800" cy="1226790"/>
          </a:xfrm>
          <a:prstGeom prst="roundRect">
            <a:avLst>
              <a:gd name="adj" fmla="val 6211"/>
            </a:avLst>
          </a:prstGeom>
          <a:solidFill>
            <a:srgbClr val="F8F9FA"/>
          </a:solidFill>
          <a:ln/>
        </p:spPr>
        <p:txBody>
          <a:bodyPr wrap="square" rtlCol="0" anchor="ctr"/>
          <a:lstStyle/>
          <a:p>
            <a:pPr marL="0" indent="0">
              <a:buNone/>
            </a:pPr>
            <a:endParaRPr lang="en-US" dirty="0"/>
          </a:p>
        </p:txBody>
      </p:sp>
      <p:sp>
        <p:nvSpPr>
          <p:cNvPr id="7" name="Text 5"/>
          <p:cNvSpPr/>
          <p:nvPr/>
        </p:nvSpPr>
        <p:spPr>
          <a:xfrm>
            <a:off x="514350" y="2017365"/>
            <a:ext cx="3925062"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1A5276"/>
                </a:solidFill>
                <a:latin typeface="Arial" pitchFamily="34" charset="0"/>
                <a:ea typeface="Arial" pitchFamily="34" charset="-122"/>
                <a:cs typeface="Arial" pitchFamily="34" charset="-120"/>
              </a:rPr>
              <a:t>Approach</a:t>
            </a:r>
            <a:endParaRPr lang="en-US" sz="900" dirty="0"/>
          </a:p>
        </p:txBody>
      </p:sp>
      <p:sp>
        <p:nvSpPr>
          <p:cNvPr id="8" name="Text 6"/>
          <p:cNvSpPr/>
          <p:nvPr/>
        </p:nvSpPr>
        <p:spPr>
          <a:xfrm>
            <a:off x="514350" y="225355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1. Train models on 3 in-domain language pairs</a:t>
            </a:r>
            <a:endParaRPr lang="en-US" sz="750" dirty="0"/>
          </a:p>
        </p:txBody>
      </p:sp>
      <p:sp>
        <p:nvSpPr>
          <p:cNvPr id="9" name="Text 7"/>
          <p:cNvSpPr/>
          <p:nvPr/>
        </p:nvSpPr>
        <p:spPr>
          <a:xfrm>
            <a:off x="514350" y="242500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2. Evaluate on 3 zero-shot language pairs</a:t>
            </a:r>
            <a:endParaRPr lang="en-US" sz="750" dirty="0"/>
          </a:p>
        </p:txBody>
      </p:sp>
      <p:sp>
        <p:nvSpPr>
          <p:cNvPr id="10" name="Text 8"/>
          <p:cNvSpPr/>
          <p:nvPr/>
        </p:nvSpPr>
        <p:spPr>
          <a:xfrm>
            <a:off x="514350" y="259645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3. Compare encoder-decoder vs decoder-only</a:t>
            </a:r>
            <a:endParaRPr lang="en-US" sz="750" dirty="0"/>
          </a:p>
        </p:txBody>
      </p:sp>
      <p:sp>
        <p:nvSpPr>
          <p:cNvPr id="11" name="Text 9"/>
          <p:cNvSpPr/>
          <p:nvPr/>
        </p:nvSpPr>
        <p:spPr>
          <a:xfrm>
            <a:off x="514350" y="276790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4. Measure transfer rate as key metric</a:t>
            </a:r>
            <a:endParaRPr lang="en-US" sz="750" dirty="0"/>
          </a:p>
        </p:txBody>
      </p:sp>
      <p:sp>
        <p:nvSpPr>
          <p:cNvPr id="12" name="Text 10"/>
          <p:cNvSpPr/>
          <p:nvPr/>
        </p:nvSpPr>
        <p:spPr>
          <a:xfrm>
            <a:off x="4648200" y="1845915"/>
            <a:ext cx="4114800" cy="1226790"/>
          </a:xfrm>
          <a:prstGeom prst="roundRect">
            <a:avLst>
              <a:gd name="adj" fmla="val 6211"/>
            </a:avLst>
          </a:prstGeom>
          <a:solidFill>
            <a:srgbClr val="F8F9FA"/>
          </a:solidFill>
          <a:ln/>
        </p:spPr>
        <p:txBody>
          <a:bodyPr wrap="square" rtlCol="0" anchor="ctr"/>
          <a:lstStyle/>
          <a:p>
            <a:pPr marL="0" indent="0">
              <a:buNone/>
            </a:pPr>
            <a:endParaRPr lang="en-US" dirty="0"/>
          </a:p>
        </p:txBody>
      </p:sp>
      <p:sp>
        <p:nvSpPr>
          <p:cNvPr id="13" name="Text 11"/>
          <p:cNvSpPr/>
          <p:nvPr/>
        </p:nvSpPr>
        <p:spPr>
          <a:xfrm>
            <a:off x="4781550" y="2017365"/>
            <a:ext cx="3925062"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1A5276"/>
                </a:solidFill>
                <a:latin typeface="Arial" pitchFamily="34" charset="0"/>
                <a:ea typeface="Arial" pitchFamily="34" charset="-122"/>
                <a:cs typeface="Arial" pitchFamily="34" charset="-120"/>
              </a:rPr>
              <a:t>Models Compared</a:t>
            </a:r>
            <a:endParaRPr lang="en-US" sz="900" dirty="0"/>
          </a:p>
        </p:txBody>
      </p:sp>
      <p:sp>
        <p:nvSpPr>
          <p:cNvPr id="14" name="Text 12"/>
          <p:cNvSpPr/>
          <p:nvPr/>
        </p:nvSpPr>
        <p:spPr>
          <a:xfrm>
            <a:off x="4781550" y="225355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6C757D"/>
                </a:solidFill>
                <a:latin typeface="Arial" pitchFamily="34" charset="0"/>
                <a:ea typeface="Arial" pitchFamily="34" charset="-122"/>
                <a:cs typeface="Arial" pitchFamily="34" charset="-120"/>
              </a:rPr>
              <a:t>Encoder-Decoder:</a:t>
            </a:r>
            <a:r>
              <a:rPr lang="en-US" sz="750" dirty="0">
                <a:solidFill>
                  <a:srgbClr val="6C757D"/>
                </a:solidFill>
                <a:latin typeface="Arial" pitchFamily="34" charset="0"/>
                <a:ea typeface="Arial" pitchFamily="34" charset="-122"/>
                <a:cs typeface="Arial" pitchFamily="34" charset="-120"/>
              </a:rPr>
              <a:t> mT5-base (580M), mBART-50 (611M)</a:t>
            </a:r>
            <a:endParaRPr lang="en-US" sz="750" dirty="0"/>
          </a:p>
        </p:txBody>
      </p:sp>
      <p:sp>
        <p:nvSpPr>
          <p:cNvPr id="15" name="Text 13"/>
          <p:cNvSpPr/>
          <p:nvPr/>
        </p:nvSpPr>
        <p:spPr>
          <a:xfrm>
            <a:off x="4781550" y="242500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6C757D"/>
                </a:solidFill>
                <a:latin typeface="Arial" pitchFamily="34" charset="0"/>
                <a:ea typeface="Arial" pitchFamily="34" charset="-122"/>
                <a:cs typeface="Arial" pitchFamily="34" charset="-120"/>
              </a:rPr>
              <a:t>Decoder-Only:</a:t>
            </a:r>
            <a:r>
              <a:rPr lang="en-US" sz="750" dirty="0">
                <a:solidFill>
                  <a:srgbClr val="6C757D"/>
                </a:solidFill>
                <a:latin typeface="Arial" pitchFamily="34" charset="0"/>
                <a:ea typeface="Arial" pitchFamily="34" charset="-122"/>
                <a:cs typeface="Arial" pitchFamily="34" charset="-120"/>
              </a:rPr>
              <a:t> Llama-3.2-3B, Llama-3.1-8B</a:t>
            </a:r>
            <a:endParaRPr lang="en-US" sz="750" dirty="0"/>
          </a:p>
        </p:txBody>
      </p:sp>
      <p:sp>
        <p:nvSpPr>
          <p:cNvPr id="16" name="Text 14"/>
          <p:cNvSpPr/>
          <p:nvPr/>
        </p:nvSpPr>
        <p:spPr>
          <a:xfrm>
            <a:off x="4781550" y="259645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6C757D"/>
                </a:solidFill>
                <a:latin typeface="Arial" pitchFamily="34" charset="0"/>
                <a:ea typeface="Arial" pitchFamily="34" charset="-122"/>
                <a:cs typeface="Arial" pitchFamily="34" charset="-120"/>
              </a:rPr>
              <a:t>Training:</a:t>
            </a:r>
            <a:r>
              <a:rPr lang="en-US" sz="750" dirty="0">
                <a:solidFill>
                  <a:srgbClr val="6C757D"/>
                </a:solidFill>
                <a:latin typeface="Arial" pitchFamily="34" charset="0"/>
                <a:ea typeface="Arial" pitchFamily="34" charset="-122"/>
                <a:cs typeface="Arial" pitchFamily="34" charset="-120"/>
              </a:rPr>
              <a:t> Full fine-tune (enc-dec), LoRA (Llama)</a:t>
            </a:r>
            <a:endParaRPr lang="en-US" sz="750" dirty="0"/>
          </a:p>
        </p:txBody>
      </p:sp>
      <p:sp>
        <p:nvSpPr>
          <p:cNvPr id="17" name="Text 15"/>
          <p:cNvSpPr/>
          <p:nvPr/>
        </p:nvSpPr>
        <p:spPr>
          <a:xfrm>
            <a:off x="381000" y="3206055"/>
            <a:ext cx="8382000" cy="874365"/>
          </a:xfrm>
          <a:prstGeom prst="roundRect">
            <a:avLst>
              <a:gd name="adj" fmla="val 8715"/>
            </a:avLst>
          </a:prstGeom>
          <a:solidFill>
            <a:srgbClr val="1A5276"/>
          </a:solidFill>
          <a:ln/>
        </p:spPr>
        <p:txBody>
          <a:bodyPr wrap="square" rtlCol="0" anchor="ctr"/>
          <a:lstStyle/>
          <a:p>
            <a:pPr marL="0" indent="0">
              <a:buNone/>
            </a:pPr>
            <a:endParaRPr lang="en-US" dirty="0"/>
          </a:p>
        </p:txBody>
      </p:sp>
      <p:sp>
        <p:nvSpPr>
          <p:cNvPr id="18" name="Text 16"/>
          <p:cNvSpPr/>
          <p:nvPr/>
        </p:nvSpPr>
        <p:spPr>
          <a:xfrm>
            <a:off x="514350" y="3377505"/>
            <a:ext cx="8277606"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FFFFFF"/>
                </a:solidFill>
                <a:latin typeface="Arial" pitchFamily="34" charset="0"/>
                <a:ea typeface="Arial" pitchFamily="34" charset="-122"/>
                <a:cs typeface="Arial" pitchFamily="34" charset="-120"/>
              </a:rPr>
              <a:t>Hypothesis</a:t>
            </a:r>
            <a:endParaRPr lang="en-US" sz="900" dirty="0"/>
          </a:p>
        </p:txBody>
      </p:sp>
      <p:sp>
        <p:nvSpPr>
          <p:cNvPr id="19" name="Text 17"/>
          <p:cNvSpPr/>
          <p:nvPr/>
        </p:nvSpPr>
        <p:spPr>
          <a:xfrm>
            <a:off x="514350" y="3594646"/>
            <a:ext cx="8277606" cy="314325"/>
          </a:xfrm>
          <a:prstGeom prst="rect">
            <a:avLst/>
          </a:prstGeom>
          <a:noFill/>
          <a:ln/>
        </p:spPr>
        <p:txBody>
          <a:bodyPr wrap="square" lIns="0" tIns="0" rIns="0" bIns="0" rtlCol="0" anchor="t"/>
          <a:lstStyle/>
          <a:p>
            <a:pPr marL="0" indent="0" algn="l">
              <a:lnSpc>
                <a:spcPts val="1238"/>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If code-mixing follows universal patterns (e.g., matrix language structure, similar switch points), then models should learn language-agnostic summarization abilities that transfer across language boundaries. LLMs with broader multilingual pre-training may transfer better than traditional multilingual models.</a:t>
            </a:r>
            <a:endParaRPr lang="en-US" sz="8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284536"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Models and Architectures</a:t>
            </a:r>
            <a:endParaRPr lang="en-US" sz="2250" dirty="0"/>
          </a:p>
        </p:txBody>
      </p:sp>
      <p:sp>
        <p:nvSpPr>
          <p:cNvPr id="3" name="Text 1"/>
          <p:cNvSpPr/>
          <p:nvPr/>
        </p:nvSpPr>
        <p:spPr>
          <a:xfrm>
            <a:off x="381000" y="2762250"/>
            <a:ext cx="2692450" cy="756196"/>
          </a:xfrm>
          <a:prstGeom prst="roundRect">
            <a:avLst>
              <a:gd name="adj" fmla="val 10077"/>
            </a:avLst>
          </a:prstGeom>
          <a:solidFill>
            <a:srgbClr val="F8F9FA"/>
          </a:solidFill>
          <a:ln/>
        </p:spPr>
        <p:txBody>
          <a:bodyPr wrap="square" rtlCol="0" anchor="ctr"/>
          <a:lstStyle/>
          <a:p>
            <a:pPr marL="0" indent="0">
              <a:buNone/>
            </a:pPr>
            <a:endParaRPr lang="en-US" dirty="0"/>
          </a:p>
        </p:txBody>
      </p:sp>
      <p:sp>
        <p:nvSpPr>
          <p:cNvPr id="4" name="Shape 2"/>
          <p:cNvSpPr/>
          <p:nvPr/>
        </p:nvSpPr>
        <p:spPr>
          <a:xfrm>
            <a:off x="400050" y="2762250"/>
            <a:ext cx="0" cy="756196"/>
          </a:xfrm>
          <a:prstGeom prst="line">
            <a:avLst/>
          </a:prstGeom>
          <a:noFill/>
          <a:ln w="38100">
            <a:solidFill>
              <a:srgbClr val="4ECDC4"/>
            </a:solidFill>
            <a:prstDash val="solid"/>
          </a:ln>
        </p:spPr>
        <p:txBody>
          <a:bodyPr/>
          <a:lstStyle/>
          <a:p>
            <a:endParaRPr lang="en-US"/>
          </a:p>
        </p:txBody>
      </p:sp>
      <p:sp>
        <p:nvSpPr>
          <p:cNvPr id="5" name="Text 3"/>
          <p:cNvSpPr/>
          <p:nvPr/>
        </p:nvSpPr>
        <p:spPr>
          <a:xfrm>
            <a:off x="533400" y="2914650"/>
            <a:ext cx="2474265" cy="146596"/>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b="1" dirty="0">
                <a:solidFill>
                  <a:srgbClr val="1A5276"/>
                </a:solidFill>
                <a:latin typeface="Arial" pitchFamily="34" charset="0"/>
                <a:ea typeface="Arial" pitchFamily="34" charset="-122"/>
                <a:cs typeface="Arial" pitchFamily="34" charset="-120"/>
              </a:rPr>
              <a:t>Encoder-Decoder</a:t>
            </a:r>
            <a:endParaRPr lang="en-US" sz="825" dirty="0"/>
          </a:p>
        </p:txBody>
      </p:sp>
      <p:sp>
        <p:nvSpPr>
          <p:cNvPr id="6" name="Text 4"/>
          <p:cNvSpPr/>
          <p:nvPr/>
        </p:nvSpPr>
        <p:spPr>
          <a:xfrm>
            <a:off x="533400" y="3099346"/>
            <a:ext cx="2474265" cy="26670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Bidirectional encoding, autoregressive decoding. Traditional approach for seq2seq tasks.</a:t>
            </a:r>
            <a:endParaRPr lang="en-US" sz="750" dirty="0"/>
          </a:p>
        </p:txBody>
      </p:sp>
      <p:sp>
        <p:nvSpPr>
          <p:cNvPr id="7" name="Text 5"/>
          <p:cNvSpPr/>
          <p:nvPr/>
        </p:nvSpPr>
        <p:spPr>
          <a:xfrm>
            <a:off x="3225850" y="2762250"/>
            <a:ext cx="2692450" cy="756196"/>
          </a:xfrm>
          <a:prstGeom prst="roundRect">
            <a:avLst>
              <a:gd name="adj" fmla="val 10077"/>
            </a:avLst>
          </a:prstGeom>
          <a:solidFill>
            <a:srgbClr val="F8F9FA"/>
          </a:solidFill>
          <a:ln/>
        </p:spPr>
        <p:txBody>
          <a:bodyPr wrap="square" rtlCol="0" anchor="ctr"/>
          <a:lstStyle/>
          <a:p>
            <a:pPr marL="0" indent="0">
              <a:buNone/>
            </a:pPr>
            <a:endParaRPr lang="en-US" dirty="0"/>
          </a:p>
        </p:txBody>
      </p:sp>
      <p:sp>
        <p:nvSpPr>
          <p:cNvPr id="8" name="Shape 6"/>
          <p:cNvSpPr/>
          <p:nvPr/>
        </p:nvSpPr>
        <p:spPr>
          <a:xfrm>
            <a:off x="3244900" y="2762250"/>
            <a:ext cx="0" cy="756196"/>
          </a:xfrm>
          <a:prstGeom prst="line">
            <a:avLst/>
          </a:prstGeom>
          <a:noFill/>
          <a:ln w="38100">
            <a:solidFill>
              <a:srgbClr val="E74C3C"/>
            </a:solidFill>
            <a:prstDash val="solid"/>
          </a:ln>
        </p:spPr>
        <p:txBody>
          <a:bodyPr/>
          <a:lstStyle/>
          <a:p>
            <a:endParaRPr lang="en-US"/>
          </a:p>
        </p:txBody>
      </p:sp>
      <p:sp>
        <p:nvSpPr>
          <p:cNvPr id="9" name="Text 7"/>
          <p:cNvSpPr/>
          <p:nvPr/>
        </p:nvSpPr>
        <p:spPr>
          <a:xfrm>
            <a:off x="3378250" y="2914650"/>
            <a:ext cx="2474265" cy="146596"/>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b="1" dirty="0">
                <a:solidFill>
                  <a:srgbClr val="1A5276"/>
                </a:solidFill>
                <a:latin typeface="Arial" pitchFamily="34" charset="0"/>
                <a:ea typeface="Arial" pitchFamily="34" charset="-122"/>
                <a:cs typeface="Arial" pitchFamily="34" charset="-120"/>
              </a:rPr>
              <a:t>Decoder-Only (LLM)</a:t>
            </a:r>
            <a:endParaRPr lang="en-US" sz="825" dirty="0"/>
          </a:p>
        </p:txBody>
      </p:sp>
      <p:sp>
        <p:nvSpPr>
          <p:cNvPr id="10" name="Text 8"/>
          <p:cNvSpPr/>
          <p:nvPr/>
        </p:nvSpPr>
        <p:spPr>
          <a:xfrm>
            <a:off x="3378250" y="3099346"/>
            <a:ext cx="2474265" cy="26670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Autoregressive only. Uses instruction format. Broader pre-training on diverse data.</a:t>
            </a:r>
            <a:endParaRPr lang="en-US" sz="750" dirty="0"/>
          </a:p>
        </p:txBody>
      </p:sp>
      <p:sp>
        <p:nvSpPr>
          <p:cNvPr id="11" name="Text 9"/>
          <p:cNvSpPr/>
          <p:nvPr/>
        </p:nvSpPr>
        <p:spPr>
          <a:xfrm>
            <a:off x="6070699" y="2762250"/>
            <a:ext cx="2692450" cy="756196"/>
          </a:xfrm>
          <a:prstGeom prst="roundRect">
            <a:avLst>
              <a:gd name="adj" fmla="val 10077"/>
            </a:avLst>
          </a:prstGeom>
          <a:solidFill>
            <a:srgbClr val="F8F9FA"/>
          </a:solidFill>
          <a:ln/>
        </p:spPr>
        <p:txBody>
          <a:bodyPr wrap="square" rtlCol="0" anchor="ctr"/>
          <a:lstStyle/>
          <a:p>
            <a:pPr marL="0" indent="0">
              <a:buNone/>
            </a:pPr>
            <a:endParaRPr lang="en-US" dirty="0"/>
          </a:p>
        </p:txBody>
      </p:sp>
      <p:sp>
        <p:nvSpPr>
          <p:cNvPr id="12" name="Shape 10"/>
          <p:cNvSpPr/>
          <p:nvPr/>
        </p:nvSpPr>
        <p:spPr>
          <a:xfrm>
            <a:off x="6089749" y="2762250"/>
            <a:ext cx="0" cy="756196"/>
          </a:xfrm>
          <a:prstGeom prst="line">
            <a:avLst/>
          </a:prstGeom>
          <a:noFill/>
          <a:ln w="38100">
            <a:solidFill>
              <a:srgbClr val="F39C12"/>
            </a:solidFill>
            <a:prstDash val="solid"/>
          </a:ln>
        </p:spPr>
        <p:txBody>
          <a:bodyPr/>
          <a:lstStyle/>
          <a:p>
            <a:endParaRPr lang="en-US"/>
          </a:p>
        </p:txBody>
      </p:sp>
      <p:sp>
        <p:nvSpPr>
          <p:cNvPr id="13" name="Text 11"/>
          <p:cNvSpPr/>
          <p:nvPr/>
        </p:nvSpPr>
        <p:spPr>
          <a:xfrm>
            <a:off x="6223099" y="2914650"/>
            <a:ext cx="2474265" cy="146596"/>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b="1" dirty="0">
                <a:solidFill>
                  <a:srgbClr val="1A5276"/>
                </a:solidFill>
                <a:latin typeface="Arial" pitchFamily="34" charset="0"/>
                <a:ea typeface="Arial" pitchFamily="34" charset="-122"/>
                <a:cs typeface="Arial" pitchFamily="34" charset="-120"/>
              </a:rPr>
              <a:t>LoRA</a:t>
            </a:r>
            <a:endParaRPr lang="en-US" sz="825" dirty="0"/>
          </a:p>
        </p:txBody>
      </p:sp>
      <p:sp>
        <p:nvSpPr>
          <p:cNvPr id="14" name="Text 12"/>
          <p:cNvSpPr/>
          <p:nvPr/>
        </p:nvSpPr>
        <p:spPr>
          <a:xfrm>
            <a:off x="6223099" y="3099346"/>
            <a:ext cx="2474265" cy="26670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Low-Rank Adaptation. Trains only ~0.1% of parameters. Memory efficient.</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91440"/>
            <a:ext cx="8595360" cy="457200"/>
          </a:xfrm>
          <a:prstGeom prst="rect">
            <a:avLst/>
          </a:prstGeom>
          <a:noFill/>
        </p:spPr>
        <p:txBody>
          <a:bodyPr wrap="none">
            <a:spAutoFit/>
          </a:bodyPr>
          <a:lstStyle/>
          <a:p>
            <a:pPr>
              <a:defRPr sz="2400" b="1">
                <a:solidFill>
                  <a:srgbClr val="1A5276"/>
                </a:solidFill>
              </a:defRPr>
            </a:pPr>
            <a:r>
              <a:t>Architecture Comparison: Encoder-Decoder vs Decoder-Only</a:t>
            </a:r>
          </a:p>
        </p:txBody>
      </p:sp>
      <p:sp>
        <p:nvSpPr>
          <p:cNvPr id="3" name="Rounded Rectangle 2"/>
          <p:cNvSpPr/>
          <p:nvPr/>
        </p:nvSpPr>
        <p:spPr>
          <a:xfrm>
            <a:off x="274320" y="640080"/>
            <a:ext cx="4114800" cy="365760"/>
          </a:xfrm>
          <a:prstGeom prst="round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pPr>
            <a:r>
              <a:t>Encoder-Decoder (mBART-50)</a:t>
            </a:r>
          </a:p>
        </p:txBody>
      </p:sp>
      <p:sp>
        <p:nvSpPr>
          <p:cNvPr id="4" name="Rounded Rectangle 3"/>
          <p:cNvSpPr/>
          <p:nvPr/>
        </p:nvSpPr>
        <p:spPr>
          <a:xfrm>
            <a:off x="365760" y="1143000"/>
            <a:ext cx="1645920" cy="457200"/>
          </a:xfrm>
          <a:prstGeom prst="roundRect">
            <a:avLst/>
          </a:prstGeom>
          <a:solidFill>
            <a:srgbClr val="F8F9FA"/>
          </a:solidFill>
          <a:ln>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pPr>
            <a:r>
              <a:rPr dirty="0">
                <a:solidFill>
                  <a:schemeClr val="tx1"/>
                </a:solidFill>
              </a:rPr>
              <a:t>Code-Mixed Input</a:t>
            </a:r>
          </a:p>
        </p:txBody>
      </p:sp>
      <p:sp>
        <p:nvSpPr>
          <p:cNvPr id="5" name="Right Arrow 4"/>
          <p:cNvSpPr/>
          <p:nvPr/>
        </p:nvSpPr>
        <p:spPr>
          <a:xfrm>
            <a:off x="2103120" y="1234440"/>
            <a:ext cx="365760" cy="228600"/>
          </a:xfrm>
          <a:prstGeom prst="rightArrow">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560320" y="1051560"/>
            <a:ext cx="914400" cy="640080"/>
          </a:xfrm>
          <a:prstGeom prst="round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Encoder</a:t>
            </a:r>
          </a:p>
        </p:txBody>
      </p:sp>
      <p:sp>
        <p:nvSpPr>
          <p:cNvPr id="7" name="Down Arrow 6"/>
          <p:cNvSpPr/>
          <p:nvPr/>
        </p:nvSpPr>
        <p:spPr>
          <a:xfrm>
            <a:off x="2834640" y="1783080"/>
            <a:ext cx="274320" cy="320040"/>
          </a:xfrm>
          <a:prstGeom prst="downArrow">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560320" y="2194560"/>
            <a:ext cx="91440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Decoder</a:t>
            </a:r>
          </a:p>
        </p:txBody>
      </p:sp>
      <p:sp>
        <p:nvSpPr>
          <p:cNvPr id="9" name="Right Arrow 8"/>
          <p:cNvSpPr/>
          <p:nvPr/>
        </p:nvSpPr>
        <p:spPr>
          <a:xfrm>
            <a:off x="3566160" y="2377440"/>
            <a:ext cx="365760" cy="228600"/>
          </a:xfrm>
          <a:prstGeom prst="rightArrow">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023360" y="2286000"/>
            <a:ext cx="365760" cy="41148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2926080"/>
            <a:ext cx="2743200" cy="707886"/>
          </a:xfrm>
          <a:prstGeom prst="rect">
            <a:avLst/>
          </a:prstGeom>
          <a:noFill/>
        </p:spPr>
        <p:txBody>
          <a:bodyPr wrap="square">
            <a:spAutoFit/>
          </a:bodyPr>
          <a:lstStyle/>
          <a:p>
            <a:pPr>
              <a:defRPr sz="1000">
                <a:solidFill>
                  <a:srgbClr val="2C3E50"/>
                </a:solidFill>
              </a:defRPr>
            </a:pPr>
            <a:r>
              <a:t>• Bidirectional context in encoder</a:t>
            </a:r>
          </a:p>
          <a:p>
            <a:pPr>
              <a:defRPr sz="1000">
                <a:solidFill>
                  <a:srgbClr val="2C3E50"/>
                </a:solidFill>
              </a:defRPr>
            </a:pPr>
            <a:r>
              <a:t>• Cross-attention: decoder attends to encoder</a:t>
            </a:r>
          </a:p>
          <a:p>
            <a:pPr>
              <a:defRPr sz="1000">
                <a:solidFill>
                  <a:srgbClr val="2C3E50"/>
                </a:solidFill>
              </a:defRPr>
            </a:pPr>
            <a:r>
              <a:t>• 611M params, full fine-tuning</a:t>
            </a:r>
          </a:p>
          <a:p>
            <a:pPr>
              <a:defRPr sz="1000" b="1">
                <a:solidFill>
                  <a:srgbClr val="27AE60"/>
                </a:solidFill>
              </a:defRPr>
            </a:pPr>
            <a:r>
              <a:t>• Result: 102% transfer rate</a:t>
            </a:r>
          </a:p>
        </p:txBody>
      </p:sp>
      <p:sp>
        <p:nvSpPr>
          <p:cNvPr id="12" name="Rounded Rectangle 11"/>
          <p:cNvSpPr/>
          <p:nvPr/>
        </p:nvSpPr>
        <p:spPr>
          <a:xfrm>
            <a:off x="4572000" y="640080"/>
            <a:ext cx="411480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Decoder-Only (Llama-3.2-3B)</a:t>
            </a:r>
          </a:p>
        </p:txBody>
      </p:sp>
      <p:sp>
        <p:nvSpPr>
          <p:cNvPr id="13" name="Rounded Rectangle 12"/>
          <p:cNvSpPr/>
          <p:nvPr/>
        </p:nvSpPr>
        <p:spPr>
          <a:xfrm>
            <a:off x="4663440" y="1143000"/>
            <a:ext cx="1828800" cy="457200"/>
          </a:xfrm>
          <a:prstGeom prst="roundRect">
            <a:avLst/>
          </a:prstGeom>
          <a:solidFill>
            <a:srgbClr val="F8F9FA"/>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pPr>
            <a:r>
              <a:rPr dirty="0">
                <a:solidFill>
                  <a:schemeClr val="tx1"/>
                </a:solidFill>
              </a:rPr>
              <a:t>Instruction + Input</a:t>
            </a:r>
          </a:p>
        </p:txBody>
      </p:sp>
      <p:sp>
        <p:nvSpPr>
          <p:cNvPr id="14" name="Down Arrow 13"/>
          <p:cNvSpPr/>
          <p:nvPr/>
        </p:nvSpPr>
        <p:spPr>
          <a:xfrm>
            <a:off x="5440680" y="1691640"/>
            <a:ext cx="274320" cy="320040"/>
          </a:xfrm>
          <a:prstGeom prst="downArrow">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846320" y="2103120"/>
            <a:ext cx="1463040" cy="27432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FFFFFF"/>
                </a:solidFill>
              </a:defRPr>
            </a:pPr>
            <a:r>
              <a:t>Transformer Layer</a:t>
            </a:r>
          </a:p>
        </p:txBody>
      </p:sp>
      <p:sp>
        <p:nvSpPr>
          <p:cNvPr id="16" name="Rounded Rectangle 15"/>
          <p:cNvSpPr/>
          <p:nvPr/>
        </p:nvSpPr>
        <p:spPr>
          <a:xfrm>
            <a:off x="4846320" y="2423160"/>
            <a:ext cx="1463040" cy="274320"/>
          </a:xfrm>
          <a:prstGeom prst="roundRect">
            <a:avLst/>
          </a:prstGeom>
          <a:solidFill>
            <a:srgbClr val="F5B7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2C3E50"/>
                </a:solidFill>
              </a:defRPr>
            </a:pPr>
            <a:r>
              <a:t>...</a:t>
            </a:r>
          </a:p>
        </p:txBody>
      </p:sp>
      <p:sp>
        <p:nvSpPr>
          <p:cNvPr id="17" name="Rounded Rectangle 16"/>
          <p:cNvSpPr/>
          <p:nvPr/>
        </p:nvSpPr>
        <p:spPr>
          <a:xfrm>
            <a:off x="4846320" y="2743200"/>
            <a:ext cx="1463040" cy="274320"/>
          </a:xfrm>
          <a:prstGeom prst="roundRect">
            <a:avLst/>
          </a:prstGeom>
          <a:solidFill>
            <a:srgbClr val="F5B7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2C3E50"/>
                </a:solidFill>
              </a:defRPr>
            </a:pPr>
            <a:r>
              <a:t>...</a:t>
            </a:r>
          </a:p>
        </p:txBody>
      </p:sp>
      <p:sp>
        <p:nvSpPr>
          <p:cNvPr id="18" name="Right Arrow 17"/>
          <p:cNvSpPr/>
          <p:nvPr/>
        </p:nvSpPr>
        <p:spPr>
          <a:xfrm>
            <a:off x="6400800" y="2377440"/>
            <a:ext cx="365760" cy="228600"/>
          </a:xfrm>
          <a:prstGeom prst="rightArrow">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858000" y="2103120"/>
            <a:ext cx="1645920" cy="64008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pPr>
            <a:r>
              <a:t>LoRA Adapters</a:t>
            </a:r>
          </a:p>
          <a:p>
            <a:pPr algn="ctr">
              <a:defRPr sz="900"/>
            </a:pPr>
            <a:r>
              <a:t>(0.1% params)</a:t>
            </a:r>
          </a:p>
        </p:txBody>
      </p:sp>
      <p:sp>
        <p:nvSpPr>
          <p:cNvPr id="20" name="TextBox 19"/>
          <p:cNvSpPr txBox="1"/>
          <p:nvPr/>
        </p:nvSpPr>
        <p:spPr>
          <a:xfrm>
            <a:off x="4682359" y="2989660"/>
            <a:ext cx="2462574" cy="707886"/>
          </a:xfrm>
          <a:prstGeom prst="rect">
            <a:avLst/>
          </a:prstGeom>
          <a:noFill/>
        </p:spPr>
        <p:txBody>
          <a:bodyPr wrap="square">
            <a:spAutoFit/>
          </a:bodyPr>
          <a:lstStyle/>
          <a:p>
            <a:pPr>
              <a:defRPr sz="1000">
                <a:solidFill>
                  <a:srgbClr val="2C3E50"/>
                </a:solidFill>
              </a:defRPr>
            </a:pPr>
            <a:r>
              <a:rPr dirty="0"/>
              <a:t>• Autoregressive: causal attention only</a:t>
            </a:r>
          </a:p>
          <a:p>
            <a:pPr>
              <a:defRPr sz="1000">
                <a:solidFill>
                  <a:srgbClr val="2C3E50"/>
                </a:solidFill>
              </a:defRPr>
            </a:pPr>
            <a:r>
              <a:rPr dirty="0"/>
              <a:t>• Instruction-tuned for following prompts</a:t>
            </a:r>
          </a:p>
          <a:p>
            <a:pPr>
              <a:defRPr sz="1000">
                <a:solidFill>
                  <a:srgbClr val="2C3E50"/>
                </a:solidFill>
              </a:defRPr>
            </a:pPr>
            <a:r>
              <a:rPr dirty="0"/>
              <a:t>• 3B params, </a:t>
            </a:r>
            <a:r>
              <a:rPr dirty="0" err="1"/>
              <a:t>LoRA</a:t>
            </a:r>
            <a:r>
              <a:rPr dirty="0"/>
              <a:t> fine-tuning (efficient)</a:t>
            </a:r>
          </a:p>
          <a:p>
            <a:pPr>
              <a:defRPr sz="1000" b="1">
                <a:solidFill>
                  <a:srgbClr val="E74C3C"/>
                </a:solidFill>
              </a:defRPr>
            </a:pPr>
            <a:r>
              <a:rPr dirty="0"/>
              <a:t>• Result: 147% transfer rate</a:t>
            </a:r>
          </a:p>
        </p:txBody>
      </p:sp>
      <p:sp>
        <p:nvSpPr>
          <p:cNvPr id="21" name="Rounded Rectangle 20"/>
          <p:cNvSpPr/>
          <p:nvPr/>
        </p:nvSpPr>
        <p:spPr>
          <a:xfrm>
            <a:off x="2286000" y="4114800"/>
            <a:ext cx="4389120" cy="411480"/>
          </a:xfrm>
          <a:prstGeom prst="round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Winner: Decoder-Only (147% vs 102% transfer rate)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91440"/>
            <a:ext cx="8595360" cy="457200"/>
          </a:xfrm>
          <a:prstGeom prst="rect">
            <a:avLst/>
          </a:prstGeom>
          <a:noFill/>
        </p:spPr>
        <p:txBody>
          <a:bodyPr wrap="none">
            <a:spAutoFit/>
          </a:bodyPr>
          <a:lstStyle/>
          <a:p>
            <a:pPr>
              <a:defRPr sz="2400" b="1">
                <a:solidFill>
                  <a:srgbClr val="1A5276"/>
                </a:solidFill>
              </a:defRPr>
            </a:pPr>
            <a:r>
              <a:t>LoRA: Low-Rank Adaptation for Efficient Fine-tuning</a:t>
            </a:r>
          </a:p>
        </p:txBody>
      </p:sp>
      <p:sp>
        <p:nvSpPr>
          <p:cNvPr id="3" name="Rounded Rectangle 2"/>
          <p:cNvSpPr/>
          <p:nvPr/>
        </p:nvSpPr>
        <p:spPr>
          <a:xfrm>
            <a:off x="274320" y="731519"/>
            <a:ext cx="3200400" cy="2011680"/>
          </a:xfrm>
          <a:prstGeom prst="round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dirty="0"/>
              <a:t>Pre-trained Weights</a:t>
            </a:r>
          </a:p>
          <a:p>
            <a:pPr algn="ctr">
              <a:defRPr sz="1200">
                <a:solidFill>
                  <a:srgbClr val="BBDEFB"/>
                </a:solidFill>
              </a:defRPr>
            </a:pPr>
            <a:r>
              <a:rPr dirty="0"/>
              <a:t>(FROZEN)</a:t>
            </a:r>
          </a:p>
          <a:p>
            <a:pPr algn="ctr">
              <a:defRPr sz="1400">
                <a:solidFill>
                  <a:srgbClr val="FFFFFF"/>
                </a:solidFill>
              </a:defRPr>
            </a:pPr>
            <a:r>
              <a:rPr dirty="0"/>
              <a:t>W ∈ </a:t>
            </a:r>
            <a:r>
              <a:rPr dirty="0" err="1"/>
              <a:t>ℝᵈˣ</a:t>
            </a:r>
            <a:r>
              <a:rPr dirty="0"/>
              <a:t>ᵈ</a:t>
            </a:r>
          </a:p>
          <a:p>
            <a:pPr algn="ctr">
              <a:defRPr sz="1100">
                <a:solidFill>
                  <a:srgbClr val="BBDEFB"/>
                </a:solidFill>
              </a:defRPr>
            </a:pPr>
            <a:r>
              <a:rPr dirty="0"/>
              <a:t>3 Billion params</a:t>
            </a:r>
          </a:p>
        </p:txBody>
      </p:sp>
      <p:sp>
        <p:nvSpPr>
          <p:cNvPr id="4" name="TextBox 3"/>
          <p:cNvSpPr txBox="1"/>
          <p:nvPr/>
        </p:nvSpPr>
        <p:spPr>
          <a:xfrm>
            <a:off x="3657600" y="1463040"/>
            <a:ext cx="457200" cy="457200"/>
          </a:xfrm>
          <a:prstGeom prst="rect">
            <a:avLst/>
          </a:prstGeom>
          <a:noFill/>
        </p:spPr>
        <p:txBody>
          <a:bodyPr wrap="none">
            <a:spAutoFit/>
          </a:bodyPr>
          <a:lstStyle/>
          <a:p>
            <a:pPr>
              <a:defRPr sz="3600" b="1">
                <a:solidFill>
                  <a:srgbClr val="1A5276"/>
                </a:solidFill>
              </a:defRPr>
            </a:pPr>
            <a:r>
              <a:rPr dirty="0"/>
              <a:t>+</a:t>
            </a:r>
          </a:p>
        </p:txBody>
      </p:sp>
      <p:sp>
        <p:nvSpPr>
          <p:cNvPr id="5" name="Rounded Rectangle 4"/>
          <p:cNvSpPr/>
          <p:nvPr/>
        </p:nvSpPr>
        <p:spPr>
          <a:xfrm>
            <a:off x="4206240" y="731519"/>
            <a:ext cx="3200400" cy="201168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LoRA Adapters</a:t>
            </a:r>
          </a:p>
          <a:p>
            <a:pPr algn="ctr">
              <a:defRPr sz="1200">
                <a:solidFill>
                  <a:srgbClr val="7D6A09"/>
                </a:solidFill>
              </a:defRPr>
            </a:pPr>
            <a:r>
              <a:t>(TRAINABLE)</a:t>
            </a:r>
          </a:p>
          <a:p>
            <a:pPr algn="ctr">
              <a:defRPr sz="1400"/>
            </a:pPr>
            <a:r>
              <a:t>ΔW = A × B</a:t>
            </a:r>
          </a:p>
          <a:p>
            <a:pPr algn="ctr">
              <a:defRPr sz="1100"/>
            </a:pPr>
            <a:r>
              <a:t>A ∈ ℝᵈˣʳ, B ∈ ℝʳˣᵈ</a:t>
            </a:r>
          </a:p>
          <a:p>
            <a:pPr algn="ctr">
              <a:defRPr sz="1100">
                <a:solidFill>
                  <a:srgbClr val="7D6A09"/>
                </a:solidFill>
              </a:defRPr>
            </a:pPr>
            <a:r>
              <a:t>~3 Million params (0.1%)</a:t>
            </a:r>
          </a:p>
        </p:txBody>
      </p:sp>
      <p:sp>
        <p:nvSpPr>
          <p:cNvPr id="6" name="TextBox 5"/>
          <p:cNvSpPr txBox="1"/>
          <p:nvPr/>
        </p:nvSpPr>
        <p:spPr>
          <a:xfrm>
            <a:off x="7443951" y="1414193"/>
            <a:ext cx="382577" cy="646331"/>
          </a:xfrm>
          <a:prstGeom prst="rect">
            <a:avLst/>
          </a:prstGeom>
          <a:noFill/>
        </p:spPr>
        <p:txBody>
          <a:bodyPr wrap="square">
            <a:spAutoFit/>
          </a:bodyPr>
          <a:lstStyle/>
          <a:p>
            <a:pPr>
              <a:defRPr sz="3600" b="1">
                <a:solidFill>
                  <a:srgbClr val="1A5276"/>
                </a:solidFill>
              </a:defRPr>
            </a:pPr>
            <a:r>
              <a:rPr dirty="0"/>
              <a:t>=</a:t>
            </a:r>
          </a:p>
        </p:txBody>
      </p:sp>
      <p:sp>
        <p:nvSpPr>
          <p:cNvPr id="7" name="Rounded Rectangle 6"/>
          <p:cNvSpPr/>
          <p:nvPr/>
        </p:nvSpPr>
        <p:spPr>
          <a:xfrm>
            <a:off x="7863840" y="1097280"/>
            <a:ext cx="1097280" cy="109728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W'</a:t>
            </a:r>
          </a:p>
        </p:txBody>
      </p:sp>
      <p:sp>
        <p:nvSpPr>
          <p:cNvPr id="8" name="Rounded Rectangle 7"/>
          <p:cNvSpPr/>
          <p:nvPr/>
        </p:nvSpPr>
        <p:spPr>
          <a:xfrm>
            <a:off x="274320" y="3017520"/>
            <a:ext cx="2743200" cy="1005840"/>
          </a:xfrm>
          <a:prstGeom prst="round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Memory Efficient</a:t>
            </a:r>
          </a:p>
          <a:p>
            <a:pPr algn="ctr">
              <a:defRPr sz="1000">
                <a:solidFill>
                  <a:srgbClr val="FFFFFF"/>
                </a:solidFill>
              </a:defRPr>
            </a:pPr>
            <a:r>
              <a:t>Only store small adapters</a:t>
            </a:r>
            <a:br/>
            <a:r>
              <a:t>not full model copies</a:t>
            </a:r>
          </a:p>
        </p:txBody>
      </p:sp>
      <p:sp>
        <p:nvSpPr>
          <p:cNvPr id="9" name="Rounded Rectangle 8"/>
          <p:cNvSpPr/>
          <p:nvPr/>
        </p:nvSpPr>
        <p:spPr>
          <a:xfrm>
            <a:off x="3296044" y="3017520"/>
            <a:ext cx="2743200" cy="100584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Fast Training</a:t>
            </a:r>
          </a:p>
          <a:p>
            <a:pPr algn="ctr">
              <a:defRPr sz="1000">
                <a:solidFill>
                  <a:srgbClr val="FFFFFF"/>
                </a:solidFill>
              </a:defRPr>
            </a:pPr>
            <a:r>
              <a:t>Update 0.1% of params</a:t>
            </a:r>
            <a:br/>
            <a:r>
              <a:t>= 1000x fewer gradients</a:t>
            </a:r>
          </a:p>
        </p:txBody>
      </p:sp>
      <p:sp>
        <p:nvSpPr>
          <p:cNvPr id="10" name="Rounded Rectangle 9"/>
          <p:cNvSpPr/>
          <p:nvPr/>
        </p:nvSpPr>
        <p:spPr>
          <a:xfrm>
            <a:off x="6309360" y="3017520"/>
            <a:ext cx="2743200" cy="10058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Preserves Knowledge</a:t>
            </a:r>
          </a:p>
          <a:p>
            <a:pPr algn="ctr">
              <a:defRPr sz="1000">
                <a:solidFill>
                  <a:srgbClr val="FFFFFF"/>
                </a:solidFill>
              </a:defRPr>
            </a:pPr>
            <a:r>
              <a:t>Original weights frozen</a:t>
            </a:r>
            <a:br/>
            <a:r>
              <a:t>no catastrophic forgetting</a:t>
            </a:r>
          </a:p>
        </p:txBody>
      </p:sp>
      <p:sp>
        <p:nvSpPr>
          <p:cNvPr id="11" name="Rounded Rectangle 10"/>
          <p:cNvSpPr/>
          <p:nvPr/>
        </p:nvSpPr>
        <p:spPr>
          <a:xfrm>
            <a:off x="274320" y="4160520"/>
            <a:ext cx="8778240" cy="365760"/>
          </a:xfrm>
          <a:prstGeom prst="round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defRPr>
            </a:pPr>
            <a:r>
              <a:t>Our Config: rank r=16, α=32, targets: q_proj, v_proj, k_proj, o_proj</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91440"/>
            <a:ext cx="8595360" cy="457200"/>
          </a:xfrm>
          <a:prstGeom prst="rect">
            <a:avLst/>
          </a:prstGeom>
          <a:noFill/>
        </p:spPr>
        <p:txBody>
          <a:bodyPr wrap="none">
            <a:spAutoFit/>
          </a:bodyPr>
          <a:lstStyle/>
          <a:p>
            <a:pPr>
              <a:defRPr sz="2600" b="1">
                <a:solidFill>
                  <a:srgbClr val="1A5276"/>
                </a:solidFill>
              </a:defRPr>
            </a:pPr>
            <a:r>
              <a:t>Zero-Shot Transfer Pipeline</a:t>
            </a:r>
          </a:p>
        </p:txBody>
      </p:sp>
      <p:sp>
        <p:nvSpPr>
          <p:cNvPr id="3" name="Rounded Rectangle 2"/>
          <p:cNvSpPr/>
          <p:nvPr/>
        </p:nvSpPr>
        <p:spPr>
          <a:xfrm>
            <a:off x="274320" y="640080"/>
            <a:ext cx="2377440" cy="411480"/>
          </a:xfrm>
          <a:prstGeom prst="round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pPr>
            <a:r>
              <a:t>Training Data (IN-DOMAIN)</a:t>
            </a:r>
          </a:p>
        </p:txBody>
      </p:sp>
      <p:sp>
        <p:nvSpPr>
          <p:cNvPr id="4" name="Rounded Rectangle 3"/>
          <p:cNvSpPr/>
          <p:nvPr/>
        </p:nvSpPr>
        <p:spPr>
          <a:xfrm>
            <a:off x="365760" y="1143000"/>
            <a:ext cx="2194560" cy="329184"/>
          </a:xfrm>
          <a:prstGeom prst="roundRect">
            <a:avLst/>
          </a:prstGeom>
          <a:solidFill>
            <a:srgbClr val="E8F6F3"/>
          </a:solidFill>
          <a:ln>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pPr>
            <a:r>
              <a:rPr dirty="0">
                <a:solidFill>
                  <a:schemeClr val="tx1"/>
                </a:solidFill>
              </a:rPr>
              <a:t>Chinese-English</a:t>
            </a:r>
          </a:p>
        </p:txBody>
      </p:sp>
      <p:sp>
        <p:nvSpPr>
          <p:cNvPr id="5" name="Rounded Rectangle 4"/>
          <p:cNvSpPr/>
          <p:nvPr/>
        </p:nvSpPr>
        <p:spPr>
          <a:xfrm>
            <a:off x="365760" y="1527048"/>
            <a:ext cx="2194560" cy="329184"/>
          </a:xfrm>
          <a:prstGeom prst="roundRect">
            <a:avLst/>
          </a:prstGeom>
          <a:solidFill>
            <a:srgbClr val="E8F6F3"/>
          </a:solidFill>
          <a:ln>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pPr>
            <a:r>
              <a:rPr dirty="0">
                <a:solidFill>
                  <a:schemeClr val="tx1"/>
                </a:solidFill>
              </a:rPr>
              <a:t>Tamil-English</a:t>
            </a:r>
          </a:p>
        </p:txBody>
      </p:sp>
      <p:sp>
        <p:nvSpPr>
          <p:cNvPr id="6" name="Rounded Rectangle 5"/>
          <p:cNvSpPr/>
          <p:nvPr/>
        </p:nvSpPr>
        <p:spPr>
          <a:xfrm>
            <a:off x="365760" y="1911095"/>
            <a:ext cx="2194560" cy="329184"/>
          </a:xfrm>
          <a:prstGeom prst="roundRect">
            <a:avLst/>
          </a:prstGeom>
          <a:solidFill>
            <a:srgbClr val="E8F6F3"/>
          </a:solidFill>
          <a:ln>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pPr>
            <a:r>
              <a:rPr dirty="0">
                <a:solidFill>
                  <a:schemeClr val="tx1"/>
                </a:solidFill>
              </a:rPr>
              <a:t>Malay-English</a:t>
            </a:r>
          </a:p>
        </p:txBody>
      </p:sp>
      <p:sp>
        <p:nvSpPr>
          <p:cNvPr id="7" name="Right Arrow 6"/>
          <p:cNvSpPr/>
          <p:nvPr/>
        </p:nvSpPr>
        <p:spPr>
          <a:xfrm>
            <a:off x="2651760" y="1508760"/>
            <a:ext cx="457200" cy="274320"/>
          </a:xfrm>
          <a:prstGeom prst="rightArrow">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200400" y="1005840"/>
            <a:ext cx="2560320" cy="1371600"/>
          </a:xfrm>
          <a:prstGeom prst="round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dirty="0"/>
              <a:t>Llama-3.2-3B</a:t>
            </a:r>
          </a:p>
          <a:p>
            <a:pPr algn="ctr">
              <a:defRPr sz="1300">
                <a:solidFill>
                  <a:srgbClr val="F39C12"/>
                </a:solidFill>
              </a:defRPr>
            </a:pPr>
            <a:r>
              <a:rPr dirty="0"/>
              <a:t>+ </a:t>
            </a:r>
            <a:r>
              <a:rPr dirty="0" err="1"/>
              <a:t>LoRA</a:t>
            </a:r>
            <a:endParaRPr dirty="0"/>
          </a:p>
          <a:p>
            <a:pPr algn="ctr">
              <a:defRPr sz="1100">
                <a:solidFill>
                  <a:srgbClr val="BBDEFB"/>
                </a:solidFill>
              </a:defRPr>
            </a:pPr>
            <a:r>
              <a:rPr dirty="0"/>
              <a:t>Fine-tuned</a:t>
            </a:r>
          </a:p>
        </p:txBody>
      </p:sp>
      <p:sp>
        <p:nvSpPr>
          <p:cNvPr id="9" name="Right Arrow 8"/>
          <p:cNvSpPr/>
          <p:nvPr/>
        </p:nvSpPr>
        <p:spPr>
          <a:xfrm>
            <a:off x="5852160" y="1508760"/>
            <a:ext cx="457200" cy="274320"/>
          </a:xfrm>
          <a:prstGeom prst="rightArrow">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09360" y="640080"/>
            <a:ext cx="2560320" cy="41148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Zero-Shot Test (UNSEEN)</a:t>
            </a:r>
          </a:p>
        </p:txBody>
      </p:sp>
      <p:sp>
        <p:nvSpPr>
          <p:cNvPr id="11" name="Rounded Rectangle 10"/>
          <p:cNvSpPr/>
          <p:nvPr/>
        </p:nvSpPr>
        <p:spPr>
          <a:xfrm>
            <a:off x="6400800" y="1143000"/>
            <a:ext cx="2377440" cy="329184"/>
          </a:xfrm>
          <a:prstGeom prst="roundRect">
            <a:avLst/>
          </a:prstGeom>
          <a:solidFill>
            <a:srgbClr val="FEF9E7"/>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pPr>
            <a:r>
              <a:rPr dirty="0">
                <a:solidFill>
                  <a:schemeClr val="tx1"/>
                </a:solidFill>
              </a:rPr>
              <a:t>Japanese-English</a:t>
            </a:r>
          </a:p>
        </p:txBody>
      </p:sp>
      <p:sp>
        <p:nvSpPr>
          <p:cNvPr id="12" name="Rounded Rectangle 11"/>
          <p:cNvSpPr/>
          <p:nvPr/>
        </p:nvSpPr>
        <p:spPr>
          <a:xfrm>
            <a:off x="6400800" y="1527048"/>
            <a:ext cx="2377440" cy="329184"/>
          </a:xfrm>
          <a:prstGeom prst="roundRect">
            <a:avLst/>
          </a:prstGeom>
          <a:solidFill>
            <a:srgbClr val="FEF9E7"/>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pPr>
            <a:r>
              <a:rPr dirty="0">
                <a:solidFill>
                  <a:schemeClr val="tx1"/>
                </a:solidFill>
              </a:rPr>
              <a:t>Korean-English</a:t>
            </a:r>
          </a:p>
        </p:txBody>
      </p:sp>
      <p:sp>
        <p:nvSpPr>
          <p:cNvPr id="13" name="Rounded Rectangle 12"/>
          <p:cNvSpPr/>
          <p:nvPr/>
        </p:nvSpPr>
        <p:spPr>
          <a:xfrm>
            <a:off x="6400800" y="1911095"/>
            <a:ext cx="2377440" cy="329184"/>
          </a:xfrm>
          <a:prstGeom prst="roundRect">
            <a:avLst/>
          </a:prstGeom>
          <a:solidFill>
            <a:srgbClr val="FEF9E7"/>
          </a:solidFill>
          <a:ln>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pPr>
            <a:r>
              <a:rPr dirty="0">
                <a:solidFill>
                  <a:schemeClr val="tx1"/>
                </a:solidFill>
              </a:rPr>
              <a:t>Hindi-English</a:t>
            </a:r>
          </a:p>
        </p:txBody>
      </p:sp>
      <p:sp>
        <p:nvSpPr>
          <p:cNvPr id="14" name="Rounded Rectangle 13"/>
          <p:cNvSpPr/>
          <p:nvPr/>
        </p:nvSpPr>
        <p:spPr>
          <a:xfrm>
            <a:off x="1371600" y="2651760"/>
            <a:ext cx="6217920" cy="1005840"/>
          </a:xfrm>
          <a:prstGeom prst="roundRect">
            <a:avLst/>
          </a:prstGeom>
          <a:solidFill>
            <a:srgbClr val="D5F5E3"/>
          </a:solidFill>
          <a:ln>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27AE60"/>
                </a:solidFill>
              </a:defRPr>
            </a:pPr>
            <a:r>
              <a:t>Result: 147% Transfer Rate</a:t>
            </a:r>
          </a:p>
          <a:p>
            <a:pPr algn="ctr">
              <a:defRPr sz="1200">
                <a:solidFill>
                  <a:srgbClr val="2C3E50"/>
                </a:solidFill>
              </a:defRPr>
            </a:pPr>
            <a:r>
              <a:t>Zero-Shot Avg: 0.437 ROUGE-L  |  In-Domain Avg: 0.297 ROUGE-L</a:t>
            </a:r>
          </a:p>
        </p:txBody>
      </p:sp>
      <p:sp>
        <p:nvSpPr>
          <p:cNvPr id="15" name="Rounded Rectangle 14"/>
          <p:cNvSpPr/>
          <p:nvPr/>
        </p:nvSpPr>
        <p:spPr>
          <a:xfrm>
            <a:off x="274320" y="3794760"/>
            <a:ext cx="8412480" cy="685800"/>
          </a:xfrm>
          <a:prstGeom prst="round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Key Insight: Model performs 47% BETTER on languages it NEVER trained on!</a:t>
            </a:r>
          </a:p>
          <a:p>
            <a:pPr algn="ctr">
              <a:defRPr sz="1200">
                <a:solidFill>
                  <a:srgbClr val="4ECDC4"/>
                </a:solidFill>
              </a:defRPr>
            </a:pPr>
            <a:r>
              <a:t>→ Learned language-agnostic summarization patterns, not language-specific rules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04800" y="228600"/>
            <a:ext cx="6200503" cy="285750"/>
          </a:xfrm>
          <a:prstGeom prst="rect">
            <a:avLst/>
          </a:prstGeom>
          <a:noFill/>
          <a:ln/>
        </p:spPr>
        <p:txBody>
          <a:bodyPr wrap="square" lIns="0" tIns="0" rIns="0" bIns="0" rtlCol="0" anchor="t"/>
          <a:lstStyle/>
          <a:p>
            <a:pPr marL="0" indent="0" algn="l">
              <a:lnSpc>
                <a:spcPts val="2250"/>
              </a:lnSpc>
              <a:spcAft>
                <a:spcPts val="1050"/>
              </a:spcAft>
              <a:buNone/>
            </a:pPr>
            <a:r>
              <a:rPr lang="en-US" sz="2250" b="1" dirty="0">
                <a:solidFill>
                  <a:srgbClr val="1A5276"/>
                </a:solidFill>
                <a:latin typeface="Georgia" pitchFamily="34" charset="0"/>
                <a:ea typeface="Georgia" pitchFamily="34" charset="-122"/>
                <a:cs typeface="Georgia" pitchFamily="34" charset="-120"/>
              </a:rPr>
              <a:t>Empirical Results: ROUGE-L by Language</a:t>
            </a:r>
            <a:endParaRPr lang="en-US" sz="2250" dirty="0"/>
          </a:p>
        </p:txBody>
      </p:sp>
      <p:sp>
        <p:nvSpPr>
          <p:cNvPr id="3" name="Text 1"/>
          <p:cNvSpPr/>
          <p:nvPr/>
        </p:nvSpPr>
        <p:spPr>
          <a:xfrm>
            <a:off x="304800" y="4273914"/>
            <a:ext cx="133350" cy="133350"/>
          </a:xfrm>
          <a:prstGeom prst="roundRect">
            <a:avLst>
              <a:gd name="adj" fmla="val 14286"/>
            </a:avLst>
          </a:prstGeom>
          <a:solidFill>
            <a:srgbClr val="4ECDC4"/>
          </a:solidFill>
          <a:ln/>
        </p:spPr>
        <p:txBody>
          <a:bodyPr wrap="square" rtlCol="0" anchor="ctr"/>
          <a:lstStyle/>
          <a:p>
            <a:pPr marL="0" indent="0">
              <a:buNone/>
            </a:pPr>
            <a:endParaRPr lang="en-US" dirty="0"/>
          </a:p>
        </p:txBody>
      </p:sp>
      <p:sp>
        <p:nvSpPr>
          <p:cNvPr id="4" name="Text 2"/>
          <p:cNvSpPr/>
          <p:nvPr/>
        </p:nvSpPr>
        <p:spPr>
          <a:xfrm>
            <a:off x="495300" y="4273914"/>
            <a:ext cx="907033" cy="133350"/>
          </a:xfrm>
          <a:prstGeom prst="rect">
            <a:avLst/>
          </a:prstGeom>
          <a:noFill/>
          <a:ln/>
        </p:spPr>
        <p:txBody>
          <a:bodyPr wrap="square" lIns="0" tIns="0" rIns="0" bIns="0" rtlCol="0" anchor="t"/>
          <a:lstStyle/>
          <a:p>
            <a:pPr marL="0" indent="0" algn="l">
              <a:lnSpc>
                <a:spcPts val="1050"/>
              </a:lnSpc>
              <a:buNone/>
            </a:pPr>
            <a:r>
              <a:rPr lang="en-US" sz="750" dirty="0">
                <a:solidFill>
                  <a:srgbClr val="1D1D1D"/>
                </a:solidFill>
                <a:latin typeface="Arial" pitchFamily="34" charset="0"/>
                <a:ea typeface="Arial" pitchFamily="34" charset="-122"/>
                <a:cs typeface="Arial" pitchFamily="34" charset="-120"/>
              </a:rPr>
              <a:t>IN-DOMAIN (trained)</a:t>
            </a:r>
            <a:endParaRPr lang="en-US" sz="750" dirty="0"/>
          </a:p>
        </p:txBody>
      </p:sp>
      <p:sp>
        <p:nvSpPr>
          <p:cNvPr id="5" name="Text 3"/>
          <p:cNvSpPr/>
          <p:nvPr/>
        </p:nvSpPr>
        <p:spPr>
          <a:xfrm>
            <a:off x="1498848" y="4273914"/>
            <a:ext cx="133350" cy="133350"/>
          </a:xfrm>
          <a:prstGeom prst="roundRect">
            <a:avLst>
              <a:gd name="adj" fmla="val 14286"/>
            </a:avLst>
          </a:prstGeom>
          <a:solidFill>
            <a:srgbClr val="E74C3C"/>
          </a:solidFill>
          <a:ln/>
        </p:spPr>
        <p:txBody>
          <a:bodyPr wrap="square" rtlCol="0" anchor="ctr"/>
          <a:lstStyle/>
          <a:p>
            <a:pPr marL="0" indent="0">
              <a:buNone/>
            </a:pPr>
            <a:endParaRPr lang="en-US" dirty="0"/>
          </a:p>
        </p:txBody>
      </p:sp>
      <p:sp>
        <p:nvSpPr>
          <p:cNvPr id="6" name="Text 4"/>
          <p:cNvSpPr/>
          <p:nvPr/>
        </p:nvSpPr>
        <p:spPr>
          <a:xfrm>
            <a:off x="1689348" y="4273914"/>
            <a:ext cx="1142786" cy="133350"/>
          </a:xfrm>
          <a:prstGeom prst="rect">
            <a:avLst/>
          </a:prstGeom>
          <a:noFill/>
          <a:ln/>
        </p:spPr>
        <p:txBody>
          <a:bodyPr wrap="square" lIns="0" tIns="0" rIns="0" bIns="0" rtlCol="0" anchor="t"/>
          <a:lstStyle/>
          <a:p>
            <a:pPr marL="0" indent="0" algn="l">
              <a:lnSpc>
                <a:spcPts val="1050"/>
              </a:lnSpc>
              <a:buNone/>
            </a:pPr>
            <a:r>
              <a:rPr lang="en-US" sz="750" dirty="0">
                <a:solidFill>
                  <a:srgbClr val="1D1D1D"/>
                </a:solidFill>
                <a:latin typeface="Arial" pitchFamily="34" charset="0"/>
                <a:ea typeface="Arial" pitchFamily="34" charset="-122"/>
                <a:cs typeface="Arial" pitchFamily="34" charset="-120"/>
              </a:rPr>
              <a:t>ZERO-SHOT (never seen)</a:t>
            </a:r>
            <a:endParaRPr lang="en-US" sz="750" dirty="0"/>
          </a:p>
        </p:txBody>
      </p:sp>
      <p:sp>
        <p:nvSpPr>
          <p:cNvPr id="7" name="Text 5"/>
          <p:cNvSpPr/>
          <p:nvPr/>
        </p:nvSpPr>
        <p:spPr>
          <a:xfrm>
            <a:off x="304800" y="4502514"/>
            <a:ext cx="8534400" cy="337096"/>
          </a:xfrm>
          <a:prstGeom prst="roundRect">
            <a:avLst>
              <a:gd name="adj" fmla="val 22605"/>
            </a:avLst>
          </a:prstGeom>
          <a:solidFill>
            <a:srgbClr val="1A5276"/>
          </a:solidFill>
          <a:ln/>
        </p:spPr>
        <p:txBody>
          <a:bodyPr wrap="square" rtlCol="0" anchor="ctr"/>
          <a:lstStyle/>
          <a:p>
            <a:pPr marL="0" indent="0">
              <a:buNone/>
            </a:pPr>
            <a:endParaRPr lang="en-US" dirty="0"/>
          </a:p>
        </p:txBody>
      </p:sp>
      <p:sp>
        <p:nvSpPr>
          <p:cNvPr id="8" name="Text 6"/>
          <p:cNvSpPr/>
          <p:nvPr/>
        </p:nvSpPr>
        <p:spPr>
          <a:xfrm>
            <a:off x="438150" y="4597764"/>
            <a:ext cx="8433054"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Key Finding:</a:t>
            </a:r>
            <a:r>
              <a:rPr lang="en-US" sz="825" dirty="0">
                <a:solidFill>
                  <a:srgbClr val="FFFFFF"/>
                </a:solidFill>
                <a:latin typeface="Arial" pitchFamily="34" charset="0"/>
                <a:ea typeface="Arial" pitchFamily="34" charset="-122"/>
                <a:cs typeface="Arial" pitchFamily="34" charset="-120"/>
              </a:rPr>
              <a:t> All Llama models achieve over 100% transfer rate. Llama-3.2-3B achieves 147% - performing 47% BETTER on unseen languages!</a:t>
            </a:r>
            <a:endParaRPr lang="en-US" sz="825" dirty="0"/>
          </a:p>
        </p:txBody>
      </p:sp>
      <p:pic>
        <p:nvPicPr>
          <p:cNvPr id="10" name="Picture 9">
            <a:extLst>
              <a:ext uri="{FF2B5EF4-FFF2-40B4-BE49-F238E27FC236}">
                <a16:creationId xmlns:a16="http://schemas.microsoft.com/office/drawing/2014/main" id="{D11294D1-F526-2F9C-E75A-53F57AA5B687}"/>
              </a:ext>
            </a:extLst>
          </p:cNvPr>
          <p:cNvPicPr>
            <a:picLocks noChangeAspect="1"/>
          </p:cNvPicPr>
          <p:nvPr/>
        </p:nvPicPr>
        <p:blipFill>
          <a:blip r:embed="rId3"/>
          <a:stretch>
            <a:fillRect/>
          </a:stretch>
        </p:blipFill>
        <p:spPr>
          <a:xfrm>
            <a:off x="2805858" y="2344810"/>
            <a:ext cx="3520134" cy="1744686"/>
          </a:xfrm>
          <a:prstGeom prst="rect">
            <a:avLst/>
          </a:prstGeom>
        </p:spPr>
      </p:pic>
      <p:sp>
        <p:nvSpPr>
          <p:cNvPr id="11" name="AutoShape 2">
            <a:extLst>
              <a:ext uri="{FF2B5EF4-FFF2-40B4-BE49-F238E27FC236}">
                <a16:creationId xmlns:a16="http://schemas.microsoft.com/office/drawing/2014/main" id="{6446BD7A-812C-5479-7829-7A127792D18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a:extLst>
              <a:ext uri="{FF2B5EF4-FFF2-40B4-BE49-F238E27FC236}">
                <a16:creationId xmlns:a16="http://schemas.microsoft.com/office/drawing/2014/main" id="{0C071304-76D1-F4A2-F50D-2944486747A6}"/>
              </a:ext>
            </a:extLst>
          </p:cNvPr>
          <p:cNvPicPr>
            <a:picLocks noChangeAspect="1"/>
          </p:cNvPicPr>
          <p:nvPr/>
        </p:nvPicPr>
        <p:blipFill>
          <a:blip r:embed="rId4"/>
          <a:srcRect t="8027"/>
          <a:stretch>
            <a:fillRect/>
          </a:stretch>
        </p:blipFill>
        <p:spPr>
          <a:xfrm>
            <a:off x="2160910" y="609600"/>
            <a:ext cx="4822180" cy="1550792"/>
          </a:xfrm>
          <a:prstGeom prst="rect">
            <a:avLst/>
          </a:prstGeom>
        </p:spPr>
      </p:pic>
      <p:sp>
        <p:nvSpPr>
          <p:cNvPr id="9" name="TextBox 8">
            <a:extLst>
              <a:ext uri="{FF2B5EF4-FFF2-40B4-BE49-F238E27FC236}">
                <a16:creationId xmlns:a16="http://schemas.microsoft.com/office/drawing/2014/main" id="{B0C10D4E-CA19-D462-0CB4-FEE0BC34276A}"/>
              </a:ext>
            </a:extLst>
          </p:cNvPr>
          <p:cNvSpPr txBox="1"/>
          <p:nvPr/>
        </p:nvSpPr>
        <p:spPr>
          <a:xfrm>
            <a:off x="2832134" y="580091"/>
            <a:ext cx="1344706" cy="184666"/>
          </a:xfrm>
          <a:prstGeom prst="rect">
            <a:avLst/>
          </a:prstGeom>
          <a:noFill/>
        </p:spPr>
        <p:txBody>
          <a:bodyPr wrap="square" rtlCol="0">
            <a:spAutoFit/>
          </a:bodyPr>
          <a:lstStyle/>
          <a:p>
            <a:r>
              <a:rPr lang="en-US" sz="600" b="1" dirty="0">
                <a:latin typeface="Georgia" pitchFamily="34" charset="0"/>
              </a:rPr>
              <a:t>Rouge-L score by language</a:t>
            </a:r>
          </a:p>
        </p:txBody>
      </p:sp>
      <p:sp>
        <p:nvSpPr>
          <p:cNvPr id="13" name="TextBox 12">
            <a:extLst>
              <a:ext uri="{FF2B5EF4-FFF2-40B4-BE49-F238E27FC236}">
                <a16:creationId xmlns:a16="http://schemas.microsoft.com/office/drawing/2014/main" id="{AC068D54-E08B-C67A-A1A7-04AA8EA7ECE0}"/>
              </a:ext>
            </a:extLst>
          </p:cNvPr>
          <p:cNvSpPr txBox="1"/>
          <p:nvPr/>
        </p:nvSpPr>
        <p:spPr>
          <a:xfrm>
            <a:off x="5267546" y="585463"/>
            <a:ext cx="1344706" cy="184666"/>
          </a:xfrm>
          <a:prstGeom prst="rect">
            <a:avLst/>
          </a:prstGeom>
          <a:noFill/>
        </p:spPr>
        <p:txBody>
          <a:bodyPr wrap="square" rtlCol="0">
            <a:spAutoFit/>
          </a:bodyPr>
          <a:lstStyle/>
          <a:p>
            <a:r>
              <a:rPr lang="en-US" sz="600" b="1" dirty="0">
                <a:latin typeface="Georgia" pitchFamily="34" charset="0"/>
              </a:rPr>
              <a:t>Zero Shot Transfer Rate</a:t>
            </a:r>
          </a:p>
        </p:txBody>
      </p:sp>
      <p:pic>
        <p:nvPicPr>
          <p:cNvPr id="21" name="Picture 20">
            <a:extLst>
              <a:ext uri="{FF2B5EF4-FFF2-40B4-BE49-F238E27FC236}">
                <a16:creationId xmlns:a16="http://schemas.microsoft.com/office/drawing/2014/main" id="{B0EE3B55-862A-4534-8E70-E05AA766F281}"/>
              </a:ext>
            </a:extLst>
          </p:cNvPr>
          <p:cNvPicPr>
            <a:picLocks noChangeAspect="1"/>
          </p:cNvPicPr>
          <p:nvPr/>
        </p:nvPicPr>
        <p:blipFill>
          <a:blip r:embed="rId5"/>
          <a:stretch>
            <a:fillRect/>
          </a:stretch>
        </p:blipFill>
        <p:spPr>
          <a:xfrm>
            <a:off x="1214505" y="740404"/>
            <a:ext cx="3351420" cy="71978"/>
          </a:xfrm>
          <a:prstGeom prst="rect">
            <a:avLst/>
          </a:prstGeom>
        </p:spPr>
      </p:pic>
      <p:pic>
        <p:nvPicPr>
          <p:cNvPr id="22" name="Picture 21">
            <a:extLst>
              <a:ext uri="{FF2B5EF4-FFF2-40B4-BE49-F238E27FC236}">
                <a16:creationId xmlns:a16="http://schemas.microsoft.com/office/drawing/2014/main" id="{37C5F6A8-587E-7831-A06B-D3048A85A49F}"/>
              </a:ext>
            </a:extLst>
          </p:cNvPr>
          <p:cNvPicPr>
            <a:picLocks noChangeAspect="1"/>
          </p:cNvPicPr>
          <p:nvPr/>
        </p:nvPicPr>
        <p:blipFill>
          <a:blip r:embed="rId5"/>
          <a:stretch>
            <a:fillRect/>
          </a:stretch>
        </p:blipFill>
        <p:spPr>
          <a:xfrm>
            <a:off x="3983105" y="740404"/>
            <a:ext cx="3351420" cy="7197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6129528"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Key Finding: Transfer Rates Exceed 100%</a:t>
            </a:r>
            <a:endParaRPr lang="en-US" sz="2250" dirty="0"/>
          </a:p>
        </p:txBody>
      </p:sp>
      <p:pic>
        <p:nvPicPr>
          <p:cNvPr id="3" name="Image 0" descr="/tmp/rasterized-gradient-fee8a78f.png"/>
          <p:cNvPicPr>
            <a:picLocks noChangeAspect="1"/>
          </p:cNvPicPr>
          <p:nvPr/>
        </p:nvPicPr>
        <p:blipFill>
          <a:blip r:embed="rId3"/>
          <a:stretch>
            <a:fillRect/>
          </a:stretch>
        </p:blipFill>
        <p:spPr>
          <a:xfrm>
            <a:off x="4705350" y="1538340"/>
            <a:ext cx="4076700" cy="1209526"/>
          </a:xfrm>
          <a:prstGeom prst="rect">
            <a:avLst/>
          </a:prstGeom>
        </p:spPr>
      </p:pic>
      <p:sp>
        <p:nvSpPr>
          <p:cNvPr id="4" name="Text 1"/>
          <p:cNvSpPr/>
          <p:nvPr/>
        </p:nvSpPr>
        <p:spPr>
          <a:xfrm>
            <a:off x="4858893" y="1749374"/>
            <a:ext cx="3769614" cy="560040"/>
          </a:xfrm>
          <a:prstGeom prst="rect">
            <a:avLst/>
          </a:prstGeom>
          <a:noFill/>
          <a:ln/>
        </p:spPr>
        <p:txBody>
          <a:bodyPr wrap="square" lIns="0" tIns="0" rIns="0" bIns="0" rtlCol="0" anchor="t"/>
          <a:lstStyle/>
          <a:p>
            <a:pPr marL="0" indent="0" algn="ctr">
              <a:lnSpc>
                <a:spcPts val="4410"/>
              </a:lnSpc>
              <a:buNone/>
            </a:pPr>
            <a:r>
              <a:rPr lang="en-US" sz="3150" b="1" dirty="0">
                <a:solidFill>
                  <a:srgbClr val="FFFFFF"/>
                </a:solidFill>
                <a:latin typeface="Arial" pitchFamily="34" charset="0"/>
                <a:ea typeface="Arial" pitchFamily="34" charset="-122"/>
                <a:cs typeface="Arial" pitchFamily="34" charset="-120"/>
              </a:rPr>
              <a:t>147%</a:t>
            </a:r>
            <a:endParaRPr lang="en-US" sz="3150" dirty="0"/>
          </a:p>
        </p:txBody>
      </p:sp>
      <p:sp>
        <p:nvSpPr>
          <p:cNvPr id="5" name="Text 2"/>
          <p:cNvSpPr/>
          <p:nvPr/>
        </p:nvSpPr>
        <p:spPr>
          <a:xfrm>
            <a:off x="4839843" y="2368153"/>
            <a:ext cx="3769614" cy="173236"/>
          </a:xfrm>
          <a:prstGeom prst="rect">
            <a:avLst/>
          </a:prstGeom>
          <a:noFill/>
          <a:ln/>
        </p:spPr>
        <p:txBody>
          <a:bodyPr wrap="square" lIns="0" tIns="0" rIns="0" bIns="0" rtlCol="0" anchor="t"/>
          <a:lstStyle/>
          <a:p>
            <a:pPr marL="0" indent="0" algn="ctr">
              <a:lnSpc>
                <a:spcPts val="1365"/>
              </a:lnSpc>
              <a:spcBef>
                <a:spcPts val="450"/>
              </a:spcBef>
              <a:spcAft>
                <a:spcPts val="300"/>
              </a:spcAft>
              <a:buNone/>
            </a:pPr>
            <a:r>
              <a:rPr lang="en-US" sz="975" dirty="0">
                <a:solidFill>
                  <a:srgbClr val="FFFFFF"/>
                </a:solidFill>
                <a:latin typeface="Arial" pitchFamily="34" charset="0"/>
                <a:ea typeface="Arial" pitchFamily="34" charset="-122"/>
                <a:cs typeface="Arial" pitchFamily="34" charset="-120"/>
              </a:rPr>
              <a:t>Llama-3.2-3B Transfer Rate</a:t>
            </a:r>
            <a:endParaRPr lang="en-US" sz="975" dirty="0"/>
          </a:p>
        </p:txBody>
      </p:sp>
      <p:sp>
        <p:nvSpPr>
          <p:cNvPr id="6" name="Text 3"/>
          <p:cNvSpPr/>
          <p:nvPr/>
        </p:nvSpPr>
        <p:spPr>
          <a:xfrm>
            <a:off x="4705350" y="2928501"/>
            <a:ext cx="4076700" cy="843355"/>
          </a:xfrm>
          <a:prstGeom prst="roundRect">
            <a:avLst>
              <a:gd name="adj" fmla="val 7621"/>
            </a:avLst>
          </a:prstGeom>
          <a:solidFill>
            <a:srgbClr val="F8F9FA"/>
          </a:solidFill>
          <a:ln/>
        </p:spPr>
        <p:txBody>
          <a:bodyPr wrap="square" rtlCol="0" anchor="ctr"/>
          <a:lstStyle/>
          <a:p>
            <a:pPr marL="0" indent="0">
              <a:buNone/>
            </a:pPr>
            <a:endParaRPr lang="en-US" dirty="0"/>
          </a:p>
        </p:txBody>
      </p:sp>
      <p:sp>
        <p:nvSpPr>
          <p:cNvPr id="7" name="Shape 4"/>
          <p:cNvSpPr/>
          <p:nvPr/>
        </p:nvSpPr>
        <p:spPr>
          <a:xfrm>
            <a:off x="4724400" y="2928501"/>
            <a:ext cx="0" cy="828377"/>
          </a:xfrm>
          <a:prstGeom prst="line">
            <a:avLst/>
          </a:prstGeom>
          <a:noFill/>
          <a:ln w="38100">
            <a:solidFill>
              <a:srgbClr val="1A5276"/>
            </a:solidFill>
            <a:prstDash val="solid"/>
          </a:ln>
        </p:spPr>
        <p:txBody>
          <a:bodyPr/>
          <a:lstStyle/>
          <a:p>
            <a:endParaRPr lang="en-US"/>
          </a:p>
        </p:txBody>
      </p:sp>
      <p:sp>
        <p:nvSpPr>
          <p:cNvPr id="8" name="Text 5"/>
          <p:cNvSpPr/>
          <p:nvPr/>
        </p:nvSpPr>
        <p:spPr>
          <a:xfrm>
            <a:off x="4876800" y="3042801"/>
            <a:ext cx="3847338"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Interpretation</a:t>
            </a:r>
            <a:endParaRPr lang="en-US" sz="900" dirty="0"/>
          </a:p>
        </p:txBody>
      </p:sp>
      <p:sp>
        <p:nvSpPr>
          <p:cNvPr id="9" name="Text 6"/>
          <p:cNvSpPr/>
          <p:nvPr/>
        </p:nvSpPr>
        <p:spPr>
          <a:xfrm>
            <a:off x="4876800" y="3271781"/>
            <a:ext cx="3847338" cy="400054"/>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6C757D"/>
                </a:solidFill>
                <a:latin typeface="Arial" pitchFamily="34" charset="0"/>
                <a:ea typeface="Arial" pitchFamily="34" charset="-122"/>
                <a:cs typeface="Arial" pitchFamily="34" charset="-120"/>
              </a:rPr>
              <a:t>The model performs BETTER on languages it never trained on than on languages it did train on. This suggests it learned language-agnostic summarization patterns.</a:t>
            </a:r>
            <a:endParaRPr lang="en-US" sz="825" dirty="0"/>
          </a:p>
        </p:txBody>
      </p:sp>
      <p:pic>
        <p:nvPicPr>
          <p:cNvPr id="11" name="Picture 10">
            <a:extLst>
              <a:ext uri="{FF2B5EF4-FFF2-40B4-BE49-F238E27FC236}">
                <a16:creationId xmlns:a16="http://schemas.microsoft.com/office/drawing/2014/main" id="{E89024B0-8456-62B5-AF5B-5DF22E522770}"/>
              </a:ext>
            </a:extLst>
          </p:cNvPr>
          <p:cNvPicPr>
            <a:picLocks noChangeAspect="1"/>
          </p:cNvPicPr>
          <p:nvPr/>
        </p:nvPicPr>
        <p:blipFill>
          <a:blip r:embed="rId4"/>
          <a:stretch>
            <a:fillRect/>
          </a:stretch>
        </p:blipFill>
        <p:spPr>
          <a:xfrm>
            <a:off x="56386" y="1560820"/>
            <a:ext cx="4572000" cy="582283"/>
          </a:xfrm>
          <a:prstGeom prst="rect">
            <a:avLst/>
          </a:prstGeom>
        </p:spPr>
      </p:pic>
      <p:pic>
        <p:nvPicPr>
          <p:cNvPr id="13" name="Picture 12">
            <a:extLst>
              <a:ext uri="{FF2B5EF4-FFF2-40B4-BE49-F238E27FC236}">
                <a16:creationId xmlns:a16="http://schemas.microsoft.com/office/drawing/2014/main" id="{381B40F8-8F1C-F538-26B4-DC6A401C5837}"/>
              </a:ext>
            </a:extLst>
          </p:cNvPr>
          <p:cNvPicPr>
            <a:picLocks noChangeAspect="1"/>
          </p:cNvPicPr>
          <p:nvPr/>
        </p:nvPicPr>
        <p:blipFill>
          <a:blip r:embed="rId5"/>
          <a:stretch>
            <a:fillRect/>
          </a:stretch>
        </p:blipFill>
        <p:spPr>
          <a:xfrm>
            <a:off x="56386" y="2385809"/>
            <a:ext cx="4572000" cy="533582"/>
          </a:xfrm>
          <a:prstGeom prst="rect">
            <a:avLst/>
          </a:prstGeom>
        </p:spPr>
      </p:pic>
      <p:pic>
        <p:nvPicPr>
          <p:cNvPr id="15" name="Picture 14">
            <a:extLst>
              <a:ext uri="{FF2B5EF4-FFF2-40B4-BE49-F238E27FC236}">
                <a16:creationId xmlns:a16="http://schemas.microsoft.com/office/drawing/2014/main" id="{FB6D2EBB-8F21-F74E-4547-F3CA0449696A}"/>
              </a:ext>
            </a:extLst>
          </p:cNvPr>
          <p:cNvPicPr>
            <a:picLocks noChangeAspect="1"/>
          </p:cNvPicPr>
          <p:nvPr/>
        </p:nvPicPr>
        <p:blipFill>
          <a:blip r:embed="rId6"/>
          <a:stretch>
            <a:fillRect/>
          </a:stretch>
        </p:blipFill>
        <p:spPr>
          <a:xfrm>
            <a:off x="56386" y="3144196"/>
            <a:ext cx="4565684" cy="52763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0999" y="228600"/>
            <a:ext cx="6960477"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Analysis: Why Does Zero-Shot Transfer Work?</a:t>
            </a:r>
            <a:endParaRPr lang="en-US" sz="2250" dirty="0"/>
          </a:p>
        </p:txBody>
      </p:sp>
      <p:sp>
        <p:nvSpPr>
          <p:cNvPr id="3" name="Text 1"/>
          <p:cNvSpPr/>
          <p:nvPr/>
        </p:nvSpPr>
        <p:spPr>
          <a:xfrm>
            <a:off x="381000" y="819150"/>
            <a:ext cx="4114800" cy="1245840"/>
          </a:xfrm>
          <a:prstGeom prst="roundRect">
            <a:avLst>
              <a:gd name="adj" fmla="val 6116"/>
            </a:avLst>
          </a:prstGeom>
          <a:solidFill>
            <a:srgbClr val="FADBD8"/>
          </a:solidFill>
          <a:ln/>
        </p:spPr>
        <p:txBody>
          <a:bodyPr wrap="square" rtlCol="0" anchor="ctr"/>
          <a:lstStyle/>
          <a:p>
            <a:pPr marL="0" indent="0">
              <a:buNone/>
            </a:pPr>
            <a:endParaRPr lang="en-US" dirty="0"/>
          </a:p>
        </p:txBody>
      </p:sp>
      <p:sp>
        <p:nvSpPr>
          <p:cNvPr id="4" name="Text 2"/>
          <p:cNvSpPr/>
          <p:nvPr/>
        </p:nvSpPr>
        <p:spPr>
          <a:xfrm>
            <a:off x="514350" y="990600"/>
            <a:ext cx="3925062"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E74C3C"/>
                </a:solidFill>
                <a:latin typeface="Arial" pitchFamily="34" charset="0"/>
                <a:ea typeface="Arial" pitchFamily="34" charset="-122"/>
                <a:cs typeface="Arial" pitchFamily="34" charset="-120"/>
              </a:rPr>
              <a:t>What We Expected</a:t>
            </a:r>
            <a:endParaRPr lang="en-US" sz="900" dirty="0"/>
          </a:p>
        </p:txBody>
      </p:sp>
      <p:sp>
        <p:nvSpPr>
          <p:cNvPr id="5" name="Text 3"/>
          <p:cNvSpPr/>
          <p:nvPr/>
        </p:nvSpPr>
        <p:spPr>
          <a:xfrm>
            <a:off x="514350" y="1226790"/>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Model learns language-specific patterns:</a:t>
            </a:r>
            <a:endParaRPr lang="en-US" sz="750" dirty="0"/>
          </a:p>
        </p:txBody>
      </p:sp>
      <p:sp>
        <p:nvSpPr>
          <p:cNvPr id="6" name="Text 4"/>
          <p:cNvSpPr/>
          <p:nvPr/>
        </p:nvSpPr>
        <p:spPr>
          <a:xfrm>
            <a:off x="514350" y="1417290"/>
            <a:ext cx="3925062" cy="133350"/>
          </a:xfrm>
          <a:prstGeom prst="rect">
            <a:avLst/>
          </a:prstGeom>
          <a:noFill/>
          <a:ln/>
        </p:spPr>
        <p:txBody>
          <a:bodyPr wrap="square" lIns="0" tIns="0" rIns="0" bIns="0" rtlCol="0" anchor="t"/>
          <a:lstStyle/>
          <a:p>
            <a:pPr marL="0" indent="0" algn="l">
              <a:lnSpc>
                <a:spcPts val="1050"/>
              </a:lnSpc>
              <a:spcBef>
                <a:spcPts val="450"/>
              </a:spcBef>
              <a:spcAft>
                <a:spcPts val="300"/>
              </a:spcAft>
              <a:buNone/>
            </a:pPr>
            <a:r>
              <a:rPr lang="en-US" sz="750" dirty="0">
                <a:solidFill>
                  <a:srgbClr val="2C3E50"/>
                </a:solidFill>
                <a:latin typeface="Arial" pitchFamily="34" charset="0"/>
                <a:ea typeface="Arial" pitchFamily="34" charset="-122"/>
                <a:cs typeface="Arial" pitchFamily="34" charset="-120"/>
              </a:rPr>
              <a:t>Train Chinese-En: Learn Chinese grammar</a:t>
            </a:r>
            <a:endParaRPr lang="en-US" sz="750" dirty="0"/>
          </a:p>
        </p:txBody>
      </p:sp>
      <p:sp>
        <p:nvSpPr>
          <p:cNvPr id="7" name="Text 5"/>
          <p:cNvSpPr/>
          <p:nvPr/>
        </p:nvSpPr>
        <p:spPr>
          <a:xfrm>
            <a:off x="514350" y="1588740"/>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2C3E50"/>
                </a:solidFill>
                <a:latin typeface="Arial" pitchFamily="34" charset="0"/>
                <a:ea typeface="Arial" pitchFamily="34" charset="-122"/>
                <a:cs typeface="Arial" pitchFamily="34" charset="-120"/>
              </a:rPr>
              <a:t>Train Tamil-En: Learn Tamil patterns</a:t>
            </a:r>
            <a:endParaRPr lang="en-US" sz="750" dirty="0"/>
          </a:p>
        </p:txBody>
      </p:sp>
      <p:sp>
        <p:nvSpPr>
          <p:cNvPr id="8" name="Text 6"/>
          <p:cNvSpPr/>
          <p:nvPr/>
        </p:nvSpPr>
        <p:spPr>
          <a:xfrm>
            <a:off x="514350" y="1760190"/>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E74C3C"/>
                </a:solidFill>
                <a:latin typeface="Arial" pitchFamily="34" charset="0"/>
                <a:ea typeface="Arial" pitchFamily="34" charset="-122"/>
                <a:cs typeface="Arial" pitchFamily="34" charset="-120"/>
              </a:rPr>
              <a:t>Test Japanese-En: Fail (no Japanese rules)</a:t>
            </a:r>
            <a:endParaRPr lang="en-US" sz="750" dirty="0"/>
          </a:p>
        </p:txBody>
      </p:sp>
      <p:sp>
        <p:nvSpPr>
          <p:cNvPr id="9" name="Text 7"/>
          <p:cNvSpPr/>
          <p:nvPr/>
        </p:nvSpPr>
        <p:spPr>
          <a:xfrm>
            <a:off x="4648200" y="819150"/>
            <a:ext cx="4114800" cy="1245840"/>
          </a:xfrm>
          <a:prstGeom prst="roundRect">
            <a:avLst>
              <a:gd name="adj" fmla="val 6116"/>
            </a:avLst>
          </a:prstGeom>
          <a:solidFill>
            <a:srgbClr val="D5F5E3"/>
          </a:solidFill>
          <a:ln/>
        </p:spPr>
        <p:txBody>
          <a:bodyPr wrap="square" rtlCol="0" anchor="ctr"/>
          <a:lstStyle/>
          <a:p>
            <a:pPr marL="0" indent="0">
              <a:buNone/>
            </a:pPr>
            <a:endParaRPr lang="en-US" dirty="0"/>
          </a:p>
        </p:txBody>
      </p:sp>
      <p:sp>
        <p:nvSpPr>
          <p:cNvPr id="10" name="Text 8"/>
          <p:cNvSpPr/>
          <p:nvPr/>
        </p:nvSpPr>
        <p:spPr>
          <a:xfrm>
            <a:off x="4781550" y="990600"/>
            <a:ext cx="3925062"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27AE60"/>
                </a:solidFill>
                <a:latin typeface="Arial" pitchFamily="34" charset="0"/>
                <a:ea typeface="Arial" pitchFamily="34" charset="-122"/>
                <a:cs typeface="Arial" pitchFamily="34" charset="-120"/>
              </a:rPr>
              <a:t>What Actually Happened</a:t>
            </a:r>
            <a:endParaRPr lang="en-US" sz="900" dirty="0"/>
          </a:p>
        </p:txBody>
      </p:sp>
      <p:sp>
        <p:nvSpPr>
          <p:cNvPr id="11" name="Text 9"/>
          <p:cNvSpPr/>
          <p:nvPr/>
        </p:nvSpPr>
        <p:spPr>
          <a:xfrm>
            <a:off x="4781550" y="1226790"/>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Model learns language-AGNOSTIC patterns:</a:t>
            </a:r>
            <a:endParaRPr lang="en-US" sz="750" dirty="0"/>
          </a:p>
        </p:txBody>
      </p:sp>
      <p:sp>
        <p:nvSpPr>
          <p:cNvPr id="12" name="Text 10"/>
          <p:cNvSpPr/>
          <p:nvPr/>
        </p:nvSpPr>
        <p:spPr>
          <a:xfrm>
            <a:off x="4781550" y="1417290"/>
            <a:ext cx="3925062" cy="133350"/>
          </a:xfrm>
          <a:prstGeom prst="rect">
            <a:avLst/>
          </a:prstGeom>
          <a:noFill/>
          <a:ln/>
        </p:spPr>
        <p:txBody>
          <a:bodyPr wrap="square" lIns="0" tIns="0" rIns="0" bIns="0" rtlCol="0" anchor="t"/>
          <a:lstStyle/>
          <a:p>
            <a:pPr marL="0" indent="0" algn="l">
              <a:lnSpc>
                <a:spcPts val="1050"/>
              </a:lnSpc>
              <a:spcBef>
                <a:spcPts val="450"/>
              </a:spcBef>
              <a:spcAft>
                <a:spcPts val="300"/>
              </a:spcAft>
              <a:buNone/>
            </a:pPr>
            <a:r>
              <a:rPr lang="en-US" sz="750" dirty="0">
                <a:solidFill>
                  <a:srgbClr val="2C3E50"/>
                </a:solidFill>
                <a:latin typeface="Arial" pitchFamily="34" charset="0"/>
                <a:ea typeface="Arial" pitchFamily="34" charset="-122"/>
                <a:cs typeface="Arial" pitchFamily="34" charset="-120"/>
              </a:rPr>
              <a:t>Train mixed: Learn SUMMARIZATION</a:t>
            </a:r>
            <a:endParaRPr lang="en-US" sz="750" dirty="0"/>
          </a:p>
        </p:txBody>
      </p:sp>
      <p:sp>
        <p:nvSpPr>
          <p:cNvPr id="13" name="Text 11"/>
          <p:cNvSpPr/>
          <p:nvPr/>
        </p:nvSpPr>
        <p:spPr>
          <a:xfrm>
            <a:off x="4781550" y="1588740"/>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2C3E50"/>
                </a:solidFill>
                <a:latin typeface="Arial" pitchFamily="34" charset="0"/>
                <a:ea typeface="Arial" pitchFamily="34" charset="-122"/>
                <a:cs typeface="Arial" pitchFamily="34" charset="-120"/>
              </a:rPr>
              <a:t>Code-mixing patterns are universal!</a:t>
            </a:r>
            <a:endParaRPr lang="en-US" sz="750" dirty="0"/>
          </a:p>
        </p:txBody>
      </p:sp>
      <p:sp>
        <p:nvSpPr>
          <p:cNvPr id="14" name="Text 12"/>
          <p:cNvSpPr/>
          <p:nvPr/>
        </p:nvSpPr>
        <p:spPr>
          <a:xfrm>
            <a:off x="4781550" y="1760190"/>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27AE60"/>
                </a:solidFill>
                <a:latin typeface="Arial" pitchFamily="34" charset="0"/>
                <a:ea typeface="Arial" pitchFamily="34" charset="-122"/>
                <a:cs typeface="Arial" pitchFamily="34" charset="-120"/>
              </a:rPr>
              <a:t>Test Japanese-En: Success!</a:t>
            </a:r>
            <a:endParaRPr lang="en-US" sz="750" dirty="0"/>
          </a:p>
        </p:txBody>
      </p:sp>
      <p:sp>
        <p:nvSpPr>
          <p:cNvPr id="15" name="Text 13"/>
          <p:cNvSpPr/>
          <p:nvPr/>
        </p:nvSpPr>
        <p:spPr>
          <a:xfrm>
            <a:off x="381000" y="2198340"/>
            <a:ext cx="8382000" cy="1099096"/>
          </a:xfrm>
          <a:prstGeom prst="roundRect">
            <a:avLst>
              <a:gd name="adj" fmla="val 6933"/>
            </a:avLst>
          </a:prstGeom>
          <a:solidFill>
            <a:srgbClr val="F8F9FA"/>
          </a:solidFill>
          <a:ln/>
        </p:spPr>
        <p:txBody>
          <a:bodyPr wrap="square" rtlCol="0" anchor="ctr"/>
          <a:lstStyle/>
          <a:p>
            <a:pPr marL="0" indent="0">
              <a:buNone/>
            </a:pPr>
            <a:endParaRPr lang="en-US" dirty="0"/>
          </a:p>
        </p:txBody>
      </p:sp>
      <p:sp>
        <p:nvSpPr>
          <p:cNvPr id="16" name="Text 14"/>
          <p:cNvSpPr/>
          <p:nvPr/>
        </p:nvSpPr>
        <p:spPr>
          <a:xfrm>
            <a:off x="514350" y="2369790"/>
            <a:ext cx="8277606"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1A5276"/>
                </a:solidFill>
                <a:latin typeface="Arial" pitchFamily="34" charset="0"/>
                <a:ea typeface="Arial" pitchFamily="34" charset="-122"/>
                <a:cs typeface="Arial" pitchFamily="34" charset="-120"/>
              </a:rPr>
              <a:t>Three Factors Enabling Transfer</a:t>
            </a:r>
            <a:endParaRPr lang="en-US" sz="900" dirty="0"/>
          </a:p>
        </p:txBody>
      </p:sp>
      <p:sp>
        <p:nvSpPr>
          <p:cNvPr id="17" name="Text 15"/>
          <p:cNvSpPr/>
          <p:nvPr/>
        </p:nvSpPr>
        <p:spPr>
          <a:xfrm>
            <a:off x="514350" y="2605980"/>
            <a:ext cx="2628900" cy="558105"/>
          </a:xfrm>
          <a:prstGeom prst="roundRect">
            <a:avLst>
              <a:gd name="adj" fmla="val 6827"/>
            </a:avLst>
          </a:prstGeom>
          <a:solidFill>
            <a:srgbClr val="FFFFFF"/>
          </a:solidFill>
          <a:ln/>
        </p:spPr>
        <p:txBody>
          <a:bodyPr wrap="square" rtlCol="0" anchor="ctr"/>
          <a:lstStyle/>
          <a:p>
            <a:pPr marL="0" indent="0">
              <a:buNone/>
            </a:pPr>
            <a:endParaRPr lang="en-US" dirty="0"/>
          </a:p>
        </p:txBody>
      </p:sp>
      <p:sp>
        <p:nvSpPr>
          <p:cNvPr id="18" name="Shape 16"/>
          <p:cNvSpPr/>
          <p:nvPr/>
        </p:nvSpPr>
        <p:spPr>
          <a:xfrm>
            <a:off x="528638" y="2605980"/>
            <a:ext cx="0" cy="558105"/>
          </a:xfrm>
          <a:prstGeom prst="line">
            <a:avLst/>
          </a:prstGeom>
          <a:noFill/>
          <a:ln w="28575">
            <a:solidFill>
              <a:srgbClr val="4ECDC4"/>
            </a:solidFill>
            <a:prstDash val="solid"/>
          </a:ln>
        </p:spPr>
        <p:txBody>
          <a:bodyPr/>
          <a:lstStyle/>
          <a:p>
            <a:endParaRPr lang="en-US"/>
          </a:p>
        </p:txBody>
      </p:sp>
      <p:sp>
        <p:nvSpPr>
          <p:cNvPr id="19" name="Text 17"/>
          <p:cNvSpPr/>
          <p:nvPr/>
        </p:nvSpPr>
        <p:spPr>
          <a:xfrm>
            <a:off x="638175" y="2739330"/>
            <a:ext cx="245802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1A5276"/>
                </a:solidFill>
                <a:latin typeface="Arial" pitchFamily="34" charset="0"/>
                <a:ea typeface="Arial" pitchFamily="34" charset="-122"/>
                <a:cs typeface="Arial" pitchFamily="34" charset="-120"/>
              </a:rPr>
              <a:t>1. Multilingual Pre-training</a:t>
            </a:r>
            <a:endParaRPr lang="en-US" sz="750" dirty="0"/>
          </a:p>
        </p:txBody>
      </p:sp>
      <p:sp>
        <p:nvSpPr>
          <p:cNvPr id="20" name="Text 18"/>
          <p:cNvSpPr/>
          <p:nvPr/>
        </p:nvSpPr>
        <p:spPr>
          <a:xfrm>
            <a:off x="638175" y="2910780"/>
            <a:ext cx="2458022" cy="119955"/>
          </a:xfrm>
          <a:prstGeom prst="rect">
            <a:avLst/>
          </a:prstGeom>
          <a:noFill/>
          <a:ln/>
        </p:spPr>
        <p:txBody>
          <a:bodyPr wrap="square" lIns="0" tIns="0" rIns="0" bIns="0" rtlCol="0" anchor="t"/>
          <a:lstStyle/>
          <a:p>
            <a:pPr marL="0" indent="0" algn="l">
              <a:lnSpc>
                <a:spcPts val="945"/>
              </a:lnSpc>
              <a:spcBef>
                <a:spcPts val="300"/>
              </a:spcBef>
              <a:spcAft>
                <a:spcPts val="300"/>
              </a:spcAft>
              <a:buNone/>
            </a:pPr>
            <a:r>
              <a:rPr lang="en-US" sz="675" dirty="0">
                <a:solidFill>
                  <a:srgbClr val="6C757D"/>
                </a:solidFill>
                <a:latin typeface="Arial" pitchFamily="34" charset="0"/>
                <a:ea typeface="Arial" pitchFamily="34" charset="-122"/>
                <a:cs typeface="Arial" pitchFamily="34" charset="-120"/>
              </a:rPr>
              <a:t>Llama knows 100+ languages from pre-training data</a:t>
            </a:r>
            <a:endParaRPr lang="en-US" sz="675" dirty="0"/>
          </a:p>
        </p:txBody>
      </p:sp>
      <p:sp>
        <p:nvSpPr>
          <p:cNvPr id="21" name="Text 19"/>
          <p:cNvSpPr/>
          <p:nvPr/>
        </p:nvSpPr>
        <p:spPr>
          <a:xfrm>
            <a:off x="3257550" y="2605980"/>
            <a:ext cx="2628900" cy="558105"/>
          </a:xfrm>
          <a:prstGeom prst="roundRect">
            <a:avLst>
              <a:gd name="adj" fmla="val 6827"/>
            </a:avLst>
          </a:prstGeom>
          <a:solidFill>
            <a:srgbClr val="FFFFFF"/>
          </a:solidFill>
          <a:ln/>
        </p:spPr>
        <p:txBody>
          <a:bodyPr wrap="square" rtlCol="0" anchor="ctr"/>
          <a:lstStyle/>
          <a:p>
            <a:pPr marL="0" indent="0">
              <a:buNone/>
            </a:pPr>
            <a:endParaRPr lang="en-US" dirty="0"/>
          </a:p>
        </p:txBody>
      </p:sp>
      <p:sp>
        <p:nvSpPr>
          <p:cNvPr id="22" name="Shape 20"/>
          <p:cNvSpPr/>
          <p:nvPr/>
        </p:nvSpPr>
        <p:spPr>
          <a:xfrm>
            <a:off x="3271838" y="2605980"/>
            <a:ext cx="0" cy="558105"/>
          </a:xfrm>
          <a:prstGeom prst="line">
            <a:avLst/>
          </a:prstGeom>
          <a:noFill/>
          <a:ln w="28575">
            <a:solidFill>
              <a:srgbClr val="E74C3C"/>
            </a:solidFill>
            <a:prstDash val="solid"/>
          </a:ln>
        </p:spPr>
        <p:txBody>
          <a:bodyPr/>
          <a:lstStyle/>
          <a:p>
            <a:endParaRPr lang="en-US"/>
          </a:p>
        </p:txBody>
      </p:sp>
      <p:sp>
        <p:nvSpPr>
          <p:cNvPr id="23" name="Text 21"/>
          <p:cNvSpPr/>
          <p:nvPr/>
        </p:nvSpPr>
        <p:spPr>
          <a:xfrm>
            <a:off x="3381375" y="2739330"/>
            <a:ext cx="245802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1A5276"/>
                </a:solidFill>
                <a:latin typeface="Arial" pitchFamily="34" charset="0"/>
                <a:ea typeface="Arial" pitchFamily="34" charset="-122"/>
                <a:cs typeface="Arial" pitchFamily="34" charset="-120"/>
              </a:rPr>
              <a:t>2. Universal Code-Mixing</a:t>
            </a:r>
            <a:endParaRPr lang="en-US" sz="750" dirty="0"/>
          </a:p>
        </p:txBody>
      </p:sp>
      <p:sp>
        <p:nvSpPr>
          <p:cNvPr id="24" name="Text 22"/>
          <p:cNvSpPr/>
          <p:nvPr/>
        </p:nvSpPr>
        <p:spPr>
          <a:xfrm>
            <a:off x="3381375" y="2910780"/>
            <a:ext cx="2458022" cy="119955"/>
          </a:xfrm>
          <a:prstGeom prst="rect">
            <a:avLst/>
          </a:prstGeom>
          <a:noFill/>
          <a:ln/>
        </p:spPr>
        <p:txBody>
          <a:bodyPr wrap="square" lIns="0" tIns="0" rIns="0" bIns="0" rtlCol="0" anchor="t"/>
          <a:lstStyle/>
          <a:p>
            <a:pPr marL="0" indent="0" algn="l">
              <a:lnSpc>
                <a:spcPts val="945"/>
              </a:lnSpc>
              <a:spcBef>
                <a:spcPts val="300"/>
              </a:spcBef>
              <a:spcAft>
                <a:spcPts val="300"/>
              </a:spcAft>
              <a:buNone/>
            </a:pPr>
            <a:r>
              <a:rPr lang="en-US" sz="675" dirty="0">
                <a:solidFill>
                  <a:srgbClr val="6C757D"/>
                </a:solidFill>
                <a:latin typeface="Arial" pitchFamily="34" charset="0"/>
                <a:ea typeface="Arial" pitchFamily="34" charset="-122"/>
                <a:cs typeface="Arial" pitchFamily="34" charset="-120"/>
              </a:rPr>
              <a:t>Matrix language structure is similar across pairs</a:t>
            </a:r>
            <a:endParaRPr lang="en-US" sz="675" dirty="0"/>
          </a:p>
        </p:txBody>
      </p:sp>
      <p:sp>
        <p:nvSpPr>
          <p:cNvPr id="25" name="Text 23"/>
          <p:cNvSpPr/>
          <p:nvPr/>
        </p:nvSpPr>
        <p:spPr>
          <a:xfrm>
            <a:off x="6000750" y="2605980"/>
            <a:ext cx="2628900" cy="558105"/>
          </a:xfrm>
          <a:prstGeom prst="roundRect">
            <a:avLst>
              <a:gd name="adj" fmla="val 6827"/>
            </a:avLst>
          </a:prstGeom>
          <a:solidFill>
            <a:srgbClr val="FFFFFF"/>
          </a:solidFill>
          <a:ln/>
        </p:spPr>
        <p:txBody>
          <a:bodyPr wrap="square" rtlCol="0" anchor="ctr"/>
          <a:lstStyle/>
          <a:p>
            <a:pPr marL="0" indent="0">
              <a:buNone/>
            </a:pPr>
            <a:endParaRPr lang="en-US" dirty="0"/>
          </a:p>
        </p:txBody>
      </p:sp>
      <p:sp>
        <p:nvSpPr>
          <p:cNvPr id="26" name="Shape 24"/>
          <p:cNvSpPr/>
          <p:nvPr/>
        </p:nvSpPr>
        <p:spPr>
          <a:xfrm>
            <a:off x="6015038" y="2605980"/>
            <a:ext cx="0" cy="558105"/>
          </a:xfrm>
          <a:prstGeom prst="line">
            <a:avLst/>
          </a:prstGeom>
          <a:noFill/>
          <a:ln w="28575">
            <a:solidFill>
              <a:srgbClr val="F39C12"/>
            </a:solidFill>
            <a:prstDash val="solid"/>
          </a:ln>
        </p:spPr>
        <p:txBody>
          <a:bodyPr/>
          <a:lstStyle/>
          <a:p>
            <a:endParaRPr lang="en-US"/>
          </a:p>
        </p:txBody>
      </p:sp>
      <p:sp>
        <p:nvSpPr>
          <p:cNvPr id="27" name="Text 25"/>
          <p:cNvSpPr/>
          <p:nvPr/>
        </p:nvSpPr>
        <p:spPr>
          <a:xfrm>
            <a:off x="6124575" y="2739330"/>
            <a:ext cx="245802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1A5276"/>
                </a:solidFill>
                <a:latin typeface="Arial" pitchFamily="34" charset="0"/>
                <a:ea typeface="Arial" pitchFamily="34" charset="-122"/>
                <a:cs typeface="Arial" pitchFamily="34" charset="-120"/>
              </a:rPr>
              <a:t>3. English Anchor</a:t>
            </a:r>
            <a:endParaRPr lang="en-US" sz="750" dirty="0"/>
          </a:p>
        </p:txBody>
      </p:sp>
      <p:sp>
        <p:nvSpPr>
          <p:cNvPr id="28" name="Text 26"/>
          <p:cNvSpPr/>
          <p:nvPr/>
        </p:nvSpPr>
        <p:spPr>
          <a:xfrm>
            <a:off x="6124575" y="2910780"/>
            <a:ext cx="2458022" cy="119955"/>
          </a:xfrm>
          <a:prstGeom prst="rect">
            <a:avLst/>
          </a:prstGeom>
          <a:noFill/>
          <a:ln/>
        </p:spPr>
        <p:txBody>
          <a:bodyPr wrap="square" lIns="0" tIns="0" rIns="0" bIns="0" rtlCol="0" anchor="t"/>
          <a:lstStyle/>
          <a:p>
            <a:pPr marL="0" indent="0" algn="l">
              <a:lnSpc>
                <a:spcPts val="945"/>
              </a:lnSpc>
              <a:spcBef>
                <a:spcPts val="300"/>
              </a:spcBef>
              <a:spcAft>
                <a:spcPts val="300"/>
              </a:spcAft>
              <a:buNone/>
            </a:pPr>
            <a:r>
              <a:rPr lang="en-US" sz="675" dirty="0">
                <a:solidFill>
                  <a:srgbClr val="6C757D"/>
                </a:solidFill>
                <a:latin typeface="Arial" pitchFamily="34" charset="0"/>
                <a:ea typeface="Arial" pitchFamily="34" charset="-122"/>
                <a:cs typeface="Arial" pitchFamily="34" charset="-120"/>
              </a:rPr>
              <a:t>English portions provide consistent structure</a:t>
            </a:r>
            <a:endParaRPr lang="en-US" sz="675" dirty="0"/>
          </a:p>
        </p:txBody>
      </p:sp>
      <p:sp>
        <p:nvSpPr>
          <p:cNvPr id="29" name="Text 27"/>
          <p:cNvSpPr/>
          <p:nvPr/>
        </p:nvSpPr>
        <p:spPr>
          <a:xfrm>
            <a:off x="381000" y="3430786"/>
            <a:ext cx="8382000" cy="521791"/>
          </a:xfrm>
          <a:prstGeom prst="roundRect">
            <a:avLst>
              <a:gd name="adj" fmla="val 14604"/>
            </a:avLst>
          </a:prstGeom>
          <a:solidFill>
            <a:srgbClr val="1A5276"/>
          </a:solidFill>
          <a:ln/>
        </p:spPr>
        <p:txBody>
          <a:bodyPr wrap="square" rtlCol="0" anchor="ctr"/>
          <a:lstStyle/>
          <a:p>
            <a:pPr marL="0" indent="0">
              <a:buNone/>
            </a:pPr>
            <a:endParaRPr lang="en-US" dirty="0"/>
          </a:p>
        </p:txBody>
      </p:sp>
      <p:sp>
        <p:nvSpPr>
          <p:cNvPr id="30" name="Text 28"/>
          <p:cNvSpPr/>
          <p:nvPr/>
        </p:nvSpPr>
        <p:spPr>
          <a:xfrm>
            <a:off x="495300" y="3545086"/>
            <a:ext cx="8316468" cy="293191"/>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Connection to CoT Paper:</a:t>
            </a:r>
            <a:r>
              <a:rPr lang="en-US" sz="825" dirty="0">
                <a:solidFill>
                  <a:srgbClr val="FFFFFF"/>
                </a:solidFill>
                <a:latin typeface="Arial" pitchFamily="34" charset="0"/>
                <a:ea typeface="Arial" pitchFamily="34" charset="-122"/>
                <a:cs typeface="Arial" pitchFamily="34" charset="-120"/>
              </a:rPr>
              <a:t> Similar to how chain-of-thought reasoning transfers across languages, our findings show summarization ability transfers across code-mixed language pairs.</a:t>
            </a:r>
            <a:endParaRPr lang="en-US" sz="8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400550"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Limitations and Future Work</a:t>
            </a:r>
            <a:endParaRPr lang="en-US" sz="2250" dirty="0"/>
          </a:p>
        </p:txBody>
      </p:sp>
      <p:sp>
        <p:nvSpPr>
          <p:cNvPr id="3" name="Text 1"/>
          <p:cNvSpPr/>
          <p:nvPr/>
        </p:nvSpPr>
        <p:spPr>
          <a:xfrm>
            <a:off x="381000" y="819150"/>
            <a:ext cx="4114800" cy="1322040"/>
          </a:xfrm>
          <a:prstGeom prst="roundRect">
            <a:avLst>
              <a:gd name="adj" fmla="val 5764"/>
            </a:avLst>
          </a:prstGeom>
          <a:solidFill>
            <a:srgbClr val="FADBD8"/>
          </a:solidFill>
          <a:ln/>
        </p:spPr>
        <p:txBody>
          <a:bodyPr wrap="square" rtlCol="0" anchor="ctr"/>
          <a:lstStyle/>
          <a:p>
            <a:pPr marL="0" indent="0">
              <a:buNone/>
            </a:pPr>
            <a:endParaRPr lang="en-US" dirty="0"/>
          </a:p>
        </p:txBody>
      </p:sp>
      <p:sp>
        <p:nvSpPr>
          <p:cNvPr id="4" name="Text 2"/>
          <p:cNvSpPr/>
          <p:nvPr/>
        </p:nvSpPr>
        <p:spPr>
          <a:xfrm>
            <a:off x="514350" y="990600"/>
            <a:ext cx="3925062"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E74C3C"/>
                </a:solidFill>
                <a:latin typeface="Arial" pitchFamily="34" charset="0"/>
                <a:ea typeface="Arial" pitchFamily="34" charset="-122"/>
                <a:cs typeface="Arial" pitchFamily="34" charset="-120"/>
              </a:rPr>
              <a:t>Current Limitations</a:t>
            </a:r>
            <a:endParaRPr lang="en-US" sz="900" dirty="0"/>
          </a:p>
        </p:txBody>
      </p:sp>
      <p:sp>
        <p:nvSpPr>
          <p:cNvPr id="5" name="Text 3"/>
          <p:cNvSpPr/>
          <p:nvPr/>
        </p:nvSpPr>
        <p:spPr>
          <a:xfrm>
            <a:off x="514350" y="1226790"/>
            <a:ext cx="3925062" cy="142875"/>
          </a:xfrm>
          <a:prstGeom prst="rect">
            <a:avLst/>
          </a:prstGeom>
          <a:noFill/>
          <a:ln/>
        </p:spPr>
        <p:txBody>
          <a:bodyPr wrap="square" lIns="0" tIns="0" rIns="0" bIns="0" rtlCol="0" anchor="t"/>
          <a:lstStyle/>
          <a:p>
            <a:pPr marL="0" indent="0" algn="l">
              <a:lnSpc>
                <a:spcPts val="1125"/>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1. Limited test languages (only 3 zero-shot pairs)</a:t>
            </a:r>
            <a:endParaRPr lang="en-US" sz="750" dirty="0"/>
          </a:p>
        </p:txBody>
      </p:sp>
      <p:sp>
        <p:nvSpPr>
          <p:cNvPr id="6" name="Text 4"/>
          <p:cNvSpPr/>
          <p:nvPr/>
        </p:nvSpPr>
        <p:spPr>
          <a:xfrm>
            <a:off x="514350" y="1426815"/>
            <a:ext cx="3925062" cy="142875"/>
          </a:xfrm>
          <a:prstGeom prst="rect">
            <a:avLst/>
          </a:prstGeom>
          <a:noFill/>
          <a:ln/>
        </p:spPr>
        <p:txBody>
          <a:bodyPr wrap="square" lIns="0" tIns="0" rIns="0" bIns="0" rtlCol="0" anchor="t"/>
          <a:lstStyle/>
          <a:p>
            <a:pPr marL="0" indent="0" algn="l">
              <a:lnSpc>
                <a:spcPts val="1125"/>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2. No human evaluation of summary quality</a:t>
            </a:r>
            <a:endParaRPr lang="en-US" sz="750" dirty="0"/>
          </a:p>
        </p:txBody>
      </p:sp>
      <p:sp>
        <p:nvSpPr>
          <p:cNvPr id="7" name="Text 5"/>
          <p:cNvSpPr/>
          <p:nvPr/>
        </p:nvSpPr>
        <p:spPr>
          <a:xfrm>
            <a:off x="514350" y="1626840"/>
            <a:ext cx="3925062" cy="142875"/>
          </a:xfrm>
          <a:prstGeom prst="rect">
            <a:avLst/>
          </a:prstGeom>
          <a:noFill/>
          <a:ln/>
        </p:spPr>
        <p:txBody>
          <a:bodyPr wrap="square" lIns="0" tIns="0" rIns="0" bIns="0" rtlCol="0" anchor="t"/>
          <a:lstStyle/>
          <a:p>
            <a:pPr marL="0" indent="0" algn="l">
              <a:lnSpc>
                <a:spcPts val="1125"/>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3. Single training run (no statistical significance)</a:t>
            </a:r>
            <a:endParaRPr lang="en-US" sz="750" dirty="0"/>
          </a:p>
        </p:txBody>
      </p:sp>
      <p:sp>
        <p:nvSpPr>
          <p:cNvPr id="8" name="Text 6"/>
          <p:cNvSpPr/>
          <p:nvPr/>
        </p:nvSpPr>
        <p:spPr>
          <a:xfrm>
            <a:off x="514350" y="1826865"/>
            <a:ext cx="3925062" cy="142875"/>
          </a:xfrm>
          <a:prstGeom prst="rect">
            <a:avLst/>
          </a:prstGeom>
          <a:noFill/>
          <a:ln/>
        </p:spPr>
        <p:txBody>
          <a:bodyPr wrap="square" lIns="0" tIns="0" rIns="0" bIns="0" rtlCol="0" anchor="t"/>
          <a:lstStyle/>
          <a:p>
            <a:pPr marL="0" indent="0" algn="l">
              <a:lnSpc>
                <a:spcPts val="1125"/>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4. Limited to languages in Llama pre-training</a:t>
            </a:r>
            <a:endParaRPr lang="en-US" sz="750" dirty="0"/>
          </a:p>
        </p:txBody>
      </p:sp>
      <p:sp>
        <p:nvSpPr>
          <p:cNvPr id="9" name="Text 7"/>
          <p:cNvSpPr/>
          <p:nvPr/>
        </p:nvSpPr>
        <p:spPr>
          <a:xfrm>
            <a:off x="4648200" y="819150"/>
            <a:ext cx="4114800" cy="1322040"/>
          </a:xfrm>
          <a:prstGeom prst="roundRect">
            <a:avLst>
              <a:gd name="adj" fmla="val 5764"/>
            </a:avLst>
          </a:prstGeom>
          <a:solidFill>
            <a:srgbClr val="D5F5E3"/>
          </a:solidFill>
          <a:ln/>
        </p:spPr>
        <p:txBody>
          <a:bodyPr wrap="square" rtlCol="0" anchor="ctr"/>
          <a:lstStyle/>
          <a:p>
            <a:pPr marL="0" indent="0">
              <a:buNone/>
            </a:pPr>
            <a:endParaRPr lang="en-US" dirty="0"/>
          </a:p>
        </p:txBody>
      </p:sp>
      <p:sp>
        <p:nvSpPr>
          <p:cNvPr id="10" name="Text 8"/>
          <p:cNvSpPr/>
          <p:nvPr/>
        </p:nvSpPr>
        <p:spPr>
          <a:xfrm>
            <a:off x="4781550" y="990600"/>
            <a:ext cx="3925062"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27AE60"/>
                </a:solidFill>
                <a:latin typeface="Arial" pitchFamily="34" charset="0"/>
                <a:ea typeface="Arial" pitchFamily="34" charset="-122"/>
                <a:cs typeface="Arial" pitchFamily="34" charset="-120"/>
              </a:rPr>
              <a:t>Future Work (Milestone 4)</a:t>
            </a:r>
            <a:endParaRPr lang="en-US" sz="900" dirty="0"/>
          </a:p>
        </p:txBody>
      </p:sp>
      <p:sp>
        <p:nvSpPr>
          <p:cNvPr id="11" name="Text 9"/>
          <p:cNvSpPr/>
          <p:nvPr/>
        </p:nvSpPr>
        <p:spPr>
          <a:xfrm>
            <a:off x="4781550" y="1226790"/>
            <a:ext cx="3925062" cy="142875"/>
          </a:xfrm>
          <a:prstGeom prst="rect">
            <a:avLst/>
          </a:prstGeom>
          <a:noFill/>
          <a:ln/>
        </p:spPr>
        <p:txBody>
          <a:bodyPr wrap="square" lIns="0" tIns="0" rIns="0" bIns="0" rtlCol="0" anchor="t"/>
          <a:lstStyle/>
          <a:p>
            <a:pPr marL="0" indent="0" algn="l">
              <a:lnSpc>
                <a:spcPts val="1125"/>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1. Expand to 15+ zero-shot language pairs</a:t>
            </a:r>
            <a:endParaRPr lang="en-US" sz="750" dirty="0"/>
          </a:p>
        </p:txBody>
      </p:sp>
      <p:sp>
        <p:nvSpPr>
          <p:cNvPr id="12" name="Text 10"/>
          <p:cNvSpPr/>
          <p:nvPr/>
        </p:nvSpPr>
        <p:spPr>
          <a:xfrm>
            <a:off x="4781550" y="1426815"/>
            <a:ext cx="3925062" cy="142875"/>
          </a:xfrm>
          <a:prstGeom prst="rect">
            <a:avLst/>
          </a:prstGeom>
          <a:noFill/>
          <a:ln/>
        </p:spPr>
        <p:txBody>
          <a:bodyPr wrap="square" lIns="0" tIns="0" rIns="0" bIns="0" rtlCol="0" anchor="t"/>
          <a:lstStyle/>
          <a:p>
            <a:pPr marL="0" indent="0" algn="l">
              <a:lnSpc>
                <a:spcPts val="1125"/>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2. Human evaluation study (5-10 annotators)</a:t>
            </a:r>
            <a:endParaRPr lang="en-US" sz="750" dirty="0"/>
          </a:p>
        </p:txBody>
      </p:sp>
      <p:sp>
        <p:nvSpPr>
          <p:cNvPr id="13" name="Text 11"/>
          <p:cNvSpPr/>
          <p:nvPr/>
        </p:nvSpPr>
        <p:spPr>
          <a:xfrm>
            <a:off x="4781550" y="1626840"/>
            <a:ext cx="3925062" cy="142875"/>
          </a:xfrm>
          <a:prstGeom prst="rect">
            <a:avLst/>
          </a:prstGeom>
          <a:noFill/>
          <a:ln/>
        </p:spPr>
        <p:txBody>
          <a:bodyPr wrap="square" lIns="0" tIns="0" rIns="0" bIns="0" rtlCol="0" anchor="t"/>
          <a:lstStyle/>
          <a:p>
            <a:pPr marL="0" indent="0" algn="l">
              <a:lnSpc>
                <a:spcPts val="1125"/>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3. Ablation: train on 1 vs 2 vs 3 pairs</a:t>
            </a:r>
            <a:endParaRPr lang="en-US" sz="750" dirty="0"/>
          </a:p>
        </p:txBody>
      </p:sp>
      <p:sp>
        <p:nvSpPr>
          <p:cNvPr id="14" name="Text 12"/>
          <p:cNvSpPr/>
          <p:nvPr/>
        </p:nvSpPr>
        <p:spPr>
          <a:xfrm>
            <a:off x="4781550" y="1826865"/>
            <a:ext cx="3925062" cy="142875"/>
          </a:xfrm>
          <a:prstGeom prst="rect">
            <a:avLst/>
          </a:prstGeom>
          <a:noFill/>
          <a:ln/>
        </p:spPr>
        <p:txBody>
          <a:bodyPr wrap="square" lIns="0" tIns="0" rIns="0" bIns="0" rtlCol="0" anchor="t"/>
          <a:lstStyle/>
          <a:p>
            <a:pPr marL="0" indent="0" algn="l">
              <a:lnSpc>
                <a:spcPts val="1125"/>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4. Error analysis on failure cases</a:t>
            </a:r>
            <a:endParaRPr lang="en-US" sz="750" dirty="0"/>
          </a:p>
        </p:txBody>
      </p:sp>
      <p:sp>
        <p:nvSpPr>
          <p:cNvPr id="15" name="Text 13"/>
          <p:cNvSpPr/>
          <p:nvPr/>
        </p:nvSpPr>
        <p:spPr>
          <a:xfrm>
            <a:off x="381000" y="2274540"/>
            <a:ext cx="8382000" cy="864840"/>
          </a:xfrm>
          <a:prstGeom prst="roundRect">
            <a:avLst>
              <a:gd name="adj" fmla="val 8811"/>
            </a:avLst>
          </a:prstGeom>
          <a:solidFill>
            <a:srgbClr val="F8F9FA"/>
          </a:solidFill>
          <a:ln/>
        </p:spPr>
        <p:txBody>
          <a:bodyPr wrap="square" rtlCol="0" anchor="ctr"/>
          <a:lstStyle/>
          <a:p>
            <a:pPr marL="0" indent="0">
              <a:buNone/>
            </a:pPr>
            <a:endParaRPr lang="en-US" dirty="0"/>
          </a:p>
        </p:txBody>
      </p:sp>
      <p:sp>
        <p:nvSpPr>
          <p:cNvPr id="16" name="Text 14"/>
          <p:cNvSpPr/>
          <p:nvPr/>
        </p:nvSpPr>
        <p:spPr>
          <a:xfrm>
            <a:off x="514350" y="2445990"/>
            <a:ext cx="8277606"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1A5276"/>
                </a:solidFill>
                <a:latin typeface="Arial" pitchFamily="34" charset="0"/>
                <a:ea typeface="Arial" pitchFamily="34" charset="-122"/>
                <a:cs typeface="Arial" pitchFamily="34" charset="-120"/>
              </a:rPr>
              <a:t>Open Questions</a:t>
            </a:r>
            <a:endParaRPr lang="en-US" sz="900" dirty="0"/>
          </a:p>
        </p:txBody>
      </p:sp>
      <p:sp>
        <p:nvSpPr>
          <p:cNvPr id="17" name="Text 15"/>
          <p:cNvSpPr/>
          <p:nvPr/>
        </p:nvSpPr>
        <p:spPr>
          <a:xfrm>
            <a:off x="514350" y="2682180"/>
            <a:ext cx="8277606" cy="285750"/>
          </a:xfrm>
          <a:prstGeom prst="rect">
            <a:avLst/>
          </a:prstGeom>
          <a:noFill/>
          <a:ln/>
        </p:spPr>
        <p:txBody>
          <a:bodyPr wrap="square" lIns="0" tIns="0" rIns="0" bIns="0" rtlCol="0" anchor="t"/>
          <a:lstStyle/>
          <a:p>
            <a:pPr marL="0" indent="0" algn="l">
              <a:lnSpc>
                <a:spcPts val="1125"/>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How many training language pairs are needed for optimal transfer? Does transfer work for non-English matrix languages (e.g., Hindi-Tamil)? Can we improve transfer for low-resource languages not well-represented in LLM pre-training?</a:t>
            </a:r>
            <a:endParaRPr lang="en-US" sz="750" dirty="0"/>
          </a:p>
        </p:txBody>
      </p:sp>
      <p:sp>
        <p:nvSpPr>
          <p:cNvPr id="18" name="Text 16"/>
          <p:cNvSpPr/>
          <p:nvPr/>
        </p:nvSpPr>
        <p:spPr>
          <a:xfrm>
            <a:off x="381000" y="3272730"/>
            <a:ext cx="8382000" cy="375196"/>
          </a:xfrm>
          <a:prstGeom prst="roundRect">
            <a:avLst>
              <a:gd name="adj" fmla="val 20309"/>
            </a:avLst>
          </a:prstGeom>
          <a:solidFill>
            <a:srgbClr val="1A5276"/>
          </a:solidFill>
          <a:ln/>
        </p:spPr>
        <p:txBody>
          <a:bodyPr wrap="square" rtlCol="0" anchor="ctr"/>
          <a:lstStyle/>
          <a:p>
            <a:pPr marL="0" indent="0">
              <a:buNone/>
            </a:pPr>
            <a:endParaRPr lang="en-US" dirty="0"/>
          </a:p>
        </p:txBody>
      </p:sp>
      <p:sp>
        <p:nvSpPr>
          <p:cNvPr id="19" name="Text 17"/>
          <p:cNvSpPr/>
          <p:nvPr/>
        </p:nvSpPr>
        <p:spPr>
          <a:xfrm>
            <a:off x="495300" y="3387030"/>
            <a:ext cx="8316468"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Broader Impact:</a:t>
            </a:r>
            <a:r>
              <a:rPr lang="en-US" sz="825" dirty="0">
                <a:solidFill>
                  <a:srgbClr val="FFFFFF"/>
                </a:solidFill>
                <a:latin typeface="Arial" pitchFamily="34" charset="0"/>
                <a:ea typeface="Arial" pitchFamily="34" charset="-122"/>
                <a:cs typeface="Arial" pitchFamily="34" charset="-120"/>
              </a:rPr>
              <a:t> If validated at scale, this approach could enable code-mixed NLP for thousands of language pairs without requiring data collection for each.</a:t>
            </a:r>
            <a:endParaRPr lang="en-US" sz="8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284536"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Conclusion</a:t>
            </a:r>
            <a:endParaRPr lang="en-US" sz="2250" dirty="0"/>
          </a:p>
        </p:txBody>
      </p:sp>
      <p:sp>
        <p:nvSpPr>
          <p:cNvPr id="3" name="Text 1"/>
          <p:cNvSpPr/>
          <p:nvPr/>
        </p:nvSpPr>
        <p:spPr>
          <a:xfrm>
            <a:off x="381000" y="819150"/>
            <a:ext cx="8382000" cy="973336"/>
          </a:xfrm>
          <a:prstGeom prst="roundRect">
            <a:avLst>
              <a:gd name="adj" fmla="val 7829"/>
            </a:avLst>
          </a:prstGeom>
          <a:solidFill>
            <a:srgbClr val="E8F6F3"/>
          </a:solidFill>
          <a:ln/>
        </p:spPr>
        <p:txBody>
          <a:bodyPr wrap="square" rtlCol="0" anchor="ctr"/>
          <a:lstStyle/>
          <a:p>
            <a:pPr marL="0" indent="0">
              <a:buNone/>
            </a:pPr>
            <a:endParaRPr lang="en-US" dirty="0"/>
          </a:p>
        </p:txBody>
      </p:sp>
      <p:sp>
        <p:nvSpPr>
          <p:cNvPr id="4" name="Text 2"/>
          <p:cNvSpPr/>
          <p:nvPr/>
        </p:nvSpPr>
        <p:spPr>
          <a:xfrm>
            <a:off x="533400" y="1009650"/>
            <a:ext cx="8238744"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1A5276"/>
                </a:solidFill>
                <a:latin typeface="Arial" pitchFamily="34" charset="0"/>
                <a:ea typeface="Arial" pitchFamily="34" charset="-122"/>
                <a:cs typeface="Arial" pitchFamily="34" charset="-120"/>
              </a:rPr>
              <a:t>Main Finding</a:t>
            </a:r>
            <a:endParaRPr lang="en-US" sz="975" dirty="0"/>
          </a:p>
        </p:txBody>
      </p:sp>
      <p:sp>
        <p:nvSpPr>
          <p:cNvPr id="5" name="Text 3"/>
          <p:cNvSpPr/>
          <p:nvPr/>
        </p:nvSpPr>
        <p:spPr>
          <a:xfrm>
            <a:off x="533400" y="1259086"/>
            <a:ext cx="8238744" cy="342900"/>
          </a:xfrm>
          <a:prstGeom prst="rect">
            <a:avLst/>
          </a:prstGeom>
          <a:noFill/>
          <a:ln/>
        </p:spPr>
        <p:txBody>
          <a:bodyPr wrap="square" lIns="0" tIns="0" rIns="0" bIns="0" rtlCol="0" anchor="t"/>
          <a:lstStyle/>
          <a:p>
            <a:pPr marL="0" indent="0" algn="l">
              <a:lnSpc>
                <a:spcPts val="1350"/>
              </a:lnSpc>
              <a:spcBef>
                <a:spcPts val="300"/>
              </a:spcBef>
              <a:spcAft>
                <a:spcPts val="300"/>
              </a:spcAft>
              <a:buNone/>
            </a:pPr>
            <a:r>
              <a:rPr lang="en-US" sz="900" dirty="0">
                <a:solidFill>
                  <a:srgbClr val="2C3E50"/>
                </a:solidFill>
                <a:latin typeface="Arial" pitchFamily="34" charset="0"/>
                <a:ea typeface="Arial" pitchFamily="34" charset="-122"/>
                <a:cs typeface="Arial" pitchFamily="34" charset="-120"/>
              </a:rPr>
              <a:t>Zero-shot cross-lingual transfer WORKS for code-mixed conversation summarization. Models trained on just 3 language pairs can generalize to unseen pairs with 100%+ transfer rates.</a:t>
            </a:r>
            <a:endParaRPr lang="en-US" sz="900" dirty="0"/>
          </a:p>
        </p:txBody>
      </p:sp>
      <p:sp>
        <p:nvSpPr>
          <p:cNvPr id="6" name="Text 4"/>
          <p:cNvSpPr/>
          <p:nvPr/>
        </p:nvSpPr>
        <p:spPr>
          <a:xfrm>
            <a:off x="381000" y="1925836"/>
            <a:ext cx="1995487" cy="796230"/>
          </a:xfrm>
          <a:prstGeom prst="roundRect">
            <a:avLst>
              <a:gd name="adj" fmla="val 9570"/>
            </a:avLst>
          </a:prstGeom>
          <a:solidFill>
            <a:srgbClr val="4ECDC4"/>
          </a:solidFill>
          <a:ln/>
        </p:spPr>
        <p:txBody>
          <a:bodyPr wrap="square" rtlCol="0" anchor="ctr"/>
          <a:lstStyle/>
          <a:p>
            <a:pPr marL="0" indent="0">
              <a:buNone/>
            </a:pPr>
            <a:endParaRPr lang="en-US" dirty="0"/>
          </a:p>
        </p:txBody>
      </p:sp>
      <p:sp>
        <p:nvSpPr>
          <p:cNvPr id="7" name="Text 5"/>
          <p:cNvSpPr/>
          <p:nvPr/>
        </p:nvSpPr>
        <p:spPr>
          <a:xfrm>
            <a:off x="497062" y="2059186"/>
            <a:ext cx="1763363" cy="319980"/>
          </a:xfrm>
          <a:prstGeom prst="rect">
            <a:avLst/>
          </a:prstGeom>
          <a:noFill/>
          <a:ln/>
        </p:spPr>
        <p:txBody>
          <a:bodyPr wrap="square" lIns="0" tIns="0" rIns="0" bIns="0" rtlCol="0" anchor="t"/>
          <a:lstStyle/>
          <a:p>
            <a:pPr marL="0" indent="0" algn="ctr">
              <a:lnSpc>
                <a:spcPts val="2520"/>
              </a:lnSpc>
              <a:buNone/>
            </a:pPr>
            <a:r>
              <a:rPr lang="en-US" sz="1800" b="1" dirty="0">
                <a:solidFill>
                  <a:srgbClr val="1D1D1D"/>
                </a:solidFill>
                <a:latin typeface="Arial" pitchFamily="34" charset="0"/>
                <a:ea typeface="Arial" pitchFamily="34" charset="-122"/>
                <a:cs typeface="Arial" pitchFamily="34" charset="-120"/>
              </a:rPr>
              <a:t>103-147%</a:t>
            </a:r>
            <a:endParaRPr lang="en-US" sz="1800" dirty="0"/>
          </a:p>
        </p:txBody>
      </p:sp>
      <p:sp>
        <p:nvSpPr>
          <p:cNvPr id="8" name="Text 6"/>
          <p:cNvSpPr/>
          <p:nvPr/>
        </p:nvSpPr>
        <p:spPr>
          <a:xfrm>
            <a:off x="497062" y="2417266"/>
            <a:ext cx="1763363"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1D1D1D"/>
                </a:solidFill>
                <a:latin typeface="Arial" pitchFamily="34" charset="0"/>
                <a:ea typeface="Arial" pitchFamily="34" charset="-122"/>
                <a:cs typeface="Arial" pitchFamily="34" charset="-120"/>
              </a:rPr>
              <a:t>Transfer Rates</a:t>
            </a:r>
            <a:endParaRPr lang="en-US" sz="750" dirty="0"/>
          </a:p>
        </p:txBody>
      </p:sp>
      <p:sp>
        <p:nvSpPr>
          <p:cNvPr id="9" name="Text 7"/>
          <p:cNvSpPr/>
          <p:nvPr/>
        </p:nvSpPr>
        <p:spPr>
          <a:xfrm>
            <a:off x="2509838" y="1925836"/>
            <a:ext cx="1995487" cy="796230"/>
          </a:xfrm>
          <a:prstGeom prst="roundRect">
            <a:avLst>
              <a:gd name="adj" fmla="val 9570"/>
            </a:avLst>
          </a:prstGeom>
          <a:solidFill>
            <a:srgbClr val="E74C3C"/>
          </a:solidFill>
          <a:ln/>
        </p:spPr>
        <p:txBody>
          <a:bodyPr wrap="square" rtlCol="0" anchor="ctr"/>
          <a:lstStyle/>
          <a:p>
            <a:pPr marL="0" indent="0">
              <a:buNone/>
            </a:pPr>
            <a:endParaRPr lang="en-US" dirty="0"/>
          </a:p>
        </p:txBody>
      </p:sp>
      <p:sp>
        <p:nvSpPr>
          <p:cNvPr id="10" name="Text 8"/>
          <p:cNvSpPr/>
          <p:nvPr/>
        </p:nvSpPr>
        <p:spPr>
          <a:xfrm>
            <a:off x="2625900" y="2059186"/>
            <a:ext cx="1763363" cy="319980"/>
          </a:xfrm>
          <a:prstGeom prst="rect">
            <a:avLst/>
          </a:prstGeom>
          <a:noFill/>
          <a:ln/>
        </p:spPr>
        <p:txBody>
          <a:bodyPr wrap="square" lIns="0" tIns="0" rIns="0" bIns="0" rtlCol="0" anchor="t"/>
          <a:lstStyle/>
          <a:p>
            <a:pPr marL="0" indent="0" algn="ctr">
              <a:lnSpc>
                <a:spcPts val="2520"/>
              </a:lnSpc>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1" name="Text 9"/>
          <p:cNvSpPr/>
          <p:nvPr/>
        </p:nvSpPr>
        <p:spPr>
          <a:xfrm>
            <a:off x="2625900" y="2417266"/>
            <a:ext cx="1763363"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FFFFFF"/>
                </a:solidFill>
                <a:latin typeface="Arial" pitchFamily="34" charset="0"/>
                <a:ea typeface="Arial" pitchFamily="34" charset="-122"/>
                <a:cs typeface="Arial" pitchFamily="34" charset="-120"/>
              </a:rPr>
              <a:t>Models Compared</a:t>
            </a:r>
            <a:endParaRPr lang="en-US" sz="750" dirty="0"/>
          </a:p>
        </p:txBody>
      </p:sp>
      <p:sp>
        <p:nvSpPr>
          <p:cNvPr id="12" name="Text 10"/>
          <p:cNvSpPr/>
          <p:nvPr/>
        </p:nvSpPr>
        <p:spPr>
          <a:xfrm>
            <a:off x="4638675" y="1925836"/>
            <a:ext cx="1995487" cy="796230"/>
          </a:xfrm>
          <a:prstGeom prst="roundRect">
            <a:avLst>
              <a:gd name="adj" fmla="val 9570"/>
            </a:avLst>
          </a:prstGeom>
          <a:solidFill>
            <a:srgbClr val="F39C12"/>
          </a:solidFill>
          <a:ln/>
        </p:spPr>
        <p:txBody>
          <a:bodyPr wrap="square" rtlCol="0" anchor="ctr"/>
          <a:lstStyle/>
          <a:p>
            <a:pPr marL="0" indent="0">
              <a:buNone/>
            </a:pPr>
            <a:endParaRPr lang="en-US" dirty="0"/>
          </a:p>
        </p:txBody>
      </p:sp>
      <p:sp>
        <p:nvSpPr>
          <p:cNvPr id="13" name="Text 11"/>
          <p:cNvSpPr/>
          <p:nvPr/>
        </p:nvSpPr>
        <p:spPr>
          <a:xfrm>
            <a:off x="4754737" y="2059186"/>
            <a:ext cx="1763363" cy="319980"/>
          </a:xfrm>
          <a:prstGeom prst="rect">
            <a:avLst/>
          </a:prstGeom>
          <a:noFill/>
          <a:ln/>
        </p:spPr>
        <p:txBody>
          <a:bodyPr wrap="square" lIns="0" tIns="0" rIns="0" bIns="0" rtlCol="0" anchor="t"/>
          <a:lstStyle/>
          <a:p>
            <a:pPr marL="0" indent="0" algn="ctr">
              <a:lnSpc>
                <a:spcPts val="2520"/>
              </a:lnSpc>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14" name="Text 12"/>
          <p:cNvSpPr/>
          <p:nvPr/>
        </p:nvSpPr>
        <p:spPr>
          <a:xfrm>
            <a:off x="4754737" y="2417266"/>
            <a:ext cx="1763363"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FFFFFF"/>
                </a:solidFill>
                <a:latin typeface="Arial" pitchFamily="34" charset="0"/>
                <a:ea typeface="Arial" pitchFamily="34" charset="-122"/>
                <a:cs typeface="Arial" pitchFamily="34" charset="-120"/>
              </a:rPr>
              <a:t>Language Pairs</a:t>
            </a:r>
            <a:endParaRPr lang="en-US" sz="750" dirty="0"/>
          </a:p>
        </p:txBody>
      </p:sp>
      <p:sp>
        <p:nvSpPr>
          <p:cNvPr id="15" name="Text 13"/>
          <p:cNvSpPr/>
          <p:nvPr/>
        </p:nvSpPr>
        <p:spPr>
          <a:xfrm>
            <a:off x="6767513" y="1925836"/>
            <a:ext cx="1995487" cy="796230"/>
          </a:xfrm>
          <a:prstGeom prst="roundRect">
            <a:avLst>
              <a:gd name="adj" fmla="val 9570"/>
            </a:avLst>
          </a:prstGeom>
          <a:solidFill>
            <a:srgbClr val="9B59B6"/>
          </a:solidFill>
          <a:ln/>
        </p:spPr>
        <p:txBody>
          <a:bodyPr wrap="square" rtlCol="0" anchor="ctr"/>
          <a:lstStyle/>
          <a:p>
            <a:pPr marL="0" indent="0">
              <a:buNone/>
            </a:pPr>
            <a:endParaRPr lang="en-US" dirty="0"/>
          </a:p>
        </p:txBody>
      </p:sp>
      <p:sp>
        <p:nvSpPr>
          <p:cNvPr id="16" name="Text 14"/>
          <p:cNvSpPr/>
          <p:nvPr/>
        </p:nvSpPr>
        <p:spPr>
          <a:xfrm>
            <a:off x="6883575" y="2059186"/>
            <a:ext cx="1763363" cy="319980"/>
          </a:xfrm>
          <a:prstGeom prst="rect">
            <a:avLst/>
          </a:prstGeom>
          <a:noFill/>
          <a:ln/>
        </p:spPr>
        <p:txBody>
          <a:bodyPr wrap="square" lIns="0" tIns="0" rIns="0" bIns="0" rtlCol="0" anchor="t"/>
          <a:lstStyle/>
          <a:p>
            <a:pPr marL="0" indent="0" algn="ctr">
              <a:lnSpc>
                <a:spcPts val="2520"/>
              </a:lnSpc>
              <a:buNone/>
            </a:pPr>
            <a:r>
              <a:rPr lang="en-US" sz="1800" b="1" dirty="0">
                <a:solidFill>
                  <a:srgbClr val="FFFFFF"/>
                </a:solidFill>
                <a:latin typeface="Arial" pitchFamily="34" charset="0"/>
                <a:ea typeface="Arial" pitchFamily="34" charset="-122"/>
                <a:cs typeface="Arial" pitchFamily="34" charset="-120"/>
              </a:rPr>
              <a:t>2,450+</a:t>
            </a:r>
            <a:endParaRPr lang="en-US" sz="1800" dirty="0"/>
          </a:p>
        </p:txBody>
      </p:sp>
      <p:sp>
        <p:nvSpPr>
          <p:cNvPr id="17" name="Text 15"/>
          <p:cNvSpPr/>
          <p:nvPr/>
        </p:nvSpPr>
        <p:spPr>
          <a:xfrm>
            <a:off x="6883575" y="2417266"/>
            <a:ext cx="1763363"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FFFFFF"/>
                </a:solidFill>
                <a:latin typeface="Arial" pitchFamily="34" charset="0"/>
                <a:ea typeface="Arial" pitchFamily="34" charset="-122"/>
                <a:cs typeface="Arial" pitchFamily="34" charset="-120"/>
              </a:rPr>
              <a:t>Potential Pairs</a:t>
            </a:r>
            <a:endParaRPr lang="en-US" sz="750" dirty="0"/>
          </a:p>
        </p:txBody>
      </p:sp>
      <p:sp>
        <p:nvSpPr>
          <p:cNvPr id="18" name="Text 16"/>
          <p:cNvSpPr/>
          <p:nvPr/>
        </p:nvSpPr>
        <p:spPr>
          <a:xfrm>
            <a:off x="381000" y="2855416"/>
            <a:ext cx="8382000" cy="1064865"/>
          </a:xfrm>
          <a:prstGeom prst="roundRect">
            <a:avLst>
              <a:gd name="adj" fmla="val 7156"/>
            </a:avLst>
          </a:prstGeom>
          <a:solidFill>
            <a:srgbClr val="F8F9FA"/>
          </a:solidFill>
          <a:ln/>
        </p:spPr>
        <p:txBody>
          <a:bodyPr wrap="square" rtlCol="0" anchor="ctr"/>
          <a:lstStyle/>
          <a:p>
            <a:pPr marL="0" indent="0">
              <a:buNone/>
            </a:pPr>
            <a:endParaRPr lang="en-US" dirty="0"/>
          </a:p>
        </p:txBody>
      </p:sp>
      <p:sp>
        <p:nvSpPr>
          <p:cNvPr id="19" name="Text 17"/>
          <p:cNvSpPr/>
          <p:nvPr/>
        </p:nvSpPr>
        <p:spPr>
          <a:xfrm>
            <a:off x="514350" y="3026866"/>
            <a:ext cx="8277606"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Key Takeaways</a:t>
            </a:r>
            <a:endParaRPr lang="en-US" sz="900" dirty="0"/>
          </a:p>
        </p:txBody>
      </p:sp>
      <p:sp>
        <p:nvSpPr>
          <p:cNvPr id="20" name="Text 18"/>
          <p:cNvSpPr/>
          <p:nvPr/>
        </p:nvSpPr>
        <p:spPr>
          <a:xfrm>
            <a:off x="514350" y="3244007"/>
            <a:ext cx="8277606" cy="142875"/>
          </a:xfrm>
          <a:prstGeom prst="rect">
            <a:avLst/>
          </a:prstGeom>
          <a:noFill/>
          <a:ln/>
        </p:spPr>
        <p:txBody>
          <a:bodyPr wrap="square" lIns="0" tIns="0" rIns="0" bIns="0" rtlCol="0" anchor="t"/>
          <a:lstStyle/>
          <a:p>
            <a:pPr marL="0" indent="0" algn="l">
              <a:lnSpc>
                <a:spcPts val="1125"/>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1. Decoder-only LLMs outperform encoder-decoder models for zero-shot transfer</a:t>
            </a:r>
            <a:endParaRPr lang="en-US" sz="750" dirty="0"/>
          </a:p>
        </p:txBody>
      </p:sp>
      <p:sp>
        <p:nvSpPr>
          <p:cNvPr id="21" name="Text 19"/>
          <p:cNvSpPr/>
          <p:nvPr/>
        </p:nvSpPr>
        <p:spPr>
          <a:xfrm>
            <a:off x="514350" y="3424982"/>
            <a:ext cx="8277606" cy="142875"/>
          </a:xfrm>
          <a:prstGeom prst="rect">
            <a:avLst/>
          </a:prstGeom>
          <a:noFill/>
          <a:ln/>
        </p:spPr>
        <p:txBody>
          <a:bodyPr wrap="square" lIns="0" tIns="0" rIns="0" bIns="0" rtlCol="0" anchor="t"/>
          <a:lstStyle/>
          <a:p>
            <a:pPr marL="0" indent="0" algn="l">
              <a:lnSpc>
                <a:spcPts val="1125"/>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2. Models learn language-agnostic summarization, not language-specific rules</a:t>
            </a:r>
            <a:endParaRPr lang="en-US" sz="750" dirty="0"/>
          </a:p>
        </p:txBody>
      </p:sp>
      <p:sp>
        <p:nvSpPr>
          <p:cNvPr id="22" name="Text 20"/>
          <p:cNvSpPr/>
          <p:nvPr/>
        </p:nvSpPr>
        <p:spPr>
          <a:xfrm>
            <a:off x="514350" y="3605957"/>
            <a:ext cx="8277606" cy="142875"/>
          </a:xfrm>
          <a:prstGeom prst="rect">
            <a:avLst/>
          </a:prstGeom>
          <a:noFill/>
          <a:ln/>
        </p:spPr>
        <p:txBody>
          <a:bodyPr wrap="square" lIns="0" tIns="0" rIns="0" bIns="0" rtlCol="0" anchor="t"/>
          <a:lstStyle/>
          <a:p>
            <a:pPr marL="0" indent="0" algn="l">
              <a:lnSpc>
                <a:spcPts val="1125"/>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3. This enables practical deployment: train once, deploy on thousands of language pairs</a:t>
            </a:r>
            <a:endParaRPr lang="en-US" sz="750" dirty="0"/>
          </a:p>
        </p:txBody>
      </p:sp>
      <p:sp>
        <p:nvSpPr>
          <p:cNvPr id="23" name="Text 21"/>
          <p:cNvSpPr/>
          <p:nvPr/>
        </p:nvSpPr>
        <p:spPr>
          <a:xfrm>
            <a:off x="381000" y="4053632"/>
            <a:ext cx="8382000" cy="388590"/>
          </a:xfrm>
          <a:prstGeom prst="roundRect">
            <a:avLst>
              <a:gd name="adj" fmla="val 19609"/>
            </a:avLst>
          </a:prstGeom>
          <a:solidFill>
            <a:srgbClr val="1A5276"/>
          </a:solidFill>
          <a:ln/>
        </p:spPr>
        <p:txBody>
          <a:bodyPr wrap="square" rtlCol="0" anchor="ctr"/>
          <a:lstStyle/>
          <a:p>
            <a:pPr marL="0" indent="0">
              <a:buNone/>
            </a:pPr>
            <a:endParaRPr lang="en-US" dirty="0"/>
          </a:p>
        </p:txBody>
      </p:sp>
      <p:sp>
        <p:nvSpPr>
          <p:cNvPr id="24" name="Text 22"/>
          <p:cNvSpPr/>
          <p:nvPr/>
        </p:nvSpPr>
        <p:spPr>
          <a:xfrm>
            <a:off x="413766" y="4167932"/>
            <a:ext cx="8316468" cy="159990"/>
          </a:xfrm>
          <a:prstGeom prst="rect">
            <a:avLst/>
          </a:prstGeom>
          <a:noFill/>
          <a:ln/>
        </p:spPr>
        <p:txBody>
          <a:bodyPr wrap="square" lIns="0" tIns="0" rIns="0" bIns="0" rtlCol="0" anchor="t"/>
          <a:lstStyle/>
          <a:p>
            <a:pPr marL="0" indent="0" algn="ctr">
              <a:lnSpc>
                <a:spcPts val="1260"/>
              </a:lnSpc>
              <a:buNone/>
            </a:pPr>
            <a:r>
              <a:rPr lang="en-US" sz="900" b="1" dirty="0">
                <a:solidFill>
                  <a:srgbClr val="FFFFFF"/>
                </a:solidFill>
                <a:latin typeface="Arial" pitchFamily="34" charset="0"/>
                <a:ea typeface="Arial" pitchFamily="34" charset="-122"/>
                <a:cs typeface="Arial" pitchFamily="34" charset="-120"/>
              </a:rPr>
              <a:t>Code:</a:t>
            </a:r>
            <a:r>
              <a:rPr lang="en-US" sz="900" dirty="0">
                <a:solidFill>
                  <a:srgbClr val="FFFFFF"/>
                </a:solidFill>
                <a:latin typeface="Arial" pitchFamily="34" charset="0"/>
                <a:ea typeface="Arial" pitchFamily="34" charset="-122"/>
                <a:cs typeface="Arial" pitchFamily="34" charset="-120"/>
              </a:rPr>
              <a:t> 2 Colab notebooks (Llama + Baselines) | </a:t>
            </a:r>
            <a:r>
              <a:rPr lang="en-US" sz="900" b="1" dirty="0">
                <a:solidFill>
                  <a:srgbClr val="FFFFFF"/>
                </a:solidFill>
                <a:latin typeface="Arial" pitchFamily="34" charset="0"/>
                <a:ea typeface="Arial" pitchFamily="34" charset="-122"/>
                <a:cs typeface="Arial" pitchFamily="34" charset="-120"/>
              </a:rPr>
              <a:t>Data:</a:t>
            </a:r>
            <a:r>
              <a:rPr lang="en-US" sz="900" dirty="0">
                <a:solidFill>
                  <a:srgbClr val="FFFFFF"/>
                </a:solidFill>
                <a:latin typeface="Arial" pitchFamily="34" charset="0"/>
                <a:ea typeface="Arial" pitchFamily="34" charset="-122"/>
                <a:cs typeface="Arial" pitchFamily="34" charset="-120"/>
              </a:rPr>
              <a:t> CS-SUM benchmark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2625</Words>
  <Application>Microsoft Office PowerPoint</Application>
  <PresentationFormat>On-screen Show (16:9)</PresentationFormat>
  <Paragraphs>270</Paragraphs>
  <Slides>18</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Universal Code-Mixed Conversation Summarization</dc:title>
  <dc:subject>PptxGenJS Presentation</dc:subject>
  <dc:creator>PptxGenJS</dc:creator>
  <cp:lastModifiedBy>Prednya Ramesh</cp:lastModifiedBy>
  <cp:revision>5</cp:revision>
  <dcterms:created xsi:type="dcterms:W3CDTF">2025-12-07T03:55:05Z</dcterms:created>
  <dcterms:modified xsi:type="dcterms:W3CDTF">2025-12-08T07:01:27Z</dcterms:modified>
</cp:coreProperties>
</file>